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2"/>
    <p:sldId id="314" r:id="rId3"/>
    <p:sldId id="315" r:id="rId4"/>
    <p:sldId id="316" r:id="rId5"/>
    <p:sldId id="317" r:id="rId6"/>
    <p:sldId id="318" r:id="rId7"/>
    <p:sldId id="321" r:id="rId8"/>
    <p:sldId id="322" r:id="rId9"/>
    <p:sldId id="319" r:id="rId10"/>
    <p:sldId id="323" r:id="rId11"/>
    <p:sldId id="324" r:id="rId12"/>
    <p:sldId id="320" r:id="rId13"/>
    <p:sldId id="325" r:id="rId14"/>
    <p:sldId id="326" r:id="rId15"/>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4F4F"/>
    <a:srgbClr val="CC0000"/>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20"/>
    <p:restoredTop sz="95342" autoAdjust="0"/>
  </p:normalViewPr>
  <p:slideViewPr>
    <p:cSldViewPr snapToGrid="0">
      <p:cViewPr varScale="1">
        <p:scale>
          <a:sx n="117" d="100"/>
          <a:sy n="117" d="100"/>
        </p:scale>
        <p:origin x="37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E944D2B-2904-9351-EB10-DD0D3AE3977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a:extLst>
              <a:ext uri="{FF2B5EF4-FFF2-40B4-BE49-F238E27FC236}">
                <a16:creationId xmlns:a16="http://schemas.microsoft.com/office/drawing/2014/main" id="{66CBE8D0-7F04-5A32-0C34-4873B2071E1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6A176E-A79C-41C5-AB55-868D9BEDE518}" type="datetimeFigureOut">
              <a:rPr lang="es-CL" smtClean="0"/>
              <a:t>06-04-26</a:t>
            </a:fld>
            <a:endParaRPr lang="es-CL"/>
          </a:p>
        </p:txBody>
      </p:sp>
      <p:sp>
        <p:nvSpPr>
          <p:cNvPr id="4" name="Marcador de pie de página 3">
            <a:extLst>
              <a:ext uri="{FF2B5EF4-FFF2-40B4-BE49-F238E27FC236}">
                <a16:creationId xmlns:a16="http://schemas.microsoft.com/office/drawing/2014/main" id="{0C726D7D-D6D7-19FA-4AEF-8E2EAB4221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5" name="Marcador de número de diapositiva 4">
            <a:extLst>
              <a:ext uri="{FF2B5EF4-FFF2-40B4-BE49-F238E27FC236}">
                <a16:creationId xmlns:a16="http://schemas.microsoft.com/office/drawing/2014/main" id="{31B16ABA-0651-D173-7D9B-76EEC91B46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765D3-0C84-4723-B1BA-76A2E1A80514}" type="slidenum">
              <a:rPr lang="es-CL" smtClean="0"/>
              <a:t>‹#›</a:t>
            </a:fld>
            <a:endParaRPr lang="es-CL"/>
          </a:p>
        </p:txBody>
      </p:sp>
    </p:spTree>
    <p:extLst>
      <p:ext uri="{BB962C8B-B14F-4D97-AF65-F5344CB8AC3E}">
        <p14:creationId xmlns:p14="http://schemas.microsoft.com/office/powerpoint/2010/main" val="314380540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CA4D3B-6B87-4345-8561-678ED7769BE7}" type="datetimeFigureOut">
              <a:rPr lang="es-CL" smtClean="0"/>
              <a:t>06-04-26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AB40EE-7968-4939-B522-E630C2D2459F}" type="slidenum">
              <a:rPr lang="es-CL" smtClean="0"/>
              <a:t>‹#›</a:t>
            </a:fld>
            <a:endParaRPr lang="es-CL"/>
          </a:p>
        </p:txBody>
      </p:sp>
    </p:spTree>
    <p:extLst>
      <p:ext uri="{BB962C8B-B14F-4D97-AF65-F5344CB8AC3E}">
        <p14:creationId xmlns:p14="http://schemas.microsoft.com/office/powerpoint/2010/main" val="421518744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45220-D9C7-758D-63A6-1229020F428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0A48BAE-EDFA-F25A-33A0-4C908D83B3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8A2EF02-3289-40B3-F08E-95A76A581C66}"/>
              </a:ext>
            </a:extLst>
          </p:cNvPr>
          <p:cNvSpPr>
            <a:spLocks noGrp="1"/>
          </p:cNvSpPr>
          <p:nvPr>
            <p:ph type="body" idx="1"/>
          </p:nvPr>
        </p:nvSpPr>
        <p:spPr/>
        <p:txBody>
          <a:bodyPr/>
          <a:lstStyle/>
          <a:p>
            <a:endParaRPr lang="es-CL" dirty="0"/>
          </a:p>
        </p:txBody>
      </p:sp>
      <p:sp>
        <p:nvSpPr>
          <p:cNvPr id="4" name="Marcador de encabezado 3">
            <a:extLst>
              <a:ext uri="{FF2B5EF4-FFF2-40B4-BE49-F238E27FC236}">
                <a16:creationId xmlns:a16="http://schemas.microsoft.com/office/drawing/2014/main" id="{8F2847BE-7AAF-326D-ADEB-8654EDAD2B4E}"/>
              </a:ext>
            </a:extLst>
          </p:cNvPr>
          <p:cNvSpPr>
            <a:spLocks noGrp="1"/>
          </p:cNvSpPr>
          <p:nvPr>
            <p:ph type="hdr" sz="quarter"/>
          </p:nvPr>
        </p:nvSpPr>
        <p:spPr/>
        <p:txBody>
          <a:bodyPr/>
          <a:lstStyle/>
          <a:p>
            <a:r>
              <a:rPr lang="es-MX"/>
              <a:t>¿Qué es la ciencia de materiales?</a:t>
            </a:r>
            <a:endParaRPr lang="es-CL"/>
          </a:p>
        </p:txBody>
      </p:sp>
      <p:sp>
        <p:nvSpPr>
          <p:cNvPr id="5" name="Marcador de número de diapositiva 4">
            <a:extLst>
              <a:ext uri="{FF2B5EF4-FFF2-40B4-BE49-F238E27FC236}">
                <a16:creationId xmlns:a16="http://schemas.microsoft.com/office/drawing/2014/main" id="{B1E1FBD0-F93C-2165-2A31-5F6ED3124C30}"/>
              </a:ext>
            </a:extLst>
          </p:cNvPr>
          <p:cNvSpPr>
            <a:spLocks noGrp="1"/>
          </p:cNvSpPr>
          <p:nvPr>
            <p:ph type="sldNum" sz="quarter" idx="5"/>
          </p:nvPr>
        </p:nvSpPr>
        <p:spPr/>
        <p:txBody>
          <a:bodyPr/>
          <a:lstStyle/>
          <a:p>
            <a:fld id="{3AAB40EE-7968-4939-B522-E630C2D2459F}" type="slidenum">
              <a:rPr lang="es-CL" smtClean="0"/>
              <a:t>2</a:t>
            </a:fld>
            <a:endParaRPr lang="es-CL"/>
          </a:p>
        </p:txBody>
      </p:sp>
    </p:spTree>
    <p:extLst>
      <p:ext uri="{BB962C8B-B14F-4D97-AF65-F5344CB8AC3E}">
        <p14:creationId xmlns:p14="http://schemas.microsoft.com/office/powerpoint/2010/main" val="3526965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BD34F-13A2-8108-51D9-EC970D953C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5CCBA94-58B6-120F-5CDB-BEA0918CD9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610BAF4-DC93-EFCD-DADD-201210A2C26B}"/>
              </a:ext>
            </a:extLst>
          </p:cNvPr>
          <p:cNvSpPr>
            <a:spLocks noGrp="1"/>
          </p:cNvSpPr>
          <p:nvPr>
            <p:ph type="body" idx="1"/>
          </p:nvPr>
        </p:nvSpPr>
        <p:spPr/>
        <p:txBody>
          <a:bodyPr/>
          <a:lstStyle/>
          <a:p>
            <a:endParaRPr lang="es-CL" dirty="0"/>
          </a:p>
        </p:txBody>
      </p:sp>
      <p:sp>
        <p:nvSpPr>
          <p:cNvPr id="4" name="Marcador de encabezado 3">
            <a:extLst>
              <a:ext uri="{FF2B5EF4-FFF2-40B4-BE49-F238E27FC236}">
                <a16:creationId xmlns:a16="http://schemas.microsoft.com/office/drawing/2014/main" id="{219EF849-6DC6-AD2D-1492-E4619AE0FD93}"/>
              </a:ext>
            </a:extLst>
          </p:cNvPr>
          <p:cNvSpPr>
            <a:spLocks noGrp="1"/>
          </p:cNvSpPr>
          <p:nvPr>
            <p:ph type="hdr" sz="quarter"/>
          </p:nvPr>
        </p:nvSpPr>
        <p:spPr/>
        <p:txBody>
          <a:bodyPr/>
          <a:lstStyle/>
          <a:p>
            <a:r>
              <a:rPr lang="es-MX"/>
              <a:t>¿Qué es la ciencia de materiales?</a:t>
            </a:r>
            <a:endParaRPr lang="es-CL"/>
          </a:p>
        </p:txBody>
      </p:sp>
      <p:sp>
        <p:nvSpPr>
          <p:cNvPr id="5" name="Marcador de número de diapositiva 4">
            <a:extLst>
              <a:ext uri="{FF2B5EF4-FFF2-40B4-BE49-F238E27FC236}">
                <a16:creationId xmlns:a16="http://schemas.microsoft.com/office/drawing/2014/main" id="{4802C620-838C-6205-3D06-E748416E7F71}"/>
              </a:ext>
            </a:extLst>
          </p:cNvPr>
          <p:cNvSpPr>
            <a:spLocks noGrp="1"/>
          </p:cNvSpPr>
          <p:nvPr>
            <p:ph type="sldNum" sz="quarter" idx="5"/>
          </p:nvPr>
        </p:nvSpPr>
        <p:spPr/>
        <p:txBody>
          <a:bodyPr/>
          <a:lstStyle/>
          <a:p>
            <a:fld id="{3AAB40EE-7968-4939-B522-E630C2D2459F}" type="slidenum">
              <a:rPr lang="es-CL" smtClean="0"/>
              <a:t>3</a:t>
            </a:fld>
            <a:endParaRPr lang="es-CL"/>
          </a:p>
        </p:txBody>
      </p:sp>
    </p:spTree>
    <p:extLst>
      <p:ext uri="{BB962C8B-B14F-4D97-AF65-F5344CB8AC3E}">
        <p14:creationId xmlns:p14="http://schemas.microsoft.com/office/powerpoint/2010/main" val="3581085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5514D-FEDE-F0AB-825B-590BFCD8567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6DC477F-29FF-DD9C-2CCC-E94B20AA759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C4E8B4-F172-5878-118B-658E5781EF94}"/>
              </a:ext>
            </a:extLst>
          </p:cNvPr>
          <p:cNvSpPr>
            <a:spLocks noGrp="1"/>
          </p:cNvSpPr>
          <p:nvPr>
            <p:ph type="body" idx="1"/>
          </p:nvPr>
        </p:nvSpPr>
        <p:spPr/>
        <p:txBody>
          <a:bodyPr/>
          <a:lstStyle/>
          <a:p>
            <a:endParaRPr lang="es-CL" dirty="0"/>
          </a:p>
        </p:txBody>
      </p:sp>
      <p:sp>
        <p:nvSpPr>
          <p:cNvPr id="4" name="Marcador de encabezado 3">
            <a:extLst>
              <a:ext uri="{FF2B5EF4-FFF2-40B4-BE49-F238E27FC236}">
                <a16:creationId xmlns:a16="http://schemas.microsoft.com/office/drawing/2014/main" id="{57112153-7F4F-294F-9E89-1DA023BE324E}"/>
              </a:ext>
            </a:extLst>
          </p:cNvPr>
          <p:cNvSpPr>
            <a:spLocks noGrp="1"/>
          </p:cNvSpPr>
          <p:nvPr>
            <p:ph type="hdr" sz="quarter"/>
          </p:nvPr>
        </p:nvSpPr>
        <p:spPr/>
        <p:txBody>
          <a:bodyPr/>
          <a:lstStyle/>
          <a:p>
            <a:r>
              <a:rPr lang="es-MX"/>
              <a:t>¿Qué es la ciencia de materiales?</a:t>
            </a:r>
            <a:endParaRPr lang="es-CL"/>
          </a:p>
        </p:txBody>
      </p:sp>
      <p:sp>
        <p:nvSpPr>
          <p:cNvPr id="5" name="Marcador de número de diapositiva 4">
            <a:extLst>
              <a:ext uri="{FF2B5EF4-FFF2-40B4-BE49-F238E27FC236}">
                <a16:creationId xmlns:a16="http://schemas.microsoft.com/office/drawing/2014/main" id="{C487667B-27D1-5CD2-1F5B-31CB4DA73ABE}"/>
              </a:ext>
            </a:extLst>
          </p:cNvPr>
          <p:cNvSpPr>
            <a:spLocks noGrp="1"/>
          </p:cNvSpPr>
          <p:nvPr>
            <p:ph type="sldNum" sz="quarter" idx="5"/>
          </p:nvPr>
        </p:nvSpPr>
        <p:spPr/>
        <p:txBody>
          <a:bodyPr/>
          <a:lstStyle/>
          <a:p>
            <a:fld id="{3AAB40EE-7968-4939-B522-E630C2D2459F}" type="slidenum">
              <a:rPr lang="es-CL" smtClean="0"/>
              <a:t>4</a:t>
            </a:fld>
            <a:endParaRPr lang="es-CL"/>
          </a:p>
        </p:txBody>
      </p:sp>
    </p:spTree>
    <p:extLst>
      <p:ext uri="{BB962C8B-B14F-4D97-AF65-F5344CB8AC3E}">
        <p14:creationId xmlns:p14="http://schemas.microsoft.com/office/powerpoint/2010/main" val="1498574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CB737-9098-EBEC-B41E-89AF7657F78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4D39B85-B14D-B010-BFDA-1B57A29BFCE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2A1D8EA-D664-3725-4D18-9A3D516B3B88}"/>
              </a:ext>
            </a:extLst>
          </p:cNvPr>
          <p:cNvSpPr>
            <a:spLocks noGrp="1"/>
          </p:cNvSpPr>
          <p:nvPr>
            <p:ph type="body" idx="1"/>
          </p:nvPr>
        </p:nvSpPr>
        <p:spPr/>
        <p:txBody>
          <a:bodyPr/>
          <a:lstStyle/>
          <a:p>
            <a:endParaRPr lang="es-CL" dirty="0"/>
          </a:p>
        </p:txBody>
      </p:sp>
      <p:sp>
        <p:nvSpPr>
          <p:cNvPr id="4" name="Marcador de encabezado 3">
            <a:extLst>
              <a:ext uri="{FF2B5EF4-FFF2-40B4-BE49-F238E27FC236}">
                <a16:creationId xmlns:a16="http://schemas.microsoft.com/office/drawing/2014/main" id="{6B9FC07F-9171-86B8-7C3C-61CA513DD371}"/>
              </a:ext>
            </a:extLst>
          </p:cNvPr>
          <p:cNvSpPr>
            <a:spLocks noGrp="1"/>
          </p:cNvSpPr>
          <p:nvPr>
            <p:ph type="hdr" sz="quarter"/>
          </p:nvPr>
        </p:nvSpPr>
        <p:spPr/>
        <p:txBody>
          <a:bodyPr/>
          <a:lstStyle/>
          <a:p>
            <a:r>
              <a:rPr lang="es-MX"/>
              <a:t>¿Qué es la ciencia de materiales?</a:t>
            </a:r>
            <a:endParaRPr lang="es-CL"/>
          </a:p>
        </p:txBody>
      </p:sp>
      <p:sp>
        <p:nvSpPr>
          <p:cNvPr id="5" name="Marcador de número de diapositiva 4">
            <a:extLst>
              <a:ext uri="{FF2B5EF4-FFF2-40B4-BE49-F238E27FC236}">
                <a16:creationId xmlns:a16="http://schemas.microsoft.com/office/drawing/2014/main" id="{99B74A04-9DA0-8377-178E-769B192A5341}"/>
              </a:ext>
            </a:extLst>
          </p:cNvPr>
          <p:cNvSpPr>
            <a:spLocks noGrp="1"/>
          </p:cNvSpPr>
          <p:nvPr>
            <p:ph type="sldNum" sz="quarter" idx="5"/>
          </p:nvPr>
        </p:nvSpPr>
        <p:spPr/>
        <p:txBody>
          <a:bodyPr/>
          <a:lstStyle/>
          <a:p>
            <a:fld id="{3AAB40EE-7968-4939-B522-E630C2D2459F}" type="slidenum">
              <a:rPr lang="es-CL" smtClean="0"/>
              <a:t>5</a:t>
            </a:fld>
            <a:endParaRPr lang="es-CL"/>
          </a:p>
        </p:txBody>
      </p:sp>
    </p:spTree>
    <p:extLst>
      <p:ext uri="{BB962C8B-B14F-4D97-AF65-F5344CB8AC3E}">
        <p14:creationId xmlns:p14="http://schemas.microsoft.com/office/powerpoint/2010/main" val="1507902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77536-5264-9F92-BF9A-83D08884E2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0EAE0A5-3525-46DC-13A2-EC1CCD7E187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5789DF2-B36D-80E2-346C-48FD229F543A}"/>
              </a:ext>
            </a:extLst>
          </p:cNvPr>
          <p:cNvSpPr>
            <a:spLocks noGrp="1"/>
          </p:cNvSpPr>
          <p:nvPr>
            <p:ph type="body" idx="1"/>
          </p:nvPr>
        </p:nvSpPr>
        <p:spPr/>
        <p:txBody>
          <a:bodyPr/>
          <a:lstStyle/>
          <a:p>
            <a:endParaRPr lang="es-CL" dirty="0"/>
          </a:p>
        </p:txBody>
      </p:sp>
      <p:sp>
        <p:nvSpPr>
          <p:cNvPr id="4" name="Marcador de encabezado 3">
            <a:extLst>
              <a:ext uri="{FF2B5EF4-FFF2-40B4-BE49-F238E27FC236}">
                <a16:creationId xmlns:a16="http://schemas.microsoft.com/office/drawing/2014/main" id="{1C59689C-31E0-02B0-1124-8ED4AAA01F71}"/>
              </a:ext>
            </a:extLst>
          </p:cNvPr>
          <p:cNvSpPr>
            <a:spLocks noGrp="1"/>
          </p:cNvSpPr>
          <p:nvPr>
            <p:ph type="hdr" sz="quarter"/>
          </p:nvPr>
        </p:nvSpPr>
        <p:spPr/>
        <p:txBody>
          <a:bodyPr/>
          <a:lstStyle/>
          <a:p>
            <a:r>
              <a:rPr lang="es-MX"/>
              <a:t>¿Qué es la ciencia de materiales?</a:t>
            </a:r>
            <a:endParaRPr lang="es-CL"/>
          </a:p>
        </p:txBody>
      </p:sp>
      <p:sp>
        <p:nvSpPr>
          <p:cNvPr id="5" name="Marcador de número de diapositiva 4">
            <a:extLst>
              <a:ext uri="{FF2B5EF4-FFF2-40B4-BE49-F238E27FC236}">
                <a16:creationId xmlns:a16="http://schemas.microsoft.com/office/drawing/2014/main" id="{88B118D0-3435-7923-BC6B-4AA42B4C54A6}"/>
              </a:ext>
            </a:extLst>
          </p:cNvPr>
          <p:cNvSpPr>
            <a:spLocks noGrp="1"/>
          </p:cNvSpPr>
          <p:nvPr>
            <p:ph type="sldNum" sz="quarter" idx="5"/>
          </p:nvPr>
        </p:nvSpPr>
        <p:spPr/>
        <p:txBody>
          <a:bodyPr/>
          <a:lstStyle/>
          <a:p>
            <a:fld id="{3AAB40EE-7968-4939-B522-E630C2D2459F}" type="slidenum">
              <a:rPr lang="es-CL" smtClean="0"/>
              <a:t>6</a:t>
            </a:fld>
            <a:endParaRPr lang="es-CL"/>
          </a:p>
        </p:txBody>
      </p:sp>
    </p:spTree>
    <p:extLst>
      <p:ext uri="{BB962C8B-B14F-4D97-AF65-F5344CB8AC3E}">
        <p14:creationId xmlns:p14="http://schemas.microsoft.com/office/powerpoint/2010/main" val="2606409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23A13-8B6A-0F24-4768-973933E018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B04BB87-328C-1E55-7064-0CDFC4A4F53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01E9AA0-29E9-36BC-938D-3EF5AE8426AE}"/>
              </a:ext>
            </a:extLst>
          </p:cNvPr>
          <p:cNvSpPr>
            <a:spLocks noGrp="1"/>
          </p:cNvSpPr>
          <p:nvPr>
            <p:ph type="body" idx="1"/>
          </p:nvPr>
        </p:nvSpPr>
        <p:spPr/>
        <p:txBody>
          <a:bodyPr/>
          <a:lstStyle/>
          <a:p>
            <a:endParaRPr lang="es-CL" dirty="0"/>
          </a:p>
        </p:txBody>
      </p:sp>
      <p:sp>
        <p:nvSpPr>
          <p:cNvPr id="4" name="Marcador de encabezado 3">
            <a:extLst>
              <a:ext uri="{FF2B5EF4-FFF2-40B4-BE49-F238E27FC236}">
                <a16:creationId xmlns:a16="http://schemas.microsoft.com/office/drawing/2014/main" id="{06752B88-9728-0086-4982-37F94518AE22}"/>
              </a:ext>
            </a:extLst>
          </p:cNvPr>
          <p:cNvSpPr>
            <a:spLocks noGrp="1"/>
          </p:cNvSpPr>
          <p:nvPr>
            <p:ph type="hdr" sz="quarter"/>
          </p:nvPr>
        </p:nvSpPr>
        <p:spPr/>
        <p:txBody>
          <a:bodyPr/>
          <a:lstStyle/>
          <a:p>
            <a:r>
              <a:rPr lang="es-MX"/>
              <a:t>¿Qué es la ciencia de materiales?</a:t>
            </a:r>
            <a:endParaRPr lang="es-CL"/>
          </a:p>
        </p:txBody>
      </p:sp>
      <p:sp>
        <p:nvSpPr>
          <p:cNvPr id="5" name="Marcador de número de diapositiva 4">
            <a:extLst>
              <a:ext uri="{FF2B5EF4-FFF2-40B4-BE49-F238E27FC236}">
                <a16:creationId xmlns:a16="http://schemas.microsoft.com/office/drawing/2014/main" id="{064A9E4E-5D64-A09B-4B32-9E85B53E507F}"/>
              </a:ext>
            </a:extLst>
          </p:cNvPr>
          <p:cNvSpPr>
            <a:spLocks noGrp="1"/>
          </p:cNvSpPr>
          <p:nvPr>
            <p:ph type="sldNum" sz="quarter" idx="5"/>
          </p:nvPr>
        </p:nvSpPr>
        <p:spPr/>
        <p:txBody>
          <a:bodyPr/>
          <a:lstStyle/>
          <a:p>
            <a:fld id="{3AAB40EE-7968-4939-B522-E630C2D2459F}" type="slidenum">
              <a:rPr lang="es-CL" smtClean="0"/>
              <a:t>7</a:t>
            </a:fld>
            <a:endParaRPr lang="es-CL"/>
          </a:p>
        </p:txBody>
      </p:sp>
    </p:spTree>
    <p:extLst>
      <p:ext uri="{BB962C8B-B14F-4D97-AF65-F5344CB8AC3E}">
        <p14:creationId xmlns:p14="http://schemas.microsoft.com/office/powerpoint/2010/main" val="455821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69E28-7E87-0DF5-03A3-89D27788269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E8487B-5FF1-7C47-7AAA-25838F3893D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DA51FAE-8B65-FB1A-8F49-72C7F0E4BA95}"/>
              </a:ext>
            </a:extLst>
          </p:cNvPr>
          <p:cNvSpPr>
            <a:spLocks noGrp="1"/>
          </p:cNvSpPr>
          <p:nvPr>
            <p:ph type="body" idx="1"/>
          </p:nvPr>
        </p:nvSpPr>
        <p:spPr/>
        <p:txBody>
          <a:bodyPr/>
          <a:lstStyle/>
          <a:p>
            <a:endParaRPr lang="es-CL" dirty="0"/>
          </a:p>
        </p:txBody>
      </p:sp>
      <p:sp>
        <p:nvSpPr>
          <p:cNvPr id="4" name="Marcador de encabezado 3">
            <a:extLst>
              <a:ext uri="{FF2B5EF4-FFF2-40B4-BE49-F238E27FC236}">
                <a16:creationId xmlns:a16="http://schemas.microsoft.com/office/drawing/2014/main" id="{68BA2AE2-0E20-64A8-D7C8-1EFD1172D258}"/>
              </a:ext>
            </a:extLst>
          </p:cNvPr>
          <p:cNvSpPr>
            <a:spLocks noGrp="1"/>
          </p:cNvSpPr>
          <p:nvPr>
            <p:ph type="hdr" sz="quarter"/>
          </p:nvPr>
        </p:nvSpPr>
        <p:spPr/>
        <p:txBody>
          <a:bodyPr/>
          <a:lstStyle/>
          <a:p>
            <a:r>
              <a:rPr lang="es-MX"/>
              <a:t>¿Qué es la ciencia de materiales?</a:t>
            </a:r>
            <a:endParaRPr lang="es-CL"/>
          </a:p>
        </p:txBody>
      </p:sp>
      <p:sp>
        <p:nvSpPr>
          <p:cNvPr id="5" name="Marcador de número de diapositiva 4">
            <a:extLst>
              <a:ext uri="{FF2B5EF4-FFF2-40B4-BE49-F238E27FC236}">
                <a16:creationId xmlns:a16="http://schemas.microsoft.com/office/drawing/2014/main" id="{CFAEFF20-60AC-8A12-DFAA-CB55C690FE74}"/>
              </a:ext>
            </a:extLst>
          </p:cNvPr>
          <p:cNvSpPr>
            <a:spLocks noGrp="1"/>
          </p:cNvSpPr>
          <p:nvPr>
            <p:ph type="sldNum" sz="quarter" idx="5"/>
          </p:nvPr>
        </p:nvSpPr>
        <p:spPr/>
        <p:txBody>
          <a:bodyPr/>
          <a:lstStyle/>
          <a:p>
            <a:fld id="{3AAB40EE-7968-4939-B522-E630C2D2459F}" type="slidenum">
              <a:rPr lang="es-CL" smtClean="0"/>
              <a:t>8</a:t>
            </a:fld>
            <a:endParaRPr lang="es-CL"/>
          </a:p>
        </p:txBody>
      </p:sp>
    </p:spTree>
    <p:extLst>
      <p:ext uri="{BB962C8B-B14F-4D97-AF65-F5344CB8AC3E}">
        <p14:creationId xmlns:p14="http://schemas.microsoft.com/office/powerpoint/2010/main" val="2975465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3E4C3-8A29-BA3C-2D5E-89566865D6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F9EC162-FE50-CD5B-EE93-CA899BD7BE3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6B254A0-F692-38E4-0D71-2305CD6684BD}"/>
              </a:ext>
            </a:extLst>
          </p:cNvPr>
          <p:cNvSpPr>
            <a:spLocks noGrp="1"/>
          </p:cNvSpPr>
          <p:nvPr>
            <p:ph type="body" idx="1"/>
          </p:nvPr>
        </p:nvSpPr>
        <p:spPr/>
        <p:txBody>
          <a:bodyPr/>
          <a:lstStyle/>
          <a:p>
            <a:endParaRPr lang="es-CL" dirty="0"/>
          </a:p>
        </p:txBody>
      </p:sp>
      <p:sp>
        <p:nvSpPr>
          <p:cNvPr id="4" name="Marcador de encabezado 3">
            <a:extLst>
              <a:ext uri="{FF2B5EF4-FFF2-40B4-BE49-F238E27FC236}">
                <a16:creationId xmlns:a16="http://schemas.microsoft.com/office/drawing/2014/main" id="{41C3278B-1870-4C20-D2FE-B9243CAD0C45}"/>
              </a:ext>
            </a:extLst>
          </p:cNvPr>
          <p:cNvSpPr>
            <a:spLocks noGrp="1"/>
          </p:cNvSpPr>
          <p:nvPr>
            <p:ph type="hdr" sz="quarter"/>
          </p:nvPr>
        </p:nvSpPr>
        <p:spPr/>
        <p:txBody>
          <a:bodyPr/>
          <a:lstStyle/>
          <a:p>
            <a:r>
              <a:rPr lang="es-MX"/>
              <a:t>¿Qué es la ciencia de materiales?</a:t>
            </a:r>
            <a:endParaRPr lang="es-CL"/>
          </a:p>
        </p:txBody>
      </p:sp>
      <p:sp>
        <p:nvSpPr>
          <p:cNvPr id="5" name="Marcador de número de diapositiva 4">
            <a:extLst>
              <a:ext uri="{FF2B5EF4-FFF2-40B4-BE49-F238E27FC236}">
                <a16:creationId xmlns:a16="http://schemas.microsoft.com/office/drawing/2014/main" id="{8F4E80A8-AE32-8229-6B23-A9D419784FCD}"/>
              </a:ext>
            </a:extLst>
          </p:cNvPr>
          <p:cNvSpPr>
            <a:spLocks noGrp="1"/>
          </p:cNvSpPr>
          <p:nvPr>
            <p:ph type="sldNum" sz="quarter" idx="5"/>
          </p:nvPr>
        </p:nvSpPr>
        <p:spPr/>
        <p:txBody>
          <a:bodyPr/>
          <a:lstStyle/>
          <a:p>
            <a:fld id="{3AAB40EE-7968-4939-B522-E630C2D2459F}" type="slidenum">
              <a:rPr lang="es-CL" smtClean="0"/>
              <a:t>9</a:t>
            </a:fld>
            <a:endParaRPr lang="es-CL"/>
          </a:p>
        </p:txBody>
      </p:sp>
    </p:spTree>
    <p:extLst>
      <p:ext uri="{BB962C8B-B14F-4D97-AF65-F5344CB8AC3E}">
        <p14:creationId xmlns:p14="http://schemas.microsoft.com/office/powerpoint/2010/main" val="74726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BFC4B-2728-F7DD-5CD4-7B87D1EE4EC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DF8D279-14DC-D428-B139-C32AFB7829B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AEDA382-2CF4-1260-CFAB-328C2E2551FB}"/>
              </a:ext>
            </a:extLst>
          </p:cNvPr>
          <p:cNvSpPr>
            <a:spLocks noGrp="1"/>
          </p:cNvSpPr>
          <p:nvPr>
            <p:ph type="body" idx="1"/>
          </p:nvPr>
        </p:nvSpPr>
        <p:spPr/>
        <p:txBody>
          <a:bodyPr/>
          <a:lstStyle/>
          <a:p>
            <a:endParaRPr lang="es-CL" dirty="0"/>
          </a:p>
        </p:txBody>
      </p:sp>
      <p:sp>
        <p:nvSpPr>
          <p:cNvPr id="4" name="Marcador de encabezado 3">
            <a:extLst>
              <a:ext uri="{FF2B5EF4-FFF2-40B4-BE49-F238E27FC236}">
                <a16:creationId xmlns:a16="http://schemas.microsoft.com/office/drawing/2014/main" id="{08CFA9AB-B7B5-6870-D061-4896E1462F57}"/>
              </a:ext>
            </a:extLst>
          </p:cNvPr>
          <p:cNvSpPr>
            <a:spLocks noGrp="1"/>
          </p:cNvSpPr>
          <p:nvPr>
            <p:ph type="hdr" sz="quarter"/>
          </p:nvPr>
        </p:nvSpPr>
        <p:spPr/>
        <p:txBody>
          <a:bodyPr/>
          <a:lstStyle/>
          <a:p>
            <a:r>
              <a:rPr lang="es-MX"/>
              <a:t>¿Qué es la ciencia de materiales?</a:t>
            </a:r>
            <a:endParaRPr lang="es-CL"/>
          </a:p>
        </p:txBody>
      </p:sp>
      <p:sp>
        <p:nvSpPr>
          <p:cNvPr id="5" name="Marcador de número de diapositiva 4">
            <a:extLst>
              <a:ext uri="{FF2B5EF4-FFF2-40B4-BE49-F238E27FC236}">
                <a16:creationId xmlns:a16="http://schemas.microsoft.com/office/drawing/2014/main" id="{F03D183D-A858-9283-073F-2B023D051EDC}"/>
              </a:ext>
            </a:extLst>
          </p:cNvPr>
          <p:cNvSpPr>
            <a:spLocks noGrp="1"/>
          </p:cNvSpPr>
          <p:nvPr>
            <p:ph type="sldNum" sz="quarter" idx="5"/>
          </p:nvPr>
        </p:nvSpPr>
        <p:spPr/>
        <p:txBody>
          <a:bodyPr/>
          <a:lstStyle/>
          <a:p>
            <a:fld id="{3AAB40EE-7968-4939-B522-E630C2D2459F}" type="slidenum">
              <a:rPr lang="es-CL" smtClean="0"/>
              <a:t>10</a:t>
            </a:fld>
            <a:endParaRPr lang="es-CL"/>
          </a:p>
        </p:txBody>
      </p:sp>
    </p:spTree>
    <p:extLst>
      <p:ext uri="{BB962C8B-B14F-4D97-AF65-F5344CB8AC3E}">
        <p14:creationId xmlns:p14="http://schemas.microsoft.com/office/powerpoint/2010/main" val="21006241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38B8-21A9-D6E9-7850-A5F1233B710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62BE478-F16C-F18A-AADB-374A0CFD501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62B3E51-9354-3DFC-4A6A-CC1B18621512}"/>
              </a:ext>
            </a:extLst>
          </p:cNvPr>
          <p:cNvSpPr>
            <a:spLocks noGrp="1"/>
          </p:cNvSpPr>
          <p:nvPr>
            <p:ph type="body" idx="1"/>
          </p:nvPr>
        </p:nvSpPr>
        <p:spPr/>
        <p:txBody>
          <a:bodyPr/>
          <a:lstStyle/>
          <a:p>
            <a:endParaRPr lang="es-CL" dirty="0"/>
          </a:p>
        </p:txBody>
      </p:sp>
      <p:sp>
        <p:nvSpPr>
          <p:cNvPr id="4" name="Marcador de encabezado 3">
            <a:extLst>
              <a:ext uri="{FF2B5EF4-FFF2-40B4-BE49-F238E27FC236}">
                <a16:creationId xmlns:a16="http://schemas.microsoft.com/office/drawing/2014/main" id="{630119AE-80CB-15E5-7B55-B2A6B962F332}"/>
              </a:ext>
            </a:extLst>
          </p:cNvPr>
          <p:cNvSpPr>
            <a:spLocks noGrp="1"/>
          </p:cNvSpPr>
          <p:nvPr>
            <p:ph type="hdr" sz="quarter"/>
          </p:nvPr>
        </p:nvSpPr>
        <p:spPr/>
        <p:txBody>
          <a:bodyPr/>
          <a:lstStyle/>
          <a:p>
            <a:r>
              <a:rPr lang="es-MX"/>
              <a:t>¿Qué es la ciencia de materiales?</a:t>
            </a:r>
            <a:endParaRPr lang="es-CL"/>
          </a:p>
        </p:txBody>
      </p:sp>
      <p:sp>
        <p:nvSpPr>
          <p:cNvPr id="5" name="Marcador de número de diapositiva 4">
            <a:extLst>
              <a:ext uri="{FF2B5EF4-FFF2-40B4-BE49-F238E27FC236}">
                <a16:creationId xmlns:a16="http://schemas.microsoft.com/office/drawing/2014/main" id="{0D465025-4219-8BFF-1D82-23DCC8A04439}"/>
              </a:ext>
            </a:extLst>
          </p:cNvPr>
          <p:cNvSpPr>
            <a:spLocks noGrp="1"/>
          </p:cNvSpPr>
          <p:nvPr>
            <p:ph type="sldNum" sz="quarter" idx="5"/>
          </p:nvPr>
        </p:nvSpPr>
        <p:spPr/>
        <p:txBody>
          <a:bodyPr/>
          <a:lstStyle/>
          <a:p>
            <a:fld id="{3AAB40EE-7968-4939-B522-E630C2D2459F}" type="slidenum">
              <a:rPr lang="es-CL" smtClean="0"/>
              <a:t>11</a:t>
            </a:fld>
            <a:endParaRPr lang="es-CL"/>
          </a:p>
        </p:txBody>
      </p:sp>
    </p:spTree>
    <p:extLst>
      <p:ext uri="{BB962C8B-B14F-4D97-AF65-F5344CB8AC3E}">
        <p14:creationId xmlns:p14="http://schemas.microsoft.com/office/powerpoint/2010/main" val="15344549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3EDB4-5FF6-F5DF-4CB5-A7A302E5D42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37CEEA9-CE6E-70DD-CB14-8FDB7D51EF3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8D1327D-52ED-AFD5-8922-90C7AA0004D5}"/>
              </a:ext>
            </a:extLst>
          </p:cNvPr>
          <p:cNvSpPr>
            <a:spLocks noGrp="1"/>
          </p:cNvSpPr>
          <p:nvPr>
            <p:ph type="body" idx="1"/>
          </p:nvPr>
        </p:nvSpPr>
        <p:spPr/>
        <p:txBody>
          <a:bodyPr/>
          <a:lstStyle/>
          <a:p>
            <a:endParaRPr lang="es-CL" dirty="0"/>
          </a:p>
        </p:txBody>
      </p:sp>
      <p:sp>
        <p:nvSpPr>
          <p:cNvPr id="4" name="Marcador de encabezado 3">
            <a:extLst>
              <a:ext uri="{FF2B5EF4-FFF2-40B4-BE49-F238E27FC236}">
                <a16:creationId xmlns:a16="http://schemas.microsoft.com/office/drawing/2014/main" id="{67B07153-9BD3-1069-AEB0-8F8C80ABFE8F}"/>
              </a:ext>
            </a:extLst>
          </p:cNvPr>
          <p:cNvSpPr>
            <a:spLocks noGrp="1"/>
          </p:cNvSpPr>
          <p:nvPr>
            <p:ph type="hdr" sz="quarter"/>
          </p:nvPr>
        </p:nvSpPr>
        <p:spPr/>
        <p:txBody>
          <a:bodyPr/>
          <a:lstStyle/>
          <a:p>
            <a:r>
              <a:rPr lang="es-MX"/>
              <a:t>¿Qué es la ciencia de materiales?</a:t>
            </a:r>
            <a:endParaRPr lang="es-CL"/>
          </a:p>
        </p:txBody>
      </p:sp>
      <p:sp>
        <p:nvSpPr>
          <p:cNvPr id="5" name="Marcador de número de diapositiva 4">
            <a:extLst>
              <a:ext uri="{FF2B5EF4-FFF2-40B4-BE49-F238E27FC236}">
                <a16:creationId xmlns:a16="http://schemas.microsoft.com/office/drawing/2014/main" id="{A8100CAF-6FEC-674F-4117-AFECFDEEEA82}"/>
              </a:ext>
            </a:extLst>
          </p:cNvPr>
          <p:cNvSpPr>
            <a:spLocks noGrp="1"/>
          </p:cNvSpPr>
          <p:nvPr>
            <p:ph type="sldNum" sz="quarter" idx="5"/>
          </p:nvPr>
        </p:nvSpPr>
        <p:spPr/>
        <p:txBody>
          <a:bodyPr/>
          <a:lstStyle/>
          <a:p>
            <a:fld id="{3AAB40EE-7968-4939-B522-E630C2D2459F}" type="slidenum">
              <a:rPr lang="es-CL" smtClean="0"/>
              <a:t>12</a:t>
            </a:fld>
            <a:endParaRPr lang="es-CL"/>
          </a:p>
        </p:txBody>
      </p:sp>
    </p:spTree>
    <p:extLst>
      <p:ext uri="{BB962C8B-B14F-4D97-AF65-F5344CB8AC3E}">
        <p14:creationId xmlns:p14="http://schemas.microsoft.com/office/powerpoint/2010/main" val="38158579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E009D-A5FE-0F4F-4819-04CC2BEE847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5984202-7EE2-31F1-119D-44641D5507B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E010B2B-95E5-7157-A136-3FD5E66A8C27}"/>
              </a:ext>
            </a:extLst>
          </p:cNvPr>
          <p:cNvSpPr>
            <a:spLocks noGrp="1"/>
          </p:cNvSpPr>
          <p:nvPr>
            <p:ph type="body" idx="1"/>
          </p:nvPr>
        </p:nvSpPr>
        <p:spPr/>
        <p:txBody>
          <a:bodyPr/>
          <a:lstStyle/>
          <a:p>
            <a:endParaRPr lang="es-CL" dirty="0"/>
          </a:p>
        </p:txBody>
      </p:sp>
      <p:sp>
        <p:nvSpPr>
          <p:cNvPr id="4" name="Marcador de encabezado 3">
            <a:extLst>
              <a:ext uri="{FF2B5EF4-FFF2-40B4-BE49-F238E27FC236}">
                <a16:creationId xmlns:a16="http://schemas.microsoft.com/office/drawing/2014/main" id="{DDE94FEA-768B-13CA-45A3-1F8D79441501}"/>
              </a:ext>
            </a:extLst>
          </p:cNvPr>
          <p:cNvSpPr>
            <a:spLocks noGrp="1"/>
          </p:cNvSpPr>
          <p:nvPr>
            <p:ph type="hdr" sz="quarter"/>
          </p:nvPr>
        </p:nvSpPr>
        <p:spPr/>
        <p:txBody>
          <a:bodyPr/>
          <a:lstStyle/>
          <a:p>
            <a:r>
              <a:rPr lang="es-MX"/>
              <a:t>¿Qué es la ciencia de materiales?</a:t>
            </a:r>
            <a:endParaRPr lang="es-CL"/>
          </a:p>
        </p:txBody>
      </p:sp>
      <p:sp>
        <p:nvSpPr>
          <p:cNvPr id="5" name="Marcador de número de diapositiva 4">
            <a:extLst>
              <a:ext uri="{FF2B5EF4-FFF2-40B4-BE49-F238E27FC236}">
                <a16:creationId xmlns:a16="http://schemas.microsoft.com/office/drawing/2014/main" id="{914AF72F-0794-545A-ADAD-ED5C2166CD07}"/>
              </a:ext>
            </a:extLst>
          </p:cNvPr>
          <p:cNvSpPr>
            <a:spLocks noGrp="1"/>
          </p:cNvSpPr>
          <p:nvPr>
            <p:ph type="sldNum" sz="quarter" idx="5"/>
          </p:nvPr>
        </p:nvSpPr>
        <p:spPr/>
        <p:txBody>
          <a:bodyPr/>
          <a:lstStyle/>
          <a:p>
            <a:fld id="{3AAB40EE-7968-4939-B522-E630C2D2459F}" type="slidenum">
              <a:rPr lang="es-CL" smtClean="0"/>
              <a:t>13</a:t>
            </a:fld>
            <a:endParaRPr lang="es-CL"/>
          </a:p>
        </p:txBody>
      </p:sp>
    </p:spTree>
    <p:extLst>
      <p:ext uri="{BB962C8B-B14F-4D97-AF65-F5344CB8AC3E}">
        <p14:creationId xmlns:p14="http://schemas.microsoft.com/office/powerpoint/2010/main" val="23528323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9FB3E-599F-2F46-A902-E02B1D61EE1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0A7AECF-7AF6-D207-DE9F-AA745083408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5572F43-3959-277B-C5EF-37E13E734C1B}"/>
              </a:ext>
            </a:extLst>
          </p:cNvPr>
          <p:cNvSpPr>
            <a:spLocks noGrp="1"/>
          </p:cNvSpPr>
          <p:nvPr>
            <p:ph type="body" idx="1"/>
          </p:nvPr>
        </p:nvSpPr>
        <p:spPr/>
        <p:txBody>
          <a:bodyPr/>
          <a:lstStyle/>
          <a:p>
            <a:endParaRPr lang="es-CL" dirty="0"/>
          </a:p>
        </p:txBody>
      </p:sp>
      <p:sp>
        <p:nvSpPr>
          <p:cNvPr id="4" name="Marcador de encabezado 3">
            <a:extLst>
              <a:ext uri="{FF2B5EF4-FFF2-40B4-BE49-F238E27FC236}">
                <a16:creationId xmlns:a16="http://schemas.microsoft.com/office/drawing/2014/main" id="{0501C409-16B3-CE2F-E6F3-D1764983B737}"/>
              </a:ext>
            </a:extLst>
          </p:cNvPr>
          <p:cNvSpPr>
            <a:spLocks noGrp="1"/>
          </p:cNvSpPr>
          <p:nvPr>
            <p:ph type="hdr" sz="quarter"/>
          </p:nvPr>
        </p:nvSpPr>
        <p:spPr/>
        <p:txBody>
          <a:bodyPr/>
          <a:lstStyle/>
          <a:p>
            <a:r>
              <a:rPr lang="es-MX"/>
              <a:t>¿Qué es la ciencia de materiales?</a:t>
            </a:r>
            <a:endParaRPr lang="es-CL"/>
          </a:p>
        </p:txBody>
      </p:sp>
      <p:sp>
        <p:nvSpPr>
          <p:cNvPr id="5" name="Marcador de número de diapositiva 4">
            <a:extLst>
              <a:ext uri="{FF2B5EF4-FFF2-40B4-BE49-F238E27FC236}">
                <a16:creationId xmlns:a16="http://schemas.microsoft.com/office/drawing/2014/main" id="{B35D3C4A-F86F-8C81-9761-D6FCDC329B30}"/>
              </a:ext>
            </a:extLst>
          </p:cNvPr>
          <p:cNvSpPr>
            <a:spLocks noGrp="1"/>
          </p:cNvSpPr>
          <p:nvPr>
            <p:ph type="sldNum" sz="quarter" idx="5"/>
          </p:nvPr>
        </p:nvSpPr>
        <p:spPr/>
        <p:txBody>
          <a:bodyPr/>
          <a:lstStyle/>
          <a:p>
            <a:fld id="{3AAB40EE-7968-4939-B522-E630C2D2459F}" type="slidenum">
              <a:rPr lang="es-CL" smtClean="0"/>
              <a:t>14</a:t>
            </a:fld>
            <a:endParaRPr lang="es-CL"/>
          </a:p>
        </p:txBody>
      </p:sp>
    </p:spTree>
    <p:extLst>
      <p:ext uri="{BB962C8B-B14F-4D97-AF65-F5344CB8AC3E}">
        <p14:creationId xmlns:p14="http://schemas.microsoft.com/office/powerpoint/2010/main" val="4281799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6AE207-9B5B-F51B-2DCE-6B63CD79132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AA8F1123-3B1F-3E75-E681-7AE6ABE35C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497AB414-C40C-3167-D7B7-5E8B85F20533}"/>
              </a:ext>
            </a:extLst>
          </p:cNvPr>
          <p:cNvSpPr>
            <a:spLocks noGrp="1"/>
          </p:cNvSpPr>
          <p:nvPr>
            <p:ph type="dt" sz="half" idx="10"/>
          </p:nvPr>
        </p:nvSpPr>
        <p:spPr/>
        <p:txBody>
          <a:bodyPr/>
          <a:lstStyle/>
          <a:p>
            <a:endParaRPr lang="es-CL"/>
          </a:p>
        </p:txBody>
      </p:sp>
      <p:sp>
        <p:nvSpPr>
          <p:cNvPr id="5" name="Marcador de pie de página 4">
            <a:extLst>
              <a:ext uri="{FF2B5EF4-FFF2-40B4-BE49-F238E27FC236}">
                <a16:creationId xmlns:a16="http://schemas.microsoft.com/office/drawing/2014/main" id="{0B1AD623-DBC1-2178-0E3E-B0F075411503}"/>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5069D30-7548-5909-219E-15AE997996F2}"/>
              </a:ext>
            </a:extLst>
          </p:cNvPr>
          <p:cNvSpPr>
            <a:spLocks noGrp="1"/>
          </p:cNvSpPr>
          <p:nvPr>
            <p:ph type="sldNum" sz="quarter" idx="12"/>
          </p:nvPr>
        </p:nvSpPr>
        <p:spPr/>
        <p:txBody>
          <a:bodyPr/>
          <a:lstStyle/>
          <a:p>
            <a:fld id="{69C89E4B-EE86-427E-B533-BCEDB2CD4BCC}" type="slidenum">
              <a:rPr lang="es-CL" smtClean="0"/>
              <a:t>‹#›</a:t>
            </a:fld>
            <a:endParaRPr lang="es-CL"/>
          </a:p>
        </p:txBody>
      </p:sp>
    </p:spTree>
    <p:extLst>
      <p:ext uri="{BB962C8B-B14F-4D97-AF65-F5344CB8AC3E}">
        <p14:creationId xmlns:p14="http://schemas.microsoft.com/office/powerpoint/2010/main" val="14544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EACBA2-25C5-C679-100D-DFA42FCE1824}"/>
              </a:ext>
            </a:extLst>
          </p:cNvPr>
          <p:cNvSpPr>
            <a:spLocks noGrp="1"/>
          </p:cNvSpPr>
          <p:nvPr>
            <p:ph type="title"/>
          </p:nvPr>
        </p:nvSpPr>
        <p:spPr/>
        <p:txBody>
          <a:bodyPr/>
          <a:lstStyle/>
          <a:p>
            <a:r>
              <a:rPr lang="es-ES" dirty="0"/>
              <a:t>Haga clic para modificar el estilo de título del patrón</a:t>
            </a:r>
            <a:endParaRPr lang="es-CL" dirty="0"/>
          </a:p>
        </p:txBody>
      </p:sp>
    </p:spTree>
    <p:extLst>
      <p:ext uri="{BB962C8B-B14F-4D97-AF65-F5344CB8AC3E}">
        <p14:creationId xmlns:p14="http://schemas.microsoft.com/office/powerpoint/2010/main" val="7007828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66E9C7C-3164-2798-8C73-0EC975DC21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1A40FCBD-1482-A1F0-68D5-4C1DDA0934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B9A91D0E-BEBE-A1C9-4701-575929D93C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CL"/>
          </a:p>
        </p:txBody>
      </p:sp>
      <p:sp>
        <p:nvSpPr>
          <p:cNvPr id="5" name="Marcador de pie de página 4">
            <a:extLst>
              <a:ext uri="{FF2B5EF4-FFF2-40B4-BE49-F238E27FC236}">
                <a16:creationId xmlns:a16="http://schemas.microsoft.com/office/drawing/2014/main" id="{A65442CB-1A01-5798-2666-102FACD509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DB19774E-35C1-9B8D-AC9B-482856A517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C89E4B-EE86-427E-B533-BCEDB2CD4BCC}" type="slidenum">
              <a:rPr lang="es-CL" smtClean="0"/>
              <a:t>‹#›</a:t>
            </a:fld>
            <a:endParaRPr lang="es-CL"/>
          </a:p>
        </p:txBody>
      </p:sp>
    </p:spTree>
    <p:extLst>
      <p:ext uri="{BB962C8B-B14F-4D97-AF65-F5344CB8AC3E}">
        <p14:creationId xmlns:p14="http://schemas.microsoft.com/office/powerpoint/2010/main" val="1442991806"/>
      </p:ext>
    </p:ext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60C42A5A-A0E5-A3E7-6E4B-E2E121DEAC13}"/>
              </a:ext>
            </a:extLst>
          </p:cNvPr>
          <p:cNvSpPr/>
          <p:nvPr/>
        </p:nvSpPr>
        <p:spPr>
          <a:xfrm>
            <a:off x="0" y="3831139"/>
            <a:ext cx="12192000" cy="2112461"/>
          </a:xfrm>
          <a:prstGeom prst="rect">
            <a:avLst/>
          </a:prstGeom>
          <a:gradFill flip="none" rotWithShape="1">
            <a:gsLst>
              <a:gs pos="0">
                <a:schemeClr val="accent1">
                  <a:lumMod val="60000"/>
                  <a:lumOff val="40000"/>
                </a:schemeClr>
              </a:gs>
              <a:gs pos="67000">
                <a:schemeClr val="accent5">
                  <a:lumMod val="45000"/>
                  <a:lumOff val="55000"/>
                  <a:alpha val="94000"/>
                </a:schemeClr>
              </a:gs>
              <a:gs pos="77000">
                <a:schemeClr val="accent5">
                  <a:lumMod val="45000"/>
                  <a:lumOff val="55000"/>
                </a:schemeClr>
              </a:gs>
              <a:gs pos="100000">
                <a:schemeClr val="accent5">
                  <a:lumMod val="30000"/>
                  <a:lumOff val="7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 name="CuadroTexto 7">
            <a:extLst>
              <a:ext uri="{FF2B5EF4-FFF2-40B4-BE49-F238E27FC236}">
                <a16:creationId xmlns:a16="http://schemas.microsoft.com/office/drawing/2014/main" id="{AA36B385-65DE-D10D-6513-32BA9CFD88D3}"/>
              </a:ext>
            </a:extLst>
          </p:cNvPr>
          <p:cNvSpPr txBox="1"/>
          <p:nvPr/>
        </p:nvSpPr>
        <p:spPr>
          <a:xfrm>
            <a:off x="445007" y="4070178"/>
            <a:ext cx="11396926" cy="2462213"/>
          </a:xfrm>
          <a:prstGeom prst="rect">
            <a:avLst/>
          </a:prstGeom>
          <a:noFill/>
        </p:spPr>
        <p:txBody>
          <a:bodyPr wrap="square" rtlCol="0">
            <a:spAutoFit/>
          </a:bodyPr>
          <a:lstStyle/>
          <a:p>
            <a:r>
              <a:rPr lang="es-MX" sz="2800" dirty="0">
                <a:effectLst/>
                <a:latin typeface="Montserrat" pitchFamily="2" charset="77"/>
              </a:rPr>
              <a:t>Cinemática </a:t>
            </a:r>
            <a:r>
              <a:rPr lang="es-MX" sz="2800" dirty="0">
                <a:latin typeface="Montserrat" pitchFamily="2" charset="77"/>
              </a:rPr>
              <a:t>de</a:t>
            </a:r>
            <a:r>
              <a:rPr lang="es-MX" sz="2800" dirty="0">
                <a:effectLst/>
                <a:latin typeface="Montserrat" pitchFamily="2" charset="77"/>
              </a:rPr>
              <a:t> la partícula en una dimensión</a:t>
            </a:r>
          </a:p>
          <a:p>
            <a:r>
              <a:rPr lang="es-ES" dirty="0">
                <a:latin typeface="Montserrat" pitchFamily="2" charset="77"/>
              </a:rPr>
              <a:t>Felipe Espinoza Vidal, PhD©.</a:t>
            </a:r>
          </a:p>
          <a:p>
            <a:r>
              <a:rPr lang="es-ES" dirty="0">
                <a:latin typeface="Montserrat" pitchFamily="2" charset="77"/>
              </a:rPr>
              <a:t>Departamento de Física</a:t>
            </a:r>
          </a:p>
          <a:p>
            <a:r>
              <a:rPr lang="es-ES" dirty="0">
                <a:latin typeface="Montserrat" pitchFamily="2" charset="77"/>
              </a:rPr>
              <a:t>Facultad de Ciencias Naturales, Matemática y Medio Ambiente</a:t>
            </a:r>
          </a:p>
          <a:p>
            <a:endParaRPr lang="es-CL" dirty="0">
              <a:latin typeface="Montserrat" panose="00000500000000000000" pitchFamily="2" charset="0"/>
            </a:endParaRPr>
          </a:p>
          <a:p>
            <a:endParaRPr lang="es-CL" dirty="0">
              <a:latin typeface="Montserrat" panose="00000500000000000000" pitchFamily="2" charset="0"/>
            </a:endParaRPr>
          </a:p>
          <a:p>
            <a:br>
              <a:rPr lang="es-CL" dirty="0">
                <a:latin typeface="Montserrat" panose="00000500000000000000" pitchFamily="2" charset="0"/>
              </a:rPr>
            </a:br>
            <a:r>
              <a:rPr lang="es-CL" dirty="0">
                <a:latin typeface="Montserrat" panose="00000500000000000000" pitchFamily="2" charset="0"/>
              </a:rPr>
              <a:t>Adaptado de: </a:t>
            </a:r>
            <a:r>
              <a:rPr lang="es-ES" dirty="0">
                <a:latin typeface="Montserrat" pitchFamily="2" charset="77"/>
              </a:rPr>
              <a:t>Dr. Nicolás Amigo</a:t>
            </a:r>
            <a:endParaRPr lang="es-CL" dirty="0">
              <a:latin typeface="Montserrat" panose="00000500000000000000" pitchFamily="2" charset="0"/>
            </a:endParaRPr>
          </a:p>
        </p:txBody>
      </p:sp>
      <p:sp>
        <p:nvSpPr>
          <p:cNvPr id="2" name="Marcador de número de diapositiva 2">
            <a:extLst>
              <a:ext uri="{FF2B5EF4-FFF2-40B4-BE49-F238E27FC236}">
                <a16:creationId xmlns:a16="http://schemas.microsoft.com/office/drawing/2014/main" id="{522C58D3-A6C6-5EDA-6A87-2C7AFC274AF4}"/>
              </a:ext>
            </a:extLst>
          </p:cNvPr>
          <p:cNvSpPr txBox="1">
            <a:spLocks/>
          </p:cNvSpPr>
          <p:nvPr/>
        </p:nvSpPr>
        <p:spPr>
          <a:xfrm>
            <a:off x="8993372" y="168201"/>
            <a:ext cx="2743200" cy="365125"/>
          </a:xfrm>
          <a:prstGeom prst="rect">
            <a:avLst/>
          </a:prstGeom>
        </p:spPr>
        <p:txBody>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9C89E4B-EE86-427E-B533-BCEDB2CD4BCC}" type="slidenum">
              <a:rPr lang="es-CL" sz="1200" smtClean="0"/>
              <a:pPr algn="r"/>
              <a:t>1</a:t>
            </a:fld>
            <a:endParaRPr lang="es-CL" sz="1200"/>
          </a:p>
        </p:txBody>
      </p:sp>
      <p:pic>
        <p:nvPicPr>
          <p:cNvPr id="3" name="Picture 2" descr="Vicerrectoria Academica – Vicerrectoria Academica">
            <a:extLst>
              <a:ext uri="{FF2B5EF4-FFF2-40B4-BE49-F238E27FC236}">
                <a16:creationId xmlns:a16="http://schemas.microsoft.com/office/drawing/2014/main" id="{484874CE-364E-0CF2-31E2-465F740BFA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3" y="0"/>
            <a:ext cx="5346421" cy="1934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8636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DB826-DC83-725D-21F0-24A7CA73036D}"/>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06ED36F4-7AF5-AC8F-7B9D-8E2FE1AB0090}"/>
              </a:ext>
            </a:extLst>
          </p:cNvPr>
          <p:cNvSpPr txBox="1"/>
          <p:nvPr/>
        </p:nvSpPr>
        <p:spPr>
          <a:xfrm>
            <a:off x="133350" y="19050"/>
            <a:ext cx="11934826" cy="461665"/>
          </a:xfrm>
          <a:prstGeom prst="rect">
            <a:avLst/>
          </a:prstGeom>
          <a:noFill/>
          <a:ln cap="flat" cmpd="sng">
            <a:solidFill>
              <a:srgbClr val="FFFFFF"/>
            </a:solidFill>
          </a:ln>
        </p:spPr>
        <p:txBody>
          <a:bodyPr wrap="square" rtlCol="0">
            <a:spAutoFit/>
          </a:bodyPr>
          <a:lstStyle/>
          <a:p>
            <a:pPr algn="ctr"/>
            <a:endParaRPr lang="es-CL" sz="2400" dirty="0"/>
          </a:p>
        </p:txBody>
      </p:sp>
      <p:graphicFrame>
        <p:nvGraphicFramePr>
          <p:cNvPr id="8" name="Tabla 7">
            <a:extLst>
              <a:ext uri="{FF2B5EF4-FFF2-40B4-BE49-F238E27FC236}">
                <a16:creationId xmlns:a16="http://schemas.microsoft.com/office/drawing/2014/main" id="{547DEE24-955E-2807-A74C-6499019A9779}"/>
              </a:ext>
            </a:extLst>
          </p:cNvPr>
          <p:cNvGraphicFramePr>
            <a:graphicFrameLocks noGrp="1"/>
          </p:cNvGraphicFramePr>
          <p:nvPr>
            <p:extLst>
              <p:ext uri="{D42A27DB-BD31-4B8C-83A1-F6EECF244321}">
                <p14:modId xmlns:p14="http://schemas.microsoft.com/office/powerpoint/2010/main" val="468364728"/>
              </p:ext>
            </p:extLst>
          </p:nvPr>
        </p:nvGraphicFramePr>
        <p:xfrm>
          <a:off x="0" y="0"/>
          <a:ext cx="12192000" cy="4572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2960110769"/>
                    </a:ext>
                  </a:extLst>
                </a:gridCol>
              </a:tblGrid>
              <a:tr h="370840">
                <a:tc>
                  <a:txBody>
                    <a:bodyPr/>
                    <a:lstStyle/>
                    <a:p>
                      <a:pPr algn="ctr"/>
                      <a:r>
                        <a:rPr lang="es-MX" sz="2400" dirty="0">
                          <a:latin typeface="Montserrat" pitchFamily="2" charset="77"/>
                        </a:rPr>
                        <a:t>Cinemática 1d</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81913"/>
                  </a:ext>
                </a:extLst>
              </a:tr>
            </a:tbl>
          </a:graphicData>
        </a:graphic>
      </p:graphicFrame>
      <p:sp>
        <p:nvSpPr>
          <p:cNvPr id="13" name="TextBox 12">
            <a:extLst>
              <a:ext uri="{FF2B5EF4-FFF2-40B4-BE49-F238E27FC236}">
                <a16:creationId xmlns:a16="http://schemas.microsoft.com/office/drawing/2014/main" id="{853387BA-9549-B222-E73B-DC1A49607678}"/>
              </a:ext>
            </a:extLst>
          </p:cNvPr>
          <p:cNvSpPr txBox="1"/>
          <p:nvPr/>
        </p:nvSpPr>
        <p:spPr>
          <a:xfrm>
            <a:off x="346504" y="830427"/>
            <a:ext cx="10870740" cy="1815882"/>
          </a:xfrm>
          <a:prstGeom prst="rect">
            <a:avLst/>
          </a:prstGeom>
          <a:noFill/>
        </p:spPr>
        <p:txBody>
          <a:bodyPr wrap="square" rtlCol="0">
            <a:spAutoFit/>
          </a:bodyPr>
          <a:lstStyle/>
          <a:p>
            <a:pPr algn="just"/>
            <a:r>
              <a:rPr lang="es-ES" sz="1600" b="1" dirty="0"/>
              <a:t>Magnitudes físicas</a:t>
            </a:r>
          </a:p>
          <a:p>
            <a:pPr algn="just"/>
            <a:r>
              <a:rPr lang="es-ES" sz="1600" dirty="0"/>
              <a:t>La cinemática es la rama de la Mecánica que se ocupa de describir el movimiento de los cuerpos sin preocuparse por sus causas. En este curso estudiaremos la cinemática de la partícula.</a:t>
            </a:r>
          </a:p>
          <a:p>
            <a:pPr algn="just"/>
            <a:endParaRPr lang="es-ES" sz="1600" dirty="0"/>
          </a:p>
          <a:p>
            <a:pPr algn="just"/>
            <a:r>
              <a:rPr lang="es-ES" sz="1600" dirty="0"/>
              <a:t>Decimos que un cuerpo (persona, objeto, planeta, etc.) se comporta como una partícula cuando sus dimensiones son pequeñas comparadas con otras dimensiones que intervienen en el problema</a:t>
            </a:r>
          </a:p>
          <a:p>
            <a:pPr algn="just"/>
            <a:endParaRPr lang="es-ES" sz="1600" dirty="0"/>
          </a:p>
        </p:txBody>
      </p:sp>
      <p:sp>
        <p:nvSpPr>
          <p:cNvPr id="10" name="Marcador de número de diapositiva 2">
            <a:extLst>
              <a:ext uri="{FF2B5EF4-FFF2-40B4-BE49-F238E27FC236}">
                <a16:creationId xmlns:a16="http://schemas.microsoft.com/office/drawing/2014/main" id="{CDAC535F-6CE1-7816-A518-16F0789997BF}"/>
              </a:ext>
            </a:extLst>
          </p:cNvPr>
          <p:cNvSpPr txBox="1">
            <a:spLocks/>
          </p:cNvSpPr>
          <p:nvPr/>
        </p:nvSpPr>
        <p:spPr>
          <a:xfrm>
            <a:off x="8993372" y="168201"/>
            <a:ext cx="2743200" cy="365125"/>
          </a:xfrm>
          <a:prstGeom prst="rect">
            <a:avLst/>
          </a:prstGeom>
        </p:spPr>
        <p:txBody>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9C89E4B-EE86-427E-B533-BCEDB2CD4BCC}" type="slidenum">
              <a:rPr lang="es-CL" sz="1200" smtClean="0"/>
              <a:pPr algn="r"/>
              <a:t>2</a:t>
            </a:fld>
            <a:endParaRPr lang="es-CL" sz="1200"/>
          </a:p>
        </p:txBody>
      </p:sp>
    </p:spTree>
    <p:extLst>
      <p:ext uri="{BB962C8B-B14F-4D97-AF65-F5344CB8AC3E}">
        <p14:creationId xmlns:p14="http://schemas.microsoft.com/office/powerpoint/2010/main" val="4005294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2C355-BCB1-4173-0491-A5CB00A78961}"/>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BCD45FAC-62C2-03FA-8789-AF4C14583094}"/>
              </a:ext>
            </a:extLst>
          </p:cNvPr>
          <p:cNvSpPr txBox="1"/>
          <p:nvPr/>
        </p:nvSpPr>
        <p:spPr>
          <a:xfrm>
            <a:off x="133350" y="19050"/>
            <a:ext cx="11934826" cy="461665"/>
          </a:xfrm>
          <a:prstGeom prst="rect">
            <a:avLst/>
          </a:prstGeom>
          <a:noFill/>
          <a:ln cap="flat" cmpd="sng">
            <a:solidFill>
              <a:srgbClr val="FFFFFF"/>
            </a:solidFill>
          </a:ln>
        </p:spPr>
        <p:txBody>
          <a:bodyPr wrap="square" rtlCol="0">
            <a:spAutoFit/>
          </a:bodyPr>
          <a:lstStyle/>
          <a:p>
            <a:pPr algn="ctr"/>
            <a:endParaRPr lang="es-CL" sz="2400" dirty="0"/>
          </a:p>
        </p:txBody>
      </p:sp>
      <p:graphicFrame>
        <p:nvGraphicFramePr>
          <p:cNvPr id="8" name="Tabla 7">
            <a:extLst>
              <a:ext uri="{FF2B5EF4-FFF2-40B4-BE49-F238E27FC236}">
                <a16:creationId xmlns:a16="http://schemas.microsoft.com/office/drawing/2014/main" id="{07877421-2459-54B9-01AC-2D5992A6C0A9}"/>
              </a:ext>
            </a:extLst>
          </p:cNvPr>
          <p:cNvGraphicFramePr>
            <a:graphicFrameLocks noGrp="1"/>
          </p:cNvGraphicFramePr>
          <p:nvPr>
            <p:extLst>
              <p:ext uri="{D42A27DB-BD31-4B8C-83A1-F6EECF244321}">
                <p14:modId xmlns:p14="http://schemas.microsoft.com/office/powerpoint/2010/main" val="4234023565"/>
              </p:ext>
            </p:extLst>
          </p:nvPr>
        </p:nvGraphicFramePr>
        <p:xfrm>
          <a:off x="1" y="0"/>
          <a:ext cx="12192000" cy="4572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2960110769"/>
                    </a:ext>
                  </a:extLst>
                </a:gridCol>
              </a:tblGrid>
              <a:tr h="370840">
                <a:tc>
                  <a:txBody>
                    <a:bodyPr/>
                    <a:lstStyle/>
                    <a:p>
                      <a:pPr algn="ctr"/>
                      <a:r>
                        <a:rPr lang="es-MX" sz="2400" dirty="0">
                          <a:latin typeface="Montserrat" pitchFamily="2" charset="77"/>
                        </a:rPr>
                        <a:t>Cinemática 1d</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81913"/>
                  </a:ext>
                </a:extLst>
              </a:tr>
            </a:tbl>
          </a:graphicData>
        </a:graphic>
      </p:graphicFrame>
      <p:sp>
        <p:nvSpPr>
          <p:cNvPr id="13" name="TextBox 12">
            <a:extLst>
              <a:ext uri="{FF2B5EF4-FFF2-40B4-BE49-F238E27FC236}">
                <a16:creationId xmlns:a16="http://schemas.microsoft.com/office/drawing/2014/main" id="{9B9CD3AD-6BA8-3475-44EC-E9B69E9A1CF2}"/>
              </a:ext>
            </a:extLst>
          </p:cNvPr>
          <p:cNvSpPr txBox="1"/>
          <p:nvPr/>
        </p:nvSpPr>
        <p:spPr>
          <a:xfrm>
            <a:off x="346504" y="830427"/>
            <a:ext cx="11106130" cy="1077218"/>
          </a:xfrm>
          <a:prstGeom prst="rect">
            <a:avLst/>
          </a:prstGeom>
          <a:noFill/>
        </p:spPr>
        <p:txBody>
          <a:bodyPr wrap="square" rtlCol="0">
            <a:spAutoFit/>
          </a:bodyPr>
          <a:lstStyle/>
          <a:p>
            <a:r>
              <a:rPr lang="es-ES" sz="1600" b="1" dirty="0"/>
              <a:t>Definiciones</a:t>
            </a:r>
          </a:p>
          <a:p>
            <a:endParaRPr lang="es-ES" sz="1600" dirty="0"/>
          </a:p>
          <a:p>
            <a:pPr algn="just"/>
            <a:r>
              <a:rPr lang="es-ES" sz="1600" b="1" dirty="0"/>
              <a:t>Sistema de referencia:</a:t>
            </a:r>
            <a:r>
              <a:rPr lang="es-ES" sz="1600" dirty="0"/>
              <a:t> sistema de coordenadas respecto del cual estudiamos el movimiento de un cuerpo. Puede ser “Inercial” o “No Inercial”.</a:t>
            </a:r>
          </a:p>
        </p:txBody>
      </p:sp>
      <p:sp>
        <p:nvSpPr>
          <p:cNvPr id="2" name="Rectangle 1">
            <a:extLst>
              <a:ext uri="{FF2B5EF4-FFF2-40B4-BE49-F238E27FC236}">
                <a16:creationId xmlns:a16="http://schemas.microsoft.com/office/drawing/2014/main" id="{BF9C5F45-F488-5E90-C2CD-91EFE3549837}"/>
              </a:ext>
            </a:extLst>
          </p:cNvPr>
          <p:cNvSpPr/>
          <p:nvPr/>
        </p:nvSpPr>
        <p:spPr>
          <a:xfrm>
            <a:off x="407759" y="2298162"/>
            <a:ext cx="5141891" cy="830997"/>
          </a:xfrm>
          <a:prstGeom prst="rect">
            <a:avLst/>
          </a:prstGeom>
        </p:spPr>
        <p:txBody>
          <a:bodyPr wrap="square">
            <a:spAutoFit/>
          </a:bodyPr>
          <a:lstStyle/>
          <a:p>
            <a:pPr algn="just"/>
            <a:r>
              <a:rPr lang="es-CL" sz="1600" b="1" dirty="0"/>
              <a:t>Sistema de referencia inercial: </a:t>
            </a:r>
            <a:r>
              <a:rPr lang="es-CL" sz="1600" dirty="0"/>
              <a:t>el observador se encuentra en reposo o se mueve con velocidad constante respecto al objeto bajo estudio</a:t>
            </a:r>
          </a:p>
        </p:txBody>
      </p:sp>
      <p:sp>
        <p:nvSpPr>
          <p:cNvPr id="22" name="Rectangle 21">
            <a:extLst>
              <a:ext uri="{FF2B5EF4-FFF2-40B4-BE49-F238E27FC236}">
                <a16:creationId xmlns:a16="http://schemas.microsoft.com/office/drawing/2014/main" id="{3A626F60-5FB2-6D1B-C932-A8FAE73DAB49}"/>
              </a:ext>
            </a:extLst>
          </p:cNvPr>
          <p:cNvSpPr/>
          <p:nvPr/>
        </p:nvSpPr>
        <p:spPr>
          <a:xfrm>
            <a:off x="5992362" y="2284259"/>
            <a:ext cx="5449995" cy="830997"/>
          </a:xfrm>
          <a:prstGeom prst="rect">
            <a:avLst/>
          </a:prstGeom>
        </p:spPr>
        <p:txBody>
          <a:bodyPr wrap="square">
            <a:spAutoFit/>
          </a:bodyPr>
          <a:lstStyle/>
          <a:p>
            <a:pPr algn="just"/>
            <a:r>
              <a:rPr lang="es-CL" sz="1600" b="1" dirty="0"/>
              <a:t>Sistema de referencia no inercial: </a:t>
            </a:r>
            <a:r>
              <a:rPr lang="es-CL" sz="1600" dirty="0"/>
              <a:t>el observador se encuentra en aceleración respecto al objeto bajo estudio</a:t>
            </a:r>
          </a:p>
        </p:txBody>
      </p:sp>
      <p:cxnSp>
        <p:nvCxnSpPr>
          <p:cNvPr id="24" name="Straight Connector 23">
            <a:extLst>
              <a:ext uri="{FF2B5EF4-FFF2-40B4-BE49-F238E27FC236}">
                <a16:creationId xmlns:a16="http://schemas.microsoft.com/office/drawing/2014/main" id="{E196D7CD-6D47-8A2C-A767-DE57FF563C4F}"/>
              </a:ext>
            </a:extLst>
          </p:cNvPr>
          <p:cNvCxnSpPr/>
          <p:nvPr/>
        </p:nvCxnSpPr>
        <p:spPr>
          <a:xfrm>
            <a:off x="1006359" y="4516750"/>
            <a:ext cx="4404220" cy="0"/>
          </a:xfrm>
          <a:prstGeom prst="line">
            <a:avLst/>
          </a:prstGeom>
          <a:ln w="28575"/>
        </p:spPr>
        <p:style>
          <a:lnRef idx="1">
            <a:schemeClr val="dk1"/>
          </a:lnRef>
          <a:fillRef idx="0">
            <a:schemeClr val="dk1"/>
          </a:fillRef>
          <a:effectRef idx="0">
            <a:schemeClr val="dk1"/>
          </a:effectRef>
          <a:fontRef idx="minor">
            <a:schemeClr val="tx1"/>
          </a:fontRef>
        </p:style>
      </p:cxnSp>
      <p:grpSp>
        <p:nvGrpSpPr>
          <p:cNvPr id="25" name="Group 24">
            <a:extLst>
              <a:ext uri="{FF2B5EF4-FFF2-40B4-BE49-F238E27FC236}">
                <a16:creationId xmlns:a16="http://schemas.microsoft.com/office/drawing/2014/main" id="{E36BE681-EDD3-0BBA-A0C3-D5FE96319629}"/>
              </a:ext>
            </a:extLst>
          </p:cNvPr>
          <p:cNvGrpSpPr/>
          <p:nvPr/>
        </p:nvGrpSpPr>
        <p:grpSpPr>
          <a:xfrm>
            <a:off x="1371258" y="3880472"/>
            <a:ext cx="385894" cy="640963"/>
            <a:chOff x="6233020" y="3838758"/>
            <a:chExt cx="385894" cy="640963"/>
          </a:xfrm>
        </p:grpSpPr>
        <p:cxnSp>
          <p:nvCxnSpPr>
            <p:cNvPr id="26" name="Straight Connector 25">
              <a:extLst>
                <a:ext uri="{FF2B5EF4-FFF2-40B4-BE49-F238E27FC236}">
                  <a16:creationId xmlns:a16="http://schemas.microsoft.com/office/drawing/2014/main" id="{F86DB33F-48FF-EAA8-A9BF-83993FF43D60}"/>
                </a:ext>
              </a:extLst>
            </p:cNvPr>
            <p:cNvCxnSpPr/>
            <p:nvPr/>
          </p:nvCxnSpPr>
          <p:spPr>
            <a:xfrm flipV="1">
              <a:off x="6233020" y="4241284"/>
              <a:ext cx="192947" cy="238437"/>
            </a:xfrm>
            <a:prstGeom prst="line">
              <a:avLst/>
            </a:prstGeom>
            <a:ln w="28575"/>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C4B0A1AF-A36D-0978-6F32-947DA04FC02F}"/>
                </a:ext>
              </a:extLst>
            </p:cNvPr>
            <p:cNvCxnSpPr>
              <a:cxnSpLocks/>
            </p:cNvCxnSpPr>
            <p:nvPr/>
          </p:nvCxnSpPr>
          <p:spPr>
            <a:xfrm>
              <a:off x="6425967" y="4234366"/>
              <a:ext cx="192947" cy="238437"/>
            </a:xfrm>
            <a:prstGeom prst="line">
              <a:avLst/>
            </a:prstGeom>
            <a:ln w="28575"/>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A9DFA8F-50A9-4BFC-0458-D358696197EC}"/>
                </a:ext>
              </a:extLst>
            </p:cNvPr>
            <p:cNvCxnSpPr>
              <a:cxnSpLocks/>
            </p:cNvCxnSpPr>
            <p:nvPr/>
          </p:nvCxnSpPr>
          <p:spPr>
            <a:xfrm flipH="1" flipV="1">
              <a:off x="6425967" y="4056618"/>
              <a:ext cx="0" cy="216000"/>
            </a:xfrm>
            <a:prstGeom prst="line">
              <a:avLst/>
            </a:prstGeom>
            <a:ln w="28575"/>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FC8B56B2-2827-9958-D1CC-C615963BE235}"/>
                </a:ext>
              </a:extLst>
            </p:cNvPr>
            <p:cNvCxnSpPr>
              <a:cxnSpLocks/>
            </p:cNvCxnSpPr>
            <p:nvPr/>
          </p:nvCxnSpPr>
          <p:spPr>
            <a:xfrm flipV="1">
              <a:off x="6434357" y="4136575"/>
              <a:ext cx="165482" cy="44852"/>
            </a:xfrm>
            <a:prstGeom prst="line">
              <a:avLst/>
            </a:prstGeom>
            <a:ln w="28575"/>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1F53A55A-EFB4-5136-251C-78A1451C8E8F}"/>
                </a:ext>
              </a:extLst>
            </p:cNvPr>
            <p:cNvCxnSpPr>
              <a:cxnSpLocks/>
            </p:cNvCxnSpPr>
            <p:nvPr/>
          </p:nvCxnSpPr>
          <p:spPr>
            <a:xfrm>
              <a:off x="6268875" y="4138047"/>
              <a:ext cx="165482" cy="44852"/>
            </a:xfrm>
            <a:prstGeom prst="line">
              <a:avLst/>
            </a:prstGeom>
            <a:ln w="28575"/>
          </p:spPr>
          <p:style>
            <a:lnRef idx="1">
              <a:schemeClr val="dk1"/>
            </a:lnRef>
            <a:fillRef idx="0">
              <a:schemeClr val="dk1"/>
            </a:fillRef>
            <a:effectRef idx="0">
              <a:schemeClr val="dk1"/>
            </a:effectRef>
            <a:fontRef idx="minor">
              <a:schemeClr val="tx1"/>
            </a:fontRef>
          </p:style>
        </p:cxnSp>
        <p:sp>
          <p:nvSpPr>
            <p:cNvPr id="31" name="Oval 30">
              <a:extLst>
                <a:ext uri="{FF2B5EF4-FFF2-40B4-BE49-F238E27FC236}">
                  <a16:creationId xmlns:a16="http://schemas.microsoft.com/office/drawing/2014/main" id="{42AEF600-FA5B-2BD8-35E6-279FC2D82C85}"/>
                </a:ext>
              </a:extLst>
            </p:cNvPr>
            <p:cNvSpPr>
              <a:spLocks noChangeAspect="1"/>
            </p:cNvSpPr>
            <p:nvPr/>
          </p:nvSpPr>
          <p:spPr>
            <a:xfrm>
              <a:off x="6318937" y="3838758"/>
              <a:ext cx="214061" cy="21406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32" name="Rectangle 31">
            <a:extLst>
              <a:ext uri="{FF2B5EF4-FFF2-40B4-BE49-F238E27FC236}">
                <a16:creationId xmlns:a16="http://schemas.microsoft.com/office/drawing/2014/main" id="{A9A77AB1-9F8F-8A0E-8C50-9EF1884E542C}"/>
              </a:ext>
            </a:extLst>
          </p:cNvPr>
          <p:cNvSpPr/>
          <p:nvPr/>
        </p:nvSpPr>
        <p:spPr>
          <a:xfrm>
            <a:off x="3283699" y="3754765"/>
            <a:ext cx="1455473" cy="46547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3" name="Oval 32">
            <a:extLst>
              <a:ext uri="{FF2B5EF4-FFF2-40B4-BE49-F238E27FC236}">
                <a16:creationId xmlns:a16="http://schemas.microsoft.com/office/drawing/2014/main" id="{72FF8756-6FED-E179-543F-5C511D396B14}"/>
              </a:ext>
            </a:extLst>
          </p:cNvPr>
          <p:cNvSpPr>
            <a:spLocks noChangeAspect="1"/>
          </p:cNvSpPr>
          <p:nvPr/>
        </p:nvSpPr>
        <p:spPr>
          <a:xfrm>
            <a:off x="3439865" y="4224621"/>
            <a:ext cx="288000" cy="288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4" name="Oval 33">
            <a:extLst>
              <a:ext uri="{FF2B5EF4-FFF2-40B4-BE49-F238E27FC236}">
                <a16:creationId xmlns:a16="http://schemas.microsoft.com/office/drawing/2014/main" id="{C2188E5D-54D2-24F1-DF92-4021F86EF2AD}"/>
              </a:ext>
            </a:extLst>
          </p:cNvPr>
          <p:cNvSpPr>
            <a:spLocks noChangeAspect="1"/>
          </p:cNvSpPr>
          <p:nvPr/>
        </p:nvSpPr>
        <p:spPr>
          <a:xfrm>
            <a:off x="4308742" y="4218297"/>
            <a:ext cx="288000" cy="288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5" name="Rectangle 34">
            <a:extLst>
              <a:ext uri="{FF2B5EF4-FFF2-40B4-BE49-F238E27FC236}">
                <a16:creationId xmlns:a16="http://schemas.microsoft.com/office/drawing/2014/main" id="{B814A514-A6AD-3727-79A5-108C91302395}"/>
              </a:ext>
            </a:extLst>
          </p:cNvPr>
          <p:cNvSpPr/>
          <p:nvPr/>
        </p:nvSpPr>
        <p:spPr>
          <a:xfrm>
            <a:off x="4739172" y="3965799"/>
            <a:ext cx="377768" cy="25249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36" name="Straight Connector 35">
            <a:extLst>
              <a:ext uri="{FF2B5EF4-FFF2-40B4-BE49-F238E27FC236}">
                <a16:creationId xmlns:a16="http://schemas.microsoft.com/office/drawing/2014/main" id="{E530456D-7BC9-8041-8A4A-ECF0C60573EB}"/>
              </a:ext>
            </a:extLst>
          </p:cNvPr>
          <p:cNvCxnSpPr>
            <a:cxnSpLocks/>
          </p:cNvCxnSpPr>
          <p:nvPr/>
        </p:nvCxnSpPr>
        <p:spPr>
          <a:xfrm flipH="1" flipV="1">
            <a:off x="4739172" y="3754765"/>
            <a:ext cx="255996" cy="211034"/>
          </a:xfrm>
          <a:prstGeom prst="line">
            <a:avLst/>
          </a:prstGeom>
          <a:ln w="28575"/>
        </p:spPr>
        <p:style>
          <a:lnRef idx="1">
            <a:schemeClr val="dk1"/>
          </a:lnRef>
          <a:fillRef idx="0">
            <a:schemeClr val="dk1"/>
          </a:fillRef>
          <a:effectRef idx="0">
            <a:schemeClr val="dk1"/>
          </a:effectRef>
          <a:fontRef idx="minor">
            <a:schemeClr val="tx1"/>
          </a:fontRef>
        </p:style>
      </p:cxnSp>
      <p:sp>
        <p:nvSpPr>
          <p:cNvPr id="37" name="Oval 36">
            <a:extLst>
              <a:ext uri="{FF2B5EF4-FFF2-40B4-BE49-F238E27FC236}">
                <a16:creationId xmlns:a16="http://schemas.microsoft.com/office/drawing/2014/main" id="{05A96F26-E65E-C146-CE4F-3281274E5818}"/>
              </a:ext>
            </a:extLst>
          </p:cNvPr>
          <p:cNvSpPr/>
          <p:nvPr/>
        </p:nvSpPr>
        <p:spPr>
          <a:xfrm>
            <a:off x="1064771" y="3621197"/>
            <a:ext cx="992614" cy="115903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8" name="Rectangle 37">
            <a:extLst>
              <a:ext uri="{FF2B5EF4-FFF2-40B4-BE49-F238E27FC236}">
                <a16:creationId xmlns:a16="http://schemas.microsoft.com/office/drawing/2014/main" id="{CF279FA0-122C-C4AC-BAB8-9FD0B0D29E61}"/>
              </a:ext>
            </a:extLst>
          </p:cNvPr>
          <p:cNvSpPr/>
          <p:nvPr/>
        </p:nvSpPr>
        <p:spPr>
          <a:xfrm>
            <a:off x="314503" y="3223978"/>
            <a:ext cx="1383712" cy="338554"/>
          </a:xfrm>
          <a:prstGeom prst="rect">
            <a:avLst/>
          </a:prstGeom>
        </p:spPr>
        <p:txBody>
          <a:bodyPr wrap="none">
            <a:spAutoFit/>
          </a:bodyPr>
          <a:lstStyle/>
          <a:p>
            <a:r>
              <a:rPr lang="es-CL" sz="1600" dirty="0">
                <a:solidFill>
                  <a:srgbClr val="FF0000"/>
                </a:solidFill>
              </a:rPr>
              <a:t>Observador</a:t>
            </a:r>
            <a:endParaRPr lang="es-CL" dirty="0">
              <a:solidFill>
                <a:srgbClr val="FF0000"/>
              </a:solidFill>
            </a:endParaRPr>
          </a:p>
        </p:txBody>
      </p:sp>
      <p:cxnSp>
        <p:nvCxnSpPr>
          <p:cNvPr id="40" name="Straight Connector 39">
            <a:extLst>
              <a:ext uri="{FF2B5EF4-FFF2-40B4-BE49-F238E27FC236}">
                <a16:creationId xmlns:a16="http://schemas.microsoft.com/office/drawing/2014/main" id="{701320C6-8806-D89C-83B9-21DC8D7BBC77}"/>
              </a:ext>
            </a:extLst>
          </p:cNvPr>
          <p:cNvCxnSpPr/>
          <p:nvPr/>
        </p:nvCxnSpPr>
        <p:spPr>
          <a:xfrm>
            <a:off x="6194645" y="4514517"/>
            <a:ext cx="4404220" cy="0"/>
          </a:xfrm>
          <a:prstGeom prst="line">
            <a:avLst/>
          </a:prstGeom>
          <a:ln w="28575"/>
        </p:spPr>
        <p:style>
          <a:lnRef idx="1">
            <a:schemeClr val="dk1"/>
          </a:lnRef>
          <a:fillRef idx="0">
            <a:schemeClr val="dk1"/>
          </a:fillRef>
          <a:effectRef idx="0">
            <a:schemeClr val="dk1"/>
          </a:effectRef>
          <a:fontRef idx="minor">
            <a:schemeClr val="tx1"/>
          </a:fontRef>
        </p:style>
      </p:cxnSp>
      <p:grpSp>
        <p:nvGrpSpPr>
          <p:cNvPr id="41" name="Group 40">
            <a:extLst>
              <a:ext uri="{FF2B5EF4-FFF2-40B4-BE49-F238E27FC236}">
                <a16:creationId xmlns:a16="http://schemas.microsoft.com/office/drawing/2014/main" id="{14915B11-002B-4D67-EA5E-CAE8FC437CB0}"/>
              </a:ext>
            </a:extLst>
          </p:cNvPr>
          <p:cNvGrpSpPr/>
          <p:nvPr/>
        </p:nvGrpSpPr>
        <p:grpSpPr>
          <a:xfrm>
            <a:off x="6559544" y="3878239"/>
            <a:ext cx="385894" cy="640963"/>
            <a:chOff x="6233020" y="3838758"/>
            <a:chExt cx="385894" cy="640963"/>
          </a:xfrm>
        </p:grpSpPr>
        <p:cxnSp>
          <p:nvCxnSpPr>
            <p:cNvPr id="42" name="Straight Connector 41">
              <a:extLst>
                <a:ext uri="{FF2B5EF4-FFF2-40B4-BE49-F238E27FC236}">
                  <a16:creationId xmlns:a16="http://schemas.microsoft.com/office/drawing/2014/main" id="{AB2D71D0-0DFD-757D-ECE5-63051B3BE1FC}"/>
                </a:ext>
              </a:extLst>
            </p:cNvPr>
            <p:cNvCxnSpPr/>
            <p:nvPr/>
          </p:nvCxnSpPr>
          <p:spPr>
            <a:xfrm flipV="1">
              <a:off x="6233020" y="4241284"/>
              <a:ext cx="192947" cy="238437"/>
            </a:xfrm>
            <a:prstGeom prst="line">
              <a:avLst/>
            </a:prstGeom>
            <a:ln w="28575"/>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D66123BD-F778-59F7-6232-1036174E5E79}"/>
                </a:ext>
              </a:extLst>
            </p:cNvPr>
            <p:cNvCxnSpPr>
              <a:cxnSpLocks/>
            </p:cNvCxnSpPr>
            <p:nvPr/>
          </p:nvCxnSpPr>
          <p:spPr>
            <a:xfrm>
              <a:off x="6425967" y="4234366"/>
              <a:ext cx="192947" cy="238437"/>
            </a:xfrm>
            <a:prstGeom prst="line">
              <a:avLst/>
            </a:prstGeom>
            <a:ln w="28575"/>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A010A3F4-E911-C16E-03DE-5FF934DBEBF6}"/>
                </a:ext>
              </a:extLst>
            </p:cNvPr>
            <p:cNvCxnSpPr>
              <a:cxnSpLocks/>
            </p:cNvCxnSpPr>
            <p:nvPr/>
          </p:nvCxnSpPr>
          <p:spPr>
            <a:xfrm flipH="1" flipV="1">
              <a:off x="6425967" y="4056618"/>
              <a:ext cx="0" cy="216000"/>
            </a:xfrm>
            <a:prstGeom prst="line">
              <a:avLst/>
            </a:prstGeom>
            <a:ln w="28575"/>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1D107D7-0250-B9A6-0B39-7BE94A8EDDB5}"/>
                </a:ext>
              </a:extLst>
            </p:cNvPr>
            <p:cNvCxnSpPr>
              <a:cxnSpLocks/>
            </p:cNvCxnSpPr>
            <p:nvPr/>
          </p:nvCxnSpPr>
          <p:spPr>
            <a:xfrm flipV="1">
              <a:off x="6434357" y="4136575"/>
              <a:ext cx="165482" cy="44852"/>
            </a:xfrm>
            <a:prstGeom prst="line">
              <a:avLst/>
            </a:prstGeom>
            <a:ln w="28575"/>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3AEBE75C-4056-DFBA-7D27-C04A0FF311E1}"/>
                </a:ext>
              </a:extLst>
            </p:cNvPr>
            <p:cNvCxnSpPr>
              <a:cxnSpLocks/>
            </p:cNvCxnSpPr>
            <p:nvPr/>
          </p:nvCxnSpPr>
          <p:spPr>
            <a:xfrm>
              <a:off x="6268875" y="4138047"/>
              <a:ext cx="165482" cy="44852"/>
            </a:xfrm>
            <a:prstGeom prst="line">
              <a:avLst/>
            </a:prstGeom>
            <a:ln w="28575"/>
          </p:spPr>
          <p:style>
            <a:lnRef idx="1">
              <a:schemeClr val="dk1"/>
            </a:lnRef>
            <a:fillRef idx="0">
              <a:schemeClr val="dk1"/>
            </a:fillRef>
            <a:effectRef idx="0">
              <a:schemeClr val="dk1"/>
            </a:effectRef>
            <a:fontRef idx="minor">
              <a:schemeClr val="tx1"/>
            </a:fontRef>
          </p:style>
        </p:cxnSp>
        <p:sp>
          <p:nvSpPr>
            <p:cNvPr id="47" name="Oval 46">
              <a:extLst>
                <a:ext uri="{FF2B5EF4-FFF2-40B4-BE49-F238E27FC236}">
                  <a16:creationId xmlns:a16="http://schemas.microsoft.com/office/drawing/2014/main" id="{F904754C-670B-E460-2D55-AF76F04A99D0}"/>
                </a:ext>
              </a:extLst>
            </p:cNvPr>
            <p:cNvSpPr>
              <a:spLocks noChangeAspect="1"/>
            </p:cNvSpPr>
            <p:nvPr/>
          </p:nvSpPr>
          <p:spPr>
            <a:xfrm>
              <a:off x="6318937" y="3838758"/>
              <a:ext cx="214061" cy="21406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48" name="Rectangle 47">
            <a:extLst>
              <a:ext uri="{FF2B5EF4-FFF2-40B4-BE49-F238E27FC236}">
                <a16:creationId xmlns:a16="http://schemas.microsoft.com/office/drawing/2014/main" id="{AA72C391-7334-92CD-7237-612D657D948A}"/>
              </a:ext>
            </a:extLst>
          </p:cNvPr>
          <p:cNvSpPr/>
          <p:nvPr/>
        </p:nvSpPr>
        <p:spPr>
          <a:xfrm>
            <a:off x="8471985" y="3752532"/>
            <a:ext cx="1455473" cy="46547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9" name="Oval 48">
            <a:extLst>
              <a:ext uri="{FF2B5EF4-FFF2-40B4-BE49-F238E27FC236}">
                <a16:creationId xmlns:a16="http://schemas.microsoft.com/office/drawing/2014/main" id="{5E22C3C5-6DD1-86AD-8E36-F77072A79261}"/>
              </a:ext>
            </a:extLst>
          </p:cNvPr>
          <p:cNvSpPr>
            <a:spLocks noChangeAspect="1"/>
          </p:cNvSpPr>
          <p:nvPr/>
        </p:nvSpPr>
        <p:spPr>
          <a:xfrm>
            <a:off x="8628151" y="4222388"/>
            <a:ext cx="288000" cy="288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0" name="Oval 49">
            <a:extLst>
              <a:ext uri="{FF2B5EF4-FFF2-40B4-BE49-F238E27FC236}">
                <a16:creationId xmlns:a16="http://schemas.microsoft.com/office/drawing/2014/main" id="{F15AEB0D-26FE-D171-14B8-1BDA3D79D61F}"/>
              </a:ext>
            </a:extLst>
          </p:cNvPr>
          <p:cNvSpPr>
            <a:spLocks noChangeAspect="1"/>
          </p:cNvSpPr>
          <p:nvPr/>
        </p:nvSpPr>
        <p:spPr>
          <a:xfrm>
            <a:off x="9497028" y="4216064"/>
            <a:ext cx="288000" cy="288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1" name="Rectangle 50">
            <a:extLst>
              <a:ext uri="{FF2B5EF4-FFF2-40B4-BE49-F238E27FC236}">
                <a16:creationId xmlns:a16="http://schemas.microsoft.com/office/drawing/2014/main" id="{0D37709C-8BCE-74CE-095A-CA00A44175D4}"/>
              </a:ext>
            </a:extLst>
          </p:cNvPr>
          <p:cNvSpPr/>
          <p:nvPr/>
        </p:nvSpPr>
        <p:spPr>
          <a:xfrm>
            <a:off x="9927458" y="3963566"/>
            <a:ext cx="377768" cy="25249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52" name="Straight Connector 51">
            <a:extLst>
              <a:ext uri="{FF2B5EF4-FFF2-40B4-BE49-F238E27FC236}">
                <a16:creationId xmlns:a16="http://schemas.microsoft.com/office/drawing/2014/main" id="{C13E2C6C-239B-054D-6982-CC5FBE12BCC0}"/>
              </a:ext>
            </a:extLst>
          </p:cNvPr>
          <p:cNvCxnSpPr>
            <a:cxnSpLocks/>
          </p:cNvCxnSpPr>
          <p:nvPr/>
        </p:nvCxnSpPr>
        <p:spPr>
          <a:xfrm flipH="1" flipV="1">
            <a:off x="9927458" y="3752532"/>
            <a:ext cx="255996" cy="211034"/>
          </a:xfrm>
          <a:prstGeom prst="line">
            <a:avLst/>
          </a:prstGeom>
          <a:ln w="28575"/>
        </p:spPr>
        <p:style>
          <a:lnRef idx="1">
            <a:schemeClr val="dk1"/>
          </a:lnRef>
          <a:fillRef idx="0">
            <a:schemeClr val="dk1"/>
          </a:fillRef>
          <a:effectRef idx="0">
            <a:schemeClr val="dk1"/>
          </a:effectRef>
          <a:fontRef idx="minor">
            <a:schemeClr val="tx1"/>
          </a:fontRef>
        </p:style>
      </p:cxnSp>
      <p:sp>
        <p:nvSpPr>
          <p:cNvPr id="53" name="Oval 52">
            <a:extLst>
              <a:ext uri="{FF2B5EF4-FFF2-40B4-BE49-F238E27FC236}">
                <a16:creationId xmlns:a16="http://schemas.microsoft.com/office/drawing/2014/main" id="{25796472-75C8-A11D-8D18-6506A99443F2}"/>
              </a:ext>
            </a:extLst>
          </p:cNvPr>
          <p:cNvSpPr/>
          <p:nvPr/>
        </p:nvSpPr>
        <p:spPr>
          <a:xfrm>
            <a:off x="9837001" y="3694538"/>
            <a:ext cx="319153" cy="32702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4" name="Rectangle 53">
            <a:extLst>
              <a:ext uri="{FF2B5EF4-FFF2-40B4-BE49-F238E27FC236}">
                <a16:creationId xmlns:a16="http://schemas.microsoft.com/office/drawing/2014/main" id="{9F2217DC-A587-F67A-C7F1-361B43F11258}"/>
              </a:ext>
            </a:extLst>
          </p:cNvPr>
          <p:cNvSpPr/>
          <p:nvPr/>
        </p:nvSpPr>
        <p:spPr>
          <a:xfrm>
            <a:off x="9649106" y="3331583"/>
            <a:ext cx="1383712" cy="338554"/>
          </a:xfrm>
          <a:prstGeom prst="rect">
            <a:avLst/>
          </a:prstGeom>
        </p:spPr>
        <p:txBody>
          <a:bodyPr wrap="none">
            <a:spAutoFit/>
          </a:bodyPr>
          <a:lstStyle/>
          <a:p>
            <a:r>
              <a:rPr lang="es-CL" sz="1600" dirty="0">
                <a:solidFill>
                  <a:srgbClr val="FF0000"/>
                </a:solidFill>
              </a:rPr>
              <a:t>Observador</a:t>
            </a:r>
            <a:endParaRPr lang="es-CL" dirty="0">
              <a:solidFill>
                <a:srgbClr val="FF0000"/>
              </a:solidFill>
            </a:endParaRPr>
          </a:p>
        </p:txBody>
      </p:sp>
      <p:cxnSp>
        <p:nvCxnSpPr>
          <p:cNvPr id="55" name="Straight Connector 54">
            <a:extLst>
              <a:ext uri="{FF2B5EF4-FFF2-40B4-BE49-F238E27FC236}">
                <a16:creationId xmlns:a16="http://schemas.microsoft.com/office/drawing/2014/main" id="{B7AFFCFB-64A5-76D7-B0F0-B9C9B91585A9}"/>
              </a:ext>
            </a:extLst>
          </p:cNvPr>
          <p:cNvCxnSpPr/>
          <p:nvPr/>
        </p:nvCxnSpPr>
        <p:spPr>
          <a:xfrm flipH="1">
            <a:off x="2902271" y="3849672"/>
            <a:ext cx="268447"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FE59E682-D842-92B3-8BE9-F64B1853751B}"/>
              </a:ext>
            </a:extLst>
          </p:cNvPr>
          <p:cNvCxnSpPr/>
          <p:nvPr/>
        </p:nvCxnSpPr>
        <p:spPr>
          <a:xfrm flipH="1">
            <a:off x="2902271" y="4027239"/>
            <a:ext cx="268447"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52A01772-F17F-0FDD-2469-D745583133DD}"/>
              </a:ext>
            </a:extLst>
          </p:cNvPr>
          <p:cNvCxnSpPr/>
          <p:nvPr/>
        </p:nvCxnSpPr>
        <p:spPr>
          <a:xfrm flipH="1">
            <a:off x="2902271" y="4194987"/>
            <a:ext cx="268447"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682172EE-A920-A70B-871A-699968972C56}"/>
              </a:ext>
            </a:extLst>
          </p:cNvPr>
          <p:cNvCxnSpPr/>
          <p:nvPr/>
        </p:nvCxnSpPr>
        <p:spPr>
          <a:xfrm flipH="1">
            <a:off x="8105037" y="3845468"/>
            <a:ext cx="268447"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F28D5BC5-6F27-2085-9E9F-93CAE6CE36D1}"/>
              </a:ext>
            </a:extLst>
          </p:cNvPr>
          <p:cNvCxnSpPr/>
          <p:nvPr/>
        </p:nvCxnSpPr>
        <p:spPr>
          <a:xfrm flipH="1">
            <a:off x="8105037" y="4023035"/>
            <a:ext cx="268447"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C40F55FE-BD4F-0085-AA04-FF49ED0EFDE3}"/>
              </a:ext>
            </a:extLst>
          </p:cNvPr>
          <p:cNvCxnSpPr/>
          <p:nvPr/>
        </p:nvCxnSpPr>
        <p:spPr>
          <a:xfrm flipH="1">
            <a:off x="8105037" y="4190783"/>
            <a:ext cx="268447" cy="0"/>
          </a:xfrm>
          <a:prstGeom prst="line">
            <a:avLst/>
          </a:prstGeom>
          <a:ln w="28575"/>
        </p:spPr>
        <p:style>
          <a:lnRef idx="1">
            <a:schemeClr val="dk1"/>
          </a:lnRef>
          <a:fillRef idx="0">
            <a:schemeClr val="dk1"/>
          </a:fillRef>
          <a:effectRef idx="0">
            <a:schemeClr val="dk1"/>
          </a:effectRef>
          <a:fontRef idx="minor">
            <a:schemeClr val="tx1"/>
          </a:fontRef>
        </p:style>
      </p:cxnSp>
      <p:sp>
        <p:nvSpPr>
          <p:cNvPr id="62" name="Rectangle 61">
            <a:extLst>
              <a:ext uri="{FF2B5EF4-FFF2-40B4-BE49-F238E27FC236}">
                <a16:creationId xmlns:a16="http://schemas.microsoft.com/office/drawing/2014/main" id="{F0F4E534-54AC-B161-64F6-AF3B939A3543}"/>
              </a:ext>
            </a:extLst>
          </p:cNvPr>
          <p:cNvSpPr/>
          <p:nvPr/>
        </p:nvSpPr>
        <p:spPr>
          <a:xfrm>
            <a:off x="331326" y="5113848"/>
            <a:ext cx="8627324" cy="584775"/>
          </a:xfrm>
          <a:prstGeom prst="rect">
            <a:avLst/>
          </a:prstGeom>
        </p:spPr>
        <p:txBody>
          <a:bodyPr wrap="square">
            <a:spAutoFit/>
          </a:bodyPr>
          <a:lstStyle/>
          <a:p>
            <a:pPr algn="just"/>
            <a:r>
              <a:rPr lang="es-CL" sz="1600" dirty="0"/>
              <a:t>En este curso siempre utilizaremos sistemas de referencia inerciales descritos mediante un sistema de coordenadas cartesiano. El observador no lo dibujaremos.</a:t>
            </a:r>
          </a:p>
        </p:txBody>
      </p:sp>
      <p:cxnSp>
        <p:nvCxnSpPr>
          <p:cNvPr id="75" name="Straight Arrow Connector 74">
            <a:extLst>
              <a:ext uri="{FF2B5EF4-FFF2-40B4-BE49-F238E27FC236}">
                <a16:creationId xmlns:a16="http://schemas.microsoft.com/office/drawing/2014/main" id="{7B0EB34E-56A5-6CDF-D48A-6942791E10E6}"/>
              </a:ext>
            </a:extLst>
          </p:cNvPr>
          <p:cNvCxnSpPr/>
          <p:nvPr/>
        </p:nvCxnSpPr>
        <p:spPr>
          <a:xfrm flipV="1">
            <a:off x="9418112" y="5026463"/>
            <a:ext cx="0" cy="15480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6" name="Straight Arrow Connector 75">
            <a:extLst>
              <a:ext uri="{FF2B5EF4-FFF2-40B4-BE49-F238E27FC236}">
                <a16:creationId xmlns:a16="http://schemas.microsoft.com/office/drawing/2014/main" id="{A50A181E-3DC0-1DC6-12A2-2A2471356D6F}"/>
              </a:ext>
            </a:extLst>
          </p:cNvPr>
          <p:cNvCxnSpPr>
            <a:cxnSpLocks/>
          </p:cNvCxnSpPr>
          <p:nvPr/>
        </p:nvCxnSpPr>
        <p:spPr>
          <a:xfrm>
            <a:off x="9226561" y="6479320"/>
            <a:ext cx="21240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77" name="Group 76">
            <a:extLst>
              <a:ext uri="{FF2B5EF4-FFF2-40B4-BE49-F238E27FC236}">
                <a16:creationId xmlns:a16="http://schemas.microsoft.com/office/drawing/2014/main" id="{73707B07-B7BA-1C96-3C0C-086F3549C01A}"/>
              </a:ext>
            </a:extLst>
          </p:cNvPr>
          <p:cNvGrpSpPr/>
          <p:nvPr/>
        </p:nvGrpSpPr>
        <p:grpSpPr>
          <a:xfrm>
            <a:off x="9225165" y="5838357"/>
            <a:ext cx="385894" cy="640963"/>
            <a:chOff x="6233020" y="3838758"/>
            <a:chExt cx="385894" cy="640963"/>
          </a:xfrm>
        </p:grpSpPr>
        <p:cxnSp>
          <p:nvCxnSpPr>
            <p:cNvPr id="78" name="Straight Connector 77">
              <a:extLst>
                <a:ext uri="{FF2B5EF4-FFF2-40B4-BE49-F238E27FC236}">
                  <a16:creationId xmlns:a16="http://schemas.microsoft.com/office/drawing/2014/main" id="{8E53FD35-E591-1265-7EA1-34F6F48E8263}"/>
                </a:ext>
              </a:extLst>
            </p:cNvPr>
            <p:cNvCxnSpPr/>
            <p:nvPr/>
          </p:nvCxnSpPr>
          <p:spPr>
            <a:xfrm flipV="1">
              <a:off x="6233020" y="4241284"/>
              <a:ext cx="192947" cy="238437"/>
            </a:xfrm>
            <a:prstGeom prst="line">
              <a:avLst/>
            </a:prstGeom>
            <a:ln w="28575"/>
          </p:spPr>
          <p:style>
            <a:lnRef idx="1">
              <a:schemeClr val="dk1"/>
            </a:lnRef>
            <a:fillRef idx="0">
              <a:schemeClr val="dk1"/>
            </a:fillRef>
            <a:effectRef idx="0">
              <a:schemeClr val="dk1"/>
            </a:effectRef>
            <a:fontRef idx="minor">
              <a:schemeClr val="tx1"/>
            </a:fontRef>
          </p:style>
        </p:cxnSp>
        <p:cxnSp>
          <p:nvCxnSpPr>
            <p:cNvPr id="79" name="Straight Connector 78">
              <a:extLst>
                <a:ext uri="{FF2B5EF4-FFF2-40B4-BE49-F238E27FC236}">
                  <a16:creationId xmlns:a16="http://schemas.microsoft.com/office/drawing/2014/main" id="{6320BAA3-38EC-1926-B03E-571CEA365AE9}"/>
                </a:ext>
              </a:extLst>
            </p:cNvPr>
            <p:cNvCxnSpPr>
              <a:cxnSpLocks/>
            </p:cNvCxnSpPr>
            <p:nvPr/>
          </p:nvCxnSpPr>
          <p:spPr>
            <a:xfrm>
              <a:off x="6425967" y="4234366"/>
              <a:ext cx="192947" cy="238437"/>
            </a:xfrm>
            <a:prstGeom prst="line">
              <a:avLst/>
            </a:prstGeom>
            <a:ln w="28575"/>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5BF5A759-1A6A-422C-C578-3B2B4B684211}"/>
                </a:ext>
              </a:extLst>
            </p:cNvPr>
            <p:cNvCxnSpPr>
              <a:cxnSpLocks/>
            </p:cNvCxnSpPr>
            <p:nvPr/>
          </p:nvCxnSpPr>
          <p:spPr>
            <a:xfrm flipH="1" flipV="1">
              <a:off x="6425967" y="4056618"/>
              <a:ext cx="0" cy="216000"/>
            </a:xfrm>
            <a:prstGeom prst="line">
              <a:avLst/>
            </a:prstGeom>
            <a:ln w="28575"/>
          </p:spPr>
          <p:style>
            <a:lnRef idx="1">
              <a:schemeClr val="dk1"/>
            </a:lnRef>
            <a:fillRef idx="0">
              <a:schemeClr val="dk1"/>
            </a:fillRef>
            <a:effectRef idx="0">
              <a:schemeClr val="dk1"/>
            </a:effectRef>
            <a:fontRef idx="minor">
              <a:schemeClr val="tx1"/>
            </a:fontRef>
          </p:style>
        </p:cxnSp>
        <p:cxnSp>
          <p:nvCxnSpPr>
            <p:cNvPr id="81" name="Straight Connector 80">
              <a:extLst>
                <a:ext uri="{FF2B5EF4-FFF2-40B4-BE49-F238E27FC236}">
                  <a16:creationId xmlns:a16="http://schemas.microsoft.com/office/drawing/2014/main" id="{A076D7F3-60A2-AC05-7978-03B118CDA098}"/>
                </a:ext>
              </a:extLst>
            </p:cNvPr>
            <p:cNvCxnSpPr>
              <a:cxnSpLocks/>
            </p:cNvCxnSpPr>
            <p:nvPr/>
          </p:nvCxnSpPr>
          <p:spPr>
            <a:xfrm flipV="1">
              <a:off x="6434357" y="4136575"/>
              <a:ext cx="165482" cy="44852"/>
            </a:xfrm>
            <a:prstGeom prst="line">
              <a:avLst/>
            </a:prstGeom>
            <a:ln w="28575"/>
          </p:spPr>
          <p:style>
            <a:lnRef idx="1">
              <a:schemeClr val="dk1"/>
            </a:lnRef>
            <a:fillRef idx="0">
              <a:schemeClr val="dk1"/>
            </a:fillRef>
            <a:effectRef idx="0">
              <a:schemeClr val="dk1"/>
            </a:effectRef>
            <a:fontRef idx="minor">
              <a:schemeClr val="tx1"/>
            </a:fontRef>
          </p:style>
        </p:cxnSp>
        <p:cxnSp>
          <p:nvCxnSpPr>
            <p:cNvPr id="82" name="Straight Connector 81">
              <a:extLst>
                <a:ext uri="{FF2B5EF4-FFF2-40B4-BE49-F238E27FC236}">
                  <a16:creationId xmlns:a16="http://schemas.microsoft.com/office/drawing/2014/main" id="{081A4E0A-EFA9-CB0C-618C-8BDD0C07E5AA}"/>
                </a:ext>
              </a:extLst>
            </p:cNvPr>
            <p:cNvCxnSpPr>
              <a:cxnSpLocks/>
            </p:cNvCxnSpPr>
            <p:nvPr/>
          </p:nvCxnSpPr>
          <p:spPr>
            <a:xfrm>
              <a:off x="6268875" y="4138047"/>
              <a:ext cx="165482" cy="44852"/>
            </a:xfrm>
            <a:prstGeom prst="line">
              <a:avLst/>
            </a:prstGeom>
            <a:ln w="28575"/>
          </p:spPr>
          <p:style>
            <a:lnRef idx="1">
              <a:schemeClr val="dk1"/>
            </a:lnRef>
            <a:fillRef idx="0">
              <a:schemeClr val="dk1"/>
            </a:fillRef>
            <a:effectRef idx="0">
              <a:schemeClr val="dk1"/>
            </a:effectRef>
            <a:fontRef idx="minor">
              <a:schemeClr val="tx1"/>
            </a:fontRef>
          </p:style>
        </p:cxnSp>
        <p:sp>
          <p:nvSpPr>
            <p:cNvPr id="83" name="Oval 82">
              <a:extLst>
                <a:ext uri="{FF2B5EF4-FFF2-40B4-BE49-F238E27FC236}">
                  <a16:creationId xmlns:a16="http://schemas.microsoft.com/office/drawing/2014/main" id="{E5E736A0-E754-CC2E-49F4-C7A3EE2B4295}"/>
                </a:ext>
              </a:extLst>
            </p:cNvPr>
            <p:cNvSpPr>
              <a:spLocks noChangeAspect="1"/>
            </p:cNvSpPr>
            <p:nvPr/>
          </p:nvSpPr>
          <p:spPr>
            <a:xfrm>
              <a:off x="6318937" y="3838758"/>
              <a:ext cx="214061" cy="21406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cxnSp>
        <p:nvCxnSpPr>
          <p:cNvPr id="84" name="Straight Connector 83">
            <a:extLst>
              <a:ext uri="{FF2B5EF4-FFF2-40B4-BE49-F238E27FC236}">
                <a16:creationId xmlns:a16="http://schemas.microsoft.com/office/drawing/2014/main" id="{843DBEE7-280A-29FD-6EFF-577BE6826FDF}"/>
              </a:ext>
            </a:extLst>
          </p:cNvPr>
          <p:cNvCxnSpPr/>
          <p:nvPr/>
        </p:nvCxnSpPr>
        <p:spPr>
          <a:xfrm>
            <a:off x="10351279" y="5471055"/>
            <a:ext cx="595618"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85" name="Straight Connector 84">
            <a:extLst>
              <a:ext uri="{FF2B5EF4-FFF2-40B4-BE49-F238E27FC236}">
                <a16:creationId xmlns:a16="http://schemas.microsoft.com/office/drawing/2014/main" id="{245AD6F2-AB16-800B-B371-2BF6BB9B3AF3}"/>
              </a:ext>
            </a:extLst>
          </p:cNvPr>
          <p:cNvCxnSpPr>
            <a:cxnSpLocks/>
          </p:cNvCxnSpPr>
          <p:nvPr/>
        </p:nvCxnSpPr>
        <p:spPr>
          <a:xfrm>
            <a:off x="10170916" y="5574930"/>
            <a:ext cx="100248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86" name="Straight Connector 85">
            <a:extLst>
              <a:ext uri="{FF2B5EF4-FFF2-40B4-BE49-F238E27FC236}">
                <a16:creationId xmlns:a16="http://schemas.microsoft.com/office/drawing/2014/main" id="{8D987DCC-2FEE-3F40-3D05-406F7FFBC76E}"/>
              </a:ext>
            </a:extLst>
          </p:cNvPr>
          <p:cNvCxnSpPr>
            <a:cxnSpLocks/>
          </p:cNvCxnSpPr>
          <p:nvPr/>
        </p:nvCxnSpPr>
        <p:spPr>
          <a:xfrm>
            <a:off x="10946897" y="5471055"/>
            <a:ext cx="226503" cy="90029"/>
          </a:xfrm>
          <a:prstGeom prst="line">
            <a:avLst/>
          </a:prstGeom>
          <a:ln w="28575"/>
        </p:spPr>
        <p:style>
          <a:lnRef idx="1">
            <a:schemeClr val="dk1"/>
          </a:lnRef>
          <a:fillRef idx="0">
            <a:schemeClr val="dk1"/>
          </a:fillRef>
          <a:effectRef idx="0">
            <a:schemeClr val="dk1"/>
          </a:effectRef>
          <a:fontRef idx="minor">
            <a:schemeClr val="tx1"/>
          </a:fontRef>
        </p:style>
      </p:cxnSp>
      <p:cxnSp>
        <p:nvCxnSpPr>
          <p:cNvPr id="87" name="Straight Connector 86">
            <a:extLst>
              <a:ext uri="{FF2B5EF4-FFF2-40B4-BE49-F238E27FC236}">
                <a16:creationId xmlns:a16="http://schemas.microsoft.com/office/drawing/2014/main" id="{A711374E-9512-9FB8-50B5-C9547DDCF78D}"/>
              </a:ext>
            </a:extLst>
          </p:cNvPr>
          <p:cNvCxnSpPr>
            <a:cxnSpLocks/>
          </p:cNvCxnSpPr>
          <p:nvPr/>
        </p:nvCxnSpPr>
        <p:spPr>
          <a:xfrm flipH="1" flipV="1">
            <a:off x="9955595" y="5360381"/>
            <a:ext cx="222318" cy="211621"/>
          </a:xfrm>
          <a:prstGeom prst="line">
            <a:avLst/>
          </a:prstGeom>
          <a:ln w="28575"/>
        </p:spPr>
        <p:style>
          <a:lnRef idx="1">
            <a:schemeClr val="dk1"/>
          </a:lnRef>
          <a:fillRef idx="0">
            <a:schemeClr val="dk1"/>
          </a:fillRef>
          <a:effectRef idx="0">
            <a:schemeClr val="dk1"/>
          </a:effectRef>
          <a:fontRef idx="minor">
            <a:schemeClr val="tx1"/>
          </a:fontRef>
        </p:style>
      </p:cxnSp>
      <p:cxnSp>
        <p:nvCxnSpPr>
          <p:cNvPr id="88" name="Straight Connector 87">
            <a:extLst>
              <a:ext uri="{FF2B5EF4-FFF2-40B4-BE49-F238E27FC236}">
                <a16:creationId xmlns:a16="http://schemas.microsoft.com/office/drawing/2014/main" id="{A1E3B6BC-C910-632E-9C60-A45E0562EB2A}"/>
              </a:ext>
            </a:extLst>
          </p:cNvPr>
          <p:cNvCxnSpPr>
            <a:cxnSpLocks/>
          </p:cNvCxnSpPr>
          <p:nvPr/>
        </p:nvCxnSpPr>
        <p:spPr>
          <a:xfrm flipH="1" flipV="1">
            <a:off x="10233833" y="5363733"/>
            <a:ext cx="117447" cy="110475"/>
          </a:xfrm>
          <a:prstGeom prst="line">
            <a:avLst/>
          </a:prstGeom>
          <a:ln w="28575"/>
        </p:spPr>
        <p:style>
          <a:lnRef idx="1">
            <a:schemeClr val="dk1"/>
          </a:lnRef>
          <a:fillRef idx="0">
            <a:schemeClr val="dk1"/>
          </a:fillRef>
          <a:effectRef idx="0">
            <a:schemeClr val="dk1"/>
          </a:effectRef>
          <a:fontRef idx="minor">
            <a:schemeClr val="tx1"/>
          </a:fontRef>
        </p:style>
      </p:cxnSp>
      <p:cxnSp>
        <p:nvCxnSpPr>
          <p:cNvPr id="89" name="Straight Connector 88">
            <a:extLst>
              <a:ext uri="{FF2B5EF4-FFF2-40B4-BE49-F238E27FC236}">
                <a16:creationId xmlns:a16="http://schemas.microsoft.com/office/drawing/2014/main" id="{09A80B26-43AD-B10B-5B86-8F2A5CF3AD34}"/>
              </a:ext>
            </a:extLst>
          </p:cNvPr>
          <p:cNvCxnSpPr>
            <a:cxnSpLocks/>
          </p:cNvCxnSpPr>
          <p:nvPr/>
        </p:nvCxnSpPr>
        <p:spPr>
          <a:xfrm>
            <a:off x="9963984" y="5366288"/>
            <a:ext cx="26984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B82E6507-36C8-01F4-EF56-64F28A5DC606}"/>
              </a:ext>
            </a:extLst>
          </p:cNvPr>
          <p:cNvCxnSpPr>
            <a:cxnSpLocks/>
          </p:cNvCxnSpPr>
          <p:nvPr/>
        </p:nvCxnSpPr>
        <p:spPr>
          <a:xfrm flipV="1">
            <a:off x="10066754" y="5525511"/>
            <a:ext cx="554371" cy="116739"/>
          </a:xfrm>
          <a:prstGeom prst="line">
            <a:avLst/>
          </a:prstGeom>
          <a:ln w="28575"/>
        </p:spPr>
        <p:style>
          <a:lnRef idx="1">
            <a:schemeClr val="dk1"/>
          </a:lnRef>
          <a:fillRef idx="0">
            <a:schemeClr val="dk1"/>
          </a:fillRef>
          <a:effectRef idx="0">
            <a:schemeClr val="dk1"/>
          </a:effectRef>
          <a:fontRef idx="minor">
            <a:schemeClr val="tx1"/>
          </a:fontRef>
        </p:style>
      </p:cxnSp>
      <p:cxnSp>
        <p:nvCxnSpPr>
          <p:cNvPr id="91" name="Straight Connector 90">
            <a:extLst>
              <a:ext uri="{FF2B5EF4-FFF2-40B4-BE49-F238E27FC236}">
                <a16:creationId xmlns:a16="http://schemas.microsoft.com/office/drawing/2014/main" id="{05DDA514-258D-770F-8EB9-10BBD828C893}"/>
              </a:ext>
            </a:extLst>
          </p:cNvPr>
          <p:cNvCxnSpPr>
            <a:cxnSpLocks/>
          </p:cNvCxnSpPr>
          <p:nvPr/>
        </p:nvCxnSpPr>
        <p:spPr>
          <a:xfrm flipV="1">
            <a:off x="10259000" y="5538292"/>
            <a:ext cx="554371" cy="116739"/>
          </a:xfrm>
          <a:prstGeom prst="line">
            <a:avLst/>
          </a:prstGeom>
          <a:ln w="28575"/>
        </p:spPr>
        <p:style>
          <a:lnRef idx="1">
            <a:schemeClr val="dk1"/>
          </a:lnRef>
          <a:fillRef idx="0">
            <a:schemeClr val="dk1"/>
          </a:fillRef>
          <a:effectRef idx="0">
            <a:schemeClr val="dk1"/>
          </a:effectRef>
          <a:fontRef idx="minor">
            <a:schemeClr val="tx1"/>
          </a:fontRef>
        </p:style>
      </p:cxnSp>
      <p:cxnSp>
        <p:nvCxnSpPr>
          <p:cNvPr id="92" name="Straight Connector 91">
            <a:extLst>
              <a:ext uri="{FF2B5EF4-FFF2-40B4-BE49-F238E27FC236}">
                <a16:creationId xmlns:a16="http://schemas.microsoft.com/office/drawing/2014/main" id="{518E376E-ADD2-E6AA-4467-04C5F8F1445B}"/>
              </a:ext>
            </a:extLst>
          </p:cNvPr>
          <p:cNvCxnSpPr>
            <a:cxnSpLocks/>
          </p:cNvCxnSpPr>
          <p:nvPr/>
        </p:nvCxnSpPr>
        <p:spPr>
          <a:xfrm>
            <a:off x="10066754" y="5655031"/>
            <a:ext cx="195039" cy="0"/>
          </a:xfrm>
          <a:prstGeom prst="line">
            <a:avLst/>
          </a:prstGeom>
          <a:ln w="28575"/>
        </p:spPr>
        <p:style>
          <a:lnRef idx="1">
            <a:schemeClr val="dk1"/>
          </a:lnRef>
          <a:fillRef idx="0">
            <a:schemeClr val="dk1"/>
          </a:fillRef>
          <a:effectRef idx="0">
            <a:schemeClr val="dk1"/>
          </a:effectRef>
          <a:fontRef idx="minor">
            <a:schemeClr val="tx1"/>
          </a:fontRef>
        </p:style>
      </p:cxnSp>
      <p:sp>
        <p:nvSpPr>
          <p:cNvPr id="95" name="TextBox 94">
            <a:extLst>
              <a:ext uri="{FF2B5EF4-FFF2-40B4-BE49-F238E27FC236}">
                <a16:creationId xmlns:a16="http://schemas.microsoft.com/office/drawing/2014/main" id="{117A4717-64DD-C782-E825-7B841F38BD9E}"/>
              </a:ext>
            </a:extLst>
          </p:cNvPr>
          <p:cNvSpPr txBox="1"/>
          <p:nvPr/>
        </p:nvSpPr>
        <p:spPr>
          <a:xfrm>
            <a:off x="8432405" y="4814767"/>
            <a:ext cx="1778466" cy="338554"/>
          </a:xfrm>
          <a:prstGeom prst="rect">
            <a:avLst/>
          </a:prstGeom>
          <a:noFill/>
        </p:spPr>
        <p:txBody>
          <a:bodyPr wrap="square" rtlCol="0">
            <a:spAutoFit/>
          </a:bodyPr>
          <a:lstStyle/>
          <a:p>
            <a:pPr algn="ctr"/>
            <a:r>
              <a:rPr lang="es-CL" sz="1600" i="1" dirty="0"/>
              <a:t>y</a:t>
            </a:r>
            <a:endParaRPr lang="es-CL" i="1" dirty="0"/>
          </a:p>
        </p:txBody>
      </p:sp>
      <p:sp>
        <p:nvSpPr>
          <p:cNvPr id="99" name="TextBox 98">
            <a:extLst>
              <a:ext uri="{FF2B5EF4-FFF2-40B4-BE49-F238E27FC236}">
                <a16:creationId xmlns:a16="http://schemas.microsoft.com/office/drawing/2014/main" id="{C38C5D74-8C4A-A85C-2B98-EF10BD6F5B66}"/>
              </a:ext>
            </a:extLst>
          </p:cNvPr>
          <p:cNvSpPr txBox="1"/>
          <p:nvPr/>
        </p:nvSpPr>
        <p:spPr>
          <a:xfrm>
            <a:off x="11164018" y="6406310"/>
            <a:ext cx="481986" cy="338554"/>
          </a:xfrm>
          <a:prstGeom prst="rect">
            <a:avLst/>
          </a:prstGeom>
          <a:noFill/>
        </p:spPr>
        <p:txBody>
          <a:bodyPr wrap="square" rtlCol="0">
            <a:spAutoFit/>
          </a:bodyPr>
          <a:lstStyle/>
          <a:p>
            <a:pPr algn="ctr"/>
            <a:r>
              <a:rPr lang="es-CL" sz="1600" i="1" dirty="0"/>
              <a:t>x</a:t>
            </a:r>
          </a:p>
        </p:txBody>
      </p:sp>
      <p:sp>
        <p:nvSpPr>
          <p:cNvPr id="101" name="TextBox 100">
            <a:extLst>
              <a:ext uri="{FF2B5EF4-FFF2-40B4-BE49-F238E27FC236}">
                <a16:creationId xmlns:a16="http://schemas.microsoft.com/office/drawing/2014/main" id="{BF126617-841D-4FFE-89F9-7DAA0F7F4596}"/>
              </a:ext>
            </a:extLst>
          </p:cNvPr>
          <p:cNvSpPr txBox="1"/>
          <p:nvPr/>
        </p:nvSpPr>
        <p:spPr>
          <a:xfrm>
            <a:off x="340504" y="5799177"/>
            <a:ext cx="7370111" cy="584775"/>
          </a:xfrm>
          <a:prstGeom prst="rect">
            <a:avLst/>
          </a:prstGeom>
          <a:noFill/>
        </p:spPr>
        <p:txBody>
          <a:bodyPr wrap="square" rtlCol="0">
            <a:spAutoFit/>
          </a:bodyPr>
          <a:lstStyle/>
          <a:p>
            <a:pPr algn="just"/>
            <a:r>
              <a:rPr lang="es-ES" sz="1600" b="1" dirty="0"/>
              <a:t>Tiempo:</a:t>
            </a:r>
            <a:r>
              <a:rPr lang="es-ES" sz="1600" dirty="0"/>
              <a:t> El tiempo es una cantidad escalar y permite ordenar los sucesos en secuencias. Su unidad de medida en el S.I. es el segundo.</a:t>
            </a:r>
          </a:p>
        </p:txBody>
      </p:sp>
      <p:sp>
        <p:nvSpPr>
          <p:cNvPr id="4" name="Marcador de número de diapositiva 2">
            <a:extLst>
              <a:ext uri="{FF2B5EF4-FFF2-40B4-BE49-F238E27FC236}">
                <a16:creationId xmlns:a16="http://schemas.microsoft.com/office/drawing/2014/main" id="{F22FB777-5398-A6CE-8B00-56F2CAAFDCAE}"/>
              </a:ext>
            </a:extLst>
          </p:cNvPr>
          <p:cNvSpPr txBox="1">
            <a:spLocks/>
          </p:cNvSpPr>
          <p:nvPr/>
        </p:nvSpPr>
        <p:spPr>
          <a:xfrm>
            <a:off x="8993372" y="168201"/>
            <a:ext cx="2743200" cy="365125"/>
          </a:xfrm>
          <a:prstGeom prst="rect">
            <a:avLst/>
          </a:prstGeom>
        </p:spPr>
        <p:txBody>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9C89E4B-EE86-427E-B533-BCEDB2CD4BCC}" type="slidenum">
              <a:rPr lang="es-CL" sz="1200" smtClean="0"/>
              <a:pPr algn="r"/>
              <a:t>3</a:t>
            </a:fld>
            <a:endParaRPr lang="es-CL" sz="1200"/>
          </a:p>
        </p:txBody>
      </p:sp>
    </p:spTree>
    <p:extLst>
      <p:ext uri="{BB962C8B-B14F-4D97-AF65-F5344CB8AC3E}">
        <p14:creationId xmlns:p14="http://schemas.microsoft.com/office/powerpoint/2010/main" val="886753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95491-38BD-40AC-F5C4-3E3C899105C4}"/>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B0CBDA96-BCC5-F022-39C7-C307F1E6F5E7}"/>
              </a:ext>
            </a:extLst>
          </p:cNvPr>
          <p:cNvSpPr txBox="1"/>
          <p:nvPr/>
        </p:nvSpPr>
        <p:spPr>
          <a:xfrm>
            <a:off x="133350" y="19050"/>
            <a:ext cx="11934826" cy="461665"/>
          </a:xfrm>
          <a:prstGeom prst="rect">
            <a:avLst/>
          </a:prstGeom>
          <a:noFill/>
          <a:ln cap="flat" cmpd="sng">
            <a:solidFill>
              <a:srgbClr val="FFFFFF"/>
            </a:solidFill>
          </a:ln>
        </p:spPr>
        <p:txBody>
          <a:bodyPr wrap="square" rtlCol="0">
            <a:spAutoFit/>
          </a:bodyPr>
          <a:lstStyle/>
          <a:p>
            <a:pPr algn="ctr"/>
            <a:endParaRPr lang="es-CL" sz="2400" dirty="0"/>
          </a:p>
        </p:txBody>
      </p:sp>
      <p:graphicFrame>
        <p:nvGraphicFramePr>
          <p:cNvPr id="8" name="Tabla 7">
            <a:extLst>
              <a:ext uri="{FF2B5EF4-FFF2-40B4-BE49-F238E27FC236}">
                <a16:creationId xmlns:a16="http://schemas.microsoft.com/office/drawing/2014/main" id="{F768E18E-CD1A-F161-848A-554E515825B6}"/>
              </a:ext>
            </a:extLst>
          </p:cNvPr>
          <p:cNvGraphicFramePr>
            <a:graphicFrameLocks noGrp="1"/>
          </p:cNvGraphicFramePr>
          <p:nvPr>
            <p:extLst>
              <p:ext uri="{D42A27DB-BD31-4B8C-83A1-F6EECF244321}">
                <p14:modId xmlns:p14="http://schemas.microsoft.com/office/powerpoint/2010/main" val="2267626721"/>
              </p:ext>
            </p:extLst>
          </p:nvPr>
        </p:nvGraphicFramePr>
        <p:xfrm>
          <a:off x="1" y="0"/>
          <a:ext cx="12192000" cy="4572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2960110769"/>
                    </a:ext>
                  </a:extLst>
                </a:gridCol>
              </a:tblGrid>
              <a:tr h="370840">
                <a:tc>
                  <a:txBody>
                    <a:bodyPr/>
                    <a:lstStyle/>
                    <a:p>
                      <a:pPr algn="ctr"/>
                      <a:r>
                        <a:rPr lang="es-MX" sz="2400" dirty="0">
                          <a:latin typeface="Montserrat" pitchFamily="2" charset="77"/>
                        </a:rPr>
                        <a:t>Cinemática 1d</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81913"/>
                  </a:ext>
                </a:extLst>
              </a:tr>
            </a:tbl>
          </a:graphicData>
        </a:graphic>
      </p:graphicFrame>
      <p:sp>
        <p:nvSpPr>
          <p:cNvPr id="13" name="TextBox 12">
            <a:extLst>
              <a:ext uri="{FF2B5EF4-FFF2-40B4-BE49-F238E27FC236}">
                <a16:creationId xmlns:a16="http://schemas.microsoft.com/office/drawing/2014/main" id="{73178CE4-901D-2685-19F8-1ADD1A81659F}"/>
              </a:ext>
            </a:extLst>
          </p:cNvPr>
          <p:cNvSpPr txBox="1"/>
          <p:nvPr/>
        </p:nvSpPr>
        <p:spPr>
          <a:xfrm>
            <a:off x="346504" y="830427"/>
            <a:ext cx="11106130" cy="1077218"/>
          </a:xfrm>
          <a:prstGeom prst="rect">
            <a:avLst/>
          </a:prstGeom>
          <a:noFill/>
        </p:spPr>
        <p:txBody>
          <a:bodyPr wrap="square" rtlCol="0">
            <a:spAutoFit/>
          </a:bodyPr>
          <a:lstStyle/>
          <a:p>
            <a:r>
              <a:rPr lang="es-ES" sz="1600" b="1" dirty="0"/>
              <a:t>Definiciones</a:t>
            </a:r>
          </a:p>
          <a:p>
            <a:endParaRPr lang="es-ES" sz="1600" dirty="0"/>
          </a:p>
          <a:p>
            <a:r>
              <a:rPr lang="es-ES" sz="1600" b="1" dirty="0"/>
              <a:t>Trayectoria:</a:t>
            </a:r>
            <a:r>
              <a:rPr lang="es-ES" sz="1600" dirty="0"/>
              <a:t> Se define la trayectoria como la curva que describe una partícula cuando ésta se mueve en el espacio.</a:t>
            </a:r>
          </a:p>
        </p:txBody>
      </p:sp>
      <p:grpSp>
        <p:nvGrpSpPr>
          <p:cNvPr id="21" name="Group 20">
            <a:extLst>
              <a:ext uri="{FF2B5EF4-FFF2-40B4-BE49-F238E27FC236}">
                <a16:creationId xmlns:a16="http://schemas.microsoft.com/office/drawing/2014/main" id="{B65CD1EF-8928-1AB2-B842-B085FB81E40C}"/>
              </a:ext>
            </a:extLst>
          </p:cNvPr>
          <p:cNvGrpSpPr/>
          <p:nvPr/>
        </p:nvGrpSpPr>
        <p:grpSpPr>
          <a:xfrm>
            <a:off x="4698366" y="3063628"/>
            <a:ext cx="320638" cy="219327"/>
            <a:chOff x="2575723" y="3785573"/>
            <a:chExt cx="320638" cy="219327"/>
          </a:xfrm>
        </p:grpSpPr>
        <p:sp>
          <p:nvSpPr>
            <p:cNvPr id="23" name="Oval 22">
              <a:extLst>
                <a:ext uri="{FF2B5EF4-FFF2-40B4-BE49-F238E27FC236}">
                  <a16:creationId xmlns:a16="http://schemas.microsoft.com/office/drawing/2014/main" id="{AC3FC4A9-77EF-00A4-0217-80F48C4D8AF4}"/>
                </a:ext>
              </a:extLst>
            </p:cNvPr>
            <p:cNvSpPr>
              <a:spLocks/>
            </p:cNvSpPr>
            <p:nvPr/>
          </p:nvSpPr>
          <p:spPr>
            <a:xfrm rot="7336330">
              <a:off x="2694111" y="3734921"/>
              <a:ext cx="83861" cy="32063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9" name="Oval 38">
              <a:extLst>
                <a:ext uri="{FF2B5EF4-FFF2-40B4-BE49-F238E27FC236}">
                  <a16:creationId xmlns:a16="http://schemas.microsoft.com/office/drawing/2014/main" id="{B4D98C30-1D4D-7585-9268-17AE05B0856F}"/>
                </a:ext>
              </a:extLst>
            </p:cNvPr>
            <p:cNvSpPr>
              <a:spLocks/>
            </p:cNvSpPr>
            <p:nvPr/>
          </p:nvSpPr>
          <p:spPr>
            <a:xfrm rot="2081180">
              <a:off x="2682696" y="3785573"/>
              <a:ext cx="106691" cy="219327"/>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cxnSp>
        <p:nvCxnSpPr>
          <p:cNvPr id="62" name="Straight Arrow Connector 61">
            <a:extLst>
              <a:ext uri="{FF2B5EF4-FFF2-40B4-BE49-F238E27FC236}">
                <a16:creationId xmlns:a16="http://schemas.microsoft.com/office/drawing/2014/main" id="{73B251A4-7F0E-1DCC-6AE8-730D641E97B2}"/>
              </a:ext>
            </a:extLst>
          </p:cNvPr>
          <p:cNvCxnSpPr>
            <a:cxnSpLocks/>
          </p:cNvCxnSpPr>
          <p:nvPr/>
        </p:nvCxnSpPr>
        <p:spPr>
          <a:xfrm flipV="1">
            <a:off x="3946608" y="1915060"/>
            <a:ext cx="0" cy="160806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5F0C0DFF-B577-F883-1748-ABF8F7E67C4C}"/>
              </a:ext>
            </a:extLst>
          </p:cNvPr>
          <p:cNvCxnSpPr>
            <a:cxnSpLocks/>
          </p:cNvCxnSpPr>
          <p:nvPr/>
        </p:nvCxnSpPr>
        <p:spPr>
          <a:xfrm>
            <a:off x="3817810" y="3417224"/>
            <a:ext cx="35135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4" name="TextBox 63">
            <a:extLst>
              <a:ext uri="{FF2B5EF4-FFF2-40B4-BE49-F238E27FC236}">
                <a16:creationId xmlns:a16="http://schemas.microsoft.com/office/drawing/2014/main" id="{DF92BBD3-2772-971E-730F-1E178C6815F8}"/>
              </a:ext>
            </a:extLst>
          </p:cNvPr>
          <p:cNvSpPr txBox="1"/>
          <p:nvPr/>
        </p:nvSpPr>
        <p:spPr>
          <a:xfrm>
            <a:off x="6352521" y="3421841"/>
            <a:ext cx="1778466" cy="369332"/>
          </a:xfrm>
          <a:prstGeom prst="rect">
            <a:avLst/>
          </a:prstGeom>
          <a:noFill/>
        </p:spPr>
        <p:txBody>
          <a:bodyPr wrap="square" rtlCol="0">
            <a:spAutoFit/>
          </a:bodyPr>
          <a:lstStyle/>
          <a:p>
            <a:pPr algn="ctr"/>
            <a:r>
              <a:rPr lang="es-CL" i="1" dirty="0"/>
              <a:t>x</a:t>
            </a:r>
          </a:p>
        </p:txBody>
      </p:sp>
      <p:sp>
        <p:nvSpPr>
          <p:cNvPr id="65" name="TextBox 64">
            <a:extLst>
              <a:ext uri="{FF2B5EF4-FFF2-40B4-BE49-F238E27FC236}">
                <a16:creationId xmlns:a16="http://schemas.microsoft.com/office/drawing/2014/main" id="{BD4C9826-0DEC-182A-68BB-592F30F7440E}"/>
              </a:ext>
            </a:extLst>
          </p:cNvPr>
          <p:cNvSpPr txBox="1"/>
          <p:nvPr/>
        </p:nvSpPr>
        <p:spPr>
          <a:xfrm>
            <a:off x="2865824" y="1755245"/>
            <a:ext cx="1778466" cy="369332"/>
          </a:xfrm>
          <a:prstGeom prst="rect">
            <a:avLst/>
          </a:prstGeom>
          <a:noFill/>
        </p:spPr>
        <p:txBody>
          <a:bodyPr wrap="square" rtlCol="0">
            <a:spAutoFit/>
          </a:bodyPr>
          <a:lstStyle/>
          <a:p>
            <a:pPr algn="ctr"/>
            <a:r>
              <a:rPr lang="es-CL" i="1" dirty="0"/>
              <a:t>y</a:t>
            </a:r>
          </a:p>
        </p:txBody>
      </p:sp>
      <p:sp>
        <p:nvSpPr>
          <p:cNvPr id="73" name="Freeform: Shape 72">
            <a:extLst>
              <a:ext uri="{FF2B5EF4-FFF2-40B4-BE49-F238E27FC236}">
                <a16:creationId xmlns:a16="http://schemas.microsoft.com/office/drawing/2014/main" id="{92551758-23FC-FB6A-2D5C-3965F3ABB134}"/>
              </a:ext>
            </a:extLst>
          </p:cNvPr>
          <p:cNvSpPr/>
          <p:nvPr/>
        </p:nvSpPr>
        <p:spPr>
          <a:xfrm rot="1444803">
            <a:off x="5041856" y="2321883"/>
            <a:ext cx="1643844" cy="1241632"/>
          </a:xfrm>
          <a:custGeom>
            <a:avLst/>
            <a:gdLst>
              <a:gd name="connsiteX0" fmla="*/ 28678 w 1643844"/>
              <a:gd name="connsiteY0" fmla="*/ 1241632 h 1241632"/>
              <a:gd name="connsiteX1" fmla="*/ 45456 w 1643844"/>
              <a:gd name="connsiteY1" fmla="*/ 797016 h 1241632"/>
              <a:gd name="connsiteX2" fmla="*/ 456517 w 1643844"/>
              <a:gd name="connsiteY2" fmla="*/ 847350 h 1241632"/>
              <a:gd name="connsiteX3" fmla="*/ 473295 w 1643844"/>
              <a:gd name="connsiteY3" fmla="*/ 344010 h 1241632"/>
              <a:gd name="connsiteX4" fmla="*/ 750131 w 1643844"/>
              <a:gd name="connsiteY4" fmla="*/ 62 h 1241632"/>
              <a:gd name="connsiteX5" fmla="*/ 1177970 w 1643844"/>
              <a:gd name="connsiteY5" fmla="*/ 369177 h 1241632"/>
              <a:gd name="connsiteX6" fmla="*/ 1639364 w 1643844"/>
              <a:gd name="connsiteY6" fmla="*/ 377566 h 1241632"/>
              <a:gd name="connsiteX7" fmla="*/ 1412862 w 1643844"/>
              <a:gd name="connsiteY7" fmla="*/ 637625 h 1241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43844" h="1241632">
                <a:moveTo>
                  <a:pt x="28678" y="1241632"/>
                </a:moveTo>
                <a:cubicBezTo>
                  <a:pt x="1413" y="1052181"/>
                  <a:pt x="-25851" y="862730"/>
                  <a:pt x="45456" y="797016"/>
                </a:cubicBezTo>
                <a:cubicBezTo>
                  <a:pt x="116763" y="731302"/>
                  <a:pt x="385211" y="922851"/>
                  <a:pt x="456517" y="847350"/>
                </a:cubicBezTo>
                <a:cubicBezTo>
                  <a:pt x="527823" y="771849"/>
                  <a:pt x="424359" y="485225"/>
                  <a:pt x="473295" y="344010"/>
                </a:cubicBezTo>
                <a:cubicBezTo>
                  <a:pt x="522231" y="202795"/>
                  <a:pt x="632685" y="-4132"/>
                  <a:pt x="750131" y="62"/>
                </a:cubicBezTo>
                <a:cubicBezTo>
                  <a:pt x="867577" y="4256"/>
                  <a:pt x="1029765" y="306260"/>
                  <a:pt x="1177970" y="369177"/>
                </a:cubicBezTo>
                <a:cubicBezTo>
                  <a:pt x="1326176" y="432094"/>
                  <a:pt x="1600215" y="332825"/>
                  <a:pt x="1639364" y="377566"/>
                </a:cubicBezTo>
                <a:cubicBezTo>
                  <a:pt x="1678513" y="422307"/>
                  <a:pt x="1449214" y="584495"/>
                  <a:pt x="1412862" y="637625"/>
                </a:cubicBezTo>
              </a:path>
            </a:pathLst>
          </a:custGeom>
          <a:ln w="28575">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es-CL"/>
          </a:p>
        </p:txBody>
      </p:sp>
      <p:sp>
        <p:nvSpPr>
          <p:cNvPr id="74" name="TextBox 73">
            <a:extLst>
              <a:ext uri="{FF2B5EF4-FFF2-40B4-BE49-F238E27FC236}">
                <a16:creationId xmlns:a16="http://schemas.microsoft.com/office/drawing/2014/main" id="{E98500BD-B675-5496-C1D7-4886F1AD5B54}"/>
              </a:ext>
            </a:extLst>
          </p:cNvPr>
          <p:cNvSpPr txBox="1"/>
          <p:nvPr/>
        </p:nvSpPr>
        <p:spPr>
          <a:xfrm>
            <a:off x="6129094" y="2115403"/>
            <a:ext cx="1324402" cy="338554"/>
          </a:xfrm>
          <a:prstGeom prst="rect">
            <a:avLst/>
          </a:prstGeom>
          <a:noFill/>
        </p:spPr>
        <p:txBody>
          <a:bodyPr wrap="none" rtlCol="0">
            <a:spAutoFit/>
          </a:bodyPr>
          <a:lstStyle/>
          <a:p>
            <a:r>
              <a:rPr lang="en-US" sz="1600" dirty="0" err="1"/>
              <a:t>Trayectoria</a:t>
            </a:r>
            <a:endParaRPr lang="en-US" sz="1600" dirty="0"/>
          </a:p>
        </p:txBody>
      </p:sp>
      <p:sp>
        <p:nvSpPr>
          <p:cNvPr id="76" name="TextBox 75">
            <a:extLst>
              <a:ext uri="{FF2B5EF4-FFF2-40B4-BE49-F238E27FC236}">
                <a16:creationId xmlns:a16="http://schemas.microsoft.com/office/drawing/2014/main" id="{48D95948-4D14-406E-EB20-F37E2112A2F7}"/>
              </a:ext>
            </a:extLst>
          </p:cNvPr>
          <p:cNvSpPr txBox="1"/>
          <p:nvPr/>
        </p:nvSpPr>
        <p:spPr>
          <a:xfrm>
            <a:off x="346504" y="3712375"/>
            <a:ext cx="11106130" cy="584775"/>
          </a:xfrm>
          <a:prstGeom prst="rect">
            <a:avLst/>
          </a:prstGeom>
          <a:noFill/>
        </p:spPr>
        <p:txBody>
          <a:bodyPr wrap="square" rtlCol="0">
            <a:spAutoFit/>
          </a:bodyPr>
          <a:lstStyle/>
          <a:p>
            <a:r>
              <a:rPr lang="es-ES" sz="1600" b="1" dirty="0"/>
              <a:t>Posición:</a:t>
            </a:r>
            <a:r>
              <a:rPr lang="es-ES" sz="1600" dirty="0"/>
              <a:t> Se define como el vector que une el origen del sistema de referencia con un punto sobre la trayectoria en un tiempo determinado. Su unidad de medida en S.I. es el metro.</a:t>
            </a:r>
          </a:p>
        </p:txBody>
      </p:sp>
      <p:cxnSp>
        <p:nvCxnSpPr>
          <p:cNvPr id="77" name="Straight Arrow Connector 76">
            <a:extLst>
              <a:ext uri="{FF2B5EF4-FFF2-40B4-BE49-F238E27FC236}">
                <a16:creationId xmlns:a16="http://schemas.microsoft.com/office/drawing/2014/main" id="{4A0192CB-3F2F-C24D-8A49-C054E6584A76}"/>
              </a:ext>
            </a:extLst>
          </p:cNvPr>
          <p:cNvCxnSpPr/>
          <p:nvPr/>
        </p:nvCxnSpPr>
        <p:spPr>
          <a:xfrm flipV="1">
            <a:off x="5208178" y="4693901"/>
            <a:ext cx="0" cy="15480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8" name="Straight Arrow Connector 77">
            <a:extLst>
              <a:ext uri="{FF2B5EF4-FFF2-40B4-BE49-F238E27FC236}">
                <a16:creationId xmlns:a16="http://schemas.microsoft.com/office/drawing/2014/main" id="{7D4E35ED-1E84-A25E-355B-FC62A44130BB}"/>
              </a:ext>
            </a:extLst>
          </p:cNvPr>
          <p:cNvCxnSpPr>
            <a:cxnSpLocks/>
          </p:cNvCxnSpPr>
          <p:nvPr/>
        </p:nvCxnSpPr>
        <p:spPr>
          <a:xfrm>
            <a:off x="5016627" y="6146758"/>
            <a:ext cx="21240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79" name="Group 78">
            <a:extLst>
              <a:ext uri="{FF2B5EF4-FFF2-40B4-BE49-F238E27FC236}">
                <a16:creationId xmlns:a16="http://schemas.microsoft.com/office/drawing/2014/main" id="{8A9F0442-7082-2A1C-988A-A861355EDC85}"/>
              </a:ext>
            </a:extLst>
          </p:cNvPr>
          <p:cNvGrpSpPr/>
          <p:nvPr/>
        </p:nvGrpSpPr>
        <p:grpSpPr>
          <a:xfrm>
            <a:off x="5015231" y="5505795"/>
            <a:ext cx="385894" cy="640963"/>
            <a:chOff x="6233020" y="3838758"/>
            <a:chExt cx="385894" cy="640963"/>
          </a:xfrm>
        </p:grpSpPr>
        <p:cxnSp>
          <p:nvCxnSpPr>
            <p:cNvPr id="80" name="Straight Connector 79">
              <a:extLst>
                <a:ext uri="{FF2B5EF4-FFF2-40B4-BE49-F238E27FC236}">
                  <a16:creationId xmlns:a16="http://schemas.microsoft.com/office/drawing/2014/main" id="{FC6A90EF-ADA2-E28B-513C-723BBCA4FBB7}"/>
                </a:ext>
              </a:extLst>
            </p:cNvPr>
            <p:cNvCxnSpPr/>
            <p:nvPr/>
          </p:nvCxnSpPr>
          <p:spPr>
            <a:xfrm flipV="1">
              <a:off x="6233020" y="4241284"/>
              <a:ext cx="192947" cy="238437"/>
            </a:xfrm>
            <a:prstGeom prst="line">
              <a:avLst/>
            </a:prstGeom>
            <a:ln w="28575"/>
          </p:spPr>
          <p:style>
            <a:lnRef idx="1">
              <a:schemeClr val="dk1"/>
            </a:lnRef>
            <a:fillRef idx="0">
              <a:schemeClr val="dk1"/>
            </a:fillRef>
            <a:effectRef idx="0">
              <a:schemeClr val="dk1"/>
            </a:effectRef>
            <a:fontRef idx="minor">
              <a:schemeClr val="tx1"/>
            </a:fontRef>
          </p:style>
        </p:cxnSp>
        <p:cxnSp>
          <p:nvCxnSpPr>
            <p:cNvPr id="81" name="Straight Connector 80">
              <a:extLst>
                <a:ext uri="{FF2B5EF4-FFF2-40B4-BE49-F238E27FC236}">
                  <a16:creationId xmlns:a16="http://schemas.microsoft.com/office/drawing/2014/main" id="{AE96C8DA-411B-4EA1-043D-C947238D353C}"/>
                </a:ext>
              </a:extLst>
            </p:cNvPr>
            <p:cNvCxnSpPr>
              <a:cxnSpLocks/>
            </p:cNvCxnSpPr>
            <p:nvPr/>
          </p:nvCxnSpPr>
          <p:spPr>
            <a:xfrm>
              <a:off x="6425967" y="4234366"/>
              <a:ext cx="192947" cy="238437"/>
            </a:xfrm>
            <a:prstGeom prst="line">
              <a:avLst/>
            </a:prstGeom>
            <a:ln w="28575"/>
          </p:spPr>
          <p:style>
            <a:lnRef idx="1">
              <a:schemeClr val="dk1"/>
            </a:lnRef>
            <a:fillRef idx="0">
              <a:schemeClr val="dk1"/>
            </a:fillRef>
            <a:effectRef idx="0">
              <a:schemeClr val="dk1"/>
            </a:effectRef>
            <a:fontRef idx="minor">
              <a:schemeClr val="tx1"/>
            </a:fontRef>
          </p:style>
        </p:cxnSp>
        <p:cxnSp>
          <p:nvCxnSpPr>
            <p:cNvPr id="82" name="Straight Connector 81">
              <a:extLst>
                <a:ext uri="{FF2B5EF4-FFF2-40B4-BE49-F238E27FC236}">
                  <a16:creationId xmlns:a16="http://schemas.microsoft.com/office/drawing/2014/main" id="{611A8849-A0FD-DA28-7F30-EAE83EE51936}"/>
                </a:ext>
              </a:extLst>
            </p:cNvPr>
            <p:cNvCxnSpPr>
              <a:cxnSpLocks/>
            </p:cNvCxnSpPr>
            <p:nvPr/>
          </p:nvCxnSpPr>
          <p:spPr>
            <a:xfrm flipH="1" flipV="1">
              <a:off x="6425967" y="4056618"/>
              <a:ext cx="0" cy="216000"/>
            </a:xfrm>
            <a:prstGeom prst="line">
              <a:avLst/>
            </a:prstGeom>
            <a:ln w="28575"/>
          </p:spPr>
          <p:style>
            <a:lnRef idx="1">
              <a:schemeClr val="dk1"/>
            </a:lnRef>
            <a:fillRef idx="0">
              <a:schemeClr val="dk1"/>
            </a:fillRef>
            <a:effectRef idx="0">
              <a:schemeClr val="dk1"/>
            </a:effectRef>
            <a:fontRef idx="minor">
              <a:schemeClr val="tx1"/>
            </a:fontRef>
          </p:style>
        </p:cxnSp>
        <p:cxnSp>
          <p:nvCxnSpPr>
            <p:cNvPr id="83" name="Straight Connector 82">
              <a:extLst>
                <a:ext uri="{FF2B5EF4-FFF2-40B4-BE49-F238E27FC236}">
                  <a16:creationId xmlns:a16="http://schemas.microsoft.com/office/drawing/2014/main" id="{A52DD385-772E-BB29-92CB-249E24D26F9A}"/>
                </a:ext>
              </a:extLst>
            </p:cNvPr>
            <p:cNvCxnSpPr>
              <a:cxnSpLocks/>
            </p:cNvCxnSpPr>
            <p:nvPr/>
          </p:nvCxnSpPr>
          <p:spPr>
            <a:xfrm flipV="1">
              <a:off x="6434357" y="4136575"/>
              <a:ext cx="165482" cy="44852"/>
            </a:xfrm>
            <a:prstGeom prst="line">
              <a:avLst/>
            </a:prstGeom>
            <a:ln w="28575"/>
          </p:spPr>
          <p:style>
            <a:lnRef idx="1">
              <a:schemeClr val="dk1"/>
            </a:lnRef>
            <a:fillRef idx="0">
              <a:schemeClr val="dk1"/>
            </a:fillRef>
            <a:effectRef idx="0">
              <a:schemeClr val="dk1"/>
            </a:effectRef>
            <a:fontRef idx="minor">
              <a:schemeClr val="tx1"/>
            </a:fontRef>
          </p:style>
        </p:cxnSp>
        <p:cxnSp>
          <p:nvCxnSpPr>
            <p:cNvPr id="84" name="Straight Connector 83">
              <a:extLst>
                <a:ext uri="{FF2B5EF4-FFF2-40B4-BE49-F238E27FC236}">
                  <a16:creationId xmlns:a16="http://schemas.microsoft.com/office/drawing/2014/main" id="{E19A430E-BB58-7BDD-C01E-C965D12680D8}"/>
                </a:ext>
              </a:extLst>
            </p:cNvPr>
            <p:cNvCxnSpPr>
              <a:cxnSpLocks/>
            </p:cNvCxnSpPr>
            <p:nvPr/>
          </p:nvCxnSpPr>
          <p:spPr>
            <a:xfrm>
              <a:off x="6268875" y="4138047"/>
              <a:ext cx="165482" cy="44852"/>
            </a:xfrm>
            <a:prstGeom prst="line">
              <a:avLst/>
            </a:prstGeom>
            <a:ln w="28575"/>
          </p:spPr>
          <p:style>
            <a:lnRef idx="1">
              <a:schemeClr val="dk1"/>
            </a:lnRef>
            <a:fillRef idx="0">
              <a:schemeClr val="dk1"/>
            </a:fillRef>
            <a:effectRef idx="0">
              <a:schemeClr val="dk1"/>
            </a:effectRef>
            <a:fontRef idx="minor">
              <a:schemeClr val="tx1"/>
            </a:fontRef>
          </p:style>
        </p:cxnSp>
        <p:sp>
          <p:nvSpPr>
            <p:cNvPr id="85" name="Oval 84">
              <a:extLst>
                <a:ext uri="{FF2B5EF4-FFF2-40B4-BE49-F238E27FC236}">
                  <a16:creationId xmlns:a16="http://schemas.microsoft.com/office/drawing/2014/main" id="{215944B9-E874-1725-279A-D73B4CD010E8}"/>
                </a:ext>
              </a:extLst>
            </p:cNvPr>
            <p:cNvSpPr>
              <a:spLocks noChangeAspect="1"/>
            </p:cNvSpPr>
            <p:nvPr/>
          </p:nvSpPr>
          <p:spPr>
            <a:xfrm>
              <a:off x="6318937" y="3838758"/>
              <a:ext cx="214061" cy="21406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cxnSp>
        <p:nvCxnSpPr>
          <p:cNvPr id="86" name="Straight Connector 85">
            <a:extLst>
              <a:ext uri="{FF2B5EF4-FFF2-40B4-BE49-F238E27FC236}">
                <a16:creationId xmlns:a16="http://schemas.microsoft.com/office/drawing/2014/main" id="{D5FB5602-6DA9-0E5D-D2FD-1A347402EB85}"/>
              </a:ext>
            </a:extLst>
          </p:cNvPr>
          <p:cNvCxnSpPr/>
          <p:nvPr/>
        </p:nvCxnSpPr>
        <p:spPr>
          <a:xfrm>
            <a:off x="6849954" y="4820546"/>
            <a:ext cx="595618"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87" name="Straight Connector 86">
            <a:extLst>
              <a:ext uri="{FF2B5EF4-FFF2-40B4-BE49-F238E27FC236}">
                <a16:creationId xmlns:a16="http://schemas.microsoft.com/office/drawing/2014/main" id="{8D6C74E3-8CA3-F7AD-5E7A-3E978EFA130C}"/>
              </a:ext>
            </a:extLst>
          </p:cNvPr>
          <p:cNvCxnSpPr>
            <a:cxnSpLocks/>
          </p:cNvCxnSpPr>
          <p:nvPr/>
        </p:nvCxnSpPr>
        <p:spPr>
          <a:xfrm>
            <a:off x="6669591" y="4924421"/>
            <a:ext cx="100248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88" name="Straight Connector 87">
            <a:extLst>
              <a:ext uri="{FF2B5EF4-FFF2-40B4-BE49-F238E27FC236}">
                <a16:creationId xmlns:a16="http://schemas.microsoft.com/office/drawing/2014/main" id="{CCEC4472-2E46-2FCD-A477-118AD5622A17}"/>
              </a:ext>
            </a:extLst>
          </p:cNvPr>
          <p:cNvCxnSpPr>
            <a:cxnSpLocks/>
          </p:cNvCxnSpPr>
          <p:nvPr/>
        </p:nvCxnSpPr>
        <p:spPr>
          <a:xfrm>
            <a:off x="7445572" y="4820546"/>
            <a:ext cx="226503" cy="90029"/>
          </a:xfrm>
          <a:prstGeom prst="line">
            <a:avLst/>
          </a:prstGeom>
          <a:ln w="28575"/>
        </p:spPr>
        <p:style>
          <a:lnRef idx="1">
            <a:schemeClr val="dk1"/>
          </a:lnRef>
          <a:fillRef idx="0">
            <a:schemeClr val="dk1"/>
          </a:fillRef>
          <a:effectRef idx="0">
            <a:schemeClr val="dk1"/>
          </a:effectRef>
          <a:fontRef idx="minor">
            <a:schemeClr val="tx1"/>
          </a:fontRef>
        </p:style>
      </p:cxnSp>
      <p:cxnSp>
        <p:nvCxnSpPr>
          <p:cNvPr id="89" name="Straight Connector 88">
            <a:extLst>
              <a:ext uri="{FF2B5EF4-FFF2-40B4-BE49-F238E27FC236}">
                <a16:creationId xmlns:a16="http://schemas.microsoft.com/office/drawing/2014/main" id="{938D3353-E42C-0936-00B2-9A0FC69D7489}"/>
              </a:ext>
            </a:extLst>
          </p:cNvPr>
          <p:cNvCxnSpPr>
            <a:cxnSpLocks/>
          </p:cNvCxnSpPr>
          <p:nvPr/>
        </p:nvCxnSpPr>
        <p:spPr>
          <a:xfrm flipH="1" flipV="1">
            <a:off x="6454270" y="4709872"/>
            <a:ext cx="222318" cy="211621"/>
          </a:xfrm>
          <a:prstGeom prst="line">
            <a:avLst/>
          </a:prstGeom>
          <a:ln w="28575"/>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9C6E9814-1C34-7845-494A-D8AB22D2E5CE}"/>
              </a:ext>
            </a:extLst>
          </p:cNvPr>
          <p:cNvCxnSpPr>
            <a:cxnSpLocks/>
          </p:cNvCxnSpPr>
          <p:nvPr/>
        </p:nvCxnSpPr>
        <p:spPr>
          <a:xfrm flipH="1" flipV="1">
            <a:off x="6732508" y="4713224"/>
            <a:ext cx="117447" cy="110475"/>
          </a:xfrm>
          <a:prstGeom prst="line">
            <a:avLst/>
          </a:prstGeom>
          <a:ln w="28575"/>
        </p:spPr>
        <p:style>
          <a:lnRef idx="1">
            <a:schemeClr val="dk1"/>
          </a:lnRef>
          <a:fillRef idx="0">
            <a:schemeClr val="dk1"/>
          </a:fillRef>
          <a:effectRef idx="0">
            <a:schemeClr val="dk1"/>
          </a:effectRef>
          <a:fontRef idx="minor">
            <a:schemeClr val="tx1"/>
          </a:fontRef>
        </p:style>
      </p:cxnSp>
      <p:cxnSp>
        <p:nvCxnSpPr>
          <p:cNvPr id="91" name="Straight Connector 90">
            <a:extLst>
              <a:ext uri="{FF2B5EF4-FFF2-40B4-BE49-F238E27FC236}">
                <a16:creationId xmlns:a16="http://schemas.microsoft.com/office/drawing/2014/main" id="{4CCE344F-F077-FF55-4D1A-B427AE914773}"/>
              </a:ext>
            </a:extLst>
          </p:cNvPr>
          <p:cNvCxnSpPr>
            <a:cxnSpLocks/>
          </p:cNvCxnSpPr>
          <p:nvPr/>
        </p:nvCxnSpPr>
        <p:spPr>
          <a:xfrm>
            <a:off x="6462659" y="4715779"/>
            <a:ext cx="26984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92" name="Straight Connector 91">
            <a:extLst>
              <a:ext uri="{FF2B5EF4-FFF2-40B4-BE49-F238E27FC236}">
                <a16:creationId xmlns:a16="http://schemas.microsoft.com/office/drawing/2014/main" id="{1F0384D5-0FB9-BBAC-FAB0-BC4EE9760517}"/>
              </a:ext>
            </a:extLst>
          </p:cNvPr>
          <p:cNvCxnSpPr>
            <a:cxnSpLocks/>
          </p:cNvCxnSpPr>
          <p:nvPr/>
        </p:nvCxnSpPr>
        <p:spPr>
          <a:xfrm flipV="1">
            <a:off x="6565429" y="4875002"/>
            <a:ext cx="554371" cy="116739"/>
          </a:xfrm>
          <a:prstGeom prst="line">
            <a:avLst/>
          </a:prstGeom>
          <a:ln w="28575"/>
        </p:spPr>
        <p:style>
          <a:lnRef idx="1">
            <a:schemeClr val="dk1"/>
          </a:lnRef>
          <a:fillRef idx="0">
            <a:schemeClr val="dk1"/>
          </a:fillRef>
          <a:effectRef idx="0">
            <a:schemeClr val="dk1"/>
          </a:effectRef>
          <a:fontRef idx="minor">
            <a:schemeClr val="tx1"/>
          </a:fontRef>
        </p:style>
      </p:cxnSp>
      <p:cxnSp>
        <p:nvCxnSpPr>
          <p:cNvPr id="93" name="Straight Connector 92">
            <a:extLst>
              <a:ext uri="{FF2B5EF4-FFF2-40B4-BE49-F238E27FC236}">
                <a16:creationId xmlns:a16="http://schemas.microsoft.com/office/drawing/2014/main" id="{2B176D71-176B-89E9-DA9D-FA2E1527D53C}"/>
              </a:ext>
            </a:extLst>
          </p:cNvPr>
          <p:cNvCxnSpPr>
            <a:cxnSpLocks/>
          </p:cNvCxnSpPr>
          <p:nvPr/>
        </p:nvCxnSpPr>
        <p:spPr>
          <a:xfrm flipV="1">
            <a:off x="6757675" y="4887783"/>
            <a:ext cx="554371" cy="116739"/>
          </a:xfrm>
          <a:prstGeom prst="line">
            <a:avLst/>
          </a:prstGeom>
          <a:ln w="28575"/>
        </p:spPr>
        <p:style>
          <a:lnRef idx="1">
            <a:schemeClr val="dk1"/>
          </a:lnRef>
          <a:fillRef idx="0">
            <a:schemeClr val="dk1"/>
          </a:fillRef>
          <a:effectRef idx="0">
            <a:schemeClr val="dk1"/>
          </a:effectRef>
          <a:fontRef idx="minor">
            <a:schemeClr val="tx1"/>
          </a:fontRef>
        </p:style>
      </p:cxnSp>
      <p:cxnSp>
        <p:nvCxnSpPr>
          <p:cNvPr id="94" name="Straight Connector 93">
            <a:extLst>
              <a:ext uri="{FF2B5EF4-FFF2-40B4-BE49-F238E27FC236}">
                <a16:creationId xmlns:a16="http://schemas.microsoft.com/office/drawing/2014/main" id="{BB3EE824-9CBC-F024-227A-F65C1E40A10B}"/>
              </a:ext>
            </a:extLst>
          </p:cNvPr>
          <p:cNvCxnSpPr>
            <a:cxnSpLocks/>
          </p:cNvCxnSpPr>
          <p:nvPr/>
        </p:nvCxnSpPr>
        <p:spPr>
          <a:xfrm>
            <a:off x="6565429" y="5004522"/>
            <a:ext cx="19503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95" name="Straight Connector 94">
            <a:extLst>
              <a:ext uri="{FF2B5EF4-FFF2-40B4-BE49-F238E27FC236}">
                <a16:creationId xmlns:a16="http://schemas.microsoft.com/office/drawing/2014/main" id="{ECE6DAB8-77CB-800D-A723-661E36C3B923}"/>
              </a:ext>
            </a:extLst>
          </p:cNvPr>
          <p:cNvCxnSpPr/>
          <p:nvPr/>
        </p:nvCxnSpPr>
        <p:spPr>
          <a:xfrm>
            <a:off x="5197577" y="4991741"/>
            <a:ext cx="1548000" cy="0"/>
          </a:xfrm>
          <a:prstGeom prst="line">
            <a:avLst/>
          </a:prstGeom>
          <a:ln w="28575">
            <a:prstDash val="sysDot"/>
          </a:ln>
        </p:spPr>
        <p:style>
          <a:lnRef idx="1">
            <a:schemeClr val="dk1"/>
          </a:lnRef>
          <a:fillRef idx="0">
            <a:schemeClr val="dk1"/>
          </a:fillRef>
          <a:effectRef idx="0">
            <a:schemeClr val="dk1"/>
          </a:effectRef>
          <a:fontRef idx="minor">
            <a:schemeClr val="tx1"/>
          </a:fontRef>
        </p:style>
      </p:cxnSp>
      <p:cxnSp>
        <p:nvCxnSpPr>
          <p:cNvPr id="96" name="Straight Connector 95">
            <a:extLst>
              <a:ext uri="{FF2B5EF4-FFF2-40B4-BE49-F238E27FC236}">
                <a16:creationId xmlns:a16="http://schemas.microsoft.com/office/drawing/2014/main" id="{A3DFCEA2-2294-347D-EB38-5B847BEE893C}"/>
              </a:ext>
            </a:extLst>
          </p:cNvPr>
          <p:cNvCxnSpPr>
            <a:cxnSpLocks/>
          </p:cNvCxnSpPr>
          <p:nvPr/>
        </p:nvCxnSpPr>
        <p:spPr>
          <a:xfrm flipV="1">
            <a:off x="6757675" y="4993987"/>
            <a:ext cx="0" cy="1152000"/>
          </a:xfrm>
          <a:prstGeom prst="line">
            <a:avLst/>
          </a:prstGeom>
          <a:ln w="28575">
            <a:prstDash val="sysDot"/>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119599A7-9BC3-4607-94CD-529C5B71C68C}"/>
                  </a:ext>
                </a:extLst>
              </p:cNvPr>
              <p:cNvSpPr txBox="1"/>
              <p:nvPr/>
            </p:nvSpPr>
            <p:spPr>
              <a:xfrm>
                <a:off x="6407461" y="6060967"/>
                <a:ext cx="767921"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s-CL" sz="1600" b="0" i="1" smtClean="0">
                              <a:latin typeface="Cambria Math" panose="02040503050406030204" pitchFamily="18" charset="0"/>
                            </a:rPr>
                          </m:ctrlPr>
                        </m:sSubPr>
                        <m:e>
                          <m:r>
                            <a:rPr lang="es-CL" sz="1600" b="0" i="1" smtClean="0">
                              <a:latin typeface="Cambria Math" panose="02040503050406030204" pitchFamily="18" charset="0"/>
                            </a:rPr>
                            <m:t>𝑥</m:t>
                          </m:r>
                        </m:e>
                        <m:sub>
                          <m:r>
                            <a:rPr lang="es-CL" sz="1600" b="0" i="1" smtClean="0">
                              <a:latin typeface="Cambria Math" panose="02040503050406030204" pitchFamily="18" charset="0"/>
                            </a:rPr>
                            <m:t>𝑎</m:t>
                          </m:r>
                        </m:sub>
                      </m:sSub>
                    </m:oMath>
                  </m:oMathPara>
                </a14:m>
                <a:endParaRPr lang="es-CL" sz="1600" i="1" dirty="0"/>
              </a:p>
            </p:txBody>
          </p:sp>
        </mc:Choice>
        <mc:Fallback xmlns="">
          <p:sp>
            <p:nvSpPr>
              <p:cNvPr id="97" name="TextBox 96">
                <a:extLst>
                  <a:ext uri="{FF2B5EF4-FFF2-40B4-BE49-F238E27FC236}">
                    <a16:creationId xmlns:a16="http://schemas.microsoft.com/office/drawing/2014/main" id="{119599A7-9BC3-4607-94CD-529C5B71C68C}"/>
                  </a:ext>
                </a:extLst>
              </p:cNvPr>
              <p:cNvSpPr txBox="1">
                <a:spLocks noRot="1" noChangeAspect="1" noMove="1" noResize="1" noEditPoints="1" noAdjustHandles="1" noChangeArrowheads="1" noChangeShapeType="1" noTextEdit="1"/>
              </p:cNvSpPr>
              <p:nvPr/>
            </p:nvSpPr>
            <p:spPr>
              <a:xfrm>
                <a:off x="6407461" y="6060967"/>
                <a:ext cx="767921" cy="338554"/>
              </a:xfrm>
              <a:prstGeom prst="rect">
                <a:avLst/>
              </a:prstGeom>
              <a:blipFill>
                <a:blip r:embed="rId3"/>
                <a:stretch>
                  <a:fillRect/>
                </a:stretch>
              </a:blipFill>
            </p:spPr>
            <p:txBody>
              <a:bodyPr/>
              <a:lstStyle/>
              <a:p>
                <a:r>
                  <a:rPr lang="en-US">
                    <a:noFill/>
                  </a:rPr>
                  <a:t> </a:t>
                </a:r>
              </a:p>
            </p:txBody>
          </p:sp>
        </mc:Fallback>
      </mc:AlternateContent>
      <p:cxnSp>
        <p:nvCxnSpPr>
          <p:cNvPr id="98" name="Straight Arrow Connector 97">
            <a:extLst>
              <a:ext uri="{FF2B5EF4-FFF2-40B4-BE49-F238E27FC236}">
                <a16:creationId xmlns:a16="http://schemas.microsoft.com/office/drawing/2014/main" id="{AF4A92E9-F4C4-0DB4-0CA4-E6E69D2860A0}"/>
              </a:ext>
            </a:extLst>
          </p:cNvPr>
          <p:cNvCxnSpPr>
            <a:cxnSpLocks/>
          </p:cNvCxnSpPr>
          <p:nvPr/>
        </p:nvCxnSpPr>
        <p:spPr>
          <a:xfrm flipV="1">
            <a:off x="5208178" y="5016345"/>
            <a:ext cx="1511418" cy="1130414"/>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sp>
        <p:nvSpPr>
          <p:cNvPr id="99" name="TextBox 98">
            <a:extLst>
              <a:ext uri="{FF2B5EF4-FFF2-40B4-BE49-F238E27FC236}">
                <a16:creationId xmlns:a16="http://schemas.microsoft.com/office/drawing/2014/main" id="{A2D1976E-C999-64BD-15F8-B0177400FECA}"/>
              </a:ext>
            </a:extLst>
          </p:cNvPr>
          <p:cNvSpPr txBox="1"/>
          <p:nvPr/>
        </p:nvSpPr>
        <p:spPr>
          <a:xfrm>
            <a:off x="6954084" y="6073748"/>
            <a:ext cx="481986" cy="338554"/>
          </a:xfrm>
          <a:prstGeom prst="rect">
            <a:avLst/>
          </a:prstGeom>
          <a:noFill/>
        </p:spPr>
        <p:txBody>
          <a:bodyPr wrap="square" rtlCol="0">
            <a:spAutoFit/>
          </a:bodyPr>
          <a:lstStyle/>
          <a:p>
            <a:pPr algn="ctr"/>
            <a:r>
              <a:rPr lang="es-CL" sz="1600" i="1" dirty="0"/>
              <a:t>x</a:t>
            </a:r>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540C98E6-6EE1-4EFB-BA5A-C838E53492C3}"/>
                  </a:ext>
                </a:extLst>
              </p:cNvPr>
              <p:cNvSpPr txBox="1"/>
              <p:nvPr/>
            </p:nvSpPr>
            <p:spPr>
              <a:xfrm>
                <a:off x="4939926" y="4790341"/>
                <a:ext cx="222319"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s-CL" sz="1600" b="0" i="1" smtClean="0">
                              <a:latin typeface="Cambria Math" panose="02040503050406030204" pitchFamily="18" charset="0"/>
                            </a:rPr>
                          </m:ctrlPr>
                        </m:sSubPr>
                        <m:e>
                          <m:r>
                            <a:rPr lang="es-CL" sz="1600" b="0" i="1" smtClean="0">
                              <a:latin typeface="Cambria Math" panose="02040503050406030204" pitchFamily="18" charset="0"/>
                            </a:rPr>
                            <m:t>𝑦</m:t>
                          </m:r>
                        </m:e>
                        <m:sub>
                          <m:r>
                            <a:rPr lang="es-CL" sz="1600" b="0" i="1" smtClean="0">
                              <a:latin typeface="Cambria Math" panose="02040503050406030204" pitchFamily="18" charset="0"/>
                            </a:rPr>
                            <m:t>𝑎</m:t>
                          </m:r>
                        </m:sub>
                      </m:sSub>
                    </m:oMath>
                  </m:oMathPara>
                </a14:m>
                <a:endParaRPr lang="es-CL" sz="1600" i="1" dirty="0"/>
              </a:p>
            </p:txBody>
          </p:sp>
        </mc:Choice>
        <mc:Fallback xmlns="">
          <p:sp>
            <p:nvSpPr>
              <p:cNvPr id="100" name="TextBox 99">
                <a:extLst>
                  <a:ext uri="{FF2B5EF4-FFF2-40B4-BE49-F238E27FC236}">
                    <a16:creationId xmlns:a16="http://schemas.microsoft.com/office/drawing/2014/main" id="{540C98E6-6EE1-4EFB-BA5A-C838E53492C3}"/>
                  </a:ext>
                </a:extLst>
              </p:cNvPr>
              <p:cNvSpPr txBox="1">
                <a:spLocks noRot="1" noChangeAspect="1" noMove="1" noResize="1" noEditPoints="1" noAdjustHandles="1" noChangeArrowheads="1" noChangeShapeType="1" noTextEdit="1"/>
              </p:cNvSpPr>
              <p:nvPr/>
            </p:nvSpPr>
            <p:spPr>
              <a:xfrm>
                <a:off x="4939926" y="4790341"/>
                <a:ext cx="222319" cy="338554"/>
              </a:xfrm>
              <a:prstGeom prst="rect">
                <a:avLst/>
              </a:prstGeom>
              <a:blipFill>
                <a:blip r:embed="rId4"/>
                <a:stretch>
                  <a:fillRect l="-37838" b="-5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AAAB6938-9B3F-47E4-69B1-58C5D0457459}"/>
                  </a:ext>
                </a:extLst>
              </p:cNvPr>
              <p:cNvSpPr txBox="1"/>
              <p:nvPr/>
            </p:nvSpPr>
            <p:spPr>
              <a:xfrm>
                <a:off x="7672075" y="5069739"/>
                <a:ext cx="14582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𝑟</m:t>
                              </m:r>
                            </m:e>
                          </m:acc>
                        </m:e>
                        <m:sub>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𝑎</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𝑖</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𝑎</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𝑗</m:t>
                          </m:r>
                        </m:e>
                      </m:acc>
                    </m:oMath>
                  </m:oMathPara>
                </a14:m>
                <a:endParaRPr lang="en-US" dirty="0"/>
              </a:p>
            </p:txBody>
          </p:sp>
        </mc:Choice>
        <mc:Fallback xmlns="">
          <p:sp>
            <p:nvSpPr>
              <p:cNvPr id="101" name="TextBox 100">
                <a:extLst>
                  <a:ext uri="{FF2B5EF4-FFF2-40B4-BE49-F238E27FC236}">
                    <a16:creationId xmlns:a16="http://schemas.microsoft.com/office/drawing/2014/main" id="{AAAB6938-9B3F-47E4-69B1-58C5D0457459}"/>
                  </a:ext>
                </a:extLst>
              </p:cNvPr>
              <p:cNvSpPr txBox="1">
                <a:spLocks noRot="1" noChangeAspect="1" noMove="1" noResize="1" noEditPoints="1" noAdjustHandles="1" noChangeArrowheads="1" noChangeShapeType="1" noTextEdit="1"/>
              </p:cNvSpPr>
              <p:nvPr/>
            </p:nvSpPr>
            <p:spPr>
              <a:xfrm>
                <a:off x="7672075" y="5069739"/>
                <a:ext cx="1458284" cy="276999"/>
              </a:xfrm>
              <a:prstGeom prst="rect">
                <a:avLst/>
              </a:prstGeom>
              <a:blipFill>
                <a:blip r:embed="rId5"/>
                <a:stretch>
                  <a:fillRect l="-4184" t="-46667" r="-22176" b="-28889"/>
                </a:stretch>
              </a:blipFill>
            </p:spPr>
            <p:txBody>
              <a:bodyPr/>
              <a:lstStyle/>
              <a:p>
                <a:r>
                  <a:rPr lang="en-US">
                    <a:noFill/>
                  </a:rPr>
                  <a:t> </a:t>
                </a:r>
              </a:p>
            </p:txBody>
          </p:sp>
        </mc:Fallback>
      </mc:AlternateContent>
      <p:sp>
        <p:nvSpPr>
          <p:cNvPr id="3" name="Marcador de número de diapositiva 2">
            <a:extLst>
              <a:ext uri="{FF2B5EF4-FFF2-40B4-BE49-F238E27FC236}">
                <a16:creationId xmlns:a16="http://schemas.microsoft.com/office/drawing/2014/main" id="{33C7B2D6-4662-10A8-40CD-BF5BB32E83AD}"/>
              </a:ext>
            </a:extLst>
          </p:cNvPr>
          <p:cNvSpPr txBox="1">
            <a:spLocks/>
          </p:cNvSpPr>
          <p:nvPr/>
        </p:nvSpPr>
        <p:spPr>
          <a:xfrm>
            <a:off x="8993372" y="168201"/>
            <a:ext cx="2743200" cy="365125"/>
          </a:xfrm>
          <a:prstGeom prst="rect">
            <a:avLst/>
          </a:prstGeom>
        </p:spPr>
        <p:txBody>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9C89E4B-EE86-427E-B533-BCEDB2CD4BCC}" type="slidenum">
              <a:rPr lang="es-CL" sz="1200" smtClean="0"/>
              <a:pPr algn="r"/>
              <a:t>4</a:t>
            </a:fld>
            <a:endParaRPr lang="es-CL" sz="1200"/>
          </a:p>
        </p:txBody>
      </p:sp>
    </p:spTree>
    <p:extLst>
      <p:ext uri="{BB962C8B-B14F-4D97-AF65-F5344CB8AC3E}">
        <p14:creationId xmlns:p14="http://schemas.microsoft.com/office/powerpoint/2010/main" val="1881628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E52FE-BBD9-2C28-558B-039EFF2318A9}"/>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79771ACD-1712-45FA-4677-F349EA88150D}"/>
              </a:ext>
            </a:extLst>
          </p:cNvPr>
          <p:cNvSpPr txBox="1"/>
          <p:nvPr/>
        </p:nvSpPr>
        <p:spPr>
          <a:xfrm>
            <a:off x="133350" y="19050"/>
            <a:ext cx="11934826" cy="461665"/>
          </a:xfrm>
          <a:prstGeom prst="rect">
            <a:avLst/>
          </a:prstGeom>
          <a:noFill/>
          <a:ln cap="flat" cmpd="sng">
            <a:solidFill>
              <a:srgbClr val="FFFFFF"/>
            </a:solidFill>
          </a:ln>
        </p:spPr>
        <p:txBody>
          <a:bodyPr wrap="square" rtlCol="0">
            <a:spAutoFit/>
          </a:bodyPr>
          <a:lstStyle/>
          <a:p>
            <a:pPr algn="ctr"/>
            <a:endParaRPr lang="es-CL" sz="2400" dirty="0"/>
          </a:p>
        </p:txBody>
      </p:sp>
      <p:graphicFrame>
        <p:nvGraphicFramePr>
          <p:cNvPr id="8" name="Tabla 7">
            <a:extLst>
              <a:ext uri="{FF2B5EF4-FFF2-40B4-BE49-F238E27FC236}">
                <a16:creationId xmlns:a16="http://schemas.microsoft.com/office/drawing/2014/main" id="{670EC634-5FF9-F7C1-98C0-40E3723F4BD9}"/>
              </a:ext>
            </a:extLst>
          </p:cNvPr>
          <p:cNvGraphicFramePr>
            <a:graphicFrameLocks noGrp="1"/>
          </p:cNvGraphicFramePr>
          <p:nvPr>
            <p:extLst>
              <p:ext uri="{D42A27DB-BD31-4B8C-83A1-F6EECF244321}">
                <p14:modId xmlns:p14="http://schemas.microsoft.com/office/powerpoint/2010/main" val="1744378630"/>
              </p:ext>
            </p:extLst>
          </p:nvPr>
        </p:nvGraphicFramePr>
        <p:xfrm>
          <a:off x="1" y="0"/>
          <a:ext cx="12192000" cy="4572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2960110769"/>
                    </a:ext>
                  </a:extLst>
                </a:gridCol>
              </a:tblGrid>
              <a:tr h="370840">
                <a:tc>
                  <a:txBody>
                    <a:bodyPr/>
                    <a:lstStyle/>
                    <a:p>
                      <a:pPr algn="ctr"/>
                      <a:r>
                        <a:rPr lang="es-MX" sz="2400" dirty="0">
                          <a:latin typeface="Montserrat" pitchFamily="2" charset="77"/>
                        </a:rPr>
                        <a:t>Cinemática 1d</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81913"/>
                  </a:ext>
                </a:extLst>
              </a:tr>
            </a:tbl>
          </a:graphicData>
        </a:graphic>
      </p:graphicFrame>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5463BA5-6AF5-2750-8013-329944E075AE}"/>
                  </a:ext>
                </a:extLst>
              </p:cNvPr>
              <p:cNvSpPr txBox="1"/>
              <p:nvPr/>
            </p:nvSpPr>
            <p:spPr>
              <a:xfrm>
                <a:off x="346504" y="830427"/>
                <a:ext cx="11106130" cy="2101601"/>
              </a:xfrm>
              <a:prstGeom prst="rect">
                <a:avLst/>
              </a:prstGeom>
              <a:noFill/>
            </p:spPr>
            <p:txBody>
              <a:bodyPr wrap="square" rtlCol="0">
                <a:spAutoFit/>
              </a:bodyPr>
              <a:lstStyle/>
              <a:p>
                <a:r>
                  <a:rPr lang="es-ES" sz="1600" b="1" dirty="0"/>
                  <a:t>Definiciones</a:t>
                </a:r>
              </a:p>
              <a:p>
                <a:endParaRPr lang="es-ES" sz="1600" dirty="0"/>
              </a:p>
              <a:p>
                <a:pPr algn="just"/>
                <a:r>
                  <a:rPr lang="es-ES" sz="1600" b="1" dirty="0"/>
                  <a:t>Desplazamiento:</a:t>
                </a:r>
                <a:r>
                  <a:rPr lang="es-ES" sz="1600" dirty="0"/>
                  <a:t> Se define como el vector que une dos puntos sobre la trayectoria, separados temporalmente. Su unidad de medida en S.I. es el metro. Analíticamente, el desplazamiento se obtiene como</a:t>
                </a:r>
              </a:p>
              <a:p>
                <a:pPr/>
                <a14:m>
                  <m:oMathPara xmlns:m="http://schemas.openxmlformats.org/officeDocument/2006/math">
                    <m:oMathParaPr>
                      <m:jc m:val="centerGroup"/>
                    </m:oMathParaPr>
                    <m:oMath xmlns:m="http://schemas.openxmlformats.org/officeDocument/2006/math">
                      <m:r>
                        <m:rPr>
                          <m:sty m:val="p"/>
                        </m:rPr>
                        <a:rPr lang="el-GR" sz="1600" i="1" smtClean="0">
                          <a:latin typeface="Cambria Math" panose="02040503050406030204" pitchFamily="18" charset="0"/>
                          <a:ea typeface="Cambria Math" panose="02040503050406030204" pitchFamily="18" charset="0"/>
                        </a:rPr>
                        <m:t>Δ</m:t>
                      </m:r>
                      <m:acc>
                        <m:accPr>
                          <m:chr m:val="⃗"/>
                          <m:ctrlPr>
                            <a:rPr lang="el-GR" sz="1600" i="1" smtClean="0">
                              <a:latin typeface="Cambria Math" panose="02040503050406030204" pitchFamily="18" charset="0"/>
                              <a:ea typeface="Cambria Math" panose="02040503050406030204" pitchFamily="18" charset="0"/>
                            </a:rPr>
                          </m:ctrlPr>
                        </m:accPr>
                        <m:e>
                          <m:r>
                            <a:rPr lang="en-US" sz="1600" b="0" i="1" smtClean="0">
                              <a:latin typeface="Cambria Math" panose="02040503050406030204" pitchFamily="18" charset="0"/>
                              <a:ea typeface="Cambria Math" panose="02040503050406030204" pitchFamily="18" charset="0"/>
                            </a:rPr>
                            <m:t>𝑟</m:t>
                          </m:r>
                        </m:e>
                      </m:acc>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acc>
                            <m:accPr>
                              <m:chr m:val="⃗"/>
                              <m:ctrlPr>
                                <a:rPr lang="en-US" sz="1600" i="1">
                                  <a:latin typeface="Cambria Math" panose="02040503050406030204" pitchFamily="18" charset="0"/>
                                  <a:ea typeface="Cambria Math" panose="02040503050406030204" pitchFamily="18" charset="0"/>
                                </a:rPr>
                              </m:ctrlPr>
                            </m:accPr>
                            <m:e>
                              <m:r>
                                <a:rPr lang="en-US" sz="1600" i="1">
                                  <a:latin typeface="Cambria Math" panose="02040503050406030204" pitchFamily="18" charset="0"/>
                                  <a:ea typeface="Cambria Math" panose="02040503050406030204" pitchFamily="18" charset="0"/>
                                </a:rPr>
                                <m:t>𝑟</m:t>
                              </m:r>
                            </m:e>
                          </m:acc>
                        </m:e>
                        <m:sub>
                          <m:r>
                            <a:rPr lang="en-US" sz="1600" b="0" i="1" smtClean="0">
                              <a:latin typeface="Cambria Math" panose="02040503050406030204" pitchFamily="18" charset="0"/>
                              <a:ea typeface="Cambria Math" panose="02040503050406030204" pitchFamily="18" charset="0"/>
                            </a:rPr>
                            <m:t>𝑓</m:t>
                          </m:r>
                        </m:sub>
                      </m:sSub>
                      <m:r>
                        <a:rPr lang="en-US" sz="1600" b="0" i="1" smtClean="0">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acc>
                            <m:accPr>
                              <m:chr m:val="⃗"/>
                              <m:ctrlPr>
                                <a:rPr lang="en-US" sz="1600" i="1">
                                  <a:latin typeface="Cambria Math" panose="02040503050406030204" pitchFamily="18" charset="0"/>
                                  <a:ea typeface="Cambria Math" panose="02040503050406030204" pitchFamily="18" charset="0"/>
                                </a:rPr>
                              </m:ctrlPr>
                            </m:accPr>
                            <m:e>
                              <m:r>
                                <a:rPr lang="en-US" sz="1600" i="1">
                                  <a:latin typeface="Cambria Math" panose="02040503050406030204" pitchFamily="18" charset="0"/>
                                  <a:ea typeface="Cambria Math" panose="02040503050406030204" pitchFamily="18" charset="0"/>
                                </a:rPr>
                                <m:t>𝑟</m:t>
                              </m:r>
                            </m:e>
                          </m:acc>
                        </m:e>
                        <m:sub>
                          <m:r>
                            <a:rPr lang="en-US" sz="1600" b="0" i="1" smtClean="0">
                              <a:latin typeface="Cambria Math" panose="02040503050406030204" pitchFamily="18" charset="0"/>
                              <a:ea typeface="Cambria Math" panose="02040503050406030204" pitchFamily="18" charset="0"/>
                            </a:rPr>
                            <m:t>𝑖</m:t>
                          </m:r>
                        </m:sub>
                      </m:sSub>
                    </m:oMath>
                  </m:oMathPara>
                </a14:m>
                <a:endParaRPr lang="en-US" sz="1600" dirty="0"/>
              </a:p>
              <a:p>
                <a:endParaRPr lang="es-ES" sz="1600" dirty="0"/>
              </a:p>
              <a:p>
                <a:r>
                  <a:rPr lang="es-ES" sz="1600" dirty="0"/>
                  <a:t>donde </a:t>
                </a:r>
                <a14:m>
                  <m:oMath xmlns:m="http://schemas.openxmlformats.org/officeDocument/2006/math">
                    <m:sSub>
                      <m:sSubPr>
                        <m:ctrlPr>
                          <a:rPr lang="en-US" sz="1600" b="0" i="1" smtClean="0">
                            <a:latin typeface="Cambria Math" panose="02040503050406030204" pitchFamily="18" charset="0"/>
                            <a:ea typeface="Cambria Math" panose="02040503050406030204" pitchFamily="18" charset="0"/>
                          </a:rPr>
                        </m:ctrlPr>
                      </m:sSubPr>
                      <m:e>
                        <m:acc>
                          <m:accPr>
                            <m:chr m:val="⃗"/>
                            <m:ctrlPr>
                              <a:rPr lang="en-US" sz="1600" i="1">
                                <a:latin typeface="Cambria Math" panose="02040503050406030204" pitchFamily="18" charset="0"/>
                                <a:ea typeface="Cambria Math" panose="02040503050406030204" pitchFamily="18" charset="0"/>
                              </a:rPr>
                            </m:ctrlPr>
                          </m:accPr>
                          <m:e>
                            <m:r>
                              <a:rPr lang="en-US" sz="1600" i="1">
                                <a:latin typeface="Cambria Math" panose="02040503050406030204" pitchFamily="18" charset="0"/>
                                <a:ea typeface="Cambria Math" panose="02040503050406030204" pitchFamily="18" charset="0"/>
                              </a:rPr>
                              <m:t>𝑟</m:t>
                            </m:r>
                          </m:e>
                        </m:acc>
                      </m:e>
                      <m:sub>
                        <m:r>
                          <a:rPr lang="en-US" sz="1600" b="0" i="1" smtClean="0">
                            <a:latin typeface="Cambria Math" panose="02040503050406030204" pitchFamily="18" charset="0"/>
                            <a:ea typeface="Cambria Math" panose="02040503050406030204" pitchFamily="18" charset="0"/>
                          </a:rPr>
                          <m:t>𝑓</m:t>
                        </m:r>
                      </m:sub>
                    </m:sSub>
                  </m:oMath>
                </a14:m>
                <a:r>
                  <a:rPr lang="es-ES" sz="1600" dirty="0"/>
                  <a:t> es la posición final de la partícula y </a:t>
                </a: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acc>
                          <m:accPr>
                            <m:chr m:val="⃗"/>
                            <m:ctrlPr>
                              <a:rPr lang="en-US" sz="1600" i="1">
                                <a:latin typeface="Cambria Math" panose="02040503050406030204" pitchFamily="18" charset="0"/>
                                <a:ea typeface="Cambria Math" panose="02040503050406030204" pitchFamily="18" charset="0"/>
                              </a:rPr>
                            </m:ctrlPr>
                          </m:accPr>
                          <m:e>
                            <m:r>
                              <a:rPr lang="en-US" sz="1600" i="1">
                                <a:latin typeface="Cambria Math" panose="02040503050406030204" pitchFamily="18" charset="0"/>
                                <a:ea typeface="Cambria Math" panose="02040503050406030204" pitchFamily="18" charset="0"/>
                              </a:rPr>
                              <m:t>𝑟</m:t>
                            </m:r>
                          </m:e>
                        </m:acc>
                      </m:e>
                      <m:sub>
                        <m:r>
                          <a:rPr lang="en-US" sz="1600" b="0" i="1" smtClean="0">
                            <a:latin typeface="Cambria Math" panose="02040503050406030204" pitchFamily="18" charset="0"/>
                            <a:ea typeface="Cambria Math" panose="02040503050406030204" pitchFamily="18" charset="0"/>
                          </a:rPr>
                          <m:t>𝑖</m:t>
                        </m:r>
                      </m:sub>
                    </m:sSub>
                  </m:oMath>
                </a14:m>
                <a:r>
                  <a:rPr lang="es-ES" sz="1600" dirty="0"/>
                  <a:t> es su posición inicial.</a:t>
                </a:r>
              </a:p>
            </p:txBody>
          </p:sp>
        </mc:Choice>
        <mc:Fallback xmlns="">
          <p:sp>
            <p:nvSpPr>
              <p:cNvPr id="13" name="TextBox 12">
                <a:extLst>
                  <a:ext uri="{FF2B5EF4-FFF2-40B4-BE49-F238E27FC236}">
                    <a16:creationId xmlns:a16="http://schemas.microsoft.com/office/drawing/2014/main" id="{D5463BA5-6AF5-2750-8013-329944E075AE}"/>
                  </a:ext>
                </a:extLst>
              </p:cNvPr>
              <p:cNvSpPr txBox="1">
                <a:spLocks noRot="1" noChangeAspect="1" noMove="1" noResize="1" noEditPoints="1" noAdjustHandles="1" noChangeArrowheads="1" noChangeShapeType="1" noTextEdit="1"/>
              </p:cNvSpPr>
              <p:nvPr/>
            </p:nvSpPr>
            <p:spPr>
              <a:xfrm>
                <a:off x="346504" y="830427"/>
                <a:ext cx="11106130" cy="2101601"/>
              </a:xfrm>
              <a:prstGeom prst="rect">
                <a:avLst/>
              </a:prstGeom>
              <a:blipFill>
                <a:blip r:embed="rId3"/>
                <a:stretch>
                  <a:fillRect l="-343" t="-1205" r="-343" b="-1807"/>
                </a:stretch>
              </a:blipFill>
            </p:spPr>
            <p:txBody>
              <a:bodyPr/>
              <a:lstStyle/>
              <a:p>
                <a:r>
                  <a:rPr lang="es-ES_tradnl">
                    <a:noFill/>
                  </a:rPr>
                  <a:t> </a:t>
                </a:r>
              </a:p>
            </p:txBody>
          </p:sp>
        </mc:Fallback>
      </mc:AlternateContent>
      <p:cxnSp>
        <p:nvCxnSpPr>
          <p:cNvPr id="2" name="Straight Arrow Connector 1">
            <a:extLst>
              <a:ext uri="{FF2B5EF4-FFF2-40B4-BE49-F238E27FC236}">
                <a16:creationId xmlns:a16="http://schemas.microsoft.com/office/drawing/2014/main" id="{45E35806-20C4-C8BE-C3DC-E6DC55FB3026}"/>
              </a:ext>
            </a:extLst>
          </p:cNvPr>
          <p:cNvCxnSpPr/>
          <p:nvPr/>
        </p:nvCxnSpPr>
        <p:spPr>
          <a:xfrm flipV="1">
            <a:off x="4230928" y="3016733"/>
            <a:ext cx="0" cy="209724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 name="Straight Arrow Connector 2">
            <a:extLst>
              <a:ext uri="{FF2B5EF4-FFF2-40B4-BE49-F238E27FC236}">
                <a16:creationId xmlns:a16="http://schemas.microsoft.com/office/drawing/2014/main" id="{64542887-762E-E728-2257-9230859F14FC}"/>
              </a:ext>
            </a:extLst>
          </p:cNvPr>
          <p:cNvCxnSpPr>
            <a:cxnSpLocks/>
          </p:cNvCxnSpPr>
          <p:nvPr/>
        </p:nvCxnSpPr>
        <p:spPr>
          <a:xfrm>
            <a:off x="4039377" y="4989544"/>
            <a:ext cx="35135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1514CA2B-A53C-36B4-79CC-7A89F7F43130}"/>
              </a:ext>
            </a:extLst>
          </p:cNvPr>
          <p:cNvSpPr txBox="1"/>
          <p:nvPr/>
        </p:nvSpPr>
        <p:spPr>
          <a:xfrm>
            <a:off x="6663736" y="4929315"/>
            <a:ext cx="1778466" cy="338554"/>
          </a:xfrm>
          <a:prstGeom prst="rect">
            <a:avLst/>
          </a:prstGeom>
          <a:noFill/>
        </p:spPr>
        <p:txBody>
          <a:bodyPr wrap="square" rtlCol="0">
            <a:spAutoFit/>
          </a:bodyPr>
          <a:lstStyle/>
          <a:p>
            <a:pPr algn="ctr"/>
            <a:r>
              <a:rPr lang="es-CL" sz="1600" i="1" dirty="0"/>
              <a:t>x</a:t>
            </a:r>
            <a:endParaRPr lang="es-CL" i="1" dirty="0"/>
          </a:p>
        </p:txBody>
      </p:sp>
      <p:cxnSp>
        <p:nvCxnSpPr>
          <p:cNvPr id="5" name="Straight Arrow Connector 4">
            <a:extLst>
              <a:ext uri="{FF2B5EF4-FFF2-40B4-BE49-F238E27FC236}">
                <a16:creationId xmlns:a16="http://schemas.microsoft.com/office/drawing/2014/main" id="{F5EF5F9B-004A-E900-BA45-94499959439A}"/>
              </a:ext>
            </a:extLst>
          </p:cNvPr>
          <p:cNvCxnSpPr>
            <a:cxnSpLocks/>
          </p:cNvCxnSpPr>
          <p:nvPr/>
        </p:nvCxnSpPr>
        <p:spPr>
          <a:xfrm flipV="1">
            <a:off x="4230928" y="4260985"/>
            <a:ext cx="939568" cy="712756"/>
          </a:xfrm>
          <a:prstGeom prst="straightConnector1">
            <a:avLst/>
          </a:prstGeom>
          <a:ln w="28575">
            <a:solidFill>
              <a:schemeClr val="tx1"/>
            </a:solidFill>
            <a:tailEnd type="triangle"/>
          </a:ln>
        </p:spPr>
        <p:style>
          <a:lnRef idx="1">
            <a:schemeClr val="accent6"/>
          </a:lnRef>
          <a:fillRef idx="0">
            <a:schemeClr val="accent6"/>
          </a:fillRef>
          <a:effectRef idx="0">
            <a:schemeClr val="accent6"/>
          </a:effectRef>
          <a:fontRef idx="minor">
            <a:schemeClr val="tx1"/>
          </a:fontRef>
        </p:style>
      </p:cxnSp>
      <p:cxnSp>
        <p:nvCxnSpPr>
          <p:cNvPr id="7" name="Straight Arrow Connector 6">
            <a:extLst>
              <a:ext uri="{FF2B5EF4-FFF2-40B4-BE49-F238E27FC236}">
                <a16:creationId xmlns:a16="http://schemas.microsoft.com/office/drawing/2014/main" id="{DD006D9B-55B7-9E58-62CF-D01350E8FF00}"/>
              </a:ext>
            </a:extLst>
          </p:cNvPr>
          <p:cNvCxnSpPr>
            <a:cxnSpLocks/>
          </p:cNvCxnSpPr>
          <p:nvPr/>
        </p:nvCxnSpPr>
        <p:spPr>
          <a:xfrm flipV="1">
            <a:off x="4252378" y="4285447"/>
            <a:ext cx="2454112" cy="688294"/>
          </a:xfrm>
          <a:prstGeom prst="straightConnector1">
            <a:avLst/>
          </a:prstGeom>
          <a:ln w="28575">
            <a:solidFill>
              <a:schemeClr val="tx1"/>
            </a:solidFill>
            <a:tailEnd type="triangle"/>
          </a:ln>
        </p:spPr>
        <p:style>
          <a:lnRef idx="1">
            <a:schemeClr val="accent6"/>
          </a:lnRef>
          <a:fillRef idx="0">
            <a:schemeClr val="accent6"/>
          </a:fillRef>
          <a:effectRef idx="0">
            <a:schemeClr val="accent6"/>
          </a:effectRef>
          <a:fontRef idx="minor">
            <a:schemeClr val="tx1"/>
          </a:fontRef>
        </p:style>
      </p:cxnSp>
      <p:sp>
        <p:nvSpPr>
          <p:cNvPr id="9" name="Freeform: Shape 8">
            <a:extLst>
              <a:ext uri="{FF2B5EF4-FFF2-40B4-BE49-F238E27FC236}">
                <a16:creationId xmlns:a16="http://schemas.microsoft.com/office/drawing/2014/main" id="{91038953-5CFE-83DF-0808-6D874F8F7581}"/>
              </a:ext>
            </a:extLst>
          </p:cNvPr>
          <p:cNvSpPr/>
          <p:nvPr/>
        </p:nvSpPr>
        <p:spPr>
          <a:xfrm rot="1444803">
            <a:off x="5326176" y="3423556"/>
            <a:ext cx="1643844" cy="1241632"/>
          </a:xfrm>
          <a:custGeom>
            <a:avLst/>
            <a:gdLst>
              <a:gd name="connsiteX0" fmla="*/ 28678 w 1643844"/>
              <a:gd name="connsiteY0" fmla="*/ 1241632 h 1241632"/>
              <a:gd name="connsiteX1" fmla="*/ 45456 w 1643844"/>
              <a:gd name="connsiteY1" fmla="*/ 797016 h 1241632"/>
              <a:gd name="connsiteX2" fmla="*/ 456517 w 1643844"/>
              <a:gd name="connsiteY2" fmla="*/ 847350 h 1241632"/>
              <a:gd name="connsiteX3" fmla="*/ 473295 w 1643844"/>
              <a:gd name="connsiteY3" fmla="*/ 344010 h 1241632"/>
              <a:gd name="connsiteX4" fmla="*/ 750131 w 1643844"/>
              <a:gd name="connsiteY4" fmla="*/ 62 h 1241632"/>
              <a:gd name="connsiteX5" fmla="*/ 1177970 w 1643844"/>
              <a:gd name="connsiteY5" fmla="*/ 369177 h 1241632"/>
              <a:gd name="connsiteX6" fmla="*/ 1639364 w 1643844"/>
              <a:gd name="connsiteY6" fmla="*/ 377566 h 1241632"/>
              <a:gd name="connsiteX7" fmla="*/ 1412862 w 1643844"/>
              <a:gd name="connsiteY7" fmla="*/ 637625 h 1241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43844" h="1241632">
                <a:moveTo>
                  <a:pt x="28678" y="1241632"/>
                </a:moveTo>
                <a:cubicBezTo>
                  <a:pt x="1413" y="1052181"/>
                  <a:pt x="-25851" y="862730"/>
                  <a:pt x="45456" y="797016"/>
                </a:cubicBezTo>
                <a:cubicBezTo>
                  <a:pt x="116763" y="731302"/>
                  <a:pt x="385211" y="922851"/>
                  <a:pt x="456517" y="847350"/>
                </a:cubicBezTo>
                <a:cubicBezTo>
                  <a:pt x="527823" y="771849"/>
                  <a:pt x="424359" y="485225"/>
                  <a:pt x="473295" y="344010"/>
                </a:cubicBezTo>
                <a:cubicBezTo>
                  <a:pt x="522231" y="202795"/>
                  <a:pt x="632685" y="-4132"/>
                  <a:pt x="750131" y="62"/>
                </a:cubicBezTo>
                <a:cubicBezTo>
                  <a:pt x="867577" y="4256"/>
                  <a:pt x="1029765" y="306260"/>
                  <a:pt x="1177970" y="369177"/>
                </a:cubicBezTo>
                <a:cubicBezTo>
                  <a:pt x="1326176" y="432094"/>
                  <a:pt x="1600215" y="332825"/>
                  <a:pt x="1639364" y="377566"/>
                </a:cubicBezTo>
                <a:cubicBezTo>
                  <a:pt x="1678513" y="422307"/>
                  <a:pt x="1449214" y="584495"/>
                  <a:pt x="1412862" y="637625"/>
                </a:cubicBezTo>
              </a:path>
            </a:pathLst>
          </a:custGeom>
          <a:ln w="28575">
            <a:solidFill>
              <a:srgbClr val="FF0000"/>
            </a:solidFill>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es-CL"/>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ABFF06CE-7920-08DC-1A29-A8A4E3017D8A}"/>
                  </a:ext>
                </a:extLst>
              </p:cNvPr>
              <p:cNvSpPr/>
              <p:nvPr/>
            </p:nvSpPr>
            <p:spPr>
              <a:xfrm>
                <a:off x="4303282" y="4304012"/>
                <a:ext cx="39581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s-CL" b="0" i="1" smtClean="0">
                              <a:latin typeface="Cambria Math" panose="02040503050406030204" pitchFamily="18" charset="0"/>
                            </a:rPr>
                          </m:ctrlPr>
                        </m:accPr>
                        <m:e>
                          <m:sSub>
                            <m:sSubPr>
                              <m:ctrlPr>
                                <a:rPr lang="es-CL" b="0" i="1" smtClean="0">
                                  <a:latin typeface="Cambria Math" panose="02040503050406030204" pitchFamily="18" charset="0"/>
                                </a:rPr>
                              </m:ctrlPr>
                            </m:sSubPr>
                            <m:e>
                              <m:r>
                                <a:rPr lang="es-CL" b="0" i="1" smtClean="0">
                                  <a:latin typeface="Cambria Math" panose="02040503050406030204" pitchFamily="18" charset="0"/>
                                </a:rPr>
                                <m:t>𝑟</m:t>
                              </m:r>
                            </m:e>
                            <m:sub>
                              <m:r>
                                <a:rPr lang="es-CL" b="0" i="1" smtClean="0">
                                  <a:latin typeface="Cambria Math" panose="02040503050406030204" pitchFamily="18" charset="0"/>
                                </a:rPr>
                                <m:t>𝑖</m:t>
                              </m:r>
                            </m:sub>
                          </m:sSub>
                        </m:e>
                      </m:acc>
                    </m:oMath>
                  </m:oMathPara>
                </a14:m>
                <a:endParaRPr lang="es-CL" dirty="0"/>
              </a:p>
            </p:txBody>
          </p:sp>
        </mc:Choice>
        <mc:Fallback xmlns="">
          <p:sp>
            <p:nvSpPr>
              <p:cNvPr id="10" name="Rectangle 9">
                <a:extLst>
                  <a:ext uri="{FF2B5EF4-FFF2-40B4-BE49-F238E27FC236}">
                    <a16:creationId xmlns:a16="http://schemas.microsoft.com/office/drawing/2014/main" id="{ABFF06CE-7920-08DC-1A29-A8A4E3017D8A}"/>
                  </a:ext>
                </a:extLst>
              </p:cNvPr>
              <p:cNvSpPr>
                <a:spLocks noRot="1" noChangeAspect="1" noMove="1" noResize="1" noEditPoints="1" noAdjustHandles="1" noChangeArrowheads="1" noChangeShapeType="1" noTextEdit="1"/>
              </p:cNvSpPr>
              <p:nvPr/>
            </p:nvSpPr>
            <p:spPr>
              <a:xfrm>
                <a:off x="4303282" y="4304012"/>
                <a:ext cx="395814" cy="369332"/>
              </a:xfrm>
              <a:prstGeom prst="rect">
                <a:avLst/>
              </a:prstGeom>
              <a:blipFill>
                <a:blip r:embed="rId4"/>
                <a:stretch>
                  <a:fillRect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76984A1-3955-8BE4-1CAD-E1AF3BA8AC95}"/>
                  </a:ext>
                </a:extLst>
              </p:cNvPr>
              <p:cNvSpPr/>
              <p:nvPr/>
            </p:nvSpPr>
            <p:spPr>
              <a:xfrm>
                <a:off x="5827204" y="4473526"/>
                <a:ext cx="422295" cy="3915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s-CL" b="0" i="1" smtClean="0">
                              <a:latin typeface="Cambria Math" panose="02040503050406030204" pitchFamily="18" charset="0"/>
                            </a:rPr>
                          </m:ctrlPr>
                        </m:accPr>
                        <m:e>
                          <m:sSub>
                            <m:sSubPr>
                              <m:ctrlPr>
                                <a:rPr lang="es-CL" b="0" i="1" smtClean="0">
                                  <a:latin typeface="Cambria Math" panose="02040503050406030204" pitchFamily="18" charset="0"/>
                                </a:rPr>
                              </m:ctrlPr>
                            </m:sSubPr>
                            <m:e>
                              <m:r>
                                <a:rPr lang="es-CL" b="0" i="1" smtClean="0">
                                  <a:latin typeface="Cambria Math" panose="02040503050406030204" pitchFamily="18" charset="0"/>
                                </a:rPr>
                                <m:t>𝑟</m:t>
                              </m:r>
                            </m:e>
                            <m:sub>
                              <m:r>
                                <a:rPr lang="es-CL" b="0" i="1" smtClean="0">
                                  <a:latin typeface="Cambria Math" panose="02040503050406030204" pitchFamily="18" charset="0"/>
                                </a:rPr>
                                <m:t>𝑓</m:t>
                              </m:r>
                            </m:sub>
                          </m:sSub>
                        </m:e>
                      </m:acc>
                    </m:oMath>
                  </m:oMathPara>
                </a14:m>
                <a:endParaRPr lang="es-CL" dirty="0"/>
              </a:p>
            </p:txBody>
          </p:sp>
        </mc:Choice>
        <mc:Fallback xmlns="">
          <p:sp>
            <p:nvSpPr>
              <p:cNvPr id="11" name="Rectangle 10">
                <a:extLst>
                  <a:ext uri="{FF2B5EF4-FFF2-40B4-BE49-F238E27FC236}">
                    <a16:creationId xmlns:a16="http://schemas.microsoft.com/office/drawing/2014/main" id="{276984A1-3955-8BE4-1CAD-E1AF3BA8AC95}"/>
                  </a:ext>
                </a:extLst>
              </p:cNvPr>
              <p:cNvSpPr>
                <a:spLocks noRot="1" noChangeAspect="1" noMove="1" noResize="1" noEditPoints="1" noAdjustHandles="1" noChangeArrowheads="1" noChangeShapeType="1" noTextEdit="1"/>
              </p:cNvSpPr>
              <p:nvPr/>
            </p:nvSpPr>
            <p:spPr>
              <a:xfrm>
                <a:off x="5827204" y="4473526"/>
                <a:ext cx="422295" cy="391582"/>
              </a:xfrm>
              <a:prstGeom prst="rect">
                <a:avLst/>
              </a:prstGeom>
              <a:blipFill>
                <a:blip r:embed="rId5"/>
                <a:stretch>
                  <a:fillRect b="-9375"/>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DFD596B0-E0B4-EA72-5A9C-30661FB3701D}"/>
              </a:ext>
            </a:extLst>
          </p:cNvPr>
          <p:cNvCxnSpPr>
            <a:cxnSpLocks/>
          </p:cNvCxnSpPr>
          <p:nvPr/>
        </p:nvCxnSpPr>
        <p:spPr>
          <a:xfrm>
            <a:off x="5144401" y="4254051"/>
            <a:ext cx="1510258" cy="31185"/>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8ED55A-CABA-FD49-4A6C-4667C2BA7FD2}"/>
                  </a:ext>
                </a:extLst>
              </p:cNvPr>
              <p:cNvSpPr txBox="1"/>
              <p:nvPr/>
            </p:nvSpPr>
            <p:spPr>
              <a:xfrm>
                <a:off x="5843271" y="3986934"/>
                <a:ext cx="30482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L" i="1" smtClean="0">
                          <a:latin typeface="Cambria Math" panose="02040503050406030204" pitchFamily="18" charset="0"/>
                          <a:ea typeface="Cambria Math" panose="02040503050406030204" pitchFamily="18" charset="0"/>
                        </a:rPr>
                        <m:t>∆</m:t>
                      </m:r>
                      <m:acc>
                        <m:accPr>
                          <m:chr m:val="⃗"/>
                          <m:ctrlPr>
                            <a:rPr lang="es-CL" i="1" smtClean="0">
                              <a:latin typeface="Cambria Math" panose="02040503050406030204" pitchFamily="18" charset="0"/>
                              <a:ea typeface="Cambria Math" panose="02040503050406030204" pitchFamily="18" charset="0"/>
                            </a:rPr>
                          </m:ctrlPr>
                        </m:accPr>
                        <m:e>
                          <m:r>
                            <a:rPr lang="es-CL" b="0" i="1" smtClean="0">
                              <a:latin typeface="Cambria Math" panose="02040503050406030204" pitchFamily="18" charset="0"/>
                              <a:ea typeface="Cambria Math" panose="02040503050406030204" pitchFamily="18" charset="0"/>
                            </a:rPr>
                            <m:t>𝑟</m:t>
                          </m:r>
                        </m:e>
                      </m:acc>
                    </m:oMath>
                  </m:oMathPara>
                </a14:m>
                <a:endParaRPr lang="es-CL" dirty="0"/>
              </a:p>
            </p:txBody>
          </p:sp>
        </mc:Choice>
        <mc:Fallback xmlns="">
          <p:sp>
            <p:nvSpPr>
              <p:cNvPr id="14" name="TextBox 13">
                <a:extLst>
                  <a:ext uri="{FF2B5EF4-FFF2-40B4-BE49-F238E27FC236}">
                    <a16:creationId xmlns:a16="http://schemas.microsoft.com/office/drawing/2014/main" id="{2F8ED55A-CABA-FD49-4A6C-4667C2BA7FD2}"/>
                  </a:ext>
                </a:extLst>
              </p:cNvPr>
              <p:cNvSpPr txBox="1">
                <a:spLocks noRot="1" noChangeAspect="1" noMove="1" noResize="1" noEditPoints="1" noAdjustHandles="1" noChangeArrowheads="1" noChangeShapeType="1" noTextEdit="1"/>
              </p:cNvSpPr>
              <p:nvPr/>
            </p:nvSpPr>
            <p:spPr>
              <a:xfrm>
                <a:off x="5843271" y="3986934"/>
                <a:ext cx="304827" cy="276999"/>
              </a:xfrm>
              <a:prstGeom prst="rect">
                <a:avLst/>
              </a:prstGeom>
              <a:blipFill>
                <a:blip r:embed="rId6"/>
                <a:stretch>
                  <a:fillRect l="-18000" t="-44444" r="-104000" b="-13333"/>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D86DDBC4-370C-003B-D698-CE51C9C23C7F}"/>
              </a:ext>
            </a:extLst>
          </p:cNvPr>
          <p:cNvGrpSpPr/>
          <p:nvPr/>
        </p:nvGrpSpPr>
        <p:grpSpPr>
          <a:xfrm>
            <a:off x="6654659" y="4154270"/>
            <a:ext cx="320638" cy="219327"/>
            <a:chOff x="2575723" y="3785573"/>
            <a:chExt cx="320638" cy="219327"/>
          </a:xfrm>
        </p:grpSpPr>
        <p:sp>
          <p:nvSpPr>
            <p:cNvPr id="16" name="Oval 15">
              <a:extLst>
                <a:ext uri="{FF2B5EF4-FFF2-40B4-BE49-F238E27FC236}">
                  <a16:creationId xmlns:a16="http://schemas.microsoft.com/office/drawing/2014/main" id="{6868AA1F-C223-3DF9-1903-7FE4C9E18665}"/>
                </a:ext>
              </a:extLst>
            </p:cNvPr>
            <p:cNvSpPr>
              <a:spLocks/>
            </p:cNvSpPr>
            <p:nvPr/>
          </p:nvSpPr>
          <p:spPr>
            <a:xfrm rot="7336330">
              <a:off x="2694111" y="3734921"/>
              <a:ext cx="83861" cy="32063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7" name="Oval 16">
              <a:extLst>
                <a:ext uri="{FF2B5EF4-FFF2-40B4-BE49-F238E27FC236}">
                  <a16:creationId xmlns:a16="http://schemas.microsoft.com/office/drawing/2014/main" id="{9DFCDBD0-71E9-CAC5-93B9-87E47A13CC06}"/>
                </a:ext>
              </a:extLst>
            </p:cNvPr>
            <p:cNvSpPr>
              <a:spLocks/>
            </p:cNvSpPr>
            <p:nvPr/>
          </p:nvSpPr>
          <p:spPr>
            <a:xfrm rot="2081180">
              <a:off x="2682696" y="3785573"/>
              <a:ext cx="106691" cy="219327"/>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18" name="TextBox 17">
            <a:extLst>
              <a:ext uri="{FF2B5EF4-FFF2-40B4-BE49-F238E27FC236}">
                <a16:creationId xmlns:a16="http://schemas.microsoft.com/office/drawing/2014/main" id="{F523F07E-F3F2-A76B-C75C-DDEB622EE5EF}"/>
              </a:ext>
            </a:extLst>
          </p:cNvPr>
          <p:cNvSpPr txBox="1"/>
          <p:nvPr/>
        </p:nvSpPr>
        <p:spPr>
          <a:xfrm>
            <a:off x="3143283" y="2929710"/>
            <a:ext cx="1778466" cy="338554"/>
          </a:xfrm>
          <a:prstGeom prst="rect">
            <a:avLst/>
          </a:prstGeom>
          <a:noFill/>
        </p:spPr>
        <p:txBody>
          <a:bodyPr wrap="square" rtlCol="0">
            <a:spAutoFit/>
          </a:bodyPr>
          <a:lstStyle/>
          <a:p>
            <a:pPr algn="ctr"/>
            <a:r>
              <a:rPr lang="es-CL" sz="1600" i="1" dirty="0"/>
              <a:t>y</a:t>
            </a:r>
            <a:endParaRPr lang="es-CL" i="1"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C6D2951-38B2-FD03-8CCC-8418736DFFBC}"/>
                  </a:ext>
                </a:extLst>
              </p:cNvPr>
              <p:cNvSpPr txBox="1"/>
              <p:nvPr/>
            </p:nvSpPr>
            <p:spPr>
              <a:xfrm>
                <a:off x="346465" y="5452670"/>
                <a:ext cx="11106130" cy="830997"/>
              </a:xfrm>
              <a:prstGeom prst="rect">
                <a:avLst/>
              </a:prstGeom>
              <a:noFill/>
            </p:spPr>
            <p:txBody>
              <a:bodyPr wrap="square" rtlCol="0">
                <a:spAutoFit/>
              </a:bodyPr>
              <a:lstStyle/>
              <a:p>
                <a:pPr algn="just"/>
                <a:r>
                  <a:rPr lang="es-ES" sz="1600" b="1" dirty="0"/>
                  <a:t>Distancia recorrida:</a:t>
                </a:r>
                <a:r>
                  <a:rPr lang="es-ES" sz="1600" dirty="0"/>
                  <a:t> Se define como la longitud medida sobre la trayectoria. Es un escalar. Su unidad de medida en S.I. es el metro. La distancia recorrida siempre es mayor o igual al desplazamiento. Se suele simbolizar por la letra </a:t>
                </a:r>
                <a14:m>
                  <m:oMath xmlns:m="http://schemas.openxmlformats.org/officeDocument/2006/math">
                    <m:r>
                      <a:rPr lang="es-ES" sz="1600" i="1" dirty="0" smtClean="0">
                        <a:latin typeface="Cambria Math" panose="02040503050406030204" pitchFamily="18" charset="0"/>
                      </a:rPr>
                      <m:t>𝑑</m:t>
                    </m:r>
                  </m:oMath>
                </a14:m>
                <a:r>
                  <a:rPr lang="es-ES" sz="1600" dirty="0"/>
                  <a:t>, ya sea minúscula o mayúscula.</a:t>
                </a:r>
              </a:p>
            </p:txBody>
          </p:sp>
        </mc:Choice>
        <mc:Fallback xmlns="">
          <p:sp>
            <p:nvSpPr>
              <p:cNvPr id="20" name="TextBox 19">
                <a:extLst>
                  <a:ext uri="{FF2B5EF4-FFF2-40B4-BE49-F238E27FC236}">
                    <a16:creationId xmlns:a16="http://schemas.microsoft.com/office/drawing/2014/main" id="{5C6D2951-38B2-FD03-8CCC-8418736DFFBC}"/>
                  </a:ext>
                </a:extLst>
              </p:cNvPr>
              <p:cNvSpPr txBox="1">
                <a:spLocks noRot="1" noChangeAspect="1" noMove="1" noResize="1" noEditPoints="1" noAdjustHandles="1" noChangeArrowheads="1" noChangeShapeType="1" noTextEdit="1"/>
              </p:cNvSpPr>
              <p:nvPr/>
            </p:nvSpPr>
            <p:spPr>
              <a:xfrm>
                <a:off x="346465" y="5452670"/>
                <a:ext cx="11106130" cy="830997"/>
              </a:xfrm>
              <a:prstGeom prst="rect">
                <a:avLst/>
              </a:prstGeom>
              <a:blipFill>
                <a:blip r:embed="rId7"/>
                <a:stretch>
                  <a:fillRect l="-343" t="-1515" r="-343" b="-9091"/>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9" name="Rectangle 21">
                <a:extLst>
                  <a:ext uri="{FF2B5EF4-FFF2-40B4-BE49-F238E27FC236}">
                    <a16:creationId xmlns:a16="http://schemas.microsoft.com/office/drawing/2014/main" id="{0BBFC310-B272-6CF0-733A-A5F4AEF78566}"/>
                  </a:ext>
                </a:extLst>
              </p:cNvPr>
              <p:cNvSpPr/>
              <p:nvPr/>
            </p:nvSpPr>
            <p:spPr>
              <a:xfrm>
                <a:off x="7895967" y="3408723"/>
                <a:ext cx="3929449" cy="830997"/>
              </a:xfrm>
              <a:prstGeom prst="rect">
                <a:avLst/>
              </a:prstGeom>
            </p:spPr>
            <p:txBody>
              <a:bodyPr wrap="square">
                <a:spAutoFit/>
              </a:bodyPr>
              <a:lstStyle/>
              <a:p>
                <a:pPr algn="just"/>
                <a:r>
                  <a:rPr lang="es-CL" sz="1600" dirty="0"/>
                  <a:t>La notación </a:t>
                </a:r>
                <a14:m>
                  <m:oMath xmlns:m="http://schemas.openxmlformats.org/officeDocument/2006/math">
                    <m:r>
                      <a:rPr lang="es-ES" sz="1600" b="0" i="1" smtClean="0">
                        <a:latin typeface="Cambria Math" panose="02040503050406030204" pitchFamily="18" charset="0"/>
                        <a:ea typeface="Cambria Math" panose="02040503050406030204" pitchFamily="18" charset="0"/>
                      </a:rPr>
                      <m:t>“</m:t>
                    </m:r>
                    <m:r>
                      <m:rPr>
                        <m:sty m:val="p"/>
                      </m:rPr>
                      <a:rPr lang="el-GR" sz="1600" i="1" smtClean="0">
                        <a:latin typeface="Cambria Math" panose="02040503050406030204" pitchFamily="18" charset="0"/>
                        <a:ea typeface="Cambria Math" panose="02040503050406030204" pitchFamily="18" charset="0"/>
                      </a:rPr>
                      <m:t>Δ</m:t>
                    </m:r>
                    <m:r>
                      <a:rPr lang="es-ES" sz="1600" b="0" i="1" smtClean="0">
                        <a:latin typeface="Cambria Math" panose="02040503050406030204" pitchFamily="18" charset="0"/>
                        <a:ea typeface="Cambria Math" panose="02040503050406030204" pitchFamily="18" charset="0"/>
                      </a:rPr>
                      <m:t>”</m:t>
                    </m:r>
                    <m:r>
                      <a:rPr lang="el-GR" sz="1600" i="1" smtClean="0">
                        <a:latin typeface="Cambria Math" panose="02040503050406030204" pitchFamily="18" charset="0"/>
                        <a:ea typeface="Cambria Math" panose="02040503050406030204" pitchFamily="18" charset="0"/>
                      </a:rPr>
                      <m:t> </m:t>
                    </m:r>
                  </m:oMath>
                </a14:m>
                <a:r>
                  <a:rPr lang="es-CL" sz="1600" dirty="0"/>
                  <a:t>en este curso se usará para destacar la diferencia (resta) entre dos valores.</a:t>
                </a:r>
              </a:p>
            </p:txBody>
          </p:sp>
        </mc:Choice>
        <mc:Fallback xmlns="">
          <p:sp>
            <p:nvSpPr>
              <p:cNvPr id="19" name="Rectangle 21">
                <a:extLst>
                  <a:ext uri="{FF2B5EF4-FFF2-40B4-BE49-F238E27FC236}">
                    <a16:creationId xmlns:a16="http://schemas.microsoft.com/office/drawing/2014/main" id="{0BBFC310-B272-6CF0-733A-A5F4AEF78566}"/>
                  </a:ext>
                </a:extLst>
              </p:cNvPr>
              <p:cNvSpPr>
                <a:spLocks noRot="1" noChangeAspect="1" noMove="1" noResize="1" noEditPoints="1" noAdjustHandles="1" noChangeArrowheads="1" noChangeShapeType="1" noTextEdit="1"/>
              </p:cNvSpPr>
              <p:nvPr/>
            </p:nvSpPr>
            <p:spPr>
              <a:xfrm>
                <a:off x="7895967" y="3408723"/>
                <a:ext cx="3929449" cy="830997"/>
              </a:xfrm>
              <a:prstGeom prst="rect">
                <a:avLst/>
              </a:prstGeom>
              <a:blipFill>
                <a:blip r:embed="rId8"/>
                <a:stretch>
                  <a:fillRect l="-643" t="-3030" r="-643" b="-9091"/>
                </a:stretch>
              </a:blipFill>
            </p:spPr>
            <p:txBody>
              <a:bodyPr/>
              <a:lstStyle/>
              <a:p>
                <a:r>
                  <a:rPr lang="es-ES_tradnl">
                    <a:noFill/>
                  </a:rPr>
                  <a:t> </a:t>
                </a:r>
              </a:p>
            </p:txBody>
          </p:sp>
        </mc:Fallback>
      </mc:AlternateContent>
      <p:sp>
        <p:nvSpPr>
          <p:cNvPr id="21" name="Marcador de número de diapositiva 2">
            <a:extLst>
              <a:ext uri="{FF2B5EF4-FFF2-40B4-BE49-F238E27FC236}">
                <a16:creationId xmlns:a16="http://schemas.microsoft.com/office/drawing/2014/main" id="{87A0ECBB-E641-2827-C748-C872FB27BAF9}"/>
              </a:ext>
            </a:extLst>
          </p:cNvPr>
          <p:cNvSpPr txBox="1">
            <a:spLocks/>
          </p:cNvSpPr>
          <p:nvPr/>
        </p:nvSpPr>
        <p:spPr>
          <a:xfrm>
            <a:off x="8993372" y="168201"/>
            <a:ext cx="2743200" cy="365125"/>
          </a:xfrm>
          <a:prstGeom prst="rect">
            <a:avLst/>
          </a:prstGeom>
        </p:spPr>
        <p:txBody>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9C89E4B-EE86-427E-B533-BCEDB2CD4BCC}" type="slidenum">
              <a:rPr lang="es-CL" sz="1200" smtClean="0"/>
              <a:pPr algn="r"/>
              <a:t>5</a:t>
            </a:fld>
            <a:endParaRPr lang="es-CL" sz="1200"/>
          </a:p>
        </p:txBody>
      </p:sp>
    </p:spTree>
    <p:extLst>
      <p:ext uri="{BB962C8B-B14F-4D97-AF65-F5344CB8AC3E}">
        <p14:creationId xmlns:p14="http://schemas.microsoft.com/office/powerpoint/2010/main" val="487565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84271-3692-B57A-2BBF-50DA37DBE051}"/>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1F45D2A9-08CC-1B95-A859-E57AD84275B3}"/>
              </a:ext>
            </a:extLst>
          </p:cNvPr>
          <p:cNvSpPr txBox="1"/>
          <p:nvPr/>
        </p:nvSpPr>
        <p:spPr>
          <a:xfrm>
            <a:off x="133350" y="19050"/>
            <a:ext cx="11934826" cy="461665"/>
          </a:xfrm>
          <a:prstGeom prst="rect">
            <a:avLst/>
          </a:prstGeom>
          <a:noFill/>
          <a:ln cap="flat" cmpd="sng">
            <a:solidFill>
              <a:srgbClr val="FFFFFF"/>
            </a:solidFill>
          </a:ln>
        </p:spPr>
        <p:txBody>
          <a:bodyPr wrap="square" rtlCol="0">
            <a:spAutoFit/>
          </a:bodyPr>
          <a:lstStyle/>
          <a:p>
            <a:pPr algn="ctr"/>
            <a:endParaRPr lang="es-CL" sz="2400" dirty="0"/>
          </a:p>
        </p:txBody>
      </p:sp>
      <p:graphicFrame>
        <p:nvGraphicFramePr>
          <p:cNvPr id="8" name="Tabla 7">
            <a:extLst>
              <a:ext uri="{FF2B5EF4-FFF2-40B4-BE49-F238E27FC236}">
                <a16:creationId xmlns:a16="http://schemas.microsoft.com/office/drawing/2014/main" id="{B02C4C24-6BF0-B18D-8323-C715AC22C3A0}"/>
              </a:ext>
            </a:extLst>
          </p:cNvPr>
          <p:cNvGraphicFramePr>
            <a:graphicFrameLocks noGrp="1"/>
          </p:cNvGraphicFramePr>
          <p:nvPr>
            <p:extLst>
              <p:ext uri="{D42A27DB-BD31-4B8C-83A1-F6EECF244321}">
                <p14:modId xmlns:p14="http://schemas.microsoft.com/office/powerpoint/2010/main" val="2144906408"/>
              </p:ext>
            </p:extLst>
          </p:nvPr>
        </p:nvGraphicFramePr>
        <p:xfrm>
          <a:off x="1" y="0"/>
          <a:ext cx="12192000" cy="4572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2960110769"/>
                    </a:ext>
                  </a:extLst>
                </a:gridCol>
              </a:tblGrid>
              <a:tr h="370840">
                <a:tc>
                  <a:txBody>
                    <a:bodyPr/>
                    <a:lstStyle/>
                    <a:p>
                      <a:pPr algn="ctr"/>
                      <a:r>
                        <a:rPr lang="es-MX" sz="2400" dirty="0">
                          <a:latin typeface="Montserrat" pitchFamily="2" charset="77"/>
                        </a:rPr>
                        <a:t>Cinemática 1d</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81913"/>
                  </a:ext>
                </a:extLst>
              </a:tr>
            </a:tbl>
          </a:graphicData>
        </a:graphic>
      </p:graphicFrame>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2525287-5050-70FA-32BB-34AC00B6D9D7}"/>
                  </a:ext>
                </a:extLst>
              </p:cNvPr>
              <p:cNvSpPr txBox="1"/>
              <p:nvPr/>
            </p:nvSpPr>
            <p:spPr>
              <a:xfrm>
                <a:off x="346504" y="830427"/>
                <a:ext cx="11106130" cy="3462166"/>
              </a:xfrm>
              <a:prstGeom prst="rect">
                <a:avLst/>
              </a:prstGeom>
              <a:noFill/>
            </p:spPr>
            <p:txBody>
              <a:bodyPr wrap="square" rtlCol="0">
                <a:spAutoFit/>
              </a:bodyPr>
              <a:lstStyle/>
              <a:p>
                <a:r>
                  <a:rPr lang="es-ES" sz="1600" b="1" dirty="0"/>
                  <a:t>Definiciones</a:t>
                </a:r>
              </a:p>
              <a:p>
                <a:endParaRPr lang="es-ES" sz="1600" dirty="0"/>
              </a:p>
              <a:p>
                <a:pPr algn="just"/>
                <a:r>
                  <a:rPr lang="es-ES" sz="1600" b="1" dirty="0"/>
                  <a:t>Rapidez media o rapidez promedio:</a:t>
                </a:r>
                <a:r>
                  <a:rPr lang="es-ES" sz="1600" dirty="0"/>
                  <a:t> Se define como la razón entre la distancia recorrida y el tiempo en el cual fue recorrida. Es un escalar. Su unidad de medida en S.I. es el m/s. Se calcula</a:t>
                </a:r>
              </a:p>
              <a:p>
                <a:endParaRPr lang="es-ES" sz="1600" dirty="0"/>
              </a:p>
              <a:p>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n-US" sz="1600" b="0" i="1" smtClean="0">
                              <a:latin typeface="Cambria Math" panose="02040503050406030204" pitchFamily="18" charset="0"/>
                            </a:rPr>
                            <m:t>𝑣</m:t>
                          </m:r>
                        </m:e>
                        <m:sub>
                          <m:r>
                            <a:rPr lang="en-US" sz="1600" b="0" i="1" smtClean="0">
                              <a:latin typeface="Cambria Math" panose="02040503050406030204" pitchFamily="18" charset="0"/>
                            </a:rPr>
                            <m:t>𝑚</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𝑑</m:t>
                          </m:r>
                        </m:num>
                        <m:den>
                          <m:r>
                            <m:rPr>
                              <m:sty m:val="p"/>
                            </m:rPr>
                            <a:rPr lang="el-GR" sz="1600" b="0" i="1" smtClean="0">
                              <a:latin typeface="Cambria Math" panose="02040503050406030204" pitchFamily="18" charset="0"/>
                              <a:ea typeface="Cambria Math" panose="02040503050406030204" pitchFamily="18" charset="0"/>
                            </a:rPr>
                            <m:t>Δ</m:t>
                          </m:r>
                          <m:r>
                            <a:rPr lang="en-US" sz="1600" b="0" i="1" smtClean="0">
                              <a:latin typeface="Cambria Math" panose="02040503050406030204" pitchFamily="18" charset="0"/>
                              <a:ea typeface="Cambria Math" panose="02040503050406030204" pitchFamily="18" charset="0"/>
                            </a:rPr>
                            <m:t>𝑡</m:t>
                          </m:r>
                        </m:den>
                      </m:f>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𝑑</m:t>
                          </m:r>
                        </m:num>
                        <m:den>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𝑡</m:t>
                              </m:r>
                            </m:e>
                            <m:sub>
                              <m:r>
                                <a:rPr lang="en-US" sz="1600" b="0" i="1" smtClean="0">
                                  <a:latin typeface="Cambria Math" panose="02040503050406030204" pitchFamily="18" charset="0"/>
                                </a:rPr>
                                <m:t>𝑓</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𝑡</m:t>
                              </m:r>
                            </m:e>
                            <m:sub>
                              <m:r>
                                <a:rPr lang="en-US" sz="1600" b="0" i="1" smtClean="0">
                                  <a:latin typeface="Cambria Math" panose="02040503050406030204" pitchFamily="18" charset="0"/>
                                </a:rPr>
                                <m:t>𝑖</m:t>
                              </m:r>
                            </m:sub>
                          </m:sSub>
                        </m:den>
                      </m:f>
                    </m:oMath>
                  </m:oMathPara>
                </a14:m>
                <a:endParaRPr lang="es-ES" sz="1600" dirty="0"/>
              </a:p>
              <a:p>
                <a:endParaRPr lang="es-ES" sz="1600" dirty="0"/>
              </a:p>
              <a:p>
                <a:pPr algn="just"/>
                <a:r>
                  <a:rPr lang="es-ES" sz="1600" b="1" dirty="0"/>
                  <a:t>Velocidad media: </a:t>
                </a:r>
                <a:r>
                  <a:rPr lang="es-ES" sz="1600" dirty="0"/>
                  <a:t>Se define como la razón entre el desplazamiento y el tiempo en el cual fue realizado. Es un vector. Su unidad de medida en S.I. es m/s. Se calcula como</a:t>
                </a:r>
              </a:p>
              <a:p>
                <a:endParaRPr lang="es-ES" sz="1600" dirty="0"/>
              </a:p>
              <a:p>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acc>
                            <m:accPr>
                              <m:chr m:val="⃗"/>
                              <m:ctrlPr>
                                <a:rPr lang="es-ES" sz="1600" i="1">
                                  <a:latin typeface="Cambria Math" panose="02040503050406030204" pitchFamily="18" charset="0"/>
                                </a:rPr>
                              </m:ctrlPr>
                            </m:accPr>
                            <m:e>
                              <m:r>
                                <a:rPr lang="en-US" sz="1600" i="1">
                                  <a:latin typeface="Cambria Math" panose="02040503050406030204" pitchFamily="18" charset="0"/>
                                </a:rPr>
                                <m:t>𝑣</m:t>
                              </m:r>
                            </m:e>
                          </m:acc>
                        </m:e>
                        <m:sub>
                          <m:r>
                            <a:rPr lang="en-US" sz="1600" b="0" i="1" smtClean="0">
                              <a:latin typeface="Cambria Math" panose="02040503050406030204" pitchFamily="18" charset="0"/>
                            </a:rPr>
                            <m:t>𝑚</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m:rPr>
                              <m:sty m:val="p"/>
                            </m:rPr>
                            <a:rPr lang="el-GR" sz="1600" b="0" i="1" smtClean="0">
                              <a:latin typeface="Cambria Math" panose="02040503050406030204" pitchFamily="18" charset="0"/>
                              <a:ea typeface="Cambria Math" panose="02040503050406030204" pitchFamily="18" charset="0"/>
                            </a:rPr>
                            <m:t>Δ</m:t>
                          </m:r>
                          <m:acc>
                            <m:accPr>
                              <m:chr m:val="⃗"/>
                              <m:ctrlPr>
                                <a:rPr lang="el-GR" sz="1600" b="0" i="1" smtClean="0">
                                  <a:latin typeface="Cambria Math" panose="02040503050406030204" pitchFamily="18" charset="0"/>
                                  <a:ea typeface="Cambria Math" panose="02040503050406030204" pitchFamily="18" charset="0"/>
                                </a:rPr>
                              </m:ctrlPr>
                            </m:accPr>
                            <m:e>
                              <m:r>
                                <a:rPr lang="en-US" sz="1600" b="0" i="1" smtClean="0">
                                  <a:latin typeface="Cambria Math" panose="02040503050406030204" pitchFamily="18" charset="0"/>
                                  <a:ea typeface="Cambria Math" panose="02040503050406030204" pitchFamily="18" charset="0"/>
                                </a:rPr>
                                <m:t>𝑟</m:t>
                              </m:r>
                            </m:e>
                          </m:acc>
                        </m:num>
                        <m:den>
                          <m:r>
                            <m:rPr>
                              <m:sty m:val="p"/>
                            </m:rPr>
                            <a:rPr lang="el-GR" sz="1600" b="0" i="1" smtClean="0">
                              <a:latin typeface="Cambria Math" panose="02040503050406030204" pitchFamily="18" charset="0"/>
                              <a:ea typeface="Cambria Math" panose="02040503050406030204" pitchFamily="18" charset="0"/>
                            </a:rPr>
                            <m:t>Δ</m:t>
                          </m:r>
                          <m:r>
                            <a:rPr lang="en-US" sz="1600" b="0" i="1" smtClean="0">
                              <a:latin typeface="Cambria Math" panose="02040503050406030204" pitchFamily="18" charset="0"/>
                              <a:ea typeface="Cambria Math" panose="02040503050406030204" pitchFamily="18" charset="0"/>
                            </a:rPr>
                            <m:t>𝑡</m:t>
                          </m:r>
                        </m:den>
                      </m:f>
                    </m:oMath>
                  </m:oMathPara>
                </a14:m>
                <a:endParaRPr lang="es-ES" sz="1600" dirty="0"/>
              </a:p>
            </p:txBody>
          </p:sp>
        </mc:Choice>
        <mc:Fallback xmlns="">
          <p:sp>
            <p:nvSpPr>
              <p:cNvPr id="13" name="TextBox 12">
                <a:extLst>
                  <a:ext uri="{FF2B5EF4-FFF2-40B4-BE49-F238E27FC236}">
                    <a16:creationId xmlns:a16="http://schemas.microsoft.com/office/drawing/2014/main" id="{F2525287-5050-70FA-32BB-34AC00B6D9D7}"/>
                  </a:ext>
                </a:extLst>
              </p:cNvPr>
              <p:cNvSpPr txBox="1">
                <a:spLocks noRot="1" noChangeAspect="1" noMove="1" noResize="1" noEditPoints="1" noAdjustHandles="1" noChangeArrowheads="1" noChangeShapeType="1" noTextEdit="1"/>
              </p:cNvSpPr>
              <p:nvPr/>
            </p:nvSpPr>
            <p:spPr>
              <a:xfrm>
                <a:off x="346504" y="830427"/>
                <a:ext cx="11106130" cy="3462166"/>
              </a:xfrm>
              <a:prstGeom prst="rect">
                <a:avLst/>
              </a:prstGeom>
              <a:blipFill>
                <a:blip r:embed="rId3"/>
                <a:stretch>
                  <a:fillRect l="-343" t="-733" r="-343"/>
                </a:stretch>
              </a:blipFill>
            </p:spPr>
            <p:txBody>
              <a:bodyPr/>
              <a:lstStyle/>
              <a:p>
                <a:r>
                  <a:rPr lang="es-ES_tradnl">
                    <a:noFill/>
                  </a:rPr>
                  <a:t> </a:t>
                </a:r>
              </a:p>
            </p:txBody>
          </p:sp>
        </mc:Fallback>
      </mc:AlternateContent>
      <p:sp>
        <p:nvSpPr>
          <p:cNvPr id="2" name="Marcador de número de diapositiva 2">
            <a:extLst>
              <a:ext uri="{FF2B5EF4-FFF2-40B4-BE49-F238E27FC236}">
                <a16:creationId xmlns:a16="http://schemas.microsoft.com/office/drawing/2014/main" id="{E0791BAF-9BC6-7073-0500-ED7D2EFA2FB6}"/>
              </a:ext>
            </a:extLst>
          </p:cNvPr>
          <p:cNvSpPr txBox="1">
            <a:spLocks/>
          </p:cNvSpPr>
          <p:nvPr/>
        </p:nvSpPr>
        <p:spPr>
          <a:xfrm>
            <a:off x="8993372" y="168201"/>
            <a:ext cx="2743200" cy="365125"/>
          </a:xfrm>
          <a:prstGeom prst="rect">
            <a:avLst/>
          </a:prstGeom>
        </p:spPr>
        <p:txBody>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9C89E4B-EE86-427E-B533-BCEDB2CD4BCC}" type="slidenum">
              <a:rPr lang="es-CL" sz="1200" smtClean="0"/>
              <a:pPr algn="r"/>
              <a:t>6</a:t>
            </a:fld>
            <a:endParaRPr lang="es-CL" sz="1200"/>
          </a:p>
        </p:txBody>
      </p:sp>
    </p:spTree>
    <p:extLst>
      <p:ext uri="{BB962C8B-B14F-4D97-AF65-F5344CB8AC3E}">
        <p14:creationId xmlns:p14="http://schemas.microsoft.com/office/powerpoint/2010/main" val="3452650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BD303-CC08-47A2-93CF-BBD9D3EB93B8}"/>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6996D35D-8D64-402D-795D-4177EBCD42D1}"/>
              </a:ext>
            </a:extLst>
          </p:cNvPr>
          <p:cNvSpPr txBox="1"/>
          <p:nvPr/>
        </p:nvSpPr>
        <p:spPr>
          <a:xfrm>
            <a:off x="133350" y="19050"/>
            <a:ext cx="11934826" cy="461665"/>
          </a:xfrm>
          <a:prstGeom prst="rect">
            <a:avLst/>
          </a:prstGeom>
          <a:noFill/>
          <a:ln cap="flat" cmpd="sng">
            <a:solidFill>
              <a:srgbClr val="FFFFFF"/>
            </a:solidFill>
          </a:ln>
        </p:spPr>
        <p:txBody>
          <a:bodyPr wrap="square" rtlCol="0">
            <a:spAutoFit/>
          </a:bodyPr>
          <a:lstStyle/>
          <a:p>
            <a:pPr algn="ctr"/>
            <a:endParaRPr lang="es-CL" sz="2400" dirty="0"/>
          </a:p>
        </p:txBody>
      </p:sp>
      <p:graphicFrame>
        <p:nvGraphicFramePr>
          <p:cNvPr id="8" name="Tabla 7">
            <a:extLst>
              <a:ext uri="{FF2B5EF4-FFF2-40B4-BE49-F238E27FC236}">
                <a16:creationId xmlns:a16="http://schemas.microsoft.com/office/drawing/2014/main" id="{19E4A763-F91A-EE38-7492-AA83B9AF0F42}"/>
              </a:ext>
            </a:extLst>
          </p:cNvPr>
          <p:cNvGraphicFramePr>
            <a:graphicFrameLocks noGrp="1"/>
          </p:cNvGraphicFramePr>
          <p:nvPr>
            <p:extLst>
              <p:ext uri="{D42A27DB-BD31-4B8C-83A1-F6EECF244321}">
                <p14:modId xmlns:p14="http://schemas.microsoft.com/office/powerpoint/2010/main" val="4027126802"/>
              </p:ext>
            </p:extLst>
          </p:nvPr>
        </p:nvGraphicFramePr>
        <p:xfrm>
          <a:off x="1" y="0"/>
          <a:ext cx="12192000" cy="4572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2960110769"/>
                    </a:ext>
                  </a:extLst>
                </a:gridCol>
              </a:tblGrid>
              <a:tr h="370840">
                <a:tc>
                  <a:txBody>
                    <a:bodyPr/>
                    <a:lstStyle/>
                    <a:p>
                      <a:pPr algn="ctr"/>
                      <a:r>
                        <a:rPr lang="es-MX" sz="2400" dirty="0">
                          <a:latin typeface="Montserrat" pitchFamily="2" charset="77"/>
                        </a:rPr>
                        <a:t>Cinemática 1d</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81913"/>
                  </a:ext>
                </a:extLst>
              </a:tr>
            </a:tbl>
          </a:graphicData>
        </a:graphic>
      </p:graphicFrame>
      <p:sp>
        <p:nvSpPr>
          <p:cNvPr id="3" name="TextBox 2">
            <a:extLst>
              <a:ext uri="{FF2B5EF4-FFF2-40B4-BE49-F238E27FC236}">
                <a16:creationId xmlns:a16="http://schemas.microsoft.com/office/drawing/2014/main" id="{D4DB12C9-3808-2E48-CE24-7222C08E3F9D}"/>
              </a:ext>
            </a:extLst>
          </p:cNvPr>
          <p:cNvSpPr txBox="1"/>
          <p:nvPr/>
        </p:nvSpPr>
        <p:spPr>
          <a:xfrm>
            <a:off x="403440" y="950550"/>
            <a:ext cx="11385120" cy="2308324"/>
          </a:xfrm>
          <a:prstGeom prst="rect">
            <a:avLst/>
          </a:prstGeom>
          <a:noFill/>
          <a:ln>
            <a:solidFill>
              <a:srgbClr val="FF0000"/>
            </a:solidFill>
          </a:ln>
        </p:spPr>
        <p:txBody>
          <a:bodyPr wrap="square">
            <a:spAutoFit/>
          </a:bodyPr>
          <a:lstStyle/>
          <a:p>
            <a:r>
              <a:rPr lang="en-US" sz="1600" b="1" dirty="0" err="1"/>
              <a:t>Ejemplo</a:t>
            </a:r>
            <a:r>
              <a:rPr lang="en-US" sz="1600" b="1" dirty="0"/>
              <a:t>: </a:t>
            </a:r>
            <a:r>
              <a:rPr lang="en-US" sz="1600" dirty="0"/>
              <a:t>Un </a:t>
            </a:r>
            <a:r>
              <a:rPr lang="en-US" sz="1600" dirty="0" err="1"/>
              <a:t>objeto</a:t>
            </a:r>
            <a:r>
              <a:rPr lang="en-US" sz="1600" dirty="0"/>
              <a:t> se </a:t>
            </a:r>
            <a:r>
              <a:rPr lang="en-US" sz="1600" dirty="0" err="1"/>
              <a:t>mueve</a:t>
            </a:r>
            <a:r>
              <a:rPr lang="en-US" sz="1600" dirty="0"/>
              <a:t> </a:t>
            </a:r>
            <a:r>
              <a:rPr lang="en-US" sz="1600" dirty="0" err="1"/>
              <a:t>desde</a:t>
            </a:r>
            <a:r>
              <a:rPr lang="en-US" sz="1600" dirty="0"/>
              <a:t> </a:t>
            </a:r>
            <a:r>
              <a:rPr lang="en-US" sz="1600" dirty="0" err="1"/>
              <a:t>el</a:t>
            </a:r>
            <a:r>
              <a:rPr lang="en-US" sz="1600" dirty="0"/>
              <a:t> </a:t>
            </a:r>
            <a:r>
              <a:rPr lang="en-US" sz="1600" dirty="0" err="1"/>
              <a:t>origen</a:t>
            </a:r>
            <a:r>
              <a:rPr lang="en-US" sz="1600" dirty="0"/>
              <a:t> del plano </a:t>
            </a:r>
            <a:r>
              <a:rPr lang="en-US" sz="1600" dirty="0" err="1"/>
              <a:t>cartesiano</a:t>
            </a:r>
            <a:r>
              <a:rPr lang="en-US" sz="1600" dirty="0"/>
              <a:t> hasta </a:t>
            </a:r>
            <a:r>
              <a:rPr lang="en-US" sz="1600" dirty="0" err="1"/>
              <a:t>el</a:t>
            </a:r>
            <a:r>
              <a:rPr lang="en-US" sz="1600" dirty="0"/>
              <a:t> punto A y luego al punto B. Si </a:t>
            </a:r>
            <a:r>
              <a:rPr lang="en-US" sz="1600" dirty="0" err="1"/>
              <a:t>el</a:t>
            </a:r>
            <a:r>
              <a:rPr lang="en-US" sz="1600" dirty="0"/>
              <a:t> primer </a:t>
            </a:r>
            <a:r>
              <a:rPr lang="en-US" sz="1600" dirty="0" err="1"/>
              <a:t>tramo</a:t>
            </a:r>
            <a:r>
              <a:rPr lang="en-US" sz="1600" dirty="0"/>
              <a:t> lo </a:t>
            </a:r>
            <a:r>
              <a:rPr lang="en-US" sz="1600" dirty="0" err="1"/>
              <a:t>realiza</a:t>
            </a:r>
            <a:r>
              <a:rPr lang="en-US" sz="1600" dirty="0"/>
              <a:t> </a:t>
            </a:r>
            <a:r>
              <a:rPr lang="en-US" sz="1600" dirty="0" err="1"/>
              <a:t>en</a:t>
            </a:r>
            <a:r>
              <a:rPr lang="en-US" sz="1600" dirty="0"/>
              <a:t> 3 s y </a:t>
            </a:r>
            <a:r>
              <a:rPr lang="en-US" sz="1600" dirty="0" err="1"/>
              <a:t>el</a:t>
            </a:r>
            <a:r>
              <a:rPr lang="en-US" sz="1600" dirty="0"/>
              <a:t> </a:t>
            </a:r>
            <a:r>
              <a:rPr lang="en-US" sz="1600" dirty="0" err="1"/>
              <a:t>segundo</a:t>
            </a:r>
            <a:r>
              <a:rPr lang="en-US" sz="1600" dirty="0"/>
              <a:t> </a:t>
            </a:r>
            <a:r>
              <a:rPr lang="en-US" sz="1600" dirty="0" err="1"/>
              <a:t>tramo</a:t>
            </a:r>
            <a:r>
              <a:rPr lang="en-US" sz="1600" dirty="0"/>
              <a:t> </a:t>
            </a:r>
            <a:r>
              <a:rPr lang="en-US" sz="1600" dirty="0" err="1"/>
              <a:t>en</a:t>
            </a:r>
            <a:r>
              <a:rPr lang="en-US" sz="1600" dirty="0"/>
              <a:t> 4 s, </a:t>
            </a:r>
            <a:r>
              <a:rPr lang="en-US" sz="1600" dirty="0" err="1"/>
              <a:t>calcule</a:t>
            </a:r>
            <a:r>
              <a:rPr lang="en-US" sz="1600" dirty="0"/>
              <a:t> </a:t>
            </a:r>
          </a:p>
          <a:p>
            <a:endParaRPr lang="en-US" sz="1600" dirty="0"/>
          </a:p>
          <a:p>
            <a:pPr marL="342900" indent="-342900">
              <a:buFont typeface="+mj-lt"/>
              <a:buAutoNum type="alphaLcParenR"/>
            </a:pPr>
            <a:r>
              <a:rPr lang="en-US" sz="1600" dirty="0"/>
              <a:t>La </a:t>
            </a:r>
            <a:r>
              <a:rPr lang="en-US" sz="1600" dirty="0" err="1"/>
              <a:t>posición</a:t>
            </a:r>
            <a:r>
              <a:rPr lang="en-US" sz="1600" dirty="0"/>
              <a:t> </a:t>
            </a:r>
            <a:r>
              <a:rPr lang="en-US" sz="1600" dirty="0" err="1"/>
              <a:t>en</a:t>
            </a:r>
            <a:r>
              <a:rPr lang="en-US" sz="1600" dirty="0"/>
              <a:t> </a:t>
            </a:r>
            <a:r>
              <a:rPr lang="en-US" sz="1600" dirty="0" err="1"/>
              <a:t>el</a:t>
            </a:r>
            <a:r>
              <a:rPr lang="en-US" sz="1600" dirty="0"/>
              <a:t> punto A y </a:t>
            </a:r>
            <a:r>
              <a:rPr lang="en-US" sz="1600" dirty="0" err="1"/>
              <a:t>en</a:t>
            </a:r>
            <a:r>
              <a:rPr lang="en-US" sz="1600" dirty="0"/>
              <a:t> </a:t>
            </a:r>
            <a:r>
              <a:rPr lang="en-US" sz="1600" dirty="0" err="1"/>
              <a:t>el</a:t>
            </a:r>
            <a:r>
              <a:rPr lang="en-US" sz="1600" dirty="0"/>
              <a:t> punto B.</a:t>
            </a:r>
          </a:p>
          <a:p>
            <a:pPr marL="342900" indent="-342900">
              <a:buFont typeface="+mj-lt"/>
              <a:buAutoNum type="alphaLcParenR"/>
            </a:pPr>
            <a:r>
              <a:rPr lang="en-US" sz="1600" dirty="0"/>
              <a:t>La </a:t>
            </a:r>
            <a:r>
              <a:rPr lang="en-US" sz="1600" dirty="0" err="1"/>
              <a:t>distancia</a:t>
            </a:r>
            <a:r>
              <a:rPr lang="en-US" sz="1600" dirty="0"/>
              <a:t> </a:t>
            </a:r>
            <a:r>
              <a:rPr lang="en-US" sz="1600" dirty="0" err="1"/>
              <a:t>recorrida</a:t>
            </a:r>
            <a:r>
              <a:rPr lang="en-US" sz="1600" dirty="0"/>
              <a:t> </a:t>
            </a:r>
            <a:r>
              <a:rPr lang="en-US" sz="1600" dirty="0" err="1"/>
              <a:t>en</a:t>
            </a:r>
            <a:r>
              <a:rPr lang="en-US" sz="1600" dirty="0"/>
              <a:t> </a:t>
            </a:r>
            <a:r>
              <a:rPr lang="en-US" sz="1600" dirty="0" err="1"/>
              <a:t>cada</a:t>
            </a:r>
            <a:r>
              <a:rPr lang="en-US" sz="1600" dirty="0"/>
              <a:t> </a:t>
            </a:r>
            <a:r>
              <a:rPr lang="en-US" sz="1600" dirty="0" err="1"/>
              <a:t>tramo</a:t>
            </a:r>
            <a:r>
              <a:rPr lang="en-US" sz="1600" dirty="0"/>
              <a:t>.</a:t>
            </a:r>
          </a:p>
          <a:p>
            <a:pPr marL="342900" indent="-342900">
              <a:buFont typeface="+mj-lt"/>
              <a:buAutoNum type="alphaLcParenR"/>
            </a:pPr>
            <a:r>
              <a:rPr lang="en-US" sz="1600" dirty="0"/>
              <a:t>El </a:t>
            </a:r>
            <a:r>
              <a:rPr lang="en-US" sz="1600" dirty="0" err="1"/>
              <a:t>desplazamiento</a:t>
            </a:r>
            <a:r>
              <a:rPr lang="en-US" sz="1600" dirty="0"/>
              <a:t> </a:t>
            </a:r>
            <a:r>
              <a:rPr lang="en-US" sz="1600" dirty="0" err="1"/>
              <a:t>en</a:t>
            </a:r>
            <a:r>
              <a:rPr lang="en-US" sz="1600" dirty="0"/>
              <a:t> </a:t>
            </a:r>
            <a:r>
              <a:rPr lang="en-US" sz="1600" dirty="0" err="1"/>
              <a:t>cada</a:t>
            </a:r>
            <a:r>
              <a:rPr lang="en-US" sz="1600" dirty="0"/>
              <a:t> </a:t>
            </a:r>
            <a:r>
              <a:rPr lang="en-US" sz="1600" dirty="0" err="1"/>
              <a:t>tramo</a:t>
            </a:r>
            <a:r>
              <a:rPr lang="en-US" sz="1600" dirty="0"/>
              <a:t>.</a:t>
            </a:r>
          </a:p>
          <a:p>
            <a:pPr marL="342900" indent="-342900">
              <a:buFont typeface="+mj-lt"/>
              <a:buAutoNum type="alphaLcParenR"/>
            </a:pPr>
            <a:r>
              <a:rPr lang="en-US" sz="1600" dirty="0"/>
              <a:t>La </a:t>
            </a:r>
            <a:r>
              <a:rPr lang="en-US" sz="1600" dirty="0" err="1"/>
              <a:t>rapidez</a:t>
            </a:r>
            <a:r>
              <a:rPr lang="en-US" sz="1600" dirty="0"/>
              <a:t> media </a:t>
            </a:r>
            <a:r>
              <a:rPr lang="en-US" sz="1600" dirty="0" err="1"/>
              <a:t>en</a:t>
            </a:r>
            <a:r>
              <a:rPr lang="en-US" sz="1600" dirty="0"/>
              <a:t> </a:t>
            </a:r>
            <a:r>
              <a:rPr lang="en-US" sz="1600" dirty="0" err="1"/>
              <a:t>cada</a:t>
            </a:r>
            <a:r>
              <a:rPr lang="en-US" sz="1600" dirty="0"/>
              <a:t> </a:t>
            </a:r>
            <a:r>
              <a:rPr lang="en-US" sz="1600" dirty="0" err="1"/>
              <a:t>tramo</a:t>
            </a:r>
            <a:r>
              <a:rPr lang="en-US" sz="1600" dirty="0"/>
              <a:t>.</a:t>
            </a:r>
          </a:p>
          <a:p>
            <a:pPr marL="342900" indent="-342900">
              <a:buFont typeface="+mj-lt"/>
              <a:buAutoNum type="alphaLcParenR"/>
            </a:pPr>
            <a:r>
              <a:rPr lang="en-US" sz="1600" dirty="0"/>
              <a:t>La </a:t>
            </a:r>
            <a:r>
              <a:rPr lang="en-US" sz="1600" dirty="0" err="1"/>
              <a:t>velocidad</a:t>
            </a:r>
            <a:r>
              <a:rPr lang="en-US" sz="1600" dirty="0"/>
              <a:t> media </a:t>
            </a:r>
            <a:r>
              <a:rPr lang="en-US" sz="1600" dirty="0" err="1"/>
              <a:t>en</a:t>
            </a:r>
            <a:r>
              <a:rPr lang="en-US" sz="1600" dirty="0"/>
              <a:t> </a:t>
            </a:r>
            <a:r>
              <a:rPr lang="en-US" sz="1600" dirty="0" err="1"/>
              <a:t>cada</a:t>
            </a:r>
            <a:r>
              <a:rPr lang="en-US" sz="1600" dirty="0"/>
              <a:t> </a:t>
            </a:r>
            <a:r>
              <a:rPr lang="en-US" sz="1600" dirty="0" err="1"/>
              <a:t>tramo</a:t>
            </a:r>
            <a:r>
              <a:rPr lang="en-US" sz="1600" dirty="0"/>
              <a:t>.</a:t>
            </a:r>
          </a:p>
          <a:p>
            <a:endParaRPr lang="en-US" sz="1600" dirty="0"/>
          </a:p>
        </p:txBody>
      </p:sp>
      <p:cxnSp>
        <p:nvCxnSpPr>
          <p:cNvPr id="2" name="Straight Arrow Connector 1">
            <a:extLst>
              <a:ext uri="{FF2B5EF4-FFF2-40B4-BE49-F238E27FC236}">
                <a16:creationId xmlns:a16="http://schemas.microsoft.com/office/drawing/2014/main" id="{3A0F4ECB-F1D6-F12D-3B80-5E11665B72F6}"/>
              </a:ext>
            </a:extLst>
          </p:cNvPr>
          <p:cNvCxnSpPr>
            <a:cxnSpLocks/>
          </p:cNvCxnSpPr>
          <p:nvPr/>
        </p:nvCxnSpPr>
        <p:spPr>
          <a:xfrm flipV="1">
            <a:off x="8402736" y="1403172"/>
            <a:ext cx="0" cy="164592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 name="Straight Arrow Connector 3">
            <a:extLst>
              <a:ext uri="{FF2B5EF4-FFF2-40B4-BE49-F238E27FC236}">
                <a16:creationId xmlns:a16="http://schemas.microsoft.com/office/drawing/2014/main" id="{6E562FB2-6B62-97E5-62D7-24F4347AC21E}"/>
              </a:ext>
            </a:extLst>
          </p:cNvPr>
          <p:cNvCxnSpPr>
            <a:cxnSpLocks/>
          </p:cNvCxnSpPr>
          <p:nvPr/>
        </p:nvCxnSpPr>
        <p:spPr>
          <a:xfrm>
            <a:off x="7783345" y="2819913"/>
            <a:ext cx="2957886"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BA339879-59D8-109E-BBE7-63545CEB91F1}"/>
              </a:ext>
            </a:extLst>
          </p:cNvPr>
          <p:cNvSpPr txBox="1"/>
          <p:nvPr/>
        </p:nvSpPr>
        <p:spPr>
          <a:xfrm>
            <a:off x="10591992" y="2809206"/>
            <a:ext cx="697757" cy="338554"/>
          </a:xfrm>
          <a:prstGeom prst="rect">
            <a:avLst/>
          </a:prstGeom>
          <a:noFill/>
        </p:spPr>
        <p:txBody>
          <a:bodyPr wrap="square" rtlCol="0">
            <a:spAutoFit/>
          </a:bodyPr>
          <a:lstStyle/>
          <a:p>
            <a:r>
              <a:rPr lang="es-CL" sz="1600" i="1" dirty="0"/>
              <a:t>x </a:t>
            </a:r>
            <a:r>
              <a:rPr lang="es-CL" sz="1600" dirty="0"/>
              <a:t>[m]</a:t>
            </a:r>
            <a:endParaRPr lang="es-CL" sz="1600" i="1" dirty="0"/>
          </a:p>
        </p:txBody>
      </p:sp>
      <p:sp>
        <p:nvSpPr>
          <p:cNvPr id="7" name="TextBox 6">
            <a:extLst>
              <a:ext uri="{FF2B5EF4-FFF2-40B4-BE49-F238E27FC236}">
                <a16:creationId xmlns:a16="http://schemas.microsoft.com/office/drawing/2014/main" id="{F0EA835E-7B0A-9782-3964-77DACFC7B350}"/>
              </a:ext>
            </a:extLst>
          </p:cNvPr>
          <p:cNvSpPr txBox="1"/>
          <p:nvPr/>
        </p:nvSpPr>
        <p:spPr>
          <a:xfrm>
            <a:off x="7709601" y="1344491"/>
            <a:ext cx="710766" cy="338554"/>
          </a:xfrm>
          <a:prstGeom prst="rect">
            <a:avLst/>
          </a:prstGeom>
          <a:noFill/>
        </p:spPr>
        <p:txBody>
          <a:bodyPr wrap="square" rtlCol="0">
            <a:spAutoFit/>
          </a:bodyPr>
          <a:lstStyle/>
          <a:p>
            <a:r>
              <a:rPr lang="es-CL" sz="1600" i="1" dirty="0"/>
              <a:t>y </a:t>
            </a:r>
            <a:r>
              <a:rPr lang="es-CL" sz="1600" dirty="0"/>
              <a:t>[m]</a:t>
            </a:r>
          </a:p>
        </p:txBody>
      </p:sp>
      <p:cxnSp>
        <p:nvCxnSpPr>
          <p:cNvPr id="9" name="Straight Connector 8">
            <a:extLst>
              <a:ext uri="{FF2B5EF4-FFF2-40B4-BE49-F238E27FC236}">
                <a16:creationId xmlns:a16="http://schemas.microsoft.com/office/drawing/2014/main" id="{55674407-1989-FCAF-C7A2-362B92CCDD4A}"/>
              </a:ext>
            </a:extLst>
          </p:cNvPr>
          <p:cNvCxnSpPr>
            <a:cxnSpLocks/>
          </p:cNvCxnSpPr>
          <p:nvPr/>
        </p:nvCxnSpPr>
        <p:spPr>
          <a:xfrm flipV="1">
            <a:off x="9987884" y="2717871"/>
            <a:ext cx="0" cy="222636"/>
          </a:xfrm>
          <a:prstGeom prst="line">
            <a:avLst/>
          </a:prstGeom>
          <a:ln w="28575"/>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8DDC3058-921D-75DC-0C18-6A5B5419332F}"/>
              </a:ext>
            </a:extLst>
          </p:cNvPr>
          <p:cNvCxnSpPr>
            <a:cxnSpLocks/>
          </p:cNvCxnSpPr>
          <p:nvPr/>
        </p:nvCxnSpPr>
        <p:spPr>
          <a:xfrm flipV="1">
            <a:off x="8403858" y="2716546"/>
            <a:ext cx="0" cy="222636"/>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7ABD9B1-E7B4-C872-242D-CEEB62E123E5}"/>
              </a:ext>
            </a:extLst>
          </p:cNvPr>
          <p:cNvCxnSpPr>
            <a:cxnSpLocks/>
          </p:cNvCxnSpPr>
          <p:nvPr/>
        </p:nvCxnSpPr>
        <p:spPr>
          <a:xfrm rot="5400000" flipV="1">
            <a:off x="8419372" y="1795520"/>
            <a:ext cx="0" cy="222636"/>
          </a:xfrm>
          <a:prstGeom prst="line">
            <a:avLst/>
          </a:prstGeom>
          <a:ln w="28575"/>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C5AA3136-6A09-5366-220D-22E548CF9632}"/>
              </a:ext>
            </a:extLst>
          </p:cNvPr>
          <p:cNvSpPr txBox="1"/>
          <p:nvPr/>
        </p:nvSpPr>
        <p:spPr>
          <a:xfrm>
            <a:off x="9788399" y="2879815"/>
            <a:ext cx="439272" cy="338554"/>
          </a:xfrm>
          <a:prstGeom prst="rect">
            <a:avLst/>
          </a:prstGeom>
          <a:noFill/>
        </p:spPr>
        <p:txBody>
          <a:bodyPr wrap="square" rtlCol="0">
            <a:spAutoFit/>
          </a:bodyPr>
          <a:lstStyle/>
          <a:p>
            <a:r>
              <a:rPr lang="es-CL" sz="1600" b="1" dirty="0"/>
              <a:t>8</a:t>
            </a:r>
          </a:p>
        </p:txBody>
      </p:sp>
      <p:cxnSp>
        <p:nvCxnSpPr>
          <p:cNvPr id="13" name="Straight Connector 12">
            <a:extLst>
              <a:ext uri="{FF2B5EF4-FFF2-40B4-BE49-F238E27FC236}">
                <a16:creationId xmlns:a16="http://schemas.microsoft.com/office/drawing/2014/main" id="{30F9C8D7-B4B2-4033-1A29-6EE19FE6018B}"/>
              </a:ext>
            </a:extLst>
          </p:cNvPr>
          <p:cNvCxnSpPr>
            <a:cxnSpLocks/>
          </p:cNvCxnSpPr>
          <p:nvPr/>
        </p:nvCxnSpPr>
        <p:spPr>
          <a:xfrm>
            <a:off x="8403858" y="1897376"/>
            <a:ext cx="0" cy="9026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97F902D-ABD6-62A0-298F-5B17EC306670}"/>
              </a:ext>
            </a:extLst>
          </p:cNvPr>
          <p:cNvCxnSpPr>
            <a:cxnSpLocks/>
          </p:cNvCxnSpPr>
          <p:nvPr/>
        </p:nvCxnSpPr>
        <p:spPr>
          <a:xfrm flipH="1">
            <a:off x="8404872" y="1906341"/>
            <a:ext cx="159521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8116000-5131-C116-8D32-73CDBFB99933}"/>
              </a:ext>
            </a:extLst>
          </p:cNvPr>
          <p:cNvSpPr txBox="1"/>
          <p:nvPr/>
        </p:nvSpPr>
        <p:spPr>
          <a:xfrm>
            <a:off x="8054613" y="1765506"/>
            <a:ext cx="214679" cy="338554"/>
          </a:xfrm>
          <a:prstGeom prst="rect">
            <a:avLst/>
          </a:prstGeom>
          <a:noFill/>
        </p:spPr>
        <p:txBody>
          <a:bodyPr wrap="square" rtlCol="0">
            <a:spAutoFit/>
          </a:bodyPr>
          <a:lstStyle/>
          <a:p>
            <a:r>
              <a:rPr lang="es-CL" sz="1600" b="1" dirty="0"/>
              <a:t>9</a:t>
            </a:r>
          </a:p>
        </p:txBody>
      </p:sp>
      <p:cxnSp>
        <p:nvCxnSpPr>
          <p:cNvPr id="16" name="Straight Arrow Connector 15">
            <a:extLst>
              <a:ext uri="{FF2B5EF4-FFF2-40B4-BE49-F238E27FC236}">
                <a16:creationId xmlns:a16="http://schemas.microsoft.com/office/drawing/2014/main" id="{40767015-16B1-234C-1E85-21B5E75F003A}"/>
              </a:ext>
            </a:extLst>
          </p:cNvPr>
          <p:cNvCxnSpPr>
            <a:cxnSpLocks/>
          </p:cNvCxnSpPr>
          <p:nvPr/>
        </p:nvCxnSpPr>
        <p:spPr>
          <a:xfrm flipH="1" flipV="1">
            <a:off x="8403858" y="2186460"/>
            <a:ext cx="0" cy="62550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20D674E-A3B8-5980-658E-763F0D456E58}"/>
              </a:ext>
            </a:extLst>
          </p:cNvPr>
          <p:cNvCxnSpPr>
            <a:cxnSpLocks/>
          </p:cNvCxnSpPr>
          <p:nvPr/>
        </p:nvCxnSpPr>
        <p:spPr>
          <a:xfrm>
            <a:off x="9058935" y="1903952"/>
            <a:ext cx="35037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6684DFD-4805-74F5-9683-0F5C5C6B042C}"/>
              </a:ext>
            </a:extLst>
          </p:cNvPr>
          <p:cNvSpPr txBox="1"/>
          <p:nvPr/>
        </p:nvSpPr>
        <p:spPr>
          <a:xfrm>
            <a:off x="8353479" y="1593133"/>
            <a:ext cx="340158" cy="338554"/>
          </a:xfrm>
          <a:prstGeom prst="rect">
            <a:avLst/>
          </a:prstGeom>
          <a:noFill/>
        </p:spPr>
        <p:txBody>
          <a:bodyPr wrap="none" rtlCol="0">
            <a:spAutoFit/>
          </a:bodyPr>
          <a:lstStyle/>
          <a:p>
            <a:r>
              <a:rPr lang="es-CL" sz="1600" dirty="0"/>
              <a:t>A</a:t>
            </a:r>
          </a:p>
        </p:txBody>
      </p:sp>
      <p:sp>
        <p:nvSpPr>
          <p:cNvPr id="19" name="TextBox 18">
            <a:extLst>
              <a:ext uri="{FF2B5EF4-FFF2-40B4-BE49-F238E27FC236}">
                <a16:creationId xmlns:a16="http://schemas.microsoft.com/office/drawing/2014/main" id="{D67F9BD1-6078-39B9-07AC-6A8338A4CFFC}"/>
              </a:ext>
            </a:extLst>
          </p:cNvPr>
          <p:cNvSpPr txBox="1"/>
          <p:nvPr/>
        </p:nvSpPr>
        <p:spPr>
          <a:xfrm>
            <a:off x="9837956" y="1613913"/>
            <a:ext cx="340158" cy="338554"/>
          </a:xfrm>
          <a:prstGeom prst="rect">
            <a:avLst/>
          </a:prstGeom>
          <a:noFill/>
        </p:spPr>
        <p:txBody>
          <a:bodyPr wrap="none" rtlCol="0">
            <a:spAutoFit/>
          </a:bodyPr>
          <a:lstStyle/>
          <a:p>
            <a:r>
              <a:rPr lang="es-CL" sz="1600" dirty="0"/>
              <a:t>B</a:t>
            </a:r>
          </a:p>
        </p:txBody>
      </p:sp>
      <p:sp>
        <p:nvSpPr>
          <p:cNvPr id="20" name="TextBox 19">
            <a:extLst>
              <a:ext uri="{FF2B5EF4-FFF2-40B4-BE49-F238E27FC236}">
                <a16:creationId xmlns:a16="http://schemas.microsoft.com/office/drawing/2014/main" id="{F2C4F75A-691A-AD15-81F3-BD1E01FB37F3}"/>
              </a:ext>
            </a:extLst>
          </p:cNvPr>
          <p:cNvSpPr txBox="1"/>
          <p:nvPr/>
        </p:nvSpPr>
        <p:spPr>
          <a:xfrm>
            <a:off x="8966908" y="1599061"/>
            <a:ext cx="476412" cy="338554"/>
          </a:xfrm>
          <a:prstGeom prst="rect">
            <a:avLst/>
          </a:prstGeom>
          <a:noFill/>
        </p:spPr>
        <p:txBody>
          <a:bodyPr wrap="none" rtlCol="0">
            <a:spAutoFit/>
          </a:bodyPr>
          <a:lstStyle/>
          <a:p>
            <a:r>
              <a:rPr lang="es-CL" sz="1600" dirty="0"/>
              <a:t>4 s</a:t>
            </a:r>
          </a:p>
        </p:txBody>
      </p:sp>
      <p:sp>
        <p:nvSpPr>
          <p:cNvPr id="21" name="TextBox 20">
            <a:extLst>
              <a:ext uri="{FF2B5EF4-FFF2-40B4-BE49-F238E27FC236}">
                <a16:creationId xmlns:a16="http://schemas.microsoft.com/office/drawing/2014/main" id="{A2C128AA-CBFB-0779-6514-991CC62E8F94}"/>
              </a:ext>
            </a:extLst>
          </p:cNvPr>
          <p:cNvSpPr txBox="1"/>
          <p:nvPr/>
        </p:nvSpPr>
        <p:spPr>
          <a:xfrm>
            <a:off x="7968562" y="2142066"/>
            <a:ext cx="455574" cy="338554"/>
          </a:xfrm>
          <a:prstGeom prst="rect">
            <a:avLst/>
          </a:prstGeom>
          <a:noFill/>
        </p:spPr>
        <p:txBody>
          <a:bodyPr wrap="none" rtlCol="0">
            <a:spAutoFit/>
          </a:bodyPr>
          <a:lstStyle/>
          <a:p>
            <a:r>
              <a:rPr lang="es-CL" sz="1600" dirty="0"/>
              <a:t>3 s</a:t>
            </a:r>
          </a:p>
        </p:txBody>
      </p:sp>
      <p:sp>
        <p:nvSpPr>
          <p:cNvPr id="22" name="TextBox 21">
            <a:extLst>
              <a:ext uri="{FF2B5EF4-FFF2-40B4-BE49-F238E27FC236}">
                <a16:creationId xmlns:a16="http://schemas.microsoft.com/office/drawing/2014/main" id="{75E8B2EC-95D2-BF3A-52D1-ABFFC0F3F028}"/>
              </a:ext>
            </a:extLst>
          </p:cNvPr>
          <p:cNvSpPr txBox="1"/>
          <p:nvPr/>
        </p:nvSpPr>
        <p:spPr>
          <a:xfrm>
            <a:off x="8133843" y="2852897"/>
            <a:ext cx="439272" cy="338554"/>
          </a:xfrm>
          <a:prstGeom prst="rect">
            <a:avLst/>
          </a:prstGeom>
          <a:noFill/>
        </p:spPr>
        <p:txBody>
          <a:bodyPr wrap="square" rtlCol="0">
            <a:spAutoFit/>
          </a:bodyPr>
          <a:lstStyle/>
          <a:p>
            <a:r>
              <a:rPr lang="es-CL" sz="1600" b="1" dirty="0"/>
              <a:t>0</a:t>
            </a:r>
          </a:p>
        </p:txBody>
      </p:sp>
      <p:sp>
        <p:nvSpPr>
          <p:cNvPr id="24" name="Marcador de número de diapositiva 2">
            <a:extLst>
              <a:ext uri="{FF2B5EF4-FFF2-40B4-BE49-F238E27FC236}">
                <a16:creationId xmlns:a16="http://schemas.microsoft.com/office/drawing/2014/main" id="{B7DB66BD-1BF0-FCC3-9DE3-19C8EA397EDF}"/>
              </a:ext>
            </a:extLst>
          </p:cNvPr>
          <p:cNvSpPr txBox="1">
            <a:spLocks/>
          </p:cNvSpPr>
          <p:nvPr/>
        </p:nvSpPr>
        <p:spPr>
          <a:xfrm>
            <a:off x="8993372" y="168201"/>
            <a:ext cx="2743200" cy="365125"/>
          </a:xfrm>
          <a:prstGeom prst="rect">
            <a:avLst/>
          </a:prstGeom>
        </p:spPr>
        <p:txBody>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9C89E4B-EE86-427E-B533-BCEDB2CD4BCC}" type="slidenum">
              <a:rPr lang="es-CL" sz="1200" smtClean="0"/>
              <a:pPr algn="r"/>
              <a:t>7</a:t>
            </a:fld>
            <a:endParaRPr lang="es-CL" sz="1200"/>
          </a:p>
        </p:txBody>
      </p:sp>
    </p:spTree>
    <p:extLst>
      <p:ext uri="{BB962C8B-B14F-4D97-AF65-F5344CB8AC3E}">
        <p14:creationId xmlns:p14="http://schemas.microsoft.com/office/powerpoint/2010/main" val="3315368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73CB8-01EF-C895-AD95-4CC487936F1C}"/>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D327EEC4-62F9-68A4-151F-C05306D1FFCC}"/>
              </a:ext>
            </a:extLst>
          </p:cNvPr>
          <p:cNvSpPr txBox="1"/>
          <p:nvPr/>
        </p:nvSpPr>
        <p:spPr>
          <a:xfrm>
            <a:off x="133350" y="19050"/>
            <a:ext cx="11934826" cy="461665"/>
          </a:xfrm>
          <a:prstGeom prst="rect">
            <a:avLst/>
          </a:prstGeom>
          <a:noFill/>
          <a:ln cap="flat" cmpd="sng">
            <a:solidFill>
              <a:srgbClr val="FFFFFF"/>
            </a:solidFill>
          </a:ln>
        </p:spPr>
        <p:txBody>
          <a:bodyPr wrap="square" rtlCol="0">
            <a:spAutoFit/>
          </a:bodyPr>
          <a:lstStyle/>
          <a:p>
            <a:pPr algn="ctr"/>
            <a:endParaRPr lang="es-CL" sz="2400" dirty="0"/>
          </a:p>
        </p:txBody>
      </p:sp>
      <p:graphicFrame>
        <p:nvGraphicFramePr>
          <p:cNvPr id="8" name="Tabla 7">
            <a:extLst>
              <a:ext uri="{FF2B5EF4-FFF2-40B4-BE49-F238E27FC236}">
                <a16:creationId xmlns:a16="http://schemas.microsoft.com/office/drawing/2014/main" id="{60849BAE-9D48-A815-E03A-8D120792CFD8}"/>
              </a:ext>
            </a:extLst>
          </p:cNvPr>
          <p:cNvGraphicFramePr>
            <a:graphicFrameLocks noGrp="1"/>
          </p:cNvGraphicFramePr>
          <p:nvPr>
            <p:extLst>
              <p:ext uri="{D42A27DB-BD31-4B8C-83A1-F6EECF244321}">
                <p14:modId xmlns:p14="http://schemas.microsoft.com/office/powerpoint/2010/main" val="1570399307"/>
              </p:ext>
            </p:extLst>
          </p:nvPr>
        </p:nvGraphicFramePr>
        <p:xfrm>
          <a:off x="1" y="0"/>
          <a:ext cx="12192000" cy="4572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2960110769"/>
                    </a:ext>
                  </a:extLst>
                </a:gridCol>
              </a:tblGrid>
              <a:tr h="370840">
                <a:tc>
                  <a:txBody>
                    <a:bodyPr/>
                    <a:lstStyle/>
                    <a:p>
                      <a:pPr algn="ctr"/>
                      <a:r>
                        <a:rPr lang="es-MX" sz="2400" dirty="0">
                          <a:latin typeface="Montserrat" pitchFamily="2" charset="77"/>
                        </a:rPr>
                        <a:t>Cinemática 1d</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81913"/>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9FD94DE-AC03-0CB4-0438-BDB7AFAD59E4}"/>
                  </a:ext>
                </a:extLst>
              </p:cNvPr>
              <p:cNvSpPr txBox="1"/>
              <p:nvPr/>
            </p:nvSpPr>
            <p:spPr>
              <a:xfrm>
                <a:off x="403440" y="950550"/>
                <a:ext cx="11385120" cy="5255221"/>
              </a:xfrm>
              <a:prstGeom prst="rect">
                <a:avLst/>
              </a:prstGeom>
              <a:noFill/>
              <a:ln>
                <a:solidFill>
                  <a:srgbClr val="FF0000"/>
                </a:solidFill>
              </a:ln>
            </p:spPr>
            <p:txBody>
              <a:bodyPr wrap="square">
                <a:spAutoFit/>
              </a:bodyPr>
              <a:lstStyle/>
              <a:p>
                <a:r>
                  <a:rPr lang="en-US" sz="1600" b="1" dirty="0"/>
                  <a:t>Ejemplo: </a:t>
                </a:r>
                <a:r>
                  <a:rPr lang="en-US" sz="1600" dirty="0"/>
                  <a:t>Un </a:t>
                </a:r>
                <a:r>
                  <a:rPr lang="en-US" sz="1600" dirty="0" err="1"/>
                  <a:t>objeto</a:t>
                </a:r>
                <a:r>
                  <a:rPr lang="en-US" sz="1600" dirty="0"/>
                  <a:t> se </a:t>
                </a:r>
                <a:r>
                  <a:rPr lang="en-US" sz="1600" dirty="0" err="1"/>
                  <a:t>mueve</a:t>
                </a:r>
                <a:r>
                  <a:rPr lang="en-US" sz="1600" dirty="0"/>
                  <a:t> </a:t>
                </a:r>
                <a:r>
                  <a:rPr lang="en-US" sz="1600" dirty="0" err="1"/>
                  <a:t>desde</a:t>
                </a:r>
                <a:r>
                  <a:rPr lang="en-US" sz="1600" dirty="0"/>
                  <a:t> </a:t>
                </a:r>
                <a:r>
                  <a:rPr lang="en-US" sz="1600" dirty="0" err="1"/>
                  <a:t>el</a:t>
                </a:r>
                <a:r>
                  <a:rPr lang="en-US" sz="1600" dirty="0"/>
                  <a:t> </a:t>
                </a:r>
                <a:r>
                  <a:rPr lang="en-US" sz="1600" dirty="0" err="1"/>
                  <a:t>origen</a:t>
                </a:r>
                <a:r>
                  <a:rPr lang="en-US" sz="1600" dirty="0"/>
                  <a:t> del plano </a:t>
                </a:r>
                <a:r>
                  <a:rPr lang="en-US" sz="1600" dirty="0" err="1"/>
                  <a:t>cartesiano</a:t>
                </a:r>
                <a:r>
                  <a:rPr lang="en-US" sz="1600" dirty="0"/>
                  <a:t> hasta </a:t>
                </a:r>
                <a:r>
                  <a:rPr lang="en-US" sz="1600" dirty="0" err="1"/>
                  <a:t>el</a:t>
                </a:r>
                <a:r>
                  <a:rPr lang="en-US" sz="1600" dirty="0"/>
                  <a:t> punto A y luego al punto B. Si </a:t>
                </a:r>
                <a:r>
                  <a:rPr lang="en-US" sz="1600" dirty="0" err="1"/>
                  <a:t>el</a:t>
                </a:r>
                <a:r>
                  <a:rPr lang="en-US" sz="1600" dirty="0"/>
                  <a:t> primer </a:t>
                </a:r>
                <a:r>
                  <a:rPr lang="en-US" sz="1600" dirty="0" err="1"/>
                  <a:t>tramo</a:t>
                </a:r>
                <a:r>
                  <a:rPr lang="en-US" sz="1600" dirty="0"/>
                  <a:t> lo </a:t>
                </a:r>
                <a:r>
                  <a:rPr lang="en-US" sz="1600" dirty="0" err="1"/>
                  <a:t>realiza</a:t>
                </a:r>
                <a:r>
                  <a:rPr lang="en-US" sz="1600" dirty="0"/>
                  <a:t> </a:t>
                </a:r>
                <a:r>
                  <a:rPr lang="en-US" sz="1600" dirty="0" err="1"/>
                  <a:t>en</a:t>
                </a:r>
                <a:r>
                  <a:rPr lang="en-US" sz="1600" dirty="0"/>
                  <a:t> 3 s y </a:t>
                </a:r>
                <a:r>
                  <a:rPr lang="en-US" sz="1600" dirty="0" err="1"/>
                  <a:t>el</a:t>
                </a:r>
                <a:r>
                  <a:rPr lang="en-US" sz="1600" dirty="0"/>
                  <a:t> </a:t>
                </a:r>
                <a:r>
                  <a:rPr lang="en-US" sz="1600" dirty="0" err="1"/>
                  <a:t>segundo</a:t>
                </a:r>
                <a:r>
                  <a:rPr lang="en-US" sz="1600" dirty="0"/>
                  <a:t> </a:t>
                </a:r>
                <a:r>
                  <a:rPr lang="en-US" sz="1600" dirty="0" err="1"/>
                  <a:t>tramo</a:t>
                </a:r>
                <a:r>
                  <a:rPr lang="en-US" sz="1600" dirty="0"/>
                  <a:t> </a:t>
                </a:r>
                <a:r>
                  <a:rPr lang="en-US" sz="1600" dirty="0" err="1"/>
                  <a:t>en</a:t>
                </a:r>
                <a:r>
                  <a:rPr lang="en-US" sz="1600" dirty="0"/>
                  <a:t> 4 s, </a:t>
                </a:r>
                <a:r>
                  <a:rPr lang="en-US" sz="1600" dirty="0" err="1"/>
                  <a:t>calcule</a:t>
                </a:r>
                <a:r>
                  <a:rPr lang="en-US" sz="1600" dirty="0"/>
                  <a:t> </a:t>
                </a:r>
              </a:p>
              <a:p>
                <a:endParaRPr lang="en-US" sz="1600" dirty="0"/>
              </a:p>
              <a:p>
                <a:pPr marL="342900" indent="-342900">
                  <a:buFont typeface="+mj-lt"/>
                  <a:buAutoNum type="alphaLcParenR"/>
                </a:pPr>
                <a:r>
                  <a:rPr lang="en-US" sz="1600" dirty="0"/>
                  <a:t>La </a:t>
                </a:r>
                <a:r>
                  <a:rPr lang="en-US" sz="1600" dirty="0" err="1"/>
                  <a:t>posición</a:t>
                </a:r>
                <a:r>
                  <a:rPr lang="en-US" sz="1600" dirty="0"/>
                  <a:t> </a:t>
                </a:r>
                <a:r>
                  <a:rPr lang="en-US" sz="1600" dirty="0" err="1"/>
                  <a:t>en</a:t>
                </a:r>
                <a:r>
                  <a:rPr lang="en-US" sz="1600" dirty="0"/>
                  <a:t> </a:t>
                </a:r>
                <a:r>
                  <a:rPr lang="en-US" sz="1600" dirty="0" err="1"/>
                  <a:t>el</a:t>
                </a:r>
                <a:r>
                  <a:rPr lang="en-US" sz="1600" dirty="0"/>
                  <a:t> punto A y </a:t>
                </a:r>
                <a:r>
                  <a:rPr lang="en-US" sz="1600" dirty="0" err="1"/>
                  <a:t>en</a:t>
                </a:r>
                <a:r>
                  <a:rPr lang="en-US" sz="1600" dirty="0"/>
                  <a:t> </a:t>
                </a:r>
                <a:r>
                  <a:rPr lang="en-US" sz="1600" dirty="0" err="1"/>
                  <a:t>el</a:t>
                </a:r>
                <a:r>
                  <a:rPr lang="en-US" sz="1600" dirty="0"/>
                  <a:t> punto B.</a:t>
                </a:r>
              </a:p>
              <a:p>
                <a:pPr marL="342900" indent="-342900">
                  <a:buFont typeface="+mj-lt"/>
                  <a:buAutoNum type="alphaLcParenR"/>
                </a:pPr>
                <a:r>
                  <a:rPr lang="en-US" sz="1600" dirty="0"/>
                  <a:t>La </a:t>
                </a:r>
                <a:r>
                  <a:rPr lang="en-US" sz="1600" dirty="0" err="1"/>
                  <a:t>distancia</a:t>
                </a:r>
                <a:r>
                  <a:rPr lang="en-US" sz="1600" dirty="0"/>
                  <a:t> </a:t>
                </a:r>
                <a:r>
                  <a:rPr lang="en-US" sz="1600" dirty="0" err="1"/>
                  <a:t>recorrida</a:t>
                </a:r>
                <a:r>
                  <a:rPr lang="en-US" sz="1600" dirty="0"/>
                  <a:t> </a:t>
                </a:r>
                <a:r>
                  <a:rPr lang="en-US" sz="1600" dirty="0" err="1"/>
                  <a:t>en</a:t>
                </a:r>
                <a:r>
                  <a:rPr lang="en-US" sz="1600" dirty="0"/>
                  <a:t> </a:t>
                </a:r>
                <a:r>
                  <a:rPr lang="en-US" sz="1600" dirty="0" err="1"/>
                  <a:t>cada</a:t>
                </a:r>
                <a:r>
                  <a:rPr lang="en-US" sz="1600" dirty="0"/>
                  <a:t> </a:t>
                </a:r>
                <a:r>
                  <a:rPr lang="en-US" sz="1600" dirty="0" err="1"/>
                  <a:t>tramo</a:t>
                </a:r>
                <a:r>
                  <a:rPr lang="en-US" sz="1600" dirty="0"/>
                  <a:t>.</a:t>
                </a:r>
              </a:p>
              <a:p>
                <a:pPr marL="342900" indent="-342900">
                  <a:buFont typeface="+mj-lt"/>
                  <a:buAutoNum type="alphaLcParenR"/>
                </a:pPr>
                <a:r>
                  <a:rPr lang="en-US" sz="1600" dirty="0"/>
                  <a:t>El </a:t>
                </a:r>
                <a:r>
                  <a:rPr lang="en-US" sz="1600" dirty="0" err="1"/>
                  <a:t>desplazamiento</a:t>
                </a:r>
                <a:r>
                  <a:rPr lang="en-US" sz="1600" dirty="0"/>
                  <a:t> </a:t>
                </a:r>
                <a:r>
                  <a:rPr lang="en-US" sz="1600" dirty="0" err="1"/>
                  <a:t>en</a:t>
                </a:r>
                <a:r>
                  <a:rPr lang="en-US" sz="1600" dirty="0"/>
                  <a:t> </a:t>
                </a:r>
                <a:r>
                  <a:rPr lang="en-US" sz="1600" dirty="0" err="1"/>
                  <a:t>cada</a:t>
                </a:r>
                <a:r>
                  <a:rPr lang="en-US" sz="1600" dirty="0"/>
                  <a:t> </a:t>
                </a:r>
                <a:r>
                  <a:rPr lang="en-US" sz="1600" dirty="0" err="1"/>
                  <a:t>tramo</a:t>
                </a:r>
                <a:r>
                  <a:rPr lang="en-US" sz="1600" dirty="0"/>
                  <a:t>.</a:t>
                </a:r>
              </a:p>
              <a:p>
                <a:pPr marL="342900" indent="-342900">
                  <a:buFont typeface="+mj-lt"/>
                  <a:buAutoNum type="alphaLcParenR"/>
                </a:pPr>
                <a:r>
                  <a:rPr lang="en-US" sz="1600" dirty="0"/>
                  <a:t>La </a:t>
                </a:r>
                <a:r>
                  <a:rPr lang="en-US" sz="1600" dirty="0" err="1"/>
                  <a:t>rapidez</a:t>
                </a:r>
                <a:r>
                  <a:rPr lang="en-US" sz="1600" dirty="0"/>
                  <a:t> media </a:t>
                </a:r>
                <a:r>
                  <a:rPr lang="en-US" sz="1600" dirty="0" err="1"/>
                  <a:t>en</a:t>
                </a:r>
                <a:r>
                  <a:rPr lang="en-US" sz="1600" dirty="0"/>
                  <a:t> </a:t>
                </a:r>
                <a:r>
                  <a:rPr lang="en-US" sz="1600" dirty="0" err="1"/>
                  <a:t>cada</a:t>
                </a:r>
                <a:r>
                  <a:rPr lang="en-US" sz="1600" dirty="0"/>
                  <a:t> </a:t>
                </a:r>
                <a:r>
                  <a:rPr lang="en-US" sz="1600" dirty="0" err="1"/>
                  <a:t>tramo</a:t>
                </a:r>
                <a:r>
                  <a:rPr lang="en-US" sz="1600" dirty="0"/>
                  <a:t>.</a:t>
                </a:r>
              </a:p>
              <a:p>
                <a:pPr marL="342900" indent="-342900">
                  <a:buFont typeface="+mj-lt"/>
                  <a:buAutoNum type="alphaLcParenR"/>
                </a:pPr>
                <a:r>
                  <a:rPr lang="en-US" sz="1600" dirty="0"/>
                  <a:t>La </a:t>
                </a:r>
                <a:r>
                  <a:rPr lang="en-US" sz="1600" dirty="0" err="1"/>
                  <a:t>velocidad</a:t>
                </a:r>
                <a:r>
                  <a:rPr lang="en-US" sz="1600" dirty="0"/>
                  <a:t> media </a:t>
                </a:r>
                <a:r>
                  <a:rPr lang="en-US" sz="1600" dirty="0" err="1"/>
                  <a:t>en</a:t>
                </a:r>
                <a:r>
                  <a:rPr lang="en-US" sz="1600" dirty="0"/>
                  <a:t> </a:t>
                </a:r>
                <a:r>
                  <a:rPr lang="en-US" sz="1600" dirty="0" err="1"/>
                  <a:t>cada</a:t>
                </a:r>
                <a:r>
                  <a:rPr lang="en-US" sz="1600" dirty="0"/>
                  <a:t> </a:t>
                </a:r>
                <a:r>
                  <a:rPr lang="en-US" sz="1600" dirty="0" err="1"/>
                  <a:t>tramo</a:t>
                </a:r>
                <a:r>
                  <a:rPr lang="en-US" sz="1600" dirty="0"/>
                  <a:t>.</a:t>
                </a:r>
              </a:p>
              <a:p>
                <a:endParaRPr lang="en-US" sz="1600" dirty="0"/>
              </a:p>
              <a:p>
                <a:r>
                  <a:rPr lang="en-US" sz="1600" b="1" dirty="0"/>
                  <a:t>Desarrollo</a:t>
                </a:r>
              </a:p>
              <a:p>
                <a:pPr marL="342900" indent="-342900">
                  <a:buFont typeface="+mj-lt"/>
                  <a:buAutoNum type="alphaLcParenR"/>
                </a:pPr>
                <a:r>
                  <a:rPr lang="en-US" sz="1600" dirty="0" err="1"/>
                  <a:t>Posiciones</a:t>
                </a:r>
                <a:r>
                  <a:rPr lang="en-US" sz="1600" dirty="0"/>
                  <a:t> </a:t>
                </a:r>
                <a14:m>
                  <m:oMath xmlns:m="http://schemas.openxmlformats.org/officeDocument/2006/math">
                    <m:sSub>
                      <m:sSubPr>
                        <m:ctrlPr>
                          <a:rPr lang="en-US" sz="1600" i="1" smtClean="0">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𝑟</m:t>
                            </m:r>
                          </m:e>
                        </m:acc>
                      </m:e>
                      <m:sub>
                        <m:r>
                          <a:rPr lang="en-US" sz="1600" b="0" i="1" smtClean="0">
                            <a:latin typeface="Cambria Math" panose="02040503050406030204" pitchFamily="18" charset="0"/>
                          </a:rPr>
                          <m:t>𝐴</m:t>
                        </m:r>
                      </m:sub>
                    </m:sSub>
                    <m:r>
                      <a:rPr lang="en-US" sz="1600" b="0" i="1" smtClean="0">
                        <a:latin typeface="Cambria Math" panose="02040503050406030204" pitchFamily="18" charset="0"/>
                      </a:rPr>
                      <m:t>=</m:t>
                    </m:r>
                    <m:d>
                      <m:dPr>
                        <m:ctrlPr>
                          <a:rPr lang="en-US" sz="1600" b="0" i="1" smtClean="0">
                            <a:latin typeface="Cambria Math" panose="02040503050406030204" pitchFamily="18" charset="0"/>
                          </a:rPr>
                        </m:ctrlPr>
                      </m:dPr>
                      <m:e>
                        <m:r>
                          <a:rPr lang="en-US" sz="1600" i="1">
                            <a:latin typeface="Cambria Math" panose="02040503050406030204" pitchFamily="18" charset="0"/>
                          </a:rPr>
                          <m:t>9</m:t>
                        </m:r>
                        <m:acc>
                          <m:accPr>
                            <m:chr m:val="̂"/>
                            <m:ctrlPr>
                              <a:rPr lang="en-US" sz="1600" i="1">
                                <a:latin typeface="Cambria Math" panose="02040503050406030204" pitchFamily="18" charset="0"/>
                              </a:rPr>
                            </m:ctrlPr>
                          </m:accPr>
                          <m:e>
                            <m:r>
                              <a:rPr lang="en-US" sz="1600" i="1">
                                <a:latin typeface="Cambria Math" panose="02040503050406030204" pitchFamily="18" charset="0"/>
                              </a:rPr>
                              <m:t>𝑗</m:t>
                            </m:r>
                          </m:e>
                        </m:acc>
                      </m:e>
                    </m:d>
                    <m:r>
                      <a:rPr lang="es-ES" sz="1600" b="0" i="1" smtClean="0">
                        <a:latin typeface="Cambria Math" panose="02040503050406030204" pitchFamily="18" charset="0"/>
                      </a:rPr>
                      <m:t> </m:t>
                    </m:r>
                    <m:r>
                      <m:rPr>
                        <m:sty m:val="p"/>
                      </m:rPr>
                      <a:rPr lang="en-US" sz="1600" b="0" i="0" smtClean="0">
                        <a:latin typeface="Cambria Math" panose="02040503050406030204" pitchFamily="18" charset="0"/>
                      </a:rPr>
                      <m:t>m</m:t>
                    </m:r>
                  </m:oMath>
                </a14:m>
                <a:r>
                  <a:rPr lang="en-US" sz="1600" dirty="0"/>
                  <a:t> ;  </a:t>
                </a:r>
                <a14:m>
                  <m:oMath xmlns:m="http://schemas.openxmlformats.org/officeDocument/2006/math">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𝑟</m:t>
                            </m:r>
                          </m:e>
                        </m:acc>
                      </m:e>
                      <m:sub>
                        <m:r>
                          <a:rPr lang="en-US" sz="1600" b="0" i="1" smtClean="0">
                            <a:latin typeface="Cambria Math" panose="02040503050406030204" pitchFamily="18" charset="0"/>
                          </a:rPr>
                          <m:t>𝐵</m:t>
                        </m:r>
                      </m:sub>
                    </m:sSub>
                    <m:r>
                      <a:rPr lang="en-US" sz="1600" i="1">
                        <a:latin typeface="Cambria Math" panose="02040503050406030204" pitchFamily="18" charset="0"/>
                      </a:rPr>
                      <m:t>=</m:t>
                    </m:r>
                    <m:d>
                      <m:dPr>
                        <m:ctrlPr>
                          <a:rPr lang="en-US" sz="1600" i="1" smtClean="0">
                            <a:latin typeface="Cambria Math" panose="02040503050406030204" pitchFamily="18" charset="0"/>
                          </a:rPr>
                        </m:ctrlPr>
                      </m:dPr>
                      <m:e>
                        <m:r>
                          <a:rPr lang="en-US" sz="1600" i="1">
                            <a:latin typeface="Cambria Math" panose="02040503050406030204" pitchFamily="18" charset="0"/>
                          </a:rPr>
                          <m:t>8</m:t>
                        </m:r>
                        <m:acc>
                          <m:accPr>
                            <m:chr m:val="̂"/>
                            <m:ctrlPr>
                              <a:rPr lang="en-US" sz="1600" i="1">
                                <a:latin typeface="Cambria Math" panose="02040503050406030204" pitchFamily="18" charset="0"/>
                              </a:rPr>
                            </m:ctrlPr>
                          </m:accPr>
                          <m:e>
                            <m:r>
                              <a:rPr lang="en-US" sz="1600" i="1">
                                <a:latin typeface="Cambria Math" panose="02040503050406030204" pitchFamily="18" charset="0"/>
                              </a:rPr>
                              <m:t>𝑖</m:t>
                            </m:r>
                          </m:e>
                        </m:acc>
                        <m:r>
                          <a:rPr lang="en-US" sz="1600" i="1">
                            <a:latin typeface="Cambria Math" panose="02040503050406030204" pitchFamily="18" charset="0"/>
                          </a:rPr>
                          <m:t>+9</m:t>
                        </m:r>
                        <m:acc>
                          <m:accPr>
                            <m:chr m:val="̂"/>
                            <m:ctrlPr>
                              <a:rPr lang="en-US" sz="1600" i="1">
                                <a:latin typeface="Cambria Math" panose="02040503050406030204" pitchFamily="18" charset="0"/>
                              </a:rPr>
                            </m:ctrlPr>
                          </m:accPr>
                          <m:e>
                            <m:r>
                              <a:rPr lang="en-US" sz="1600" i="1">
                                <a:latin typeface="Cambria Math" panose="02040503050406030204" pitchFamily="18" charset="0"/>
                              </a:rPr>
                              <m:t>𝑗</m:t>
                            </m:r>
                          </m:e>
                        </m:acc>
                      </m:e>
                    </m:d>
                    <m:r>
                      <a:rPr lang="es-ES" sz="1600" b="0" i="1" smtClean="0">
                        <a:latin typeface="Cambria Math" panose="02040503050406030204" pitchFamily="18" charset="0"/>
                      </a:rPr>
                      <m:t> </m:t>
                    </m:r>
                    <m:r>
                      <m:rPr>
                        <m:sty m:val="p"/>
                      </m:rPr>
                      <a:rPr lang="en-US" sz="1600" b="0" i="0" smtClean="0">
                        <a:latin typeface="Cambria Math" panose="02040503050406030204" pitchFamily="18" charset="0"/>
                      </a:rPr>
                      <m:t>m</m:t>
                    </m:r>
                  </m:oMath>
                </a14:m>
                <a:endParaRPr lang="en-US" sz="1600" dirty="0"/>
              </a:p>
              <a:p>
                <a:pPr marL="342900" indent="-342900">
                  <a:buFont typeface="+mj-lt"/>
                  <a:buAutoNum type="alphaLcParenR"/>
                </a:pPr>
                <a:r>
                  <a:rPr lang="en-US" sz="1600" dirty="0" err="1"/>
                  <a:t>Distancias</a:t>
                </a:r>
                <a:r>
                  <a:rPr lang="en-US" sz="1600" dirty="0"/>
                  <a:t> </a:t>
                </a:r>
                <a:r>
                  <a:rPr lang="en-US" sz="1600" dirty="0" err="1"/>
                  <a:t>recorridas</a:t>
                </a:r>
                <a:r>
                  <a:rPr lang="en-US" sz="1600" dirty="0"/>
                  <a:t> </a:t>
                </a:r>
                <a14:m>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𝑑</m:t>
                        </m:r>
                      </m:e>
                      <m:sub>
                        <m:r>
                          <a:rPr lang="en-US" sz="1600" b="0" i="1" smtClean="0">
                            <a:latin typeface="Cambria Math" panose="02040503050406030204" pitchFamily="18" charset="0"/>
                          </a:rPr>
                          <m:t>0</m:t>
                        </m:r>
                        <m:r>
                          <a:rPr lang="en-US" sz="1600" b="0" i="1" smtClean="0">
                            <a:latin typeface="Cambria Math" panose="02040503050406030204" pitchFamily="18" charset="0"/>
                          </a:rPr>
                          <m:t>𝐴</m:t>
                        </m:r>
                      </m:sub>
                    </m:sSub>
                    <m:r>
                      <a:rPr lang="en-US" sz="1600" b="0" i="1" smtClean="0">
                        <a:latin typeface="Cambria Math" panose="02040503050406030204" pitchFamily="18" charset="0"/>
                      </a:rPr>
                      <m:t>=9 </m:t>
                    </m:r>
                    <m:r>
                      <m:rPr>
                        <m:sty m:val="p"/>
                      </m:rPr>
                      <a:rPr lang="en-US" sz="1600" b="0" i="0" smtClean="0">
                        <a:latin typeface="Cambria Math" panose="02040503050406030204" pitchFamily="18" charset="0"/>
                      </a:rPr>
                      <m:t>m</m:t>
                    </m:r>
                  </m:oMath>
                </a14:m>
                <a:r>
                  <a:rPr lang="en-US" sz="1600" dirty="0"/>
                  <a:t>  ;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𝑑</m:t>
                        </m:r>
                      </m:e>
                      <m:sub>
                        <m:r>
                          <a:rPr lang="en-US" sz="1600" b="0" i="1" smtClean="0">
                            <a:latin typeface="Cambria Math" panose="02040503050406030204" pitchFamily="18" charset="0"/>
                          </a:rPr>
                          <m:t>𝐴𝐵</m:t>
                        </m:r>
                      </m:sub>
                    </m:sSub>
                    <m:r>
                      <a:rPr lang="en-US" sz="1600" i="1">
                        <a:latin typeface="Cambria Math" panose="02040503050406030204" pitchFamily="18" charset="0"/>
                      </a:rPr>
                      <m:t>=</m:t>
                    </m:r>
                    <m:r>
                      <a:rPr lang="en-US" sz="1600" b="0" i="1" smtClean="0">
                        <a:latin typeface="Cambria Math" panose="02040503050406030204" pitchFamily="18" charset="0"/>
                      </a:rPr>
                      <m:t>8 </m:t>
                    </m:r>
                    <m:r>
                      <m:rPr>
                        <m:sty m:val="p"/>
                      </m:rPr>
                      <a:rPr lang="en-US" sz="1600" i="0">
                        <a:latin typeface="Cambria Math" panose="02040503050406030204" pitchFamily="18" charset="0"/>
                      </a:rPr>
                      <m:t>m</m:t>
                    </m:r>
                  </m:oMath>
                </a14:m>
                <a:endParaRPr lang="en-US" sz="1600" dirty="0"/>
              </a:p>
              <a:p>
                <a:pPr marL="342900" indent="-342900">
                  <a:buFont typeface="+mj-lt"/>
                  <a:buAutoNum type="alphaLcParenR"/>
                </a:pPr>
                <a:r>
                  <a:rPr lang="en-US" sz="1600" dirty="0" err="1"/>
                  <a:t>Desplazamientos</a:t>
                </a:r>
                <a:r>
                  <a:rPr lang="en-US" sz="1600" dirty="0"/>
                  <a:t> </a:t>
                </a:r>
                <a14:m>
                  <m:oMath xmlns:m="http://schemas.openxmlformats.org/officeDocument/2006/math">
                    <m:r>
                      <m:rPr>
                        <m:sty m:val="p"/>
                      </m:rPr>
                      <a:rPr lang="el-GR" sz="1600" i="1" smtClean="0">
                        <a:latin typeface="Cambria Math" panose="02040503050406030204" pitchFamily="18" charset="0"/>
                        <a:ea typeface="Cambria Math" panose="02040503050406030204" pitchFamily="18" charset="0"/>
                      </a:rPr>
                      <m:t>Δ</m:t>
                    </m:r>
                    <m:sSub>
                      <m:sSubPr>
                        <m:ctrlPr>
                          <a:rPr lang="en-US" sz="1600" i="1" smtClean="0">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𝑟</m:t>
                            </m:r>
                          </m:e>
                        </m:acc>
                      </m:e>
                      <m:sub>
                        <m:r>
                          <a:rPr lang="en-US" sz="1600" b="0" i="1" smtClean="0">
                            <a:latin typeface="Cambria Math" panose="02040503050406030204" pitchFamily="18" charset="0"/>
                          </a:rPr>
                          <m:t>0</m:t>
                        </m:r>
                        <m:r>
                          <a:rPr lang="en-US" sz="1600" b="0" i="1" smtClean="0">
                            <a:latin typeface="Cambria Math" panose="02040503050406030204" pitchFamily="18" charset="0"/>
                          </a:rPr>
                          <m:t>𝐴</m:t>
                        </m:r>
                      </m:sub>
                    </m:sSub>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𝑟</m:t>
                            </m:r>
                          </m:e>
                        </m:acc>
                      </m:e>
                      <m:sub>
                        <m:r>
                          <a:rPr lang="en-US" sz="1600" i="1">
                            <a:latin typeface="Cambria Math" panose="02040503050406030204" pitchFamily="18" charset="0"/>
                          </a:rPr>
                          <m:t>𝐴</m:t>
                        </m:r>
                      </m:sub>
                    </m:sSub>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𝑟</m:t>
                            </m:r>
                          </m:e>
                        </m:acc>
                      </m:e>
                      <m:sub>
                        <m:r>
                          <a:rPr lang="en-US" sz="1600" b="0" i="1" smtClean="0">
                            <a:latin typeface="Cambria Math" panose="02040503050406030204" pitchFamily="18" charset="0"/>
                          </a:rPr>
                          <m:t>0</m:t>
                        </m:r>
                      </m:sub>
                    </m:sSub>
                    <m:r>
                      <a:rPr lang="en-US" sz="1600" b="0" i="1" smtClean="0">
                        <a:latin typeface="Cambria Math" panose="02040503050406030204" pitchFamily="18" charset="0"/>
                      </a:rPr>
                      <m:t>=</m:t>
                    </m:r>
                    <m:d>
                      <m:dPr>
                        <m:ctrlPr>
                          <a:rPr lang="en-US" sz="1600" i="1">
                            <a:latin typeface="Cambria Math" panose="02040503050406030204" pitchFamily="18" charset="0"/>
                          </a:rPr>
                        </m:ctrlPr>
                      </m:dPr>
                      <m:e>
                        <m:r>
                          <a:rPr lang="en-US" sz="1600" i="1">
                            <a:latin typeface="Cambria Math" panose="02040503050406030204" pitchFamily="18" charset="0"/>
                          </a:rPr>
                          <m:t>9</m:t>
                        </m:r>
                        <m:acc>
                          <m:accPr>
                            <m:chr m:val="̂"/>
                            <m:ctrlPr>
                              <a:rPr lang="en-US" sz="1600" i="1">
                                <a:latin typeface="Cambria Math" panose="02040503050406030204" pitchFamily="18" charset="0"/>
                              </a:rPr>
                            </m:ctrlPr>
                          </m:accPr>
                          <m:e>
                            <m:r>
                              <a:rPr lang="en-US" sz="1600" i="1">
                                <a:latin typeface="Cambria Math" panose="02040503050406030204" pitchFamily="18" charset="0"/>
                              </a:rPr>
                              <m:t>𝑗</m:t>
                            </m:r>
                          </m:e>
                        </m:acc>
                      </m:e>
                    </m:d>
                    <m:r>
                      <a:rPr lang="es-ES" sz="1600" b="0" i="1" smtClean="0">
                        <a:latin typeface="Cambria Math" panose="02040503050406030204" pitchFamily="18" charset="0"/>
                      </a:rPr>
                      <m:t> </m:t>
                    </m:r>
                    <m:r>
                      <m:rPr>
                        <m:sty m:val="p"/>
                      </m:rPr>
                      <a:rPr lang="en-US" sz="1600" i="0">
                        <a:latin typeface="Cambria Math" panose="02040503050406030204" pitchFamily="18" charset="0"/>
                      </a:rPr>
                      <m:t>m</m:t>
                    </m:r>
                  </m:oMath>
                </a14:m>
                <a:r>
                  <a:rPr lang="en-US" sz="1600" dirty="0"/>
                  <a:t>  ;  </a:t>
                </a:r>
                <a14:m>
                  <m:oMath xmlns:m="http://schemas.openxmlformats.org/officeDocument/2006/math">
                    <m:r>
                      <m:rPr>
                        <m:sty m:val="p"/>
                      </m:rPr>
                      <a:rPr lang="el-GR" sz="1600" i="1">
                        <a:latin typeface="Cambria Math" panose="02040503050406030204" pitchFamily="18" charset="0"/>
                        <a:ea typeface="Cambria Math" panose="02040503050406030204" pitchFamily="18" charset="0"/>
                      </a:rPr>
                      <m:t>Δ</m:t>
                    </m:r>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𝑟</m:t>
                            </m:r>
                          </m:e>
                        </m:acc>
                      </m:e>
                      <m:sub>
                        <m:r>
                          <a:rPr lang="en-US" sz="1600" b="0" i="1" smtClean="0">
                            <a:latin typeface="Cambria Math" panose="02040503050406030204" pitchFamily="18" charset="0"/>
                          </a:rPr>
                          <m:t>𝐴𝐵</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𝑟</m:t>
                            </m:r>
                          </m:e>
                        </m:acc>
                      </m:e>
                      <m:sub>
                        <m:r>
                          <a:rPr lang="en-US" sz="1600" b="0" i="1" smtClean="0">
                            <a:latin typeface="Cambria Math" panose="02040503050406030204" pitchFamily="18" charset="0"/>
                          </a:rPr>
                          <m:t>𝐵</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𝑟</m:t>
                            </m:r>
                          </m:e>
                        </m:acc>
                      </m:e>
                      <m:sub>
                        <m:r>
                          <a:rPr lang="en-US" sz="1600" b="0" i="1" smtClean="0">
                            <a:latin typeface="Cambria Math" panose="02040503050406030204" pitchFamily="18" charset="0"/>
                          </a:rPr>
                          <m:t>𝐴</m:t>
                        </m:r>
                      </m:sub>
                    </m:sSub>
                    <m:r>
                      <a:rPr lang="en-US" sz="1600" b="0" i="1" smtClean="0">
                        <a:latin typeface="Cambria Math" panose="02040503050406030204" pitchFamily="18" charset="0"/>
                      </a:rPr>
                      <m:t>=</m:t>
                    </m:r>
                    <m:d>
                      <m:dPr>
                        <m:ctrlPr>
                          <a:rPr lang="en-US" sz="1600" i="1">
                            <a:latin typeface="Cambria Math" panose="02040503050406030204" pitchFamily="18" charset="0"/>
                          </a:rPr>
                        </m:ctrlPr>
                      </m:dPr>
                      <m:e>
                        <m:r>
                          <a:rPr lang="en-US" sz="1600" i="1">
                            <a:latin typeface="Cambria Math" panose="02040503050406030204" pitchFamily="18" charset="0"/>
                          </a:rPr>
                          <m:t>8</m:t>
                        </m:r>
                        <m:acc>
                          <m:accPr>
                            <m:chr m:val="̂"/>
                            <m:ctrlPr>
                              <a:rPr lang="en-US" sz="1600" i="1">
                                <a:latin typeface="Cambria Math" panose="02040503050406030204" pitchFamily="18" charset="0"/>
                              </a:rPr>
                            </m:ctrlPr>
                          </m:accPr>
                          <m:e>
                            <m:r>
                              <a:rPr lang="en-US" sz="1600" i="1">
                                <a:latin typeface="Cambria Math" panose="02040503050406030204" pitchFamily="18" charset="0"/>
                              </a:rPr>
                              <m:t>𝑖</m:t>
                            </m:r>
                          </m:e>
                        </m:acc>
                      </m:e>
                    </m:d>
                    <m:r>
                      <a:rPr lang="es-ES" sz="1600" b="0" i="0" smtClean="0">
                        <a:latin typeface="Cambria Math" panose="02040503050406030204" pitchFamily="18" charset="0"/>
                      </a:rPr>
                      <m:t> </m:t>
                    </m:r>
                    <m:r>
                      <m:rPr>
                        <m:sty m:val="p"/>
                      </m:rPr>
                      <a:rPr lang="en-US" sz="1600" i="0">
                        <a:latin typeface="Cambria Math" panose="02040503050406030204" pitchFamily="18" charset="0"/>
                      </a:rPr>
                      <m:t>m</m:t>
                    </m:r>
                  </m:oMath>
                </a14:m>
                <a:endParaRPr lang="en-US" sz="1600" dirty="0"/>
              </a:p>
              <a:p>
                <a:pPr marL="342900" indent="-342900">
                  <a:buFont typeface="+mj-lt"/>
                  <a:buAutoNum type="alphaLcParenR"/>
                </a:pPr>
                <a:r>
                  <a:rPr lang="en-US" sz="1600" dirty="0" err="1"/>
                  <a:t>Rapidez</a:t>
                </a:r>
                <a:r>
                  <a:rPr lang="en-US" sz="1600" dirty="0"/>
                  <a:t> media </a:t>
                </a:r>
                <a:r>
                  <a:rPr lang="en-US" sz="1600" dirty="0" err="1"/>
                  <a:t>en</a:t>
                </a:r>
                <a:r>
                  <a:rPr lang="en-US" sz="1600" dirty="0"/>
                  <a:t> </a:t>
                </a:r>
                <a:r>
                  <a:rPr lang="en-US" sz="1600" dirty="0" err="1"/>
                  <a:t>cada</a:t>
                </a:r>
                <a:r>
                  <a:rPr lang="en-US" sz="1600" dirty="0"/>
                  <a:t> </a:t>
                </a:r>
                <a:r>
                  <a:rPr lang="en-US" sz="1600" dirty="0" err="1"/>
                  <a:t>tramo</a:t>
                </a:r>
                <a:r>
                  <a:rPr lang="en-US" sz="1600" dirty="0"/>
                  <a:t> </a:t>
                </a:r>
                <a14:m>
                  <m:oMath xmlns:m="http://schemas.openxmlformats.org/officeDocument/2006/math">
                    <m:sSub>
                      <m:sSubPr>
                        <m:ctrlPr>
                          <a:rPr lang="es-ES" sz="1600" i="1" smtClean="0">
                            <a:latin typeface="Cambria Math" panose="02040503050406030204" pitchFamily="18" charset="0"/>
                          </a:rPr>
                        </m:ctrlPr>
                      </m:sSubPr>
                      <m:e>
                        <m:r>
                          <a:rPr lang="en-US" sz="1600" b="0" i="1" smtClean="0">
                            <a:latin typeface="Cambria Math" panose="02040503050406030204" pitchFamily="18" charset="0"/>
                          </a:rPr>
                          <m:t>𝑣</m:t>
                        </m:r>
                      </m:e>
                      <m:sub>
                        <m:r>
                          <a:rPr lang="en-US" sz="1600" b="0" i="1" smtClean="0">
                            <a:latin typeface="Cambria Math" panose="02040503050406030204" pitchFamily="18" charset="0"/>
                          </a:rPr>
                          <m:t>0</m:t>
                        </m:r>
                        <m:r>
                          <a:rPr lang="en-US" sz="1600" b="0" i="1" smtClean="0">
                            <a:latin typeface="Cambria Math" panose="02040503050406030204" pitchFamily="18" charset="0"/>
                          </a:rPr>
                          <m:t>𝐴</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𝑑</m:t>
                            </m:r>
                          </m:e>
                          <m:sub>
                            <m:r>
                              <a:rPr lang="en-US" sz="1600" i="1">
                                <a:latin typeface="Cambria Math" panose="02040503050406030204" pitchFamily="18" charset="0"/>
                              </a:rPr>
                              <m:t>0</m:t>
                            </m:r>
                            <m:r>
                              <a:rPr lang="en-US" sz="1600" i="1">
                                <a:latin typeface="Cambria Math" panose="02040503050406030204" pitchFamily="18" charset="0"/>
                              </a:rPr>
                              <m:t>𝐴</m:t>
                            </m:r>
                          </m:sub>
                        </m:sSub>
                      </m:num>
                      <m:den>
                        <m:r>
                          <m:rPr>
                            <m:sty m:val="p"/>
                          </m:rPr>
                          <a:rPr lang="el-GR" sz="1600" b="0" i="1" smtClean="0">
                            <a:latin typeface="Cambria Math" panose="02040503050406030204" pitchFamily="18" charset="0"/>
                            <a:ea typeface="Cambria Math" panose="02040503050406030204" pitchFamily="18" charset="0"/>
                          </a:rPr>
                          <m:t>Δ</m:t>
                        </m:r>
                        <m:r>
                          <a:rPr lang="en-US" sz="1600" b="0" i="1" smtClean="0">
                            <a:latin typeface="Cambria Math" panose="02040503050406030204" pitchFamily="18" charset="0"/>
                            <a:ea typeface="Cambria Math" panose="02040503050406030204" pitchFamily="18" charset="0"/>
                          </a:rPr>
                          <m:t>𝑡</m:t>
                        </m:r>
                      </m:den>
                    </m:f>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rPr>
                          <m:t>9 </m:t>
                        </m:r>
                        <m:r>
                          <m:rPr>
                            <m:sty m:val="p"/>
                          </m:rPr>
                          <a:rPr lang="en-US" sz="1600" i="0">
                            <a:latin typeface="Cambria Math" panose="02040503050406030204" pitchFamily="18" charset="0"/>
                          </a:rPr>
                          <m:t>m</m:t>
                        </m:r>
                      </m:num>
                      <m:den>
                        <m:r>
                          <a:rPr lang="en-US" sz="1600" b="0" i="1" smtClean="0">
                            <a:latin typeface="Cambria Math" panose="02040503050406030204" pitchFamily="18" charset="0"/>
                            <a:ea typeface="Cambria Math" panose="02040503050406030204" pitchFamily="18" charset="0"/>
                          </a:rPr>
                          <m:t>3</m:t>
                        </m:r>
                        <m:r>
                          <a:rPr lang="es-ES" sz="1600" b="0" i="1" smtClean="0">
                            <a:latin typeface="Cambria Math" panose="02040503050406030204" pitchFamily="18" charset="0"/>
                            <a:ea typeface="Cambria Math" panose="02040503050406030204" pitchFamily="18" charset="0"/>
                          </a:rPr>
                          <m:t> </m:t>
                        </m:r>
                        <m:r>
                          <m:rPr>
                            <m:sty m:val="p"/>
                          </m:rPr>
                          <a:rPr lang="es-ES" sz="1600" b="0" i="0" smtClean="0">
                            <a:latin typeface="Cambria Math" panose="02040503050406030204" pitchFamily="18" charset="0"/>
                            <a:ea typeface="Cambria Math" panose="02040503050406030204" pitchFamily="18" charset="0"/>
                          </a:rPr>
                          <m:t>s</m:t>
                        </m:r>
                      </m:den>
                    </m:f>
                    <m:r>
                      <a:rPr lang="en-US" sz="1600" b="0" i="1" smtClean="0">
                        <a:latin typeface="Cambria Math" panose="02040503050406030204" pitchFamily="18" charset="0"/>
                        <a:ea typeface="Cambria Math" panose="02040503050406030204" pitchFamily="18" charset="0"/>
                      </a:rPr>
                      <m:t>=3</m:t>
                    </m:r>
                    <m:f>
                      <m:fPr>
                        <m:ctrlPr>
                          <a:rPr lang="en-US" sz="1600" b="0" i="1" smtClean="0">
                            <a:latin typeface="Cambria Math" panose="02040503050406030204" pitchFamily="18" charset="0"/>
                            <a:ea typeface="Cambria Math" panose="02040503050406030204" pitchFamily="18" charset="0"/>
                          </a:rPr>
                        </m:ctrlPr>
                      </m:fPr>
                      <m:num>
                        <m:r>
                          <m:rPr>
                            <m:sty m:val="p"/>
                          </m:rPr>
                          <a:rPr lang="en-US" sz="1600" b="0" i="0" smtClean="0">
                            <a:latin typeface="Cambria Math" panose="02040503050406030204" pitchFamily="18" charset="0"/>
                            <a:ea typeface="Cambria Math" panose="02040503050406030204" pitchFamily="18" charset="0"/>
                          </a:rPr>
                          <m:t>m</m:t>
                        </m:r>
                      </m:num>
                      <m:den>
                        <m:r>
                          <m:rPr>
                            <m:sty m:val="p"/>
                          </m:rPr>
                          <a:rPr lang="en-US" sz="1600" b="0" i="0" smtClean="0">
                            <a:latin typeface="Cambria Math" panose="02040503050406030204" pitchFamily="18" charset="0"/>
                            <a:ea typeface="Cambria Math" panose="02040503050406030204" pitchFamily="18" charset="0"/>
                          </a:rPr>
                          <m:t>s</m:t>
                        </m:r>
                      </m:den>
                    </m:f>
                  </m:oMath>
                </a14:m>
                <a:r>
                  <a:rPr lang="en-US" sz="1600" dirty="0"/>
                  <a:t>  ;  </a:t>
                </a:r>
                <a14:m>
                  <m:oMath xmlns:m="http://schemas.openxmlformats.org/officeDocument/2006/math">
                    <m:sSub>
                      <m:sSubPr>
                        <m:ctrlPr>
                          <a:rPr lang="es-ES" sz="1600" i="1">
                            <a:latin typeface="Cambria Math" panose="02040503050406030204" pitchFamily="18" charset="0"/>
                          </a:rPr>
                        </m:ctrlPr>
                      </m:sSubPr>
                      <m:e>
                        <m:r>
                          <a:rPr lang="en-US" sz="1600" i="1">
                            <a:latin typeface="Cambria Math" panose="02040503050406030204" pitchFamily="18" charset="0"/>
                          </a:rPr>
                          <m:t>𝑣</m:t>
                        </m:r>
                      </m:e>
                      <m:sub>
                        <m:r>
                          <a:rPr lang="en-US" sz="1600" b="0" i="1" smtClean="0">
                            <a:latin typeface="Cambria Math" panose="02040503050406030204" pitchFamily="18" charset="0"/>
                          </a:rPr>
                          <m:t>𝐴𝐵</m:t>
                        </m:r>
                      </m:sub>
                    </m:sSub>
                    <m:r>
                      <a:rPr lang="en-US" sz="1600" i="1">
                        <a:latin typeface="Cambria Math" panose="02040503050406030204" pitchFamily="18" charset="0"/>
                      </a:rPr>
                      <m:t>=</m:t>
                    </m:r>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𝑑</m:t>
                            </m:r>
                          </m:e>
                          <m:sub>
                            <m:r>
                              <a:rPr lang="en-US" sz="1600" i="1">
                                <a:latin typeface="Cambria Math" panose="02040503050406030204" pitchFamily="18" charset="0"/>
                              </a:rPr>
                              <m:t>𝐴𝐵</m:t>
                            </m:r>
                          </m:sub>
                        </m:sSub>
                      </m:num>
                      <m:den>
                        <m:r>
                          <m:rPr>
                            <m:sty m:val="p"/>
                          </m:rPr>
                          <a:rPr lang="el-GR" sz="1600" i="1">
                            <a:latin typeface="Cambria Math" panose="02040503050406030204" pitchFamily="18" charset="0"/>
                            <a:ea typeface="Cambria Math" panose="02040503050406030204" pitchFamily="18" charset="0"/>
                          </a:rPr>
                          <m:t>Δ</m:t>
                        </m:r>
                        <m:r>
                          <a:rPr lang="en-US" sz="1600" i="1">
                            <a:latin typeface="Cambria Math" panose="02040503050406030204" pitchFamily="18" charset="0"/>
                            <a:ea typeface="Cambria Math" panose="02040503050406030204" pitchFamily="18" charset="0"/>
                          </a:rPr>
                          <m:t>𝑡</m:t>
                        </m:r>
                      </m:den>
                    </m:f>
                    <m:r>
                      <a:rPr lang="en-US" sz="1600" i="1">
                        <a:latin typeface="Cambria Math" panose="02040503050406030204" pitchFamily="18" charset="0"/>
                        <a:ea typeface="Cambria Math" panose="02040503050406030204" pitchFamily="18" charset="0"/>
                      </a:rPr>
                      <m:t>=</m:t>
                    </m:r>
                    <m:f>
                      <m:fPr>
                        <m:ctrlPr>
                          <a:rPr lang="en-US" sz="1600" i="1">
                            <a:latin typeface="Cambria Math" panose="02040503050406030204" pitchFamily="18" charset="0"/>
                            <a:ea typeface="Cambria Math" panose="02040503050406030204" pitchFamily="18" charset="0"/>
                          </a:rPr>
                        </m:ctrlPr>
                      </m:fPr>
                      <m:num>
                        <m:r>
                          <a:rPr lang="es-ES" sz="1600" b="0" i="1" smtClean="0">
                            <a:latin typeface="Cambria Math" panose="02040503050406030204" pitchFamily="18" charset="0"/>
                            <a:ea typeface="Cambria Math" panose="02040503050406030204" pitchFamily="18" charset="0"/>
                          </a:rPr>
                          <m:t>8</m:t>
                        </m:r>
                        <m:r>
                          <a:rPr lang="en-US" sz="1600" i="1">
                            <a:latin typeface="Cambria Math" panose="02040503050406030204" pitchFamily="18" charset="0"/>
                          </a:rPr>
                          <m:t> </m:t>
                        </m:r>
                        <m:r>
                          <m:rPr>
                            <m:sty m:val="p"/>
                          </m:rPr>
                          <a:rPr lang="en-US" sz="1600">
                            <a:latin typeface="Cambria Math" panose="02040503050406030204" pitchFamily="18" charset="0"/>
                          </a:rPr>
                          <m:t>m</m:t>
                        </m:r>
                      </m:num>
                      <m:den>
                        <m:r>
                          <a:rPr lang="es-ES" sz="1600" b="0" i="1" smtClean="0">
                            <a:latin typeface="Cambria Math" panose="02040503050406030204" pitchFamily="18" charset="0"/>
                          </a:rPr>
                          <m:t>4</m:t>
                        </m:r>
                        <m:r>
                          <a:rPr lang="es-ES" sz="1600" i="1">
                            <a:latin typeface="Cambria Math" panose="02040503050406030204" pitchFamily="18" charset="0"/>
                            <a:ea typeface="Cambria Math" panose="02040503050406030204" pitchFamily="18" charset="0"/>
                          </a:rPr>
                          <m:t> </m:t>
                        </m:r>
                        <m:r>
                          <m:rPr>
                            <m:sty m:val="p"/>
                          </m:rPr>
                          <a:rPr lang="es-ES" sz="1600">
                            <a:latin typeface="Cambria Math" panose="02040503050406030204" pitchFamily="18" charset="0"/>
                            <a:ea typeface="Cambria Math" panose="02040503050406030204" pitchFamily="18" charset="0"/>
                          </a:rPr>
                          <m:t>s</m:t>
                        </m:r>
                      </m:den>
                    </m:f>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2</m:t>
                    </m:r>
                    <m:f>
                      <m:fPr>
                        <m:ctrlPr>
                          <a:rPr lang="en-US" sz="1600" i="1">
                            <a:latin typeface="Cambria Math" panose="02040503050406030204" pitchFamily="18" charset="0"/>
                            <a:ea typeface="Cambria Math" panose="02040503050406030204" pitchFamily="18" charset="0"/>
                          </a:rPr>
                        </m:ctrlPr>
                      </m:fPr>
                      <m:num>
                        <m:r>
                          <m:rPr>
                            <m:sty m:val="p"/>
                          </m:rPr>
                          <a:rPr lang="en-US" sz="1600" i="0">
                            <a:latin typeface="Cambria Math" panose="02040503050406030204" pitchFamily="18" charset="0"/>
                            <a:ea typeface="Cambria Math" panose="02040503050406030204" pitchFamily="18" charset="0"/>
                          </a:rPr>
                          <m:t>m</m:t>
                        </m:r>
                      </m:num>
                      <m:den>
                        <m:r>
                          <m:rPr>
                            <m:sty m:val="p"/>
                          </m:rPr>
                          <a:rPr lang="en-US" sz="1600" i="0">
                            <a:latin typeface="Cambria Math" panose="02040503050406030204" pitchFamily="18" charset="0"/>
                            <a:ea typeface="Cambria Math" panose="02040503050406030204" pitchFamily="18" charset="0"/>
                          </a:rPr>
                          <m:t>s</m:t>
                        </m:r>
                      </m:den>
                    </m:f>
                  </m:oMath>
                </a14:m>
                <a:endParaRPr lang="en-US" sz="1600" dirty="0"/>
              </a:p>
              <a:p>
                <a:pPr marL="342900" indent="-342900">
                  <a:buFont typeface="+mj-lt"/>
                  <a:buAutoNum type="alphaLcParenR"/>
                </a:pPr>
                <a:r>
                  <a:rPr lang="en-US" sz="1600" dirty="0" err="1"/>
                  <a:t>Velocidad</a:t>
                </a:r>
                <a:r>
                  <a:rPr lang="en-US" sz="1600" dirty="0"/>
                  <a:t> media </a:t>
                </a:r>
                <a:r>
                  <a:rPr lang="en-US" sz="1600" dirty="0" err="1"/>
                  <a:t>en</a:t>
                </a:r>
                <a:r>
                  <a:rPr lang="en-US" sz="1600" dirty="0"/>
                  <a:t> </a:t>
                </a:r>
                <a:r>
                  <a:rPr lang="en-US" sz="1600" dirty="0" err="1"/>
                  <a:t>cada</a:t>
                </a:r>
                <a:r>
                  <a:rPr lang="en-US" sz="1600" dirty="0"/>
                  <a:t> </a:t>
                </a:r>
                <a:r>
                  <a:rPr lang="en-US" sz="1600" dirty="0" err="1"/>
                  <a:t>tramo</a:t>
                </a:r>
                <a:r>
                  <a:rPr lang="en-US" sz="1600" dirty="0"/>
                  <a:t> </a:t>
                </a:r>
                <a14:m>
                  <m:oMath xmlns:m="http://schemas.openxmlformats.org/officeDocument/2006/math">
                    <m:sSub>
                      <m:sSubPr>
                        <m:ctrlPr>
                          <a:rPr lang="es-ES" sz="1600" i="1">
                            <a:latin typeface="Cambria Math" panose="02040503050406030204" pitchFamily="18" charset="0"/>
                          </a:rPr>
                        </m:ctrlPr>
                      </m:sSubPr>
                      <m:e>
                        <m:acc>
                          <m:accPr>
                            <m:chr m:val="⃗"/>
                            <m:ctrlPr>
                              <a:rPr lang="es-ES" sz="1600" i="1">
                                <a:latin typeface="Cambria Math" panose="02040503050406030204" pitchFamily="18" charset="0"/>
                              </a:rPr>
                            </m:ctrlPr>
                          </m:accPr>
                          <m:e>
                            <m:r>
                              <a:rPr lang="en-US" sz="1600" i="1">
                                <a:latin typeface="Cambria Math" panose="02040503050406030204" pitchFamily="18" charset="0"/>
                              </a:rPr>
                              <m:t>𝑣</m:t>
                            </m:r>
                          </m:e>
                        </m:acc>
                      </m:e>
                      <m:sub>
                        <m:r>
                          <a:rPr lang="en-US" sz="1600" i="1">
                            <a:latin typeface="Cambria Math" panose="02040503050406030204" pitchFamily="18" charset="0"/>
                          </a:rPr>
                          <m:t>0</m:t>
                        </m:r>
                        <m:r>
                          <a:rPr lang="en-US" sz="1600" i="1">
                            <a:latin typeface="Cambria Math" panose="02040503050406030204" pitchFamily="18" charset="0"/>
                          </a:rPr>
                          <m:t>𝐴</m:t>
                        </m:r>
                      </m:sub>
                    </m:sSub>
                    <m:r>
                      <a:rPr lang="en-US" sz="1600" i="1">
                        <a:latin typeface="Cambria Math" panose="02040503050406030204" pitchFamily="18" charset="0"/>
                      </a:rPr>
                      <m:t>=</m:t>
                    </m:r>
                    <m:f>
                      <m:fPr>
                        <m:ctrlPr>
                          <a:rPr lang="en-US" sz="1600" i="1">
                            <a:latin typeface="Cambria Math" panose="02040503050406030204" pitchFamily="18" charset="0"/>
                          </a:rPr>
                        </m:ctrlPr>
                      </m:fPr>
                      <m:num>
                        <m:r>
                          <m:rPr>
                            <m:sty m:val="p"/>
                          </m:rPr>
                          <a:rPr lang="el-GR" sz="1600" i="1">
                            <a:latin typeface="Cambria Math" panose="02040503050406030204" pitchFamily="18" charset="0"/>
                            <a:ea typeface="Cambria Math" panose="02040503050406030204" pitchFamily="18" charset="0"/>
                          </a:rPr>
                          <m:t>Δ</m:t>
                        </m:r>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𝑟</m:t>
                                </m:r>
                              </m:e>
                            </m:acc>
                          </m:e>
                          <m:sub>
                            <m:r>
                              <a:rPr lang="en-US" sz="1600" i="1">
                                <a:latin typeface="Cambria Math" panose="02040503050406030204" pitchFamily="18" charset="0"/>
                              </a:rPr>
                              <m:t>0</m:t>
                            </m:r>
                            <m:r>
                              <a:rPr lang="en-US" sz="1600" i="1">
                                <a:latin typeface="Cambria Math" panose="02040503050406030204" pitchFamily="18" charset="0"/>
                              </a:rPr>
                              <m:t>𝐴</m:t>
                            </m:r>
                          </m:sub>
                        </m:sSub>
                      </m:num>
                      <m:den>
                        <m:r>
                          <m:rPr>
                            <m:sty m:val="p"/>
                          </m:rPr>
                          <a:rPr lang="el-GR" sz="1600" i="1">
                            <a:latin typeface="Cambria Math" panose="02040503050406030204" pitchFamily="18" charset="0"/>
                            <a:ea typeface="Cambria Math" panose="02040503050406030204" pitchFamily="18" charset="0"/>
                          </a:rPr>
                          <m:t>Δ</m:t>
                        </m:r>
                        <m:r>
                          <a:rPr lang="en-US" sz="1600" i="1">
                            <a:latin typeface="Cambria Math" panose="02040503050406030204" pitchFamily="18" charset="0"/>
                            <a:ea typeface="Cambria Math" panose="02040503050406030204" pitchFamily="18" charset="0"/>
                          </a:rPr>
                          <m:t>𝑡</m:t>
                        </m:r>
                      </m:den>
                    </m:f>
                    <m:r>
                      <a:rPr lang="en-US" sz="1600" i="1">
                        <a:latin typeface="Cambria Math" panose="02040503050406030204" pitchFamily="18" charset="0"/>
                        <a:ea typeface="Cambria Math" panose="02040503050406030204" pitchFamily="18" charset="0"/>
                      </a:rPr>
                      <m:t>=</m:t>
                    </m:r>
                    <m:f>
                      <m:fPr>
                        <m:ctrlPr>
                          <a:rPr lang="en-US" sz="1600" i="1">
                            <a:latin typeface="Cambria Math" panose="02040503050406030204" pitchFamily="18" charset="0"/>
                            <a:ea typeface="Cambria Math" panose="02040503050406030204" pitchFamily="18" charset="0"/>
                          </a:rPr>
                        </m:ctrlPr>
                      </m:fPr>
                      <m:num>
                        <m:d>
                          <m:dPr>
                            <m:ctrlPr>
                              <a:rPr lang="en-US" sz="1600" i="1">
                                <a:latin typeface="Cambria Math" panose="02040503050406030204" pitchFamily="18" charset="0"/>
                              </a:rPr>
                            </m:ctrlPr>
                          </m:dPr>
                          <m:e>
                            <m:r>
                              <a:rPr lang="en-US" sz="1600" i="1">
                                <a:latin typeface="Cambria Math" panose="02040503050406030204" pitchFamily="18" charset="0"/>
                              </a:rPr>
                              <m:t>9</m:t>
                            </m:r>
                            <m:acc>
                              <m:accPr>
                                <m:chr m:val="̂"/>
                                <m:ctrlPr>
                                  <a:rPr lang="en-US" sz="1600" i="1">
                                    <a:latin typeface="Cambria Math" panose="02040503050406030204" pitchFamily="18" charset="0"/>
                                  </a:rPr>
                                </m:ctrlPr>
                              </m:accPr>
                              <m:e>
                                <m:r>
                                  <a:rPr lang="en-US" sz="1600" i="1">
                                    <a:latin typeface="Cambria Math" panose="02040503050406030204" pitchFamily="18" charset="0"/>
                                  </a:rPr>
                                  <m:t>𝑗</m:t>
                                </m:r>
                              </m:e>
                            </m:acc>
                          </m:e>
                        </m:d>
                        <m:r>
                          <m:rPr>
                            <m:sty m:val="p"/>
                          </m:rPr>
                          <a:rPr lang="en-US" sz="1600" i="0">
                            <a:latin typeface="Cambria Math" panose="02040503050406030204" pitchFamily="18" charset="0"/>
                          </a:rPr>
                          <m:t>m</m:t>
                        </m:r>
                      </m:num>
                      <m:den>
                        <m:r>
                          <a:rPr lang="en-US" sz="1600" i="1">
                            <a:latin typeface="Cambria Math" panose="02040503050406030204" pitchFamily="18" charset="0"/>
                            <a:ea typeface="Cambria Math" panose="02040503050406030204" pitchFamily="18" charset="0"/>
                          </a:rPr>
                          <m:t>3</m:t>
                        </m:r>
                        <m:r>
                          <a:rPr lang="es-ES" sz="1600" b="0" i="1" smtClean="0">
                            <a:latin typeface="Cambria Math" panose="02040503050406030204" pitchFamily="18" charset="0"/>
                            <a:ea typeface="Cambria Math" panose="02040503050406030204" pitchFamily="18" charset="0"/>
                          </a:rPr>
                          <m:t> </m:t>
                        </m:r>
                        <m:r>
                          <m:rPr>
                            <m:sty m:val="p"/>
                          </m:rPr>
                          <a:rPr lang="es-ES" sz="1600" b="0" i="0" smtClean="0">
                            <a:latin typeface="Cambria Math" panose="02040503050406030204" pitchFamily="18" charset="0"/>
                            <a:ea typeface="Cambria Math" panose="02040503050406030204" pitchFamily="18" charset="0"/>
                          </a:rPr>
                          <m:t>s</m:t>
                        </m:r>
                      </m:den>
                    </m:f>
                    <m:r>
                      <a:rPr lang="en-US" sz="1600" i="1">
                        <a:latin typeface="Cambria Math" panose="02040503050406030204" pitchFamily="18" charset="0"/>
                        <a:ea typeface="Cambria Math" panose="02040503050406030204" pitchFamily="18" charset="0"/>
                      </a:rPr>
                      <m:t>=</m:t>
                    </m:r>
                    <m:d>
                      <m:dPr>
                        <m:ctrlPr>
                          <a:rPr lang="en-US" sz="1600" i="1">
                            <a:latin typeface="Cambria Math" panose="02040503050406030204" pitchFamily="18" charset="0"/>
                          </a:rPr>
                        </m:ctrlPr>
                      </m:dPr>
                      <m:e>
                        <m:r>
                          <a:rPr lang="en-US" sz="1600" i="1">
                            <a:latin typeface="Cambria Math" panose="02040503050406030204" pitchFamily="18" charset="0"/>
                          </a:rPr>
                          <m:t>3</m:t>
                        </m:r>
                        <m:acc>
                          <m:accPr>
                            <m:chr m:val="̂"/>
                            <m:ctrlPr>
                              <a:rPr lang="en-US" sz="1600" i="1">
                                <a:latin typeface="Cambria Math" panose="02040503050406030204" pitchFamily="18" charset="0"/>
                              </a:rPr>
                            </m:ctrlPr>
                          </m:accPr>
                          <m:e>
                            <m:r>
                              <a:rPr lang="en-US" sz="1600" i="1">
                                <a:latin typeface="Cambria Math" panose="02040503050406030204" pitchFamily="18" charset="0"/>
                              </a:rPr>
                              <m:t>𝑗</m:t>
                            </m:r>
                          </m:e>
                        </m:acc>
                      </m:e>
                    </m:d>
                    <m:f>
                      <m:fPr>
                        <m:ctrlPr>
                          <a:rPr lang="en-US" sz="1600" i="1">
                            <a:latin typeface="Cambria Math" panose="02040503050406030204" pitchFamily="18" charset="0"/>
                          </a:rPr>
                        </m:ctrlPr>
                      </m:fPr>
                      <m:num>
                        <m:r>
                          <m:rPr>
                            <m:sty m:val="p"/>
                          </m:rPr>
                          <a:rPr lang="en-US" sz="1600" i="0">
                            <a:latin typeface="Cambria Math" panose="02040503050406030204" pitchFamily="18" charset="0"/>
                          </a:rPr>
                          <m:t>m</m:t>
                        </m:r>
                      </m:num>
                      <m:den>
                        <m:r>
                          <m:rPr>
                            <m:sty m:val="p"/>
                          </m:rPr>
                          <a:rPr lang="en-US" sz="1600" i="0">
                            <a:latin typeface="Cambria Math" panose="02040503050406030204" pitchFamily="18" charset="0"/>
                          </a:rPr>
                          <m:t>s</m:t>
                        </m:r>
                      </m:den>
                    </m:f>
                  </m:oMath>
                </a14:m>
                <a:r>
                  <a:rPr lang="en-US" sz="1600" dirty="0"/>
                  <a:t>  ;  </a:t>
                </a:r>
                <a14:m>
                  <m:oMath xmlns:m="http://schemas.openxmlformats.org/officeDocument/2006/math">
                    <m:sSub>
                      <m:sSubPr>
                        <m:ctrlPr>
                          <a:rPr lang="es-ES" sz="1600" i="1">
                            <a:latin typeface="Cambria Math" panose="02040503050406030204" pitchFamily="18" charset="0"/>
                          </a:rPr>
                        </m:ctrlPr>
                      </m:sSubPr>
                      <m:e>
                        <m:acc>
                          <m:accPr>
                            <m:chr m:val="⃗"/>
                            <m:ctrlPr>
                              <a:rPr lang="es-ES" sz="1600" i="1">
                                <a:latin typeface="Cambria Math" panose="02040503050406030204" pitchFamily="18" charset="0"/>
                              </a:rPr>
                            </m:ctrlPr>
                          </m:accPr>
                          <m:e>
                            <m:r>
                              <a:rPr lang="en-US" sz="1600" i="1">
                                <a:latin typeface="Cambria Math" panose="02040503050406030204" pitchFamily="18" charset="0"/>
                              </a:rPr>
                              <m:t>𝑣</m:t>
                            </m:r>
                          </m:e>
                        </m:acc>
                      </m:e>
                      <m:sub>
                        <m:r>
                          <a:rPr lang="en-US" sz="1600" b="0" i="1" smtClean="0">
                            <a:latin typeface="Cambria Math" panose="02040503050406030204" pitchFamily="18" charset="0"/>
                          </a:rPr>
                          <m:t>𝐴𝐵</m:t>
                        </m:r>
                      </m:sub>
                    </m:sSub>
                    <m:r>
                      <a:rPr lang="en-US" sz="1600" i="1">
                        <a:latin typeface="Cambria Math" panose="02040503050406030204" pitchFamily="18" charset="0"/>
                      </a:rPr>
                      <m:t>=</m:t>
                    </m:r>
                    <m:f>
                      <m:fPr>
                        <m:ctrlPr>
                          <a:rPr lang="en-US" sz="1600" i="1">
                            <a:latin typeface="Cambria Math" panose="02040503050406030204" pitchFamily="18" charset="0"/>
                          </a:rPr>
                        </m:ctrlPr>
                      </m:fPr>
                      <m:num>
                        <m:r>
                          <m:rPr>
                            <m:sty m:val="p"/>
                          </m:rPr>
                          <a:rPr lang="el-GR" sz="1600" i="1">
                            <a:latin typeface="Cambria Math" panose="02040503050406030204" pitchFamily="18" charset="0"/>
                            <a:ea typeface="Cambria Math" panose="02040503050406030204" pitchFamily="18" charset="0"/>
                          </a:rPr>
                          <m:t>Δ</m:t>
                        </m:r>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𝑟</m:t>
                                </m:r>
                              </m:e>
                            </m:acc>
                          </m:e>
                          <m:sub>
                            <m:r>
                              <a:rPr lang="en-US" sz="1600" i="1">
                                <a:latin typeface="Cambria Math" panose="02040503050406030204" pitchFamily="18" charset="0"/>
                              </a:rPr>
                              <m:t>𝐴𝐵</m:t>
                            </m:r>
                          </m:sub>
                        </m:sSub>
                      </m:num>
                      <m:den>
                        <m:r>
                          <m:rPr>
                            <m:sty m:val="p"/>
                          </m:rPr>
                          <a:rPr lang="el-GR" sz="1600" i="1">
                            <a:latin typeface="Cambria Math" panose="02040503050406030204" pitchFamily="18" charset="0"/>
                            <a:ea typeface="Cambria Math" panose="02040503050406030204" pitchFamily="18" charset="0"/>
                          </a:rPr>
                          <m:t>Δ</m:t>
                        </m:r>
                        <m:r>
                          <a:rPr lang="en-US" sz="1600" i="1">
                            <a:latin typeface="Cambria Math" panose="02040503050406030204" pitchFamily="18" charset="0"/>
                            <a:ea typeface="Cambria Math" panose="02040503050406030204" pitchFamily="18" charset="0"/>
                          </a:rPr>
                          <m:t>𝑡</m:t>
                        </m:r>
                      </m:den>
                    </m:f>
                    <m:r>
                      <a:rPr lang="en-US" sz="1600" i="1">
                        <a:latin typeface="Cambria Math" panose="02040503050406030204" pitchFamily="18" charset="0"/>
                        <a:ea typeface="Cambria Math" panose="02040503050406030204" pitchFamily="18" charset="0"/>
                      </a:rPr>
                      <m:t>=</m:t>
                    </m:r>
                    <m:f>
                      <m:fPr>
                        <m:ctrlPr>
                          <a:rPr lang="en-US" sz="1600" i="1">
                            <a:latin typeface="Cambria Math" panose="02040503050406030204" pitchFamily="18" charset="0"/>
                            <a:ea typeface="Cambria Math" panose="02040503050406030204" pitchFamily="18" charset="0"/>
                          </a:rPr>
                        </m:ctrlPr>
                      </m:fPr>
                      <m:num>
                        <m:d>
                          <m:dPr>
                            <m:ctrlPr>
                              <a:rPr lang="en-US" sz="1600" i="1">
                                <a:latin typeface="Cambria Math" panose="02040503050406030204" pitchFamily="18" charset="0"/>
                              </a:rPr>
                            </m:ctrlPr>
                          </m:dPr>
                          <m:e>
                            <m:r>
                              <a:rPr lang="en-US" sz="1600" i="1">
                                <a:latin typeface="Cambria Math" panose="02040503050406030204" pitchFamily="18" charset="0"/>
                              </a:rPr>
                              <m:t>8</m:t>
                            </m:r>
                            <m:acc>
                              <m:accPr>
                                <m:chr m:val="̂"/>
                                <m:ctrlPr>
                                  <a:rPr lang="en-US" sz="1600" i="1">
                                    <a:latin typeface="Cambria Math" panose="02040503050406030204" pitchFamily="18" charset="0"/>
                                  </a:rPr>
                                </m:ctrlPr>
                              </m:accPr>
                              <m:e>
                                <m:r>
                                  <a:rPr lang="en-US" sz="1600" i="1">
                                    <a:latin typeface="Cambria Math" panose="02040503050406030204" pitchFamily="18" charset="0"/>
                                  </a:rPr>
                                  <m:t>𝑖</m:t>
                                </m:r>
                              </m:e>
                            </m:acc>
                          </m:e>
                        </m:d>
                        <m:r>
                          <m:rPr>
                            <m:sty m:val="p"/>
                          </m:rPr>
                          <a:rPr lang="en-US" sz="1600" i="0">
                            <a:latin typeface="Cambria Math" panose="02040503050406030204" pitchFamily="18" charset="0"/>
                          </a:rPr>
                          <m:t>m</m:t>
                        </m:r>
                        <m:r>
                          <m:rPr>
                            <m:nor/>
                          </m:rPr>
                          <a:rPr lang="en-US" sz="1600" dirty="0"/>
                          <m:t> </m:t>
                        </m:r>
                      </m:num>
                      <m:den>
                        <m:r>
                          <a:rPr lang="es-ES" sz="1600" b="0" i="1" dirty="0" smtClean="0">
                            <a:latin typeface="Cambria Math" panose="02040503050406030204" pitchFamily="18" charset="0"/>
                          </a:rPr>
                          <m:t>4</m:t>
                        </m:r>
                        <m:r>
                          <a:rPr lang="es-ES" sz="1600" b="0" i="1" smtClean="0">
                            <a:latin typeface="Cambria Math" panose="02040503050406030204" pitchFamily="18" charset="0"/>
                            <a:ea typeface="Cambria Math" panose="02040503050406030204" pitchFamily="18" charset="0"/>
                          </a:rPr>
                          <m:t> </m:t>
                        </m:r>
                        <m:r>
                          <m:rPr>
                            <m:sty m:val="p"/>
                          </m:rPr>
                          <a:rPr lang="en-US" sz="1600" i="0">
                            <a:latin typeface="Cambria Math" panose="02040503050406030204" pitchFamily="18" charset="0"/>
                            <a:ea typeface="Cambria Math" panose="02040503050406030204" pitchFamily="18" charset="0"/>
                          </a:rPr>
                          <m:t>s</m:t>
                        </m:r>
                      </m:den>
                    </m:f>
                    <m:r>
                      <a:rPr lang="en-US" sz="1600" i="1">
                        <a:latin typeface="Cambria Math" panose="02040503050406030204" pitchFamily="18" charset="0"/>
                        <a:ea typeface="Cambria Math" panose="02040503050406030204" pitchFamily="18" charset="0"/>
                      </a:rPr>
                      <m:t>=</m:t>
                    </m:r>
                    <m:d>
                      <m:dPr>
                        <m:ctrlPr>
                          <a:rPr lang="en-US" sz="1600" i="1">
                            <a:latin typeface="Cambria Math" panose="02040503050406030204" pitchFamily="18" charset="0"/>
                          </a:rPr>
                        </m:ctrlPr>
                      </m:dPr>
                      <m:e>
                        <m:r>
                          <a:rPr lang="es-ES" sz="1600" b="0" i="1" smtClean="0">
                            <a:latin typeface="Cambria Math" panose="02040503050406030204" pitchFamily="18" charset="0"/>
                          </a:rPr>
                          <m:t>2</m:t>
                        </m:r>
                        <m:acc>
                          <m:accPr>
                            <m:chr m:val="̂"/>
                            <m:ctrlPr>
                              <a:rPr lang="en-US" sz="1600" i="1" smtClean="0">
                                <a:latin typeface="Cambria Math" panose="02040503050406030204" pitchFamily="18" charset="0"/>
                              </a:rPr>
                            </m:ctrlPr>
                          </m:accPr>
                          <m:e>
                            <m:r>
                              <a:rPr lang="es-ES" sz="1600" b="0" i="1" smtClean="0">
                                <a:latin typeface="Cambria Math" panose="02040503050406030204" pitchFamily="18" charset="0"/>
                              </a:rPr>
                              <m:t>𝑖</m:t>
                            </m:r>
                          </m:e>
                        </m:acc>
                      </m:e>
                    </m:d>
                    <m:f>
                      <m:fPr>
                        <m:ctrlPr>
                          <a:rPr lang="en-US" sz="1600" i="1">
                            <a:latin typeface="Cambria Math" panose="02040503050406030204" pitchFamily="18" charset="0"/>
                          </a:rPr>
                        </m:ctrlPr>
                      </m:fPr>
                      <m:num>
                        <m:r>
                          <m:rPr>
                            <m:sty m:val="p"/>
                          </m:rPr>
                          <a:rPr lang="en-US" sz="1600" i="0">
                            <a:latin typeface="Cambria Math" panose="02040503050406030204" pitchFamily="18" charset="0"/>
                          </a:rPr>
                          <m:t>m</m:t>
                        </m:r>
                      </m:num>
                      <m:den>
                        <m:r>
                          <m:rPr>
                            <m:sty m:val="p"/>
                          </m:rPr>
                          <a:rPr lang="en-US" sz="1600" i="0">
                            <a:latin typeface="Cambria Math" panose="02040503050406030204" pitchFamily="18" charset="0"/>
                          </a:rPr>
                          <m:t>s</m:t>
                        </m:r>
                      </m:den>
                    </m:f>
                  </m:oMath>
                </a14:m>
                <a:r>
                  <a:rPr lang="en-US" sz="1600" dirty="0"/>
                  <a:t> </a:t>
                </a:r>
              </a:p>
              <a:p>
                <a:endParaRPr lang="en-US" sz="1600" b="1" dirty="0"/>
              </a:p>
              <a:p>
                <a:endParaRPr lang="en-US" sz="1600" b="1" dirty="0"/>
              </a:p>
              <a:p>
                <a:endParaRPr lang="en-US" sz="1600" b="1" dirty="0"/>
              </a:p>
              <a:p>
                <a:endParaRPr lang="en-US" sz="1600" b="1" dirty="0"/>
              </a:p>
              <a:p>
                <a:endParaRPr lang="en-US" sz="1600" b="1" dirty="0"/>
              </a:p>
            </p:txBody>
          </p:sp>
        </mc:Choice>
        <mc:Fallback xmlns="">
          <p:sp>
            <p:nvSpPr>
              <p:cNvPr id="3" name="TextBox 2">
                <a:extLst>
                  <a:ext uri="{FF2B5EF4-FFF2-40B4-BE49-F238E27FC236}">
                    <a16:creationId xmlns:a16="http://schemas.microsoft.com/office/drawing/2014/main" id="{B9FD94DE-AC03-0CB4-0438-BDB7AFAD59E4}"/>
                  </a:ext>
                </a:extLst>
              </p:cNvPr>
              <p:cNvSpPr txBox="1">
                <a:spLocks noRot="1" noChangeAspect="1" noMove="1" noResize="1" noEditPoints="1" noAdjustHandles="1" noChangeArrowheads="1" noChangeShapeType="1" noTextEdit="1"/>
              </p:cNvSpPr>
              <p:nvPr/>
            </p:nvSpPr>
            <p:spPr>
              <a:xfrm>
                <a:off x="403440" y="950550"/>
                <a:ext cx="11385120" cy="5255221"/>
              </a:xfrm>
              <a:prstGeom prst="rect">
                <a:avLst/>
              </a:prstGeom>
              <a:blipFill>
                <a:blip r:embed="rId3"/>
                <a:stretch>
                  <a:fillRect l="-334" t="-240"/>
                </a:stretch>
              </a:blipFill>
              <a:ln>
                <a:solidFill>
                  <a:srgbClr val="FF0000"/>
                </a:solidFill>
              </a:ln>
            </p:spPr>
            <p:txBody>
              <a:bodyPr/>
              <a:lstStyle/>
              <a:p>
                <a:r>
                  <a:rPr lang="es-ES_tradnl">
                    <a:noFill/>
                  </a:rPr>
                  <a:t> </a:t>
                </a:r>
              </a:p>
            </p:txBody>
          </p:sp>
        </mc:Fallback>
      </mc:AlternateContent>
      <p:cxnSp>
        <p:nvCxnSpPr>
          <p:cNvPr id="23" name="Straight Arrow Connector 1">
            <a:extLst>
              <a:ext uri="{FF2B5EF4-FFF2-40B4-BE49-F238E27FC236}">
                <a16:creationId xmlns:a16="http://schemas.microsoft.com/office/drawing/2014/main" id="{302BC77D-6200-7EAD-003D-248B32405B18}"/>
              </a:ext>
            </a:extLst>
          </p:cNvPr>
          <p:cNvCxnSpPr>
            <a:cxnSpLocks/>
          </p:cNvCxnSpPr>
          <p:nvPr/>
        </p:nvCxnSpPr>
        <p:spPr>
          <a:xfrm flipV="1">
            <a:off x="8402736" y="1403172"/>
            <a:ext cx="0" cy="164592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3">
            <a:extLst>
              <a:ext uri="{FF2B5EF4-FFF2-40B4-BE49-F238E27FC236}">
                <a16:creationId xmlns:a16="http://schemas.microsoft.com/office/drawing/2014/main" id="{76CDD773-BC77-0706-C0AB-235CDC73DDFF}"/>
              </a:ext>
            </a:extLst>
          </p:cNvPr>
          <p:cNvCxnSpPr>
            <a:cxnSpLocks/>
          </p:cNvCxnSpPr>
          <p:nvPr/>
        </p:nvCxnSpPr>
        <p:spPr>
          <a:xfrm>
            <a:off x="7783345" y="2819913"/>
            <a:ext cx="2957886"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5" name="TextBox 4">
            <a:extLst>
              <a:ext uri="{FF2B5EF4-FFF2-40B4-BE49-F238E27FC236}">
                <a16:creationId xmlns:a16="http://schemas.microsoft.com/office/drawing/2014/main" id="{473CA1F2-68B9-FB9A-FFD4-AC1264C4CFD4}"/>
              </a:ext>
            </a:extLst>
          </p:cNvPr>
          <p:cNvSpPr txBox="1"/>
          <p:nvPr/>
        </p:nvSpPr>
        <p:spPr>
          <a:xfrm>
            <a:off x="10591992" y="2809206"/>
            <a:ext cx="697757" cy="338554"/>
          </a:xfrm>
          <a:prstGeom prst="rect">
            <a:avLst/>
          </a:prstGeom>
          <a:noFill/>
        </p:spPr>
        <p:txBody>
          <a:bodyPr wrap="square" rtlCol="0">
            <a:spAutoFit/>
          </a:bodyPr>
          <a:lstStyle/>
          <a:p>
            <a:r>
              <a:rPr lang="es-CL" sz="1600" i="1" dirty="0"/>
              <a:t>x </a:t>
            </a:r>
            <a:r>
              <a:rPr lang="es-CL" sz="1600" dirty="0"/>
              <a:t>[m]</a:t>
            </a:r>
            <a:endParaRPr lang="es-CL" sz="1600" i="1" dirty="0"/>
          </a:p>
        </p:txBody>
      </p:sp>
      <p:sp>
        <p:nvSpPr>
          <p:cNvPr id="26" name="TextBox 6">
            <a:extLst>
              <a:ext uri="{FF2B5EF4-FFF2-40B4-BE49-F238E27FC236}">
                <a16:creationId xmlns:a16="http://schemas.microsoft.com/office/drawing/2014/main" id="{67017987-52F1-FB6A-1946-C1DEC6FD57F7}"/>
              </a:ext>
            </a:extLst>
          </p:cNvPr>
          <p:cNvSpPr txBox="1"/>
          <p:nvPr/>
        </p:nvSpPr>
        <p:spPr>
          <a:xfrm>
            <a:off x="7709601" y="1344491"/>
            <a:ext cx="710766" cy="338554"/>
          </a:xfrm>
          <a:prstGeom prst="rect">
            <a:avLst/>
          </a:prstGeom>
          <a:noFill/>
        </p:spPr>
        <p:txBody>
          <a:bodyPr wrap="square" rtlCol="0">
            <a:spAutoFit/>
          </a:bodyPr>
          <a:lstStyle/>
          <a:p>
            <a:r>
              <a:rPr lang="es-CL" sz="1600" i="1" dirty="0"/>
              <a:t>y </a:t>
            </a:r>
            <a:r>
              <a:rPr lang="es-CL" sz="1600" dirty="0"/>
              <a:t>[m]</a:t>
            </a:r>
          </a:p>
        </p:txBody>
      </p:sp>
      <p:cxnSp>
        <p:nvCxnSpPr>
          <p:cNvPr id="34" name="Straight Connector 8">
            <a:extLst>
              <a:ext uri="{FF2B5EF4-FFF2-40B4-BE49-F238E27FC236}">
                <a16:creationId xmlns:a16="http://schemas.microsoft.com/office/drawing/2014/main" id="{A5898673-9BD8-28C5-9EC1-EE9441C78608}"/>
              </a:ext>
            </a:extLst>
          </p:cNvPr>
          <p:cNvCxnSpPr>
            <a:cxnSpLocks/>
          </p:cNvCxnSpPr>
          <p:nvPr/>
        </p:nvCxnSpPr>
        <p:spPr>
          <a:xfrm flipV="1">
            <a:off x="9987884" y="2717871"/>
            <a:ext cx="0" cy="222636"/>
          </a:xfrm>
          <a:prstGeom prst="line">
            <a:avLst/>
          </a:prstGeom>
          <a:ln w="28575"/>
        </p:spPr>
        <p:style>
          <a:lnRef idx="1">
            <a:schemeClr val="dk1"/>
          </a:lnRef>
          <a:fillRef idx="0">
            <a:schemeClr val="dk1"/>
          </a:fillRef>
          <a:effectRef idx="0">
            <a:schemeClr val="dk1"/>
          </a:effectRef>
          <a:fontRef idx="minor">
            <a:schemeClr val="tx1"/>
          </a:fontRef>
        </p:style>
      </p:cxnSp>
      <p:cxnSp>
        <p:nvCxnSpPr>
          <p:cNvPr id="39" name="Straight Connector 9">
            <a:extLst>
              <a:ext uri="{FF2B5EF4-FFF2-40B4-BE49-F238E27FC236}">
                <a16:creationId xmlns:a16="http://schemas.microsoft.com/office/drawing/2014/main" id="{5CAF0AEE-2463-BABB-EFC9-7F8C82D25745}"/>
              </a:ext>
            </a:extLst>
          </p:cNvPr>
          <p:cNvCxnSpPr>
            <a:cxnSpLocks/>
          </p:cNvCxnSpPr>
          <p:nvPr/>
        </p:nvCxnSpPr>
        <p:spPr>
          <a:xfrm flipV="1">
            <a:off x="8403858" y="2716546"/>
            <a:ext cx="0" cy="222636"/>
          </a:xfrm>
          <a:prstGeom prst="line">
            <a:avLst/>
          </a:prstGeom>
          <a:ln w="28575"/>
        </p:spPr>
        <p:style>
          <a:lnRef idx="1">
            <a:schemeClr val="dk1"/>
          </a:lnRef>
          <a:fillRef idx="0">
            <a:schemeClr val="dk1"/>
          </a:fillRef>
          <a:effectRef idx="0">
            <a:schemeClr val="dk1"/>
          </a:effectRef>
          <a:fontRef idx="minor">
            <a:schemeClr val="tx1"/>
          </a:fontRef>
        </p:style>
      </p:cxnSp>
      <p:cxnSp>
        <p:nvCxnSpPr>
          <p:cNvPr id="42" name="Straight Connector 10">
            <a:extLst>
              <a:ext uri="{FF2B5EF4-FFF2-40B4-BE49-F238E27FC236}">
                <a16:creationId xmlns:a16="http://schemas.microsoft.com/office/drawing/2014/main" id="{2C1CE1F2-5237-1C29-2CF5-05B893F3CC49}"/>
              </a:ext>
            </a:extLst>
          </p:cNvPr>
          <p:cNvCxnSpPr>
            <a:cxnSpLocks/>
          </p:cNvCxnSpPr>
          <p:nvPr/>
        </p:nvCxnSpPr>
        <p:spPr>
          <a:xfrm rot="5400000" flipV="1">
            <a:off x="8419372" y="1795520"/>
            <a:ext cx="0" cy="222636"/>
          </a:xfrm>
          <a:prstGeom prst="line">
            <a:avLst/>
          </a:prstGeom>
          <a:ln w="28575"/>
        </p:spPr>
        <p:style>
          <a:lnRef idx="1">
            <a:schemeClr val="dk1"/>
          </a:lnRef>
          <a:fillRef idx="0">
            <a:schemeClr val="dk1"/>
          </a:fillRef>
          <a:effectRef idx="0">
            <a:schemeClr val="dk1"/>
          </a:effectRef>
          <a:fontRef idx="minor">
            <a:schemeClr val="tx1"/>
          </a:fontRef>
        </p:style>
      </p:cxnSp>
      <p:sp>
        <p:nvSpPr>
          <p:cNvPr id="43" name="TextBox 11">
            <a:extLst>
              <a:ext uri="{FF2B5EF4-FFF2-40B4-BE49-F238E27FC236}">
                <a16:creationId xmlns:a16="http://schemas.microsoft.com/office/drawing/2014/main" id="{F20CC26F-B858-58E8-3FC5-83E7E1FA8DA8}"/>
              </a:ext>
            </a:extLst>
          </p:cNvPr>
          <p:cNvSpPr txBox="1"/>
          <p:nvPr/>
        </p:nvSpPr>
        <p:spPr>
          <a:xfrm>
            <a:off x="9788399" y="2879815"/>
            <a:ext cx="439272" cy="338554"/>
          </a:xfrm>
          <a:prstGeom prst="rect">
            <a:avLst/>
          </a:prstGeom>
          <a:noFill/>
        </p:spPr>
        <p:txBody>
          <a:bodyPr wrap="square" rtlCol="0">
            <a:spAutoFit/>
          </a:bodyPr>
          <a:lstStyle/>
          <a:p>
            <a:r>
              <a:rPr lang="es-CL" sz="1600" b="1" dirty="0"/>
              <a:t>8</a:t>
            </a:r>
          </a:p>
        </p:txBody>
      </p:sp>
      <p:cxnSp>
        <p:nvCxnSpPr>
          <p:cNvPr id="47" name="Straight Connector 12">
            <a:extLst>
              <a:ext uri="{FF2B5EF4-FFF2-40B4-BE49-F238E27FC236}">
                <a16:creationId xmlns:a16="http://schemas.microsoft.com/office/drawing/2014/main" id="{F761C5FF-F7A9-2FC9-15A2-73F92F53BE9A}"/>
              </a:ext>
            </a:extLst>
          </p:cNvPr>
          <p:cNvCxnSpPr>
            <a:cxnSpLocks/>
          </p:cNvCxnSpPr>
          <p:nvPr/>
        </p:nvCxnSpPr>
        <p:spPr>
          <a:xfrm>
            <a:off x="8403858" y="1897376"/>
            <a:ext cx="0" cy="9026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13">
            <a:extLst>
              <a:ext uri="{FF2B5EF4-FFF2-40B4-BE49-F238E27FC236}">
                <a16:creationId xmlns:a16="http://schemas.microsoft.com/office/drawing/2014/main" id="{0D42454D-BFFA-9590-FCD6-57803125A42F}"/>
              </a:ext>
            </a:extLst>
          </p:cNvPr>
          <p:cNvCxnSpPr>
            <a:cxnSpLocks/>
          </p:cNvCxnSpPr>
          <p:nvPr/>
        </p:nvCxnSpPr>
        <p:spPr>
          <a:xfrm flipH="1">
            <a:off x="8404872" y="1906341"/>
            <a:ext cx="159521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TextBox 14">
            <a:extLst>
              <a:ext uri="{FF2B5EF4-FFF2-40B4-BE49-F238E27FC236}">
                <a16:creationId xmlns:a16="http://schemas.microsoft.com/office/drawing/2014/main" id="{B43B4B2D-52F7-0461-B6E0-1DB9B997B482}"/>
              </a:ext>
            </a:extLst>
          </p:cNvPr>
          <p:cNvSpPr txBox="1"/>
          <p:nvPr/>
        </p:nvSpPr>
        <p:spPr>
          <a:xfrm>
            <a:off x="8054613" y="1765506"/>
            <a:ext cx="214679" cy="338554"/>
          </a:xfrm>
          <a:prstGeom prst="rect">
            <a:avLst/>
          </a:prstGeom>
          <a:noFill/>
        </p:spPr>
        <p:txBody>
          <a:bodyPr wrap="square" rtlCol="0">
            <a:spAutoFit/>
          </a:bodyPr>
          <a:lstStyle/>
          <a:p>
            <a:r>
              <a:rPr lang="es-CL" sz="1600" b="1" dirty="0"/>
              <a:t>9</a:t>
            </a:r>
          </a:p>
        </p:txBody>
      </p:sp>
      <p:cxnSp>
        <p:nvCxnSpPr>
          <p:cNvPr id="52" name="Straight Arrow Connector 15">
            <a:extLst>
              <a:ext uri="{FF2B5EF4-FFF2-40B4-BE49-F238E27FC236}">
                <a16:creationId xmlns:a16="http://schemas.microsoft.com/office/drawing/2014/main" id="{A97D54E4-9071-74B0-361F-473D459ADAA2}"/>
              </a:ext>
            </a:extLst>
          </p:cNvPr>
          <p:cNvCxnSpPr>
            <a:cxnSpLocks/>
          </p:cNvCxnSpPr>
          <p:nvPr/>
        </p:nvCxnSpPr>
        <p:spPr>
          <a:xfrm flipH="1" flipV="1">
            <a:off x="8403858" y="2186460"/>
            <a:ext cx="0" cy="62550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16">
            <a:extLst>
              <a:ext uri="{FF2B5EF4-FFF2-40B4-BE49-F238E27FC236}">
                <a16:creationId xmlns:a16="http://schemas.microsoft.com/office/drawing/2014/main" id="{9DF5C052-0106-F9AF-EBC8-4E3B155EBE73}"/>
              </a:ext>
            </a:extLst>
          </p:cNvPr>
          <p:cNvCxnSpPr>
            <a:cxnSpLocks/>
          </p:cNvCxnSpPr>
          <p:nvPr/>
        </p:nvCxnSpPr>
        <p:spPr>
          <a:xfrm>
            <a:off x="9058935" y="1903952"/>
            <a:ext cx="35037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17">
            <a:extLst>
              <a:ext uri="{FF2B5EF4-FFF2-40B4-BE49-F238E27FC236}">
                <a16:creationId xmlns:a16="http://schemas.microsoft.com/office/drawing/2014/main" id="{8D6FB363-0EF6-2035-22A6-5DAD71F9AF27}"/>
              </a:ext>
            </a:extLst>
          </p:cNvPr>
          <p:cNvSpPr txBox="1"/>
          <p:nvPr/>
        </p:nvSpPr>
        <p:spPr>
          <a:xfrm>
            <a:off x="8353479" y="1593133"/>
            <a:ext cx="340158" cy="338554"/>
          </a:xfrm>
          <a:prstGeom prst="rect">
            <a:avLst/>
          </a:prstGeom>
          <a:noFill/>
        </p:spPr>
        <p:txBody>
          <a:bodyPr wrap="none" rtlCol="0">
            <a:spAutoFit/>
          </a:bodyPr>
          <a:lstStyle/>
          <a:p>
            <a:r>
              <a:rPr lang="es-CL" sz="1600" dirty="0"/>
              <a:t>A</a:t>
            </a:r>
          </a:p>
        </p:txBody>
      </p:sp>
      <p:sp>
        <p:nvSpPr>
          <p:cNvPr id="55" name="TextBox 18">
            <a:extLst>
              <a:ext uri="{FF2B5EF4-FFF2-40B4-BE49-F238E27FC236}">
                <a16:creationId xmlns:a16="http://schemas.microsoft.com/office/drawing/2014/main" id="{ABD8A264-1C62-BEBE-9599-C45CD62D3649}"/>
              </a:ext>
            </a:extLst>
          </p:cNvPr>
          <p:cNvSpPr txBox="1"/>
          <p:nvPr/>
        </p:nvSpPr>
        <p:spPr>
          <a:xfrm>
            <a:off x="9837956" y="1613913"/>
            <a:ext cx="340158" cy="338554"/>
          </a:xfrm>
          <a:prstGeom prst="rect">
            <a:avLst/>
          </a:prstGeom>
          <a:noFill/>
        </p:spPr>
        <p:txBody>
          <a:bodyPr wrap="none" rtlCol="0">
            <a:spAutoFit/>
          </a:bodyPr>
          <a:lstStyle/>
          <a:p>
            <a:r>
              <a:rPr lang="es-CL" sz="1600" dirty="0"/>
              <a:t>B</a:t>
            </a:r>
          </a:p>
        </p:txBody>
      </p:sp>
      <p:sp>
        <p:nvSpPr>
          <p:cNvPr id="56" name="TextBox 19">
            <a:extLst>
              <a:ext uri="{FF2B5EF4-FFF2-40B4-BE49-F238E27FC236}">
                <a16:creationId xmlns:a16="http://schemas.microsoft.com/office/drawing/2014/main" id="{242817C0-B397-E786-B187-F5E29DDC72DC}"/>
              </a:ext>
            </a:extLst>
          </p:cNvPr>
          <p:cNvSpPr txBox="1"/>
          <p:nvPr/>
        </p:nvSpPr>
        <p:spPr>
          <a:xfrm>
            <a:off x="8966908" y="1599061"/>
            <a:ext cx="476412" cy="338554"/>
          </a:xfrm>
          <a:prstGeom prst="rect">
            <a:avLst/>
          </a:prstGeom>
          <a:noFill/>
        </p:spPr>
        <p:txBody>
          <a:bodyPr wrap="none" rtlCol="0">
            <a:spAutoFit/>
          </a:bodyPr>
          <a:lstStyle/>
          <a:p>
            <a:r>
              <a:rPr lang="es-CL" sz="1600" dirty="0"/>
              <a:t>4 s</a:t>
            </a:r>
          </a:p>
        </p:txBody>
      </p:sp>
      <p:sp>
        <p:nvSpPr>
          <p:cNvPr id="57" name="TextBox 20">
            <a:extLst>
              <a:ext uri="{FF2B5EF4-FFF2-40B4-BE49-F238E27FC236}">
                <a16:creationId xmlns:a16="http://schemas.microsoft.com/office/drawing/2014/main" id="{127F9C0A-2F0D-DBEB-D36C-9D55CA9151FC}"/>
              </a:ext>
            </a:extLst>
          </p:cNvPr>
          <p:cNvSpPr txBox="1"/>
          <p:nvPr/>
        </p:nvSpPr>
        <p:spPr>
          <a:xfrm>
            <a:off x="7968562" y="2142066"/>
            <a:ext cx="455574" cy="338554"/>
          </a:xfrm>
          <a:prstGeom prst="rect">
            <a:avLst/>
          </a:prstGeom>
          <a:noFill/>
        </p:spPr>
        <p:txBody>
          <a:bodyPr wrap="none" rtlCol="0">
            <a:spAutoFit/>
          </a:bodyPr>
          <a:lstStyle/>
          <a:p>
            <a:r>
              <a:rPr lang="es-CL" sz="1600" dirty="0"/>
              <a:t>3 s</a:t>
            </a:r>
          </a:p>
        </p:txBody>
      </p:sp>
      <p:sp>
        <p:nvSpPr>
          <p:cNvPr id="58" name="TextBox 21">
            <a:extLst>
              <a:ext uri="{FF2B5EF4-FFF2-40B4-BE49-F238E27FC236}">
                <a16:creationId xmlns:a16="http://schemas.microsoft.com/office/drawing/2014/main" id="{4C37C90E-90A3-98FB-6A63-37D5A9FF8C2D}"/>
              </a:ext>
            </a:extLst>
          </p:cNvPr>
          <p:cNvSpPr txBox="1"/>
          <p:nvPr/>
        </p:nvSpPr>
        <p:spPr>
          <a:xfrm>
            <a:off x="8133843" y="2852897"/>
            <a:ext cx="439272" cy="338554"/>
          </a:xfrm>
          <a:prstGeom prst="rect">
            <a:avLst/>
          </a:prstGeom>
          <a:noFill/>
        </p:spPr>
        <p:txBody>
          <a:bodyPr wrap="square" rtlCol="0">
            <a:spAutoFit/>
          </a:bodyPr>
          <a:lstStyle/>
          <a:p>
            <a:r>
              <a:rPr lang="es-CL" sz="1600" b="1" dirty="0"/>
              <a:t>0</a:t>
            </a:r>
          </a:p>
        </p:txBody>
      </p:sp>
      <p:sp>
        <p:nvSpPr>
          <p:cNvPr id="59" name="Marcador de número de diapositiva 2">
            <a:extLst>
              <a:ext uri="{FF2B5EF4-FFF2-40B4-BE49-F238E27FC236}">
                <a16:creationId xmlns:a16="http://schemas.microsoft.com/office/drawing/2014/main" id="{BF056134-6287-ECAC-0ED8-164B70B3F936}"/>
              </a:ext>
            </a:extLst>
          </p:cNvPr>
          <p:cNvSpPr txBox="1">
            <a:spLocks/>
          </p:cNvSpPr>
          <p:nvPr/>
        </p:nvSpPr>
        <p:spPr>
          <a:xfrm>
            <a:off x="8993372" y="168201"/>
            <a:ext cx="2743200" cy="365125"/>
          </a:xfrm>
          <a:prstGeom prst="rect">
            <a:avLst/>
          </a:prstGeom>
        </p:spPr>
        <p:txBody>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9C89E4B-EE86-427E-B533-BCEDB2CD4BCC}" type="slidenum">
              <a:rPr lang="es-CL" sz="1200" smtClean="0"/>
              <a:pPr algn="r"/>
              <a:t>8</a:t>
            </a:fld>
            <a:endParaRPr lang="es-CL" sz="1200"/>
          </a:p>
        </p:txBody>
      </p:sp>
    </p:spTree>
    <p:extLst>
      <p:ext uri="{BB962C8B-B14F-4D97-AF65-F5344CB8AC3E}">
        <p14:creationId xmlns:p14="http://schemas.microsoft.com/office/powerpoint/2010/main" val="994369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3A584-DD94-8182-A110-D6D3BA42CED7}"/>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30ED6385-DEE5-C418-6653-F153588540D8}"/>
              </a:ext>
            </a:extLst>
          </p:cNvPr>
          <p:cNvSpPr txBox="1"/>
          <p:nvPr/>
        </p:nvSpPr>
        <p:spPr>
          <a:xfrm>
            <a:off x="133350" y="19050"/>
            <a:ext cx="11934826" cy="461665"/>
          </a:xfrm>
          <a:prstGeom prst="rect">
            <a:avLst/>
          </a:prstGeom>
          <a:noFill/>
          <a:ln cap="flat" cmpd="sng">
            <a:solidFill>
              <a:srgbClr val="FFFFFF"/>
            </a:solidFill>
          </a:ln>
        </p:spPr>
        <p:txBody>
          <a:bodyPr wrap="square" rtlCol="0">
            <a:spAutoFit/>
          </a:bodyPr>
          <a:lstStyle/>
          <a:p>
            <a:pPr algn="ctr"/>
            <a:endParaRPr lang="es-CL" sz="2400" dirty="0"/>
          </a:p>
        </p:txBody>
      </p:sp>
      <p:graphicFrame>
        <p:nvGraphicFramePr>
          <p:cNvPr id="8" name="Tabla 7">
            <a:extLst>
              <a:ext uri="{FF2B5EF4-FFF2-40B4-BE49-F238E27FC236}">
                <a16:creationId xmlns:a16="http://schemas.microsoft.com/office/drawing/2014/main" id="{0ACAE14C-0047-8854-C7F3-E1009ADE0166}"/>
              </a:ext>
            </a:extLst>
          </p:cNvPr>
          <p:cNvGraphicFramePr>
            <a:graphicFrameLocks noGrp="1"/>
          </p:cNvGraphicFramePr>
          <p:nvPr>
            <p:extLst>
              <p:ext uri="{D42A27DB-BD31-4B8C-83A1-F6EECF244321}">
                <p14:modId xmlns:p14="http://schemas.microsoft.com/office/powerpoint/2010/main" val="2715963658"/>
              </p:ext>
            </p:extLst>
          </p:nvPr>
        </p:nvGraphicFramePr>
        <p:xfrm>
          <a:off x="1" y="0"/>
          <a:ext cx="12192000" cy="4572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2960110769"/>
                    </a:ext>
                  </a:extLst>
                </a:gridCol>
              </a:tblGrid>
              <a:tr h="370840">
                <a:tc>
                  <a:txBody>
                    <a:bodyPr/>
                    <a:lstStyle/>
                    <a:p>
                      <a:pPr algn="ctr"/>
                      <a:r>
                        <a:rPr lang="es-MX" sz="2400" dirty="0">
                          <a:latin typeface="Montserrat" pitchFamily="2" charset="77"/>
                        </a:rPr>
                        <a:t>Movimiento rectilíneo uniforme (MRU)</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81913"/>
                  </a:ext>
                </a:extLst>
              </a:tr>
            </a:tbl>
          </a:graphicData>
        </a:graphic>
      </p:graphicFrame>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E5F04A8-43D3-5294-B62E-B3B0C111FA00}"/>
                  </a:ext>
                </a:extLst>
              </p:cNvPr>
              <p:cNvSpPr txBox="1"/>
              <p:nvPr/>
            </p:nvSpPr>
            <p:spPr>
              <a:xfrm>
                <a:off x="346504" y="830427"/>
                <a:ext cx="11106130" cy="2308324"/>
              </a:xfrm>
              <a:prstGeom prst="rect">
                <a:avLst/>
              </a:prstGeom>
              <a:noFill/>
            </p:spPr>
            <p:txBody>
              <a:bodyPr wrap="square" rtlCol="0">
                <a:spAutoFit/>
              </a:bodyPr>
              <a:lstStyle/>
              <a:p>
                <a:r>
                  <a:rPr lang="es-ES" sz="1600" b="1" dirty="0"/>
                  <a:t>Movimiento rectilíneo uniforme (MRU)</a:t>
                </a:r>
              </a:p>
              <a:p>
                <a:endParaRPr lang="es-ES" sz="1600" dirty="0"/>
              </a:p>
              <a:p>
                <a:pPr algn="just"/>
                <a:r>
                  <a:rPr lang="es-ES" sz="1600" dirty="0"/>
                  <a:t>Se denomina al movimiento de un objeto en línea recta (rectilíneo), y si su velocidad es constante en el tiempo (uniforme), ya que la magnitud y dirección de la velocidad es constante. La ecuación de movimiento es la siguientes</a:t>
                </a:r>
              </a:p>
              <a:p>
                <a:pPr algn="ctr"/>
                <a:r>
                  <a:rPr lang="es-ES" sz="1600" dirty="0"/>
                  <a:t> </a:t>
                </a:r>
                <a14:m>
                  <m:oMath xmlns:m="http://schemas.openxmlformats.org/officeDocument/2006/math">
                    <m:r>
                      <a:rPr lang="es-CL" sz="1600" b="0" i="1" smtClean="0">
                        <a:latin typeface="Cambria Math" panose="02040503050406030204" pitchFamily="18" charset="0"/>
                      </a:rPr>
                      <m:t>𝑥</m:t>
                    </m:r>
                    <m:d>
                      <m:dPr>
                        <m:ctrlPr>
                          <a:rPr lang="es-CL" sz="1600" b="0" i="1" smtClean="0">
                            <a:latin typeface="Cambria Math" panose="02040503050406030204" pitchFamily="18" charset="0"/>
                          </a:rPr>
                        </m:ctrlPr>
                      </m:dPr>
                      <m:e>
                        <m:r>
                          <a:rPr lang="es-CL" sz="1600" b="0" i="1" smtClean="0">
                            <a:latin typeface="Cambria Math" panose="02040503050406030204" pitchFamily="18" charset="0"/>
                          </a:rPr>
                          <m:t>𝑡</m:t>
                        </m:r>
                      </m:e>
                    </m:d>
                    <m:r>
                      <a:rPr lang="es-CL" sz="1600" b="0" i="1" smtClean="0">
                        <a:latin typeface="Cambria Math" panose="02040503050406030204" pitchFamily="18" charset="0"/>
                      </a:rPr>
                      <m:t>=</m:t>
                    </m:r>
                    <m:sSub>
                      <m:sSubPr>
                        <m:ctrlPr>
                          <a:rPr lang="es-CL" sz="1600" b="0" i="1" smtClean="0">
                            <a:latin typeface="Cambria Math" panose="02040503050406030204" pitchFamily="18" charset="0"/>
                          </a:rPr>
                        </m:ctrlPr>
                      </m:sSubPr>
                      <m:e>
                        <m:r>
                          <a:rPr lang="es-CL" sz="1600" b="0" i="1" smtClean="0">
                            <a:latin typeface="Cambria Math" panose="02040503050406030204" pitchFamily="18" charset="0"/>
                          </a:rPr>
                          <m:t>𝑥</m:t>
                        </m:r>
                      </m:e>
                      <m:sub>
                        <m:r>
                          <a:rPr lang="es-CL" sz="1600" b="0" i="1" smtClean="0">
                            <a:latin typeface="Cambria Math" panose="02040503050406030204" pitchFamily="18" charset="0"/>
                          </a:rPr>
                          <m:t>𝑖</m:t>
                        </m:r>
                      </m:sub>
                    </m:sSub>
                    <m:r>
                      <a:rPr lang="es-CL" sz="1600" b="0" i="1" smtClean="0">
                        <a:latin typeface="Cambria Math" panose="02040503050406030204" pitchFamily="18" charset="0"/>
                      </a:rPr>
                      <m:t>+</m:t>
                    </m:r>
                    <m:r>
                      <a:rPr lang="es-CL" sz="1600" b="0" i="1" smtClean="0">
                        <a:latin typeface="Cambria Math" panose="02040503050406030204" pitchFamily="18" charset="0"/>
                      </a:rPr>
                      <m:t>𝑣</m:t>
                    </m:r>
                    <m:d>
                      <m:dPr>
                        <m:ctrlPr>
                          <a:rPr lang="es-CL" sz="1600" b="0" i="1" smtClean="0">
                            <a:latin typeface="Cambria Math" panose="02040503050406030204" pitchFamily="18" charset="0"/>
                          </a:rPr>
                        </m:ctrlPr>
                      </m:dPr>
                      <m:e>
                        <m:r>
                          <a:rPr lang="es-CL" sz="1600" b="0" i="1" smtClean="0">
                            <a:latin typeface="Cambria Math" panose="02040503050406030204" pitchFamily="18" charset="0"/>
                          </a:rPr>
                          <m:t>𝑡</m:t>
                        </m:r>
                        <m:r>
                          <a:rPr lang="es-CL" sz="1600" b="0" i="1" smtClean="0">
                            <a:latin typeface="Cambria Math" panose="02040503050406030204" pitchFamily="18" charset="0"/>
                          </a:rPr>
                          <m:t>−</m:t>
                        </m:r>
                        <m:sSub>
                          <m:sSubPr>
                            <m:ctrlPr>
                              <a:rPr lang="es-CL" sz="1600" b="0" i="1" smtClean="0">
                                <a:latin typeface="Cambria Math" panose="02040503050406030204" pitchFamily="18" charset="0"/>
                              </a:rPr>
                            </m:ctrlPr>
                          </m:sSubPr>
                          <m:e>
                            <m:r>
                              <a:rPr lang="es-CL" sz="1600" b="0" i="1" smtClean="0">
                                <a:latin typeface="Cambria Math" panose="02040503050406030204" pitchFamily="18" charset="0"/>
                              </a:rPr>
                              <m:t>𝑡</m:t>
                            </m:r>
                          </m:e>
                          <m:sub>
                            <m:r>
                              <a:rPr lang="es-CL" sz="1600" b="0" i="1" smtClean="0">
                                <a:latin typeface="Cambria Math" panose="02040503050406030204" pitchFamily="18" charset="0"/>
                              </a:rPr>
                              <m:t>𝑖</m:t>
                            </m:r>
                          </m:sub>
                        </m:sSub>
                      </m:e>
                    </m:d>
                  </m:oMath>
                </a14:m>
                <a:endParaRPr lang="es-CL" sz="1600" dirty="0"/>
              </a:p>
              <a:p>
                <a:pPr algn="just"/>
                <a:endParaRPr lang="es-ES" sz="1600" dirty="0"/>
              </a:p>
              <a:p>
                <a:pPr algn="just"/>
                <a:r>
                  <a:rPr lang="es-ES" sz="1600" dirty="0"/>
                  <a:t>donde </a:t>
                </a:r>
                <a14:m>
                  <m:oMath xmlns:m="http://schemas.openxmlformats.org/officeDocument/2006/math">
                    <m:sSub>
                      <m:sSubPr>
                        <m:ctrlPr>
                          <a:rPr lang="es-CL" sz="1600" b="0" i="1" smtClean="0">
                            <a:latin typeface="Cambria Math" panose="02040503050406030204" pitchFamily="18" charset="0"/>
                          </a:rPr>
                        </m:ctrlPr>
                      </m:sSubPr>
                      <m:e>
                        <m:r>
                          <a:rPr lang="es-CL" sz="1600" b="0" i="1" smtClean="0">
                            <a:latin typeface="Cambria Math" panose="02040503050406030204" pitchFamily="18" charset="0"/>
                          </a:rPr>
                          <m:t>𝑥</m:t>
                        </m:r>
                      </m:e>
                      <m:sub>
                        <m:r>
                          <a:rPr lang="es-CL" sz="1600" b="0" i="1" smtClean="0">
                            <a:latin typeface="Cambria Math" panose="02040503050406030204" pitchFamily="18" charset="0"/>
                          </a:rPr>
                          <m:t>𝑖</m:t>
                        </m:r>
                      </m:sub>
                    </m:sSub>
                  </m:oMath>
                </a14:m>
                <a:r>
                  <a:rPr lang="es-ES" sz="1600" dirty="0"/>
                  <a:t> es la posición inicial de la partícula, </a:t>
                </a:r>
                <a14:m>
                  <m:oMath xmlns:m="http://schemas.openxmlformats.org/officeDocument/2006/math">
                    <m:r>
                      <a:rPr lang="es-CL" sz="1600" i="1">
                        <a:latin typeface="Cambria Math" panose="02040503050406030204" pitchFamily="18" charset="0"/>
                      </a:rPr>
                      <m:t>𝑣</m:t>
                    </m:r>
                  </m:oMath>
                </a14:m>
                <a:r>
                  <a:rPr lang="es-ES" sz="1600" dirty="0"/>
                  <a:t> es su velocidad, y </a:t>
                </a:r>
                <a14:m>
                  <m:oMath xmlns:m="http://schemas.openxmlformats.org/officeDocument/2006/math">
                    <m:sSub>
                      <m:sSubPr>
                        <m:ctrlPr>
                          <a:rPr lang="es-CL" sz="1600" i="1">
                            <a:latin typeface="Cambria Math" panose="02040503050406030204" pitchFamily="18" charset="0"/>
                          </a:rPr>
                        </m:ctrlPr>
                      </m:sSubPr>
                      <m:e>
                        <m:r>
                          <a:rPr lang="es-CL" sz="1600" i="1">
                            <a:latin typeface="Cambria Math" panose="02040503050406030204" pitchFamily="18" charset="0"/>
                          </a:rPr>
                          <m:t>𝑡</m:t>
                        </m:r>
                      </m:e>
                      <m:sub>
                        <m:r>
                          <a:rPr lang="es-CL" sz="1600" i="1">
                            <a:latin typeface="Cambria Math" panose="02040503050406030204" pitchFamily="18" charset="0"/>
                          </a:rPr>
                          <m:t>𝑖</m:t>
                        </m:r>
                      </m:sub>
                    </m:sSub>
                  </m:oMath>
                </a14:m>
                <a:r>
                  <a:rPr lang="es-ES" sz="1600" dirty="0"/>
                  <a:t> es el instante inicial (usualmente cero).</a:t>
                </a:r>
              </a:p>
              <a:p>
                <a:pPr algn="just"/>
                <a:endParaRPr lang="es-ES" sz="1600" dirty="0"/>
              </a:p>
            </p:txBody>
          </p:sp>
        </mc:Choice>
        <mc:Fallback xmlns="">
          <p:sp>
            <p:nvSpPr>
              <p:cNvPr id="13" name="TextBox 12">
                <a:extLst>
                  <a:ext uri="{FF2B5EF4-FFF2-40B4-BE49-F238E27FC236}">
                    <a16:creationId xmlns:a16="http://schemas.microsoft.com/office/drawing/2014/main" id="{3E5F04A8-43D3-5294-B62E-B3B0C111FA00}"/>
                  </a:ext>
                </a:extLst>
              </p:cNvPr>
              <p:cNvSpPr txBox="1">
                <a:spLocks noRot="1" noChangeAspect="1" noMove="1" noResize="1" noEditPoints="1" noAdjustHandles="1" noChangeArrowheads="1" noChangeShapeType="1" noTextEdit="1"/>
              </p:cNvSpPr>
              <p:nvPr/>
            </p:nvSpPr>
            <p:spPr>
              <a:xfrm>
                <a:off x="346504" y="830427"/>
                <a:ext cx="11106130" cy="2308324"/>
              </a:xfrm>
              <a:prstGeom prst="rect">
                <a:avLst/>
              </a:prstGeom>
              <a:blipFill>
                <a:blip r:embed="rId3"/>
                <a:stretch>
                  <a:fillRect l="-343" t="-1093" r="-343"/>
                </a:stretch>
              </a:blipFill>
            </p:spPr>
            <p:txBody>
              <a:bodyPr/>
              <a:lstStyle/>
              <a:p>
                <a:r>
                  <a:rPr lang="es-ES_tradnl">
                    <a:noFill/>
                  </a:rPr>
                  <a:t> </a:t>
                </a:r>
              </a:p>
            </p:txBody>
          </p:sp>
        </mc:Fallback>
      </mc:AlternateContent>
      <p:sp>
        <p:nvSpPr>
          <p:cNvPr id="4" name="TextBox 3">
            <a:extLst>
              <a:ext uri="{FF2B5EF4-FFF2-40B4-BE49-F238E27FC236}">
                <a16:creationId xmlns:a16="http://schemas.microsoft.com/office/drawing/2014/main" id="{CDE2FE68-D191-A92F-A2E5-053063683884}"/>
              </a:ext>
            </a:extLst>
          </p:cNvPr>
          <p:cNvSpPr txBox="1"/>
          <p:nvPr/>
        </p:nvSpPr>
        <p:spPr>
          <a:xfrm>
            <a:off x="7449671" y="2052917"/>
            <a:ext cx="2113079" cy="338554"/>
          </a:xfrm>
          <a:prstGeom prst="rect">
            <a:avLst/>
          </a:prstGeom>
          <a:noFill/>
        </p:spPr>
        <p:txBody>
          <a:bodyPr wrap="none" rtlCol="0">
            <a:spAutoFit/>
          </a:bodyPr>
          <a:lstStyle/>
          <a:p>
            <a:r>
              <a:rPr lang="en-US" sz="1600" dirty="0" err="1">
                <a:solidFill>
                  <a:srgbClr val="FF0000"/>
                </a:solidFill>
              </a:rPr>
              <a:t>Ecuación</a:t>
            </a:r>
            <a:r>
              <a:rPr lang="en-US" sz="1600" dirty="0">
                <a:solidFill>
                  <a:srgbClr val="FF0000"/>
                </a:solidFill>
              </a:rPr>
              <a:t> </a:t>
            </a:r>
            <a:r>
              <a:rPr lang="en-US" sz="1600" dirty="0" err="1">
                <a:solidFill>
                  <a:srgbClr val="FF0000"/>
                </a:solidFill>
              </a:rPr>
              <a:t>itinerario</a:t>
            </a:r>
            <a:endParaRPr lang="en-US" sz="1600" dirty="0">
              <a:solidFill>
                <a:srgbClr val="FF0000"/>
              </a:solidFill>
            </a:endParaRPr>
          </a:p>
        </p:txBody>
      </p:sp>
      <p:sp>
        <p:nvSpPr>
          <p:cNvPr id="5" name="TextBox 4">
            <a:extLst>
              <a:ext uri="{FF2B5EF4-FFF2-40B4-BE49-F238E27FC236}">
                <a16:creationId xmlns:a16="http://schemas.microsoft.com/office/drawing/2014/main" id="{82933A08-AF93-9268-88BF-D445000999F8}"/>
              </a:ext>
            </a:extLst>
          </p:cNvPr>
          <p:cNvSpPr txBox="1"/>
          <p:nvPr/>
        </p:nvSpPr>
        <p:spPr>
          <a:xfrm>
            <a:off x="346504" y="3090446"/>
            <a:ext cx="2699778" cy="338554"/>
          </a:xfrm>
          <a:prstGeom prst="rect">
            <a:avLst/>
          </a:prstGeom>
          <a:noFill/>
        </p:spPr>
        <p:txBody>
          <a:bodyPr wrap="none" rtlCol="0">
            <a:spAutoFit/>
          </a:bodyPr>
          <a:lstStyle/>
          <a:p>
            <a:r>
              <a:rPr lang="en-US" sz="1600" dirty="0" err="1"/>
              <a:t>Gráficos</a:t>
            </a:r>
            <a:r>
              <a:rPr lang="en-US" sz="1600" dirty="0"/>
              <a:t> del </a:t>
            </a:r>
            <a:r>
              <a:rPr lang="en-US" sz="1600" dirty="0" err="1"/>
              <a:t>movimiento</a:t>
            </a:r>
            <a:endParaRPr lang="en-US" sz="1600" dirty="0"/>
          </a:p>
        </p:txBody>
      </p:sp>
      <p:cxnSp>
        <p:nvCxnSpPr>
          <p:cNvPr id="7" name="Straight Arrow Connector 6">
            <a:extLst>
              <a:ext uri="{FF2B5EF4-FFF2-40B4-BE49-F238E27FC236}">
                <a16:creationId xmlns:a16="http://schemas.microsoft.com/office/drawing/2014/main" id="{14E57ADE-02C0-AE68-8744-D43CE5475BC7}"/>
              </a:ext>
            </a:extLst>
          </p:cNvPr>
          <p:cNvCxnSpPr>
            <a:cxnSpLocks/>
          </p:cNvCxnSpPr>
          <p:nvPr/>
        </p:nvCxnSpPr>
        <p:spPr>
          <a:xfrm flipV="1">
            <a:off x="1152502" y="3901477"/>
            <a:ext cx="0" cy="160806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0F5605C4-9629-CF09-5D58-7FDBCC4B5D28}"/>
              </a:ext>
            </a:extLst>
          </p:cNvPr>
          <p:cNvCxnSpPr>
            <a:cxnSpLocks/>
          </p:cNvCxnSpPr>
          <p:nvPr/>
        </p:nvCxnSpPr>
        <p:spPr>
          <a:xfrm>
            <a:off x="951986" y="5412605"/>
            <a:ext cx="35135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C87385F6-A86C-40B2-8666-A047F859FCC0}"/>
              </a:ext>
            </a:extLst>
          </p:cNvPr>
          <p:cNvSpPr txBox="1"/>
          <p:nvPr/>
        </p:nvSpPr>
        <p:spPr>
          <a:xfrm>
            <a:off x="3486697" y="5417222"/>
            <a:ext cx="1778466" cy="338554"/>
          </a:xfrm>
          <a:prstGeom prst="rect">
            <a:avLst/>
          </a:prstGeom>
          <a:noFill/>
        </p:spPr>
        <p:txBody>
          <a:bodyPr wrap="square" rtlCol="0">
            <a:spAutoFit/>
          </a:bodyPr>
          <a:lstStyle/>
          <a:p>
            <a:pPr algn="ctr"/>
            <a:r>
              <a:rPr lang="es-CL" sz="1600" i="1" dirty="0"/>
              <a:t>t</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AD15EF1-4E29-2130-FAC8-4E27C8398E7D}"/>
                  </a:ext>
                </a:extLst>
              </p:cNvPr>
              <p:cNvSpPr txBox="1"/>
              <p:nvPr/>
            </p:nvSpPr>
            <p:spPr>
              <a:xfrm>
                <a:off x="0" y="3750626"/>
                <a:ext cx="1778466"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s-CL" sz="1600" b="0" i="1" smtClean="0">
                          <a:latin typeface="Cambria Math" panose="02040503050406030204" pitchFamily="18" charset="0"/>
                        </a:rPr>
                        <m:t>𝑥</m:t>
                      </m:r>
                      <m:d>
                        <m:dPr>
                          <m:ctrlPr>
                            <a:rPr lang="es-CL" sz="1600" b="0" i="1" smtClean="0">
                              <a:latin typeface="Cambria Math" panose="02040503050406030204" pitchFamily="18" charset="0"/>
                            </a:rPr>
                          </m:ctrlPr>
                        </m:dPr>
                        <m:e>
                          <m:r>
                            <a:rPr lang="es-CL" sz="1600" b="0" i="1" smtClean="0">
                              <a:latin typeface="Cambria Math" panose="02040503050406030204" pitchFamily="18" charset="0"/>
                            </a:rPr>
                            <m:t>𝑡</m:t>
                          </m:r>
                        </m:e>
                      </m:d>
                    </m:oMath>
                  </m:oMathPara>
                </a14:m>
                <a:endParaRPr lang="es-CL" sz="1600" i="1" dirty="0"/>
              </a:p>
            </p:txBody>
          </p:sp>
        </mc:Choice>
        <mc:Fallback xmlns="">
          <p:sp>
            <p:nvSpPr>
              <p:cNvPr id="11" name="TextBox 10">
                <a:extLst>
                  <a:ext uri="{FF2B5EF4-FFF2-40B4-BE49-F238E27FC236}">
                    <a16:creationId xmlns:a16="http://schemas.microsoft.com/office/drawing/2014/main" id="{FAD15EF1-4E29-2130-FAC8-4E27C8398E7D}"/>
                  </a:ext>
                </a:extLst>
              </p:cNvPr>
              <p:cNvSpPr txBox="1">
                <a:spLocks noRot="1" noChangeAspect="1" noMove="1" noResize="1" noEditPoints="1" noAdjustHandles="1" noChangeArrowheads="1" noChangeShapeType="1" noTextEdit="1"/>
              </p:cNvSpPr>
              <p:nvPr/>
            </p:nvSpPr>
            <p:spPr>
              <a:xfrm>
                <a:off x="0" y="3750626"/>
                <a:ext cx="1778466" cy="33855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7D05438-C1EA-AC17-7946-C0BBE0A2A0DF}"/>
                  </a:ext>
                </a:extLst>
              </p:cNvPr>
              <p:cNvSpPr txBox="1"/>
              <p:nvPr/>
            </p:nvSpPr>
            <p:spPr>
              <a:xfrm>
                <a:off x="889233" y="4531778"/>
                <a:ext cx="222319"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s-CL"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𝑖</m:t>
                          </m:r>
                        </m:sub>
                      </m:sSub>
                    </m:oMath>
                  </m:oMathPara>
                </a14:m>
                <a:endParaRPr lang="es-CL" sz="1600" i="1" dirty="0"/>
              </a:p>
            </p:txBody>
          </p:sp>
        </mc:Choice>
        <mc:Fallback xmlns="">
          <p:sp>
            <p:nvSpPr>
              <p:cNvPr id="12" name="TextBox 11">
                <a:extLst>
                  <a:ext uri="{FF2B5EF4-FFF2-40B4-BE49-F238E27FC236}">
                    <a16:creationId xmlns:a16="http://schemas.microsoft.com/office/drawing/2014/main" id="{B7D05438-C1EA-AC17-7946-C0BBE0A2A0DF}"/>
                  </a:ext>
                </a:extLst>
              </p:cNvPr>
              <p:cNvSpPr txBox="1">
                <a:spLocks noRot="1" noChangeAspect="1" noMove="1" noResize="1" noEditPoints="1" noAdjustHandles="1" noChangeArrowheads="1" noChangeShapeType="1" noTextEdit="1"/>
              </p:cNvSpPr>
              <p:nvPr/>
            </p:nvSpPr>
            <p:spPr>
              <a:xfrm>
                <a:off x="889233" y="4531778"/>
                <a:ext cx="222319" cy="338554"/>
              </a:xfrm>
              <a:prstGeom prst="rect">
                <a:avLst/>
              </a:prstGeom>
              <a:blipFill>
                <a:blip r:embed="rId5"/>
                <a:stretch>
                  <a:fillRect l="-25000"/>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DAF72753-1D73-7E7A-1B24-184824FBD458}"/>
              </a:ext>
            </a:extLst>
          </p:cNvPr>
          <p:cNvCxnSpPr>
            <a:cxnSpLocks/>
          </p:cNvCxnSpPr>
          <p:nvPr/>
        </p:nvCxnSpPr>
        <p:spPr>
          <a:xfrm flipV="1">
            <a:off x="1143365" y="4089180"/>
            <a:ext cx="2218399" cy="6632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180695C-1ADE-0C0A-2BA6-7B135B8A052A}"/>
              </a:ext>
            </a:extLst>
          </p:cNvPr>
          <p:cNvCxnSpPr>
            <a:cxnSpLocks/>
          </p:cNvCxnSpPr>
          <p:nvPr/>
        </p:nvCxnSpPr>
        <p:spPr>
          <a:xfrm flipV="1">
            <a:off x="6737513" y="3901477"/>
            <a:ext cx="0" cy="160806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F00F8601-4B2E-C543-AB4C-37A15C3CAF41}"/>
              </a:ext>
            </a:extLst>
          </p:cNvPr>
          <p:cNvCxnSpPr>
            <a:cxnSpLocks/>
          </p:cNvCxnSpPr>
          <p:nvPr/>
        </p:nvCxnSpPr>
        <p:spPr>
          <a:xfrm>
            <a:off x="6536997" y="5412605"/>
            <a:ext cx="35135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E2A50FB0-C0A8-964B-2DB4-84E2829952A7}"/>
              </a:ext>
            </a:extLst>
          </p:cNvPr>
          <p:cNvSpPr txBox="1"/>
          <p:nvPr/>
        </p:nvSpPr>
        <p:spPr>
          <a:xfrm>
            <a:off x="9071708" y="5417222"/>
            <a:ext cx="1778466" cy="338554"/>
          </a:xfrm>
          <a:prstGeom prst="rect">
            <a:avLst/>
          </a:prstGeom>
          <a:noFill/>
        </p:spPr>
        <p:txBody>
          <a:bodyPr wrap="square" rtlCol="0">
            <a:spAutoFit/>
          </a:bodyPr>
          <a:lstStyle/>
          <a:p>
            <a:pPr algn="ctr"/>
            <a:r>
              <a:rPr lang="es-CL" sz="1600" i="1" dirty="0"/>
              <a:t>t</a:t>
            </a:r>
          </a:p>
        </p:txBody>
      </p:sp>
      <p:cxnSp>
        <p:nvCxnSpPr>
          <p:cNvPr id="22" name="Straight Connector 21">
            <a:extLst>
              <a:ext uri="{FF2B5EF4-FFF2-40B4-BE49-F238E27FC236}">
                <a16:creationId xmlns:a16="http://schemas.microsoft.com/office/drawing/2014/main" id="{5CF920ED-34FE-3F58-E420-7097799BFA0D}"/>
              </a:ext>
            </a:extLst>
          </p:cNvPr>
          <p:cNvCxnSpPr>
            <a:cxnSpLocks/>
          </p:cNvCxnSpPr>
          <p:nvPr/>
        </p:nvCxnSpPr>
        <p:spPr>
          <a:xfrm>
            <a:off x="6754460" y="4517755"/>
            <a:ext cx="3206481" cy="1402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13C7903-F9F3-F939-52B1-1299C0FA9D73}"/>
                  </a:ext>
                </a:extLst>
              </p:cNvPr>
              <p:cNvSpPr txBox="1"/>
              <p:nvPr/>
            </p:nvSpPr>
            <p:spPr>
              <a:xfrm>
                <a:off x="5585011" y="3845270"/>
                <a:ext cx="1778466"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𝑣</m:t>
                      </m:r>
                    </m:oMath>
                  </m:oMathPara>
                </a14:m>
                <a:endParaRPr lang="es-CL" sz="1600" i="1" dirty="0"/>
              </a:p>
            </p:txBody>
          </p:sp>
        </mc:Choice>
        <mc:Fallback xmlns="">
          <p:sp>
            <p:nvSpPr>
              <p:cNvPr id="23" name="TextBox 22">
                <a:extLst>
                  <a:ext uri="{FF2B5EF4-FFF2-40B4-BE49-F238E27FC236}">
                    <a16:creationId xmlns:a16="http://schemas.microsoft.com/office/drawing/2014/main" id="{813C7903-F9F3-F939-52B1-1299C0FA9D73}"/>
                  </a:ext>
                </a:extLst>
              </p:cNvPr>
              <p:cNvSpPr txBox="1">
                <a:spLocks noRot="1" noChangeAspect="1" noMove="1" noResize="1" noEditPoints="1" noAdjustHandles="1" noChangeArrowheads="1" noChangeShapeType="1" noTextEdit="1"/>
              </p:cNvSpPr>
              <p:nvPr/>
            </p:nvSpPr>
            <p:spPr>
              <a:xfrm>
                <a:off x="5585011" y="3845270"/>
                <a:ext cx="1778466" cy="338554"/>
              </a:xfrm>
              <a:prstGeom prst="rect">
                <a:avLst/>
              </a:prstGeom>
              <a:blipFill>
                <a:blip r:embed="rId6"/>
                <a:stretch>
                  <a:fillRect/>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EE22EB38-7B39-F359-FF39-1E072871AF7B}"/>
              </a:ext>
            </a:extLst>
          </p:cNvPr>
          <p:cNvSpPr txBox="1"/>
          <p:nvPr/>
        </p:nvSpPr>
        <p:spPr>
          <a:xfrm>
            <a:off x="2583902" y="4348478"/>
            <a:ext cx="777777" cy="338554"/>
          </a:xfrm>
          <a:prstGeom prst="rect">
            <a:avLst/>
          </a:prstGeom>
          <a:noFill/>
        </p:spPr>
        <p:txBody>
          <a:bodyPr wrap="none" rtlCol="0">
            <a:spAutoFit/>
          </a:bodyPr>
          <a:lstStyle/>
          <a:p>
            <a:r>
              <a:rPr lang="en-US" sz="1600" dirty="0">
                <a:solidFill>
                  <a:srgbClr val="FF0000"/>
                </a:solidFill>
              </a:rPr>
              <a:t>Recta</a:t>
            </a:r>
          </a:p>
        </p:txBody>
      </p:sp>
      <p:sp>
        <p:nvSpPr>
          <p:cNvPr id="2" name="Marcador de número de diapositiva 2">
            <a:extLst>
              <a:ext uri="{FF2B5EF4-FFF2-40B4-BE49-F238E27FC236}">
                <a16:creationId xmlns:a16="http://schemas.microsoft.com/office/drawing/2014/main" id="{C4E6FC4C-DC04-47EB-39B4-BC4D26462C76}"/>
              </a:ext>
            </a:extLst>
          </p:cNvPr>
          <p:cNvSpPr txBox="1">
            <a:spLocks/>
          </p:cNvSpPr>
          <p:nvPr/>
        </p:nvSpPr>
        <p:spPr>
          <a:xfrm>
            <a:off x="8993372" y="168201"/>
            <a:ext cx="2743200" cy="365125"/>
          </a:xfrm>
          <a:prstGeom prst="rect">
            <a:avLst/>
          </a:prstGeom>
        </p:spPr>
        <p:txBody>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9C89E4B-EE86-427E-B533-BCEDB2CD4BCC}" type="slidenum">
              <a:rPr lang="es-CL" sz="1200" smtClean="0"/>
              <a:pPr algn="r"/>
              <a:t>9</a:t>
            </a:fld>
            <a:endParaRPr lang="es-CL" sz="1200"/>
          </a:p>
        </p:txBody>
      </p:sp>
    </p:spTree>
    <p:extLst>
      <p:ext uri="{BB962C8B-B14F-4D97-AF65-F5344CB8AC3E}">
        <p14:creationId xmlns:p14="http://schemas.microsoft.com/office/powerpoint/2010/main" val="3595039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2EF90-178B-EC5A-CC18-4EED861832E2}"/>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E1C77283-DC19-FFE0-4677-CDC9CB7110CF}"/>
              </a:ext>
            </a:extLst>
          </p:cNvPr>
          <p:cNvSpPr txBox="1"/>
          <p:nvPr/>
        </p:nvSpPr>
        <p:spPr>
          <a:xfrm>
            <a:off x="133350" y="19050"/>
            <a:ext cx="11934826" cy="461665"/>
          </a:xfrm>
          <a:prstGeom prst="rect">
            <a:avLst/>
          </a:prstGeom>
          <a:noFill/>
          <a:ln cap="flat" cmpd="sng">
            <a:solidFill>
              <a:srgbClr val="FFFFFF"/>
            </a:solidFill>
          </a:ln>
        </p:spPr>
        <p:txBody>
          <a:bodyPr wrap="square" rtlCol="0">
            <a:spAutoFit/>
          </a:bodyPr>
          <a:lstStyle/>
          <a:p>
            <a:pPr algn="ctr"/>
            <a:endParaRPr lang="es-CL" sz="2400" dirty="0"/>
          </a:p>
        </p:txBody>
      </p:sp>
      <p:graphicFrame>
        <p:nvGraphicFramePr>
          <p:cNvPr id="8" name="Tabla 7">
            <a:extLst>
              <a:ext uri="{FF2B5EF4-FFF2-40B4-BE49-F238E27FC236}">
                <a16:creationId xmlns:a16="http://schemas.microsoft.com/office/drawing/2014/main" id="{2189401F-2E67-3348-52A0-1721112479A1}"/>
              </a:ext>
            </a:extLst>
          </p:cNvPr>
          <p:cNvGraphicFramePr>
            <a:graphicFrameLocks noGrp="1"/>
          </p:cNvGraphicFramePr>
          <p:nvPr>
            <p:extLst>
              <p:ext uri="{D42A27DB-BD31-4B8C-83A1-F6EECF244321}">
                <p14:modId xmlns:p14="http://schemas.microsoft.com/office/powerpoint/2010/main" val="1392817263"/>
              </p:ext>
            </p:extLst>
          </p:nvPr>
        </p:nvGraphicFramePr>
        <p:xfrm>
          <a:off x="1" y="0"/>
          <a:ext cx="12192000" cy="4572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2960110769"/>
                    </a:ext>
                  </a:extLst>
                </a:gridCol>
              </a:tblGrid>
              <a:tr h="370840">
                <a:tc>
                  <a:txBody>
                    <a:bodyPr/>
                    <a:lstStyle/>
                    <a:p>
                      <a:pPr algn="ctr"/>
                      <a:r>
                        <a:rPr lang="es-MX" sz="2400" dirty="0">
                          <a:latin typeface="Montserrat" pitchFamily="2" charset="77"/>
                        </a:rPr>
                        <a:t>Movimiento rectilíneo uniforme (MRU)</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81913"/>
                  </a:ext>
                </a:extLst>
              </a:tr>
            </a:tbl>
          </a:graphicData>
        </a:graphic>
      </p:graphicFrame>
      <p:sp>
        <p:nvSpPr>
          <p:cNvPr id="3" name="TextBox 2">
            <a:extLst>
              <a:ext uri="{FF2B5EF4-FFF2-40B4-BE49-F238E27FC236}">
                <a16:creationId xmlns:a16="http://schemas.microsoft.com/office/drawing/2014/main" id="{40C879F3-15A3-F2A8-6144-951A26673D06}"/>
              </a:ext>
            </a:extLst>
          </p:cNvPr>
          <p:cNvSpPr txBox="1"/>
          <p:nvPr/>
        </p:nvSpPr>
        <p:spPr>
          <a:xfrm>
            <a:off x="403440" y="950550"/>
            <a:ext cx="11385120" cy="584775"/>
          </a:xfrm>
          <a:prstGeom prst="rect">
            <a:avLst/>
          </a:prstGeom>
          <a:noFill/>
          <a:ln>
            <a:solidFill>
              <a:srgbClr val="FF0000"/>
            </a:solidFill>
          </a:ln>
        </p:spPr>
        <p:txBody>
          <a:bodyPr wrap="square">
            <a:spAutoFit/>
          </a:bodyPr>
          <a:lstStyle/>
          <a:p>
            <a:pPr algn="just"/>
            <a:r>
              <a:rPr lang="en-US" sz="1600" b="1" dirty="0" err="1"/>
              <a:t>Ejemplo</a:t>
            </a:r>
            <a:r>
              <a:rPr lang="en-US" sz="1600" b="1" dirty="0"/>
              <a:t>: </a:t>
            </a:r>
            <a:r>
              <a:rPr lang="es-CL" sz="1600" dirty="0"/>
              <a:t>Una persona corre 10 metros durante 5 segundos hacia la derecha. Determine la velocidad con la que corre.</a:t>
            </a:r>
          </a:p>
        </p:txBody>
      </p:sp>
      <p:sp>
        <p:nvSpPr>
          <p:cNvPr id="2" name="Marcador de número de diapositiva 2">
            <a:extLst>
              <a:ext uri="{FF2B5EF4-FFF2-40B4-BE49-F238E27FC236}">
                <a16:creationId xmlns:a16="http://schemas.microsoft.com/office/drawing/2014/main" id="{BEF264CE-A50D-BAE3-BEDE-F1D2875411BA}"/>
              </a:ext>
            </a:extLst>
          </p:cNvPr>
          <p:cNvSpPr txBox="1">
            <a:spLocks/>
          </p:cNvSpPr>
          <p:nvPr/>
        </p:nvSpPr>
        <p:spPr>
          <a:xfrm>
            <a:off x="8993372" y="168201"/>
            <a:ext cx="2743200" cy="365125"/>
          </a:xfrm>
          <a:prstGeom prst="rect">
            <a:avLst/>
          </a:prstGeom>
        </p:spPr>
        <p:txBody>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9C89E4B-EE86-427E-B533-BCEDB2CD4BCC}" type="slidenum">
              <a:rPr lang="es-CL" sz="1200" smtClean="0"/>
              <a:pPr algn="r"/>
              <a:t>10</a:t>
            </a:fld>
            <a:endParaRPr lang="es-CL" sz="1200"/>
          </a:p>
        </p:txBody>
      </p:sp>
    </p:spTree>
    <p:extLst>
      <p:ext uri="{BB962C8B-B14F-4D97-AF65-F5344CB8AC3E}">
        <p14:creationId xmlns:p14="http://schemas.microsoft.com/office/powerpoint/2010/main" val="810421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F6119-8A43-3575-2B9F-9D74FB20781C}"/>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9EB8A926-E7CD-1211-C52F-D8437BA457C0}"/>
              </a:ext>
            </a:extLst>
          </p:cNvPr>
          <p:cNvSpPr txBox="1"/>
          <p:nvPr/>
        </p:nvSpPr>
        <p:spPr>
          <a:xfrm>
            <a:off x="133350" y="19050"/>
            <a:ext cx="11934826" cy="461665"/>
          </a:xfrm>
          <a:prstGeom prst="rect">
            <a:avLst/>
          </a:prstGeom>
          <a:noFill/>
          <a:ln cap="flat" cmpd="sng">
            <a:solidFill>
              <a:srgbClr val="FFFFFF"/>
            </a:solidFill>
          </a:ln>
        </p:spPr>
        <p:txBody>
          <a:bodyPr wrap="square" rtlCol="0">
            <a:spAutoFit/>
          </a:bodyPr>
          <a:lstStyle/>
          <a:p>
            <a:pPr algn="ctr"/>
            <a:endParaRPr lang="es-CL" sz="2400" dirty="0"/>
          </a:p>
        </p:txBody>
      </p:sp>
      <p:graphicFrame>
        <p:nvGraphicFramePr>
          <p:cNvPr id="8" name="Tabla 7">
            <a:extLst>
              <a:ext uri="{FF2B5EF4-FFF2-40B4-BE49-F238E27FC236}">
                <a16:creationId xmlns:a16="http://schemas.microsoft.com/office/drawing/2014/main" id="{D4F598CF-1159-31C6-5A7A-8E3EEB604EB9}"/>
              </a:ext>
            </a:extLst>
          </p:cNvPr>
          <p:cNvGraphicFramePr>
            <a:graphicFrameLocks noGrp="1"/>
          </p:cNvGraphicFramePr>
          <p:nvPr>
            <p:extLst>
              <p:ext uri="{D42A27DB-BD31-4B8C-83A1-F6EECF244321}">
                <p14:modId xmlns:p14="http://schemas.microsoft.com/office/powerpoint/2010/main" val="1908476874"/>
              </p:ext>
            </p:extLst>
          </p:nvPr>
        </p:nvGraphicFramePr>
        <p:xfrm>
          <a:off x="1" y="0"/>
          <a:ext cx="12192000" cy="4572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2960110769"/>
                    </a:ext>
                  </a:extLst>
                </a:gridCol>
              </a:tblGrid>
              <a:tr h="370840">
                <a:tc>
                  <a:txBody>
                    <a:bodyPr/>
                    <a:lstStyle/>
                    <a:p>
                      <a:pPr algn="ctr"/>
                      <a:r>
                        <a:rPr lang="es-MX" sz="2400" dirty="0">
                          <a:latin typeface="Montserrat" pitchFamily="2" charset="77"/>
                        </a:rPr>
                        <a:t>Movimiento rectilíneo uniforme (MRU)</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81913"/>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D96612-8D75-1FB8-2227-7C059BDC37B2}"/>
                  </a:ext>
                </a:extLst>
              </p:cNvPr>
              <p:cNvSpPr txBox="1"/>
              <p:nvPr/>
            </p:nvSpPr>
            <p:spPr>
              <a:xfrm>
                <a:off x="403440" y="950550"/>
                <a:ext cx="11385120" cy="3293209"/>
              </a:xfrm>
              <a:prstGeom prst="rect">
                <a:avLst/>
              </a:prstGeom>
              <a:noFill/>
              <a:ln>
                <a:solidFill>
                  <a:srgbClr val="FF0000"/>
                </a:solidFill>
              </a:ln>
            </p:spPr>
            <p:txBody>
              <a:bodyPr wrap="square">
                <a:spAutoFit/>
              </a:bodyPr>
              <a:lstStyle/>
              <a:p>
                <a:pPr algn="just"/>
                <a:r>
                  <a:rPr lang="en-US" sz="1600" b="1" dirty="0"/>
                  <a:t>Ejemplo: </a:t>
                </a:r>
                <a:r>
                  <a:rPr lang="es-CL" sz="1600" dirty="0"/>
                  <a:t>Una persona corre 10 metros durante 5 segundos hacia la derecha. Determine la velocidad con la que corre.</a:t>
                </a:r>
              </a:p>
              <a:p>
                <a:endParaRPr lang="es-CL" sz="1600" dirty="0"/>
              </a:p>
              <a:p>
                <a:r>
                  <a:rPr lang="en-US" sz="1600" b="1" dirty="0"/>
                  <a:t>Desarrollo</a:t>
                </a:r>
              </a:p>
              <a:p>
                <a:r>
                  <a:rPr lang="es-CL" sz="1600" dirty="0"/>
                  <a:t>Supongamos que la persona inicia su movimiento en el origen del plano cartesiano en el eje x.</a:t>
                </a:r>
              </a:p>
              <a:p>
                <a:endParaRPr lang="es-CL" sz="1600" dirty="0"/>
              </a:p>
              <a:p>
                <a:endParaRPr lang="es-CL" sz="1600" dirty="0"/>
              </a:p>
              <a:p>
                <a:endParaRPr lang="es-CL" sz="1600" dirty="0"/>
              </a:p>
              <a:p>
                <a:endParaRPr lang="es-CL" sz="1600" dirty="0"/>
              </a:p>
              <a:p>
                <a:endParaRPr lang="es-CL" sz="1600" dirty="0"/>
              </a:p>
              <a:p>
                <a:pPr/>
                <a14:m>
                  <m:oMathPara xmlns:m="http://schemas.openxmlformats.org/officeDocument/2006/math">
                    <m:oMathParaPr>
                      <m:jc m:val="centerGroup"/>
                    </m:oMathParaPr>
                    <m:oMath xmlns:m="http://schemas.openxmlformats.org/officeDocument/2006/math">
                      <m:r>
                        <a:rPr lang="es-CL" sz="1600" i="1">
                          <a:latin typeface="Cambria Math" panose="02040503050406030204" pitchFamily="18" charset="0"/>
                          <a:ea typeface="Cambria Math" panose="02040503050406030204" pitchFamily="18" charset="0"/>
                        </a:rPr>
                        <m:t>𝑥</m:t>
                      </m:r>
                      <m:d>
                        <m:dPr>
                          <m:ctrlPr>
                            <a:rPr lang="es-CL" sz="1600" i="1">
                              <a:latin typeface="Cambria Math" panose="02040503050406030204" pitchFamily="18" charset="0"/>
                              <a:ea typeface="Cambria Math" panose="02040503050406030204" pitchFamily="18" charset="0"/>
                            </a:rPr>
                          </m:ctrlPr>
                        </m:dPr>
                        <m:e>
                          <m:r>
                            <a:rPr lang="es-CL" sz="1600" i="1">
                              <a:latin typeface="Cambria Math" panose="02040503050406030204" pitchFamily="18" charset="0"/>
                              <a:ea typeface="Cambria Math" panose="02040503050406030204" pitchFamily="18" charset="0"/>
                            </a:rPr>
                            <m:t>𝑡</m:t>
                          </m:r>
                        </m:e>
                      </m:d>
                      <m:r>
                        <a:rPr lang="es-CL" sz="1600" i="1">
                          <a:latin typeface="Cambria Math" panose="02040503050406030204" pitchFamily="18" charset="0"/>
                          <a:ea typeface="Cambria Math" panose="02040503050406030204" pitchFamily="18" charset="0"/>
                        </a:rPr>
                        <m:t>=</m:t>
                      </m:r>
                      <m:sSub>
                        <m:sSubPr>
                          <m:ctrlPr>
                            <a:rPr lang="es-CL" sz="1600" i="1">
                              <a:latin typeface="Cambria Math" panose="02040503050406030204" pitchFamily="18" charset="0"/>
                              <a:ea typeface="Cambria Math" panose="02040503050406030204" pitchFamily="18" charset="0"/>
                            </a:rPr>
                          </m:ctrlPr>
                        </m:sSubPr>
                        <m:e>
                          <m:r>
                            <a:rPr lang="es-CL" sz="1600" i="1">
                              <a:latin typeface="Cambria Math" panose="02040503050406030204" pitchFamily="18" charset="0"/>
                              <a:ea typeface="Cambria Math" panose="02040503050406030204" pitchFamily="18" charset="0"/>
                            </a:rPr>
                            <m:t>𝑥</m:t>
                          </m:r>
                        </m:e>
                        <m:sub>
                          <m:r>
                            <a:rPr lang="es-CL" sz="1600" i="1">
                              <a:latin typeface="Cambria Math" panose="02040503050406030204" pitchFamily="18" charset="0"/>
                              <a:ea typeface="Cambria Math" panose="02040503050406030204" pitchFamily="18" charset="0"/>
                            </a:rPr>
                            <m:t>𝑖</m:t>
                          </m:r>
                        </m:sub>
                      </m:sSub>
                      <m:r>
                        <a:rPr lang="es-CL"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𝑣</m:t>
                      </m:r>
                      <m:r>
                        <a:rPr lang="es-CL" sz="1600" i="1">
                          <a:latin typeface="Cambria Math" panose="02040503050406030204" pitchFamily="18" charset="0"/>
                          <a:ea typeface="Cambria Math" panose="02040503050406030204" pitchFamily="18" charset="0"/>
                        </a:rPr>
                        <m:t>𝑡</m:t>
                      </m:r>
                      <m:r>
                        <m:rPr>
                          <m:nor/>
                        </m:rPr>
                        <a:rPr lang="es-CL" sz="1600" dirty="0"/>
                        <m:t> </m:t>
                      </m:r>
                      <m:r>
                        <a:rPr lang="es-CL" sz="1600">
                          <a:latin typeface="Cambria Math" panose="02040503050406030204" pitchFamily="18" charset="0"/>
                          <a:ea typeface="Cambria Math" panose="02040503050406030204" pitchFamily="18" charset="0"/>
                        </a:rPr>
                        <m:t>    </m:t>
                      </m:r>
                      <m:r>
                        <a:rPr lang="es-CL" sz="1600" i="1">
                          <a:latin typeface="Cambria Math" panose="02040503050406030204" pitchFamily="18" charset="0"/>
                          <a:ea typeface="Cambria Math" panose="02040503050406030204" pitchFamily="18" charset="0"/>
                        </a:rPr>
                        <m:t>⇒  10 </m:t>
                      </m:r>
                      <m:r>
                        <m:rPr>
                          <m:sty m:val="p"/>
                        </m:rPr>
                        <a:rPr lang="es-CL" sz="1600">
                          <a:latin typeface="Cambria Math" panose="02040503050406030204" pitchFamily="18" charset="0"/>
                          <a:ea typeface="Cambria Math" panose="02040503050406030204" pitchFamily="18" charset="0"/>
                        </a:rPr>
                        <m:t>m</m:t>
                      </m:r>
                      <m:r>
                        <a:rPr lang="es-CL" sz="1600" i="1">
                          <a:latin typeface="Cambria Math" panose="02040503050406030204" pitchFamily="18" charset="0"/>
                          <a:ea typeface="Cambria Math" panose="02040503050406030204" pitchFamily="18" charset="0"/>
                        </a:rPr>
                        <m:t>=0 </m:t>
                      </m:r>
                      <m:r>
                        <m:rPr>
                          <m:sty m:val="p"/>
                        </m:rPr>
                        <a:rPr lang="es-CL" sz="1600">
                          <a:latin typeface="Cambria Math" panose="02040503050406030204" pitchFamily="18" charset="0"/>
                          <a:ea typeface="Cambria Math" panose="02040503050406030204" pitchFamily="18" charset="0"/>
                        </a:rPr>
                        <m:t>m</m:t>
                      </m:r>
                      <m:r>
                        <a:rPr lang="es-CL"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𝑣</m:t>
                      </m:r>
                      <m:r>
                        <a:rPr lang="en-US" sz="1600" b="0" i="1" smtClean="0">
                          <a:latin typeface="Cambria Math" panose="02040503050406030204" pitchFamily="18" charset="0"/>
                          <a:ea typeface="Cambria Math" panose="02040503050406030204" pitchFamily="18" charset="0"/>
                        </a:rPr>
                        <m:t> </m:t>
                      </m:r>
                      <m:d>
                        <m:dPr>
                          <m:ctrlPr>
                            <a:rPr lang="en-US" sz="1600" b="0" i="1" smtClean="0">
                              <a:latin typeface="Cambria Math" panose="02040503050406030204" pitchFamily="18" charset="0"/>
                              <a:ea typeface="Cambria Math" panose="02040503050406030204" pitchFamily="18" charset="0"/>
                            </a:rPr>
                          </m:ctrlPr>
                        </m:dPr>
                        <m:e>
                          <m:r>
                            <a:rPr lang="es-CL" sz="1600" i="1">
                              <a:latin typeface="Cambria Math" panose="02040503050406030204" pitchFamily="18" charset="0"/>
                              <a:ea typeface="Cambria Math" panose="02040503050406030204" pitchFamily="18" charset="0"/>
                            </a:rPr>
                            <m:t>5 </m:t>
                          </m:r>
                          <m:r>
                            <m:rPr>
                              <m:sty m:val="p"/>
                            </m:rPr>
                            <a:rPr lang="es-CL" sz="1600">
                              <a:latin typeface="Cambria Math" panose="02040503050406030204" pitchFamily="18" charset="0"/>
                              <a:ea typeface="Cambria Math" panose="02040503050406030204" pitchFamily="18" charset="0"/>
                            </a:rPr>
                            <m:t>s</m:t>
                          </m:r>
                        </m:e>
                      </m:d>
                    </m:oMath>
                  </m:oMathPara>
                </a14:m>
                <a:endParaRPr lang="es-CL" sz="1600" dirty="0"/>
              </a:p>
              <a:p>
                <a:endParaRPr lang="en-US" sz="1600" dirty="0"/>
              </a:p>
              <a:p>
                <a:r>
                  <a:rPr lang="en-US" sz="1600" dirty="0"/>
                  <a:t>La </a:t>
                </a:r>
                <a:r>
                  <a:rPr lang="en-US" sz="1600" dirty="0" err="1"/>
                  <a:t>velocidad</a:t>
                </a:r>
                <a:r>
                  <a:rPr lang="en-US" sz="1600" dirty="0"/>
                  <a:t> es </a:t>
                </a:r>
                <a14:m>
                  <m:oMath xmlns:m="http://schemas.openxmlformats.org/officeDocument/2006/math">
                    <m:r>
                      <a:rPr lang="en-US" sz="1600" b="0" i="1" smtClean="0">
                        <a:latin typeface="Cambria Math" panose="02040503050406030204" pitchFamily="18" charset="0"/>
                      </a:rPr>
                      <m:t>𝑣</m:t>
                    </m:r>
                    <m:r>
                      <a:rPr lang="en-US" sz="1600" b="0" i="1" smtClean="0">
                        <a:latin typeface="Cambria Math" panose="02040503050406030204" pitchFamily="18" charset="0"/>
                      </a:rPr>
                      <m:t>=5 </m:t>
                    </m:r>
                    <m:r>
                      <m:rPr>
                        <m:sty m:val="p"/>
                      </m:rPr>
                      <a:rPr lang="en-US" sz="1600" b="0" i="0" smtClean="0">
                        <a:latin typeface="Cambria Math" panose="02040503050406030204" pitchFamily="18" charset="0"/>
                      </a:rPr>
                      <m:t>m</m:t>
                    </m:r>
                    <m:r>
                      <a:rPr lang="en-US" sz="1600" b="0" i="0" smtClean="0">
                        <a:latin typeface="Cambria Math" panose="02040503050406030204" pitchFamily="18" charset="0"/>
                      </a:rPr>
                      <m:t>/</m:t>
                    </m:r>
                    <m:r>
                      <m:rPr>
                        <m:sty m:val="p"/>
                      </m:rPr>
                      <a:rPr lang="en-US" sz="1600" b="0" i="0" smtClean="0">
                        <a:latin typeface="Cambria Math" panose="02040503050406030204" pitchFamily="18" charset="0"/>
                      </a:rPr>
                      <m:t>s</m:t>
                    </m:r>
                  </m:oMath>
                </a14:m>
                <a:r>
                  <a:rPr lang="en-US" sz="1600" dirty="0"/>
                  <a:t> </a:t>
                </a:r>
                <a:r>
                  <a:rPr lang="en-US" sz="1600" dirty="0" err="1"/>
                  <a:t>hacia</a:t>
                </a:r>
                <a:r>
                  <a:rPr lang="en-US" sz="1600" dirty="0"/>
                  <a:t> la </a:t>
                </a:r>
                <a:r>
                  <a:rPr lang="en-US" sz="1600" dirty="0" err="1"/>
                  <a:t>derecha</a:t>
                </a:r>
                <a:r>
                  <a:rPr lang="en-US" sz="1600" dirty="0"/>
                  <a:t>. </a:t>
                </a:r>
              </a:p>
            </p:txBody>
          </p:sp>
        </mc:Choice>
        <mc:Fallback xmlns="">
          <p:sp>
            <p:nvSpPr>
              <p:cNvPr id="3" name="TextBox 2">
                <a:extLst>
                  <a:ext uri="{FF2B5EF4-FFF2-40B4-BE49-F238E27FC236}">
                    <a16:creationId xmlns:a16="http://schemas.microsoft.com/office/drawing/2014/main" id="{C0D96612-8D75-1FB8-2227-7C059BDC37B2}"/>
                  </a:ext>
                </a:extLst>
              </p:cNvPr>
              <p:cNvSpPr txBox="1">
                <a:spLocks noRot="1" noChangeAspect="1" noMove="1" noResize="1" noEditPoints="1" noAdjustHandles="1" noChangeArrowheads="1" noChangeShapeType="1" noTextEdit="1"/>
              </p:cNvSpPr>
              <p:nvPr/>
            </p:nvSpPr>
            <p:spPr>
              <a:xfrm>
                <a:off x="403440" y="950550"/>
                <a:ext cx="11385120" cy="3293209"/>
              </a:xfrm>
              <a:prstGeom prst="rect">
                <a:avLst/>
              </a:prstGeom>
              <a:blipFill>
                <a:blip r:embed="rId3"/>
                <a:stretch>
                  <a:fillRect l="-223" t="-383" r="-223" b="-1533"/>
                </a:stretch>
              </a:blipFill>
              <a:ln>
                <a:solidFill>
                  <a:srgbClr val="FF0000"/>
                </a:solidFill>
              </a:ln>
            </p:spPr>
            <p:txBody>
              <a:bodyPr/>
              <a:lstStyle/>
              <a:p>
                <a:r>
                  <a:rPr lang="es-ES_tradnl">
                    <a:noFill/>
                  </a:rPr>
                  <a:t> </a:t>
                </a:r>
              </a:p>
            </p:txBody>
          </p:sp>
        </mc:Fallback>
      </mc:AlternateContent>
      <p:cxnSp>
        <p:nvCxnSpPr>
          <p:cNvPr id="5" name="Straight Connector 4">
            <a:extLst>
              <a:ext uri="{FF2B5EF4-FFF2-40B4-BE49-F238E27FC236}">
                <a16:creationId xmlns:a16="http://schemas.microsoft.com/office/drawing/2014/main" id="{7E0C4EC1-2D3B-C364-C53D-FE2761C94770}"/>
              </a:ext>
            </a:extLst>
          </p:cNvPr>
          <p:cNvCxnSpPr>
            <a:cxnSpLocks/>
          </p:cNvCxnSpPr>
          <p:nvPr/>
        </p:nvCxnSpPr>
        <p:spPr>
          <a:xfrm>
            <a:off x="2276542" y="2886282"/>
            <a:ext cx="8179266" cy="0"/>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CACBB19-CCAC-CB86-7813-26FAB36EC595}"/>
                  </a:ext>
                </a:extLst>
              </p:cNvPr>
              <p:cNvSpPr txBox="1"/>
              <p:nvPr/>
            </p:nvSpPr>
            <p:spPr>
              <a:xfrm>
                <a:off x="2725812" y="2909037"/>
                <a:ext cx="1734982"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s-CL" sz="1600" b="0" i="1" smtClean="0">
                              <a:latin typeface="Cambria Math" panose="02040503050406030204" pitchFamily="18" charset="0"/>
                            </a:rPr>
                          </m:ctrlPr>
                        </m:sSubPr>
                        <m:e>
                          <m:r>
                            <a:rPr lang="es-CL" sz="1600" b="0" i="1" smtClean="0">
                              <a:latin typeface="Cambria Math" panose="02040503050406030204" pitchFamily="18" charset="0"/>
                            </a:rPr>
                            <m:t>𝑥</m:t>
                          </m:r>
                        </m:e>
                        <m:sub>
                          <m:r>
                            <a:rPr lang="es-CL" sz="1600" b="0" i="1" smtClean="0">
                              <a:latin typeface="Cambria Math" panose="02040503050406030204" pitchFamily="18" charset="0"/>
                            </a:rPr>
                            <m:t>𝑖</m:t>
                          </m:r>
                        </m:sub>
                      </m:sSub>
                      <m:r>
                        <a:rPr lang="en-US" sz="1600" b="0" i="1" smtClean="0">
                          <a:latin typeface="Cambria Math" panose="02040503050406030204" pitchFamily="18" charset="0"/>
                        </a:rPr>
                        <m:t>=0</m:t>
                      </m:r>
                      <m:r>
                        <a:rPr lang="es-CL" sz="1600" b="0" i="1" smtClean="0">
                          <a:latin typeface="Cambria Math" panose="02040503050406030204" pitchFamily="18" charset="0"/>
                        </a:rPr>
                        <m:t>,</m:t>
                      </m:r>
                      <m:sSub>
                        <m:sSubPr>
                          <m:ctrlPr>
                            <a:rPr lang="es-CL" sz="1600" i="1">
                              <a:latin typeface="Cambria Math" panose="02040503050406030204" pitchFamily="18" charset="0"/>
                            </a:rPr>
                          </m:ctrlPr>
                        </m:sSubPr>
                        <m:e>
                          <m:r>
                            <a:rPr lang="es-CL" sz="1600" i="1">
                              <a:latin typeface="Cambria Math" panose="02040503050406030204" pitchFamily="18" charset="0"/>
                            </a:rPr>
                            <m:t>𝑡</m:t>
                          </m:r>
                        </m:e>
                        <m:sub>
                          <m:r>
                            <a:rPr lang="es-CL" sz="1600" i="1">
                              <a:latin typeface="Cambria Math" panose="02040503050406030204" pitchFamily="18" charset="0"/>
                            </a:rPr>
                            <m:t>𝑖</m:t>
                          </m:r>
                          <m:r>
                            <a:rPr lang="es-CL" sz="1600" i="1">
                              <a:latin typeface="Cambria Math" panose="02040503050406030204" pitchFamily="18" charset="0"/>
                            </a:rPr>
                            <m:t> </m:t>
                          </m:r>
                        </m:sub>
                      </m:sSub>
                      <m:r>
                        <a:rPr lang="en-US" sz="1600" b="0" i="1" smtClean="0">
                          <a:latin typeface="Cambria Math" panose="02040503050406030204" pitchFamily="18" charset="0"/>
                        </a:rPr>
                        <m:t>=0</m:t>
                      </m:r>
                    </m:oMath>
                  </m:oMathPara>
                </a14:m>
                <a:endParaRPr lang="es-CL" sz="1600" b="0" i="1" dirty="0"/>
              </a:p>
            </p:txBody>
          </p:sp>
        </mc:Choice>
        <mc:Fallback xmlns="">
          <p:sp>
            <p:nvSpPr>
              <p:cNvPr id="7" name="TextBox 6">
                <a:extLst>
                  <a:ext uri="{FF2B5EF4-FFF2-40B4-BE49-F238E27FC236}">
                    <a16:creationId xmlns:a16="http://schemas.microsoft.com/office/drawing/2014/main" id="{9CACBB19-CCAC-CB86-7813-26FAB36EC595}"/>
                  </a:ext>
                </a:extLst>
              </p:cNvPr>
              <p:cNvSpPr txBox="1">
                <a:spLocks noRot="1" noChangeAspect="1" noMove="1" noResize="1" noEditPoints="1" noAdjustHandles="1" noChangeArrowheads="1" noChangeShapeType="1" noTextEdit="1"/>
              </p:cNvSpPr>
              <p:nvPr/>
            </p:nvSpPr>
            <p:spPr>
              <a:xfrm>
                <a:off x="2725812" y="2909037"/>
                <a:ext cx="1734982" cy="338554"/>
              </a:xfrm>
              <a:prstGeom prst="rect">
                <a:avLst/>
              </a:prstGeom>
              <a:blipFill>
                <a:blip r:embed="rId4"/>
                <a:stretch>
                  <a:fillRect/>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E7A00382-95A6-C801-B6FB-146FFEDDC539}"/>
              </a:ext>
            </a:extLst>
          </p:cNvPr>
          <p:cNvCxnSpPr/>
          <p:nvPr/>
        </p:nvCxnSpPr>
        <p:spPr>
          <a:xfrm>
            <a:off x="3983546" y="2616710"/>
            <a:ext cx="90601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40C33C5-8DCC-25A6-0BA0-8077B0974008}"/>
              </a:ext>
            </a:extLst>
          </p:cNvPr>
          <p:cNvCxnSpPr>
            <a:cxnSpLocks/>
          </p:cNvCxnSpPr>
          <p:nvPr/>
        </p:nvCxnSpPr>
        <p:spPr>
          <a:xfrm flipV="1">
            <a:off x="3573884" y="2756603"/>
            <a:ext cx="0" cy="246710"/>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C5406205-BED0-E869-C181-15ADCC94244E}"/>
              </a:ext>
            </a:extLst>
          </p:cNvPr>
          <p:cNvCxnSpPr>
            <a:cxnSpLocks/>
          </p:cNvCxnSpPr>
          <p:nvPr/>
        </p:nvCxnSpPr>
        <p:spPr>
          <a:xfrm flipV="1">
            <a:off x="8071781" y="2756603"/>
            <a:ext cx="0" cy="246710"/>
          </a:xfrm>
          <a:prstGeom prst="line">
            <a:avLst/>
          </a:prstGeom>
          <a:ln w="28575"/>
        </p:spPr>
        <p:style>
          <a:lnRef idx="1">
            <a:schemeClr val="dk1"/>
          </a:lnRef>
          <a:fillRef idx="0">
            <a:schemeClr val="dk1"/>
          </a:fillRef>
          <a:effectRef idx="0">
            <a:schemeClr val="dk1"/>
          </a:effectRef>
          <a:fontRef idx="minor">
            <a:schemeClr val="tx1"/>
          </a:fontRef>
        </p:style>
      </p:cxnSp>
      <p:grpSp>
        <p:nvGrpSpPr>
          <p:cNvPr id="12" name="Group 11">
            <a:extLst>
              <a:ext uri="{FF2B5EF4-FFF2-40B4-BE49-F238E27FC236}">
                <a16:creationId xmlns:a16="http://schemas.microsoft.com/office/drawing/2014/main" id="{A3FD3196-1346-65DE-4380-B0A1372650FA}"/>
              </a:ext>
            </a:extLst>
          </p:cNvPr>
          <p:cNvGrpSpPr/>
          <p:nvPr/>
        </p:nvGrpSpPr>
        <p:grpSpPr>
          <a:xfrm>
            <a:off x="3400356" y="2237061"/>
            <a:ext cx="385894" cy="640963"/>
            <a:chOff x="6233020" y="3838758"/>
            <a:chExt cx="385894" cy="640963"/>
          </a:xfrm>
        </p:grpSpPr>
        <p:cxnSp>
          <p:nvCxnSpPr>
            <p:cNvPr id="13" name="Straight Connector 12">
              <a:extLst>
                <a:ext uri="{FF2B5EF4-FFF2-40B4-BE49-F238E27FC236}">
                  <a16:creationId xmlns:a16="http://schemas.microsoft.com/office/drawing/2014/main" id="{D96EFAB1-77C7-B611-A89A-5ED6CDCD6742}"/>
                </a:ext>
              </a:extLst>
            </p:cNvPr>
            <p:cNvCxnSpPr/>
            <p:nvPr/>
          </p:nvCxnSpPr>
          <p:spPr>
            <a:xfrm flipV="1">
              <a:off x="6233020" y="4241284"/>
              <a:ext cx="192947" cy="238437"/>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24070C9E-54A7-7A6E-4881-D35DB5AFE383}"/>
                </a:ext>
              </a:extLst>
            </p:cNvPr>
            <p:cNvCxnSpPr>
              <a:cxnSpLocks/>
            </p:cNvCxnSpPr>
            <p:nvPr/>
          </p:nvCxnSpPr>
          <p:spPr>
            <a:xfrm>
              <a:off x="6425967" y="4234366"/>
              <a:ext cx="192947" cy="238437"/>
            </a:xfrm>
            <a:prstGeom prst="line">
              <a:avLst/>
            </a:prstGeom>
            <a:ln w="28575"/>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3C7A37AB-57CD-B407-83BA-84C76E845BC3}"/>
                </a:ext>
              </a:extLst>
            </p:cNvPr>
            <p:cNvCxnSpPr>
              <a:cxnSpLocks/>
            </p:cNvCxnSpPr>
            <p:nvPr/>
          </p:nvCxnSpPr>
          <p:spPr>
            <a:xfrm flipH="1" flipV="1">
              <a:off x="6425967" y="4056618"/>
              <a:ext cx="0" cy="216000"/>
            </a:xfrm>
            <a:prstGeom prst="line">
              <a:avLst/>
            </a:prstGeom>
            <a:ln w="28575"/>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0B7325E5-649D-F197-F44C-7198B2A13C3F}"/>
                </a:ext>
              </a:extLst>
            </p:cNvPr>
            <p:cNvCxnSpPr>
              <a:cxnSpLocks/>
            </p:cNvCxnSpPr>
            <p:nvPr/>
          </p:nvCxnSpPr>
          <p:spPr>
            <a:xfrm flipV="1">
              <a:off x="6434357" y="4136575"/>
              <a:ext cx="165482" cy="44852"/>
            </a:xfrm>
            <a:prstGeom prst="line">
              <a:avLst/>
            </a:prstGeom>
            <a:ln w="28575"/>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D498CDD-F231-11AB-EB21-3EAB84625311}"/>
                </a:ext>
              </a:extLst>
            </p:cNvPr>
            <p:cNvCxnSpPr>
              <a:cxnSpLocks/>
            </p:cNvCxnSpPr>
            <p:nvPr/>
          </p:nvCxnSpPr>
          <p:spPr>
            <a:xfrm>
              <a:off x="6268875" y="4138047"/>
              <a:ext cx="165482" cy="44852"/>
            </a:xfrm>
            <a:prstGeom prst="line">
              <a:avLst/>
            </a:prstGeom>
            <a:ln w="28575"/>
          </p:spPr>
          <p:style>
            <a:lnRef idx="1">
              <a:schemeClr val="dk1"/>
            </a:lnRef>
            <a:fillRef idx="0">
              <a:schemeClr val="dk1"/>
            </a:fillRef>
            <a:effectRef idx="0">
              <a:schemeClr val="dk1"/>
            </a:effectRef>
            <a:fontRef idx="minor">
              <a:schemeClr val="tx1"/>
            </a:fontRef>
          </p:style>
        </p:cxnSp>
        <p:sp>
          <p:nvSpPr>
            <p:cNvPr id="18" name="Oval 17">
              <a:extLst>
                <a:ext uri="{FF2B5EF4-FFF2-40B4-BE49-F238E27FC236}">
                  <a16:creationId xmlns:a16="http://schemas.microsoft.com/office/drawing/2014/main" id="{7B011D56-CD79-6E7E-9064-249D6AB58223}"/>
                </a:ext>
              </a:extLst>
            </p:cNvPr>
            <p:cNvSpPr>
              <a:spLocks noChangeAspect="1"/>
            </p:cNvSpPr>
            <p:nvPr/>
          </p:nvSpPr>
          <p:spPr>
            <a:xfrm>
              <a:off x="6318937" y="3838758"/>
              <a:ext cx="214061" cy="21406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204C90A-F547-5A66-0508-4E4E9A9241C8}"/>
                  </a:ext>
                </a:extLst>
              </p:cNvPr>
              <p:cNvSpPr txBox="1"/>
              <p:nvPr/>
            </p:nvSpPr>
            <p:spPr>
              <a:xfrm>
                <a:off x="6967280" y="2912657"/>
                <a:ext cx="2209002"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𝑥</m:t>
                      </m:r>
                      <m:r>
                        <a:rPr lang="en-US" sz="1600" b="0" i="1" smtClean="0">
                          <a:latin typeface="Cambria Math" panose="02040503050406030204" pitchFamily="18" charset="0"/>
                        </a:rPr>
                        <m:t>=10 </m:t>
                      </m:r>
                      <m:r>
                        <m:rPr>
                          <m:sty m:val="p"/>
                        </m:rPr>
                        <a:rPr lang="en-US" sz="1600" b="0" i="0" smtClean="0">
                          <a:latin typeface="Cambria Math" panose="02040503050406030204" pitchFamily="18" charset="0"/>
                        </a:rPr>
                        <m:t>m</m:t>
                      </m:r>
                      <m:r>
                        <a:rPr lang="es-CL" sz="1600" b="0" i="1" smtClean="0">
                          <a:latin typeface="Cambria Math" panose="02040503050406030204" pitchFamily="18" charset="0"/>
                        </a:rPr>
                        <m:t>,</m:t>
                      </m:r>
                      <m:r>
                        <a:rPr lang="en-US" sz="1600" i="1" smtClean="0">
                          <a:latin typeface="Cambria Math" panose="02040503050406030204" pitchFamily="18" charset="0"/>
                        </a:rPr>
                        <m:t>𝑡</m:t>
                      </m:r>
                      <m:r>
                        <a:rPr lang="en-US" sz="1600" b="0" i="1" smtClean="0">
                          <a:latin typeface="Cambria Math" panose="02040503050406030204" pitchFamily="18" charset="0"/>
                        </a:rPr>
                        <m:t>=5 </m:t>
                      </m:r>
                      <m:r>
                        <a:rPr lang="en-US" sz="1600" b="0" i="1" smtClean="0">
                          <a:latin typeface="Cambria Math" panose="02040503050406030204" pitchFamily="18" charset="0"/>
                        </a:rPr>
                        <m:t>𝑠</m:t>
                      </m:r>
                    </m:oMath>
                  </m:oMathPara>
                </a14:m>
                <a:endParaRPr lang="es-CL" sz="1600" b="0" i="1" dirty="0"/>
              </a:p>
            </p:txBody>
          </p:sp>
        </mc:Choice>
        <mc:Fallback xmlns="">
          <p:sp>
            <p:nvSpPr>
              <p:cNvPr id="19" name="TextBox 18">
                <a:extLst>
                  <a:ext uri="{FF2B5EF4-FFF2-40B4-BE49-F238E27FC236}">
                    <a16:creationId xmlns:a16="http://schemas.microsoft.com/office/drawing/2014/main" id="{E204C90A-F547-5A66-0508-4E4E9A9241C8}"/>
                  </a:ext>
                </a:extLst>
              </p:cNvPr>
              <p:cNvSpPr txBox="1">
                <a:spLocks noRot="1" noChangeAspect="1" noMove="1" noResize="1" noEditPoints="1" noAdjustHandles="1" noChangeArrowheads="1" noChangeShapeType="1" noTextEdit="1"/>
              </p:cNvSpPr>
              <p:nvPr/>
            </p:nvSpPr>
            <p:spPr>
              <a:xfrm>
                <a:off x="6967280" y="2912657"/>
                <a:ext cx="2209002" cy="338554"/>
              </a:xfrm>
              <a:prstGeom prst="rect">
                <a:avLst/>
              </a:prstGeom>
              <a:blipFill>
                <a:blip r:embed="rId5"/>
                <a:stretch>
                  <a:fillRect b="-14815"/>
                </a:stretch>
              </a:blipFill>
            </p:spPr>
            <p:txBody>
              <a:bodyPr/>
              <a:lstStyle/>
              <a:p>
                <a:r>
                  <a:rPr lang="es-ES_tradnl">
                    <a:noFill/>
                  </a:rPr>
                  <a:t> </a:t>
                </a:r>
              </a:p>
            </p:txBody>
          </p:sp>
        </mc:Fallback>
      </mc:AlternateContent>
      <p:sp>
        <p:nvSpPr>
          <p:cNvPr id="2" name="Marcador de número de diapositiva 2">
            <a:extLst>
              <a:ext uri="{FF2B5EF4-FFF2-40B4-BE49-F238E27FC236}">
                <a16:creationId xmlns:a16="http://schemas.microsoft.com/office/drawing/2014/main" id="{C257B53D-B863-2D8A-EA8E-1C17106FD84F}"/>
              </a:ext>
            </a:extLst>
          </p:cNvPr>
          <p:cNvSpPr txBox="1">
            <a:spLocks/>
          </p:cNvSpPr>
          <p:nvPr/>
        </p:nvSpPr>
        <p:spPr>
          <a:xfrm>
            <a:off x="8993372" y="168201"/>
            <a:ext cx="2743200" cy="365125"/>
          </a:xfrm>
          <a:prstGeom prst="rect">
            <a:avLst/>
          </a:prstGeom>
        </p:spPr>
        <p:txBody>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9C89E4B-EE86-427E-B533-BCEDB2CD4BCC}" type="slidenum">
              <a:rPr lang="es-CL" sz="1200" smtClean="0"/>
              <a:pPr algn="r"/>
              <a:t>11</a:t>
            </a:fld>
            <a:endParaRPr lang="es-CL" sz="1200"/>
          </a:p>
        </p:txBody>
      </p:sp>
    </p:spTree>
    <p:extLst>
      <p:ext uri="{BB962C8B-B14F-4D97-AF65-F5344CB8AC3E}">
        <p14:creationId xmlns:p14="http://schemas.microsoft.com/office/powerpoint/2010/main" val="3808633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35B8C-187D-80B5-7088-1CBF53E63CF2}"/>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D804644C-2C3E-3F95-311F-68A085E6C954}"/>
              </a:ext>
            </a:extLst>
          </p:cNvPr>
          <p:cNvSpPr txBox="1"/>
          <p:nvPr/>
        </p:nvSpPr>
        <p:spPr>
          <a:xfrm>
            <a:off x="133350" y="19050"/>
            <a:ext cx="11934826" cy="461665"/>
          </a:xfrm>
          <a:prstGeom prst="rect">
            <a:avLst/>
          </a:prstGeom>
          <a:noFill/>
          <a:ln cap="flat" cmpd="sng">
            <a:solidFill>
              <a:srgbClr val="FFFFFF"/>
            </a:solidFill>
          </a:ln>
        </p:spPr>
        <p:txBody>
          <a:bodyPr wrap="square" rtlCol="0">
            <a:spAutoFit/>
          </a:bodyPr>
          <a:lstStyle/>
          <a:p>
            <a:pPr algn="ctr"/>
            <a:endParaRPr lang="es-CL" sz="2400" dirty="0"/>
          </a:p>
        </p:txBody>
      </p:sp>
      <p:graphicFrame>
        <p:nvGraphicFramePr>
          <p:cNvPr id="8" name="Tabla 7">
            <a:extLst>
              <a:ext uri="{FF2B5EF4-FFF2-40B4-BE49-F238E27FC236}">
                <a16:creationId xmlns:a16="http://schemas.microsoft.com/office/drawing/2014/main" id="{2C6F6637-6170-F3B5-E229-D886EDE837AD}"/>
              </a:ext>
            </a:extLst>
          </p:cNvPr>
          <p:cNvGraphicFramePr>
            <a:graphicFrameLocks noGrp="1"/>
          </p:cNvGraphicFramePr>
          <p:nvPr>
            <p:extLst>
              <p:ext uri="{D42A27DB-BD31-4B8C-83A1-F6EECF244321}">
                <p14:modId xmlns:p14="http://schemas.microsoft.com/office/powerpoint/2010/main" val="2124304610"/>
              </p:ext>
            </p:extLst>
          </p:nvPr>
        </p:nvGraphicFramePr>
        <p:xfrm>
          <a:off x="1" y="0"/>
          <a:ext cx="12192000" cy="4572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2960110769"/>
                    </a:ext>
                  </a:extLst>
                </a:gridCol>
              </a:tblGrid>
              <a:tr h="404707">
                <a:tc>
                  <a:txBody>
                    <a:bodyPr/>
                    <a:lstStyle/>
                    <a:p>
                      <a:pPr algn="ctr"/>
                      <a:r>
                        <a:rPr lang="es-MX" sz="2400" dirty="0">
                          <a:latin typeface="Montserrat" pitchFamily="2" charset="77"/>
                        </a:rPr>
                        <a:t>Movimiento rectilíneo uniforme acelerado (MRUA)</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81913"/>
                  </a:ext>
                </a:extLst>
              </a:tr>
            </a:tbl>
          </a:graphicData>
        </a:graphic>
      </p:graphicFrame>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6849FE3-762A-D58A-8B8E-6F8DF0B59C1F}"/>
                  </a:ext>
                </a:extLst>
              </p:cNvPr>
              <p:cNvSpPr txBox="1"/>
              <p:nvPr/>
            </p:nvSpPr>
            <p:spPr>
              <a:xfrm>
                <a:off x="346504" y="830427"/>
                <a:ext cx="11106130" cy="4013791"/>
              </a:xfrm>
              <a:prstGeom prst="rect">
                <a:avLst/>
              </a:prstGeom>
              <a:noFill/>
            </p:spPr>
            <p:txBody>
              <a:bodyPr wrap="square" rtlCol="0">
                <a:spAutoFit/>
              </a:bodyPr>
              <a:lstStyle/>
              <a:p>
                <a:r>
                  <a:rPr lang="es-ES" sz="1600" b="1" dirty="0"/>
                  <a:t>Movimiento rectilíneo uniformemente acelerado (MRUA)</a:t>
                </a:r>
              </a:p>
              <a:p>
                <a:endParaRPr lang="es-ES" sz="1600" dirty="0"/>
              </a:p>
              <a:p>
                <a:pPr algn="just"/>
                <a:r>
                  <a:rPr lang="es-ES" sz="1600" dirty="0"/>
                  <a:t>Se denomina al movimiento de un objeto en línea recta (rectilíneo), y con aceleración constante en el tiempo (uniformemente acelerado). Las ecuaciones de movimiento son la siguientes</a:t>
                </a:r>
              </a:p>
              <a:p>
                <a:pPr algn="just"/>
                <a:endParaRPr lang="es-ES" sz="1600" dirty="0"/>
              </a:p>
              <a:p>
                <a:pPr algn="just"/>
                <a14:m>
                  <m:oMathPara xmlns:m="http://schemas.openxmlformats.org/officeDocument/2006/math">
                    <m:oMathParaPr>
                      <m:jc m:val="centerGroup"/>
                    </m:oMathParaPr>
                    <m:oMath xmlns:m="http://schemas.openxmlformats.org/officeDocument/2006/math">
                      <m:r>
                        <a:rPr lang="es-CL" sz="1600" b="0" i="1" smtClean="0">
                          <a:latin typeface="Cambria Math" panose="02040503050406030204" pitchFamily="18" charset="0"/>
                        </a:rPr>
                        <m:t>𝑥</m:t>
                      </m:r>
                      <m:d>
                        <m:dPr>
                          <m:ctrlPr>
                            <a:rPr lang="es-CL" sz="1600" b="0" i="1" smtClean="0">
                              <a:latin typeface="Cambria Math" panose="02040503050406030204" pitchFamily="18" charset="0"/>
                            </a:rPr>
                          </m:ctrlPr>
                        </m:dPr>
                        <m:e>
                          <m:r>
                            <a:rPr lang="es-CL" sz="1600" b="0" i="1" smtClean="0">
                              <a:latin typeface="Cambria Math" panose="02040503050406030204" pitchFamily="18" charset="0"/>
                            </a:rPr>
                            <m:t>𝑡</m:t>
                          </m:r>
                        </m:e>
                      </m:d>
                      <m:r>
                        <a:rPr lang="es-CL" sz="1600" b="0" i="1" smtClean="0">
                          <a:latin typeface="Cambria Math" panose="02040503050406030204" pitchFamily="18" charset="0"/>
                        </a:rPr>
                        <m:t>=</m:t>
                      </m:r>
                      <m:sSub>
                        <m:sSubPr>
                          <m:ctrlPr>
                            <a:rPr lang="es-CL" sz="1600" b="0" i="1" smtClean="0">
                              <a:latin typeface="Cambria Math" panose="02040503050406030204" pitchFamily="18" charset="0"/>
                            </a:rPr>
                          </m:ctrlPr>
                        </m:sSubPr>
                        <m:e>
                          <m:r>
                            <a:rPr lang="es-CL" sz="1600" b="0" i="1" smtClean="0">
                              <a:latin typeface="Cambria Math" panose="02040503050406030204" pitchFamily="18" charset="0"/>
                            </a:rPr>
                            <m:t>𝑥</m:t>
                          </m:r>
                        </m:e>
                        <m:sub>
                          <m:r>
                            <a:rPr lang="es-CL" sz="1600" b="0" i="1" smtClean="0">
                              <a:latin typeface="Cambria Math" panose="02040503050406030204" pitchFamily="18" charset="0"/>
                            </a:rPr>
                            <m:t>𝑖</m:t>
                          </m:r>
                        </m:sub>
                      </m:sSub>
                      <m:r>
                        <a:rPr lang="es-CL" sz="1600" b="0" i="1" smtClean="0">
                          <a:latin typeface="Cambria Math" panose="02040503050406030204" pitchFamily="18" charset="0"/>
                        </a:rPr>
                        <m:t>+</m:t>
                      </m:r>
                      <m:sSub>
                        <m:sSubPr>
                          <m:ctrlPr>
                            <a:rPr lang="es-CL" sz="1600" b="0" i="1" smtClean="0">
                              <a:latin typeface="Cambria Math" panose="02040503050406030204" pitchFamily="18" charset="0"/>
                            </a:rPr>
                          </m:ctrlPr>
                        </m:sSubPr>
                        <m:e>
                          <m:r>
                            <a:rPr lang="es-CL" sz="1600" b="0" i="1" smtClean="0">
                              <a:latin typeface="Cambria Math" panose="02040503050406030204" pitchFamily="18" charset="0"/>
                            </a:rPr>
                            <m:t>𝑣</m:t>
                          </m:r>
                        </m:e>
                        <m:sub>
                          <m:r>
                            <a:rPr lang="es-CL" sz="1600" b="0" i="1" smtClean="0">
                              <a:latin typeface="Cambria Math" panose="02040503050406030204" pitchFamily="18" charset="0"/>
                            </a:rPr>
                            <m:t>𝑖</m:t>
                          </m:r>
                        </m:sub>
                      </m:sSub>
                      <m:d>
                        <m:dPr>
                          <m:ctrlPr>
                            <a:rPr lang="es-CL" sz="1600" b="0" i="1" smtClean="0">
                              <a:latin typeface="Cambria Math" panose="02040503050406030204" pitchFamily="18" charset="0"/>
                            </a:rPr>
                          </m:ctrlPr>
                        </m:dPr>
                        <m:e>
                          <m:r>
                            <a:rPr lang="es-CL" sz="1600" b="0" i="1" smtClean="0">
                              <a:latin typeface="Cambria Math" panose="02040503050406030204" pitchFamily="18" charset="0"/>
                            </a:rPr>
                            <m:t>𝑡</m:t>
                          </m:r>
                          <m:r>
                            <a:rPr lang="es-CL" sz="1600" b="0" i="1" smtClean="0">
                              <a:latin typeface="Cambria Math" panose="02040503050406030204" pitchFamily="18" charset="0"/>
                            </a:rPr>
                            <m:t>−</m:t>
                          </m:r>
                          <m:sSub>
                            <m:sSubPr>
                              <m:ctrlPr>
                                <a:rPr lang="es-CL" sz="1600" b="0" i="1" smtClean="0">
                                  <a:latin typeface="Cambria Math" panose="02040503050406030204" pitchFamily="18" charset="0"/>
                                </a:rPr>
                              </m:ctrlPr>
                            </m:sSubPr>
                            <m:e>
                              <m:r>
                                <a:rPr lang="es-CL" sz="1600" b="0" i="1" smtClean="0">
                                  <a:latin typeface="Cambria Math" panose="02040503050406030204" pitchFamily="18" charset="0"/>
                                </a:rPr>
                                <m:t>𝑡</m:t>
                              </m:r>
                            </m:e>
                            <m:sub>
                              <m:r>
                                <a:rPr lang="es-CL" sz="1600" b="0" i="1" smtClean="0">
                                  <a:latin typeface="Cambria Math" panose="02040503050406030204" pitchFamily="18" charset="0"/>
                                </a:rPr>
                                <m:t>𝑖</m:t>
                              </m:r>
                            </m:sub>
                          </m:sSub>
                        </m:e>
                      </m:d>
                      <m:r>
                        <a:rPr lang="es-CL" sz="1600" b="0" i="1" smtClean="0">
                          <a:latin typeface="Cambria Math" panose="02040503050406030204" pitchFamily="18" charset="0"/>
                        </a:rPr>
                        <m:t>+</m:t>
                      </m:r>
                      <m:f>
                        <m:fPr>
                          <m:ctrlPr>
                            <a:rPr lang="es-CL" sz="1600" b="0" i="1" smtClean="0">
                              <a:latin typeface="Cambria Math" panose="02040503050406030204" pitchFamily="18" charset="0"/>
                            </a:rPr>
                          </m:ctrlPr>
                        </m:fPr>
                        <m:num>
                          <m:r>
                            <a:rPr lang="es-CL" sz="1600" b="0" i="1" smtClean="0">
                              <a:latin typeface="Cambria Math" panose="02040503050406030204" pitchFamily="18" charset="0"/>
                            </a:rPr>
                            <m:t>1</m:t>
                          </m:r>
                        </m:num>
                        <m:den>
                          <m:r>
                            <a:rPr lang="es-CL" sz="1600" b="0" i="1" smtClean="0">
                              <a:latin typeface="Cambria Math" panose="02040503050406030204" pitchFamily="18" charset="0"/>
                            </a:rPr>
                            <m:t>2</m:t>
                          </m:r>
                        </m:den>
                      </m:f>
                      <m:r>
                        <a:rPr lang="es-CL" sz="1600" b="0" i="1" smtClean="0">
                          <a:latin typeface="Cambria Math" panose="02040503050406030204" pitchFamily="18" charset="0"/>
                        </a:rPr>
                        <m:t>𝑎</m:t>
                      </m:r>
                      <m:sSup>
                        <m:sSupPr>
                          <m:ctrlPr>
                            <a:rPr lang="es-CL" sz="1600" b="0" i="1" smtClean="0">
                              <a:latin typeface="Cambria Math" panose="02040503050406030204" pitchFamily="18" charset="0"/>
                            </a:rPr>
                          </m:ctrlPr>
                        </m:sSupPr>
                        <m:e>
                          <m:d>
                            <m:dPr>
                              <m:ctrlPr>
                                <a:rPr lang="es-CL" sz="1600" i="1">
                                  <a:latin typeface="Cambria Math" panose="02040503050406030204" pitchFamily="18" charset="0"/>
                                </a:rPr>
                              </m:ctrlPr>
                            </m:dPr>
                            <m:e>
                              <m:r>
                                <a:rPr lang="es-CL" sz="1600" i="1">
                                  <a:latin typeface="Cambria Math" panose="02040503050406030204" pitchFamily="18" charset="0"/>
                                </a:rPr>
                                <m:t>𝑡</m:t>
                              </m:r>
                              <m:r>
                                <a:rPr lang="es-CL" sz="1600" i="1">
                                  <a:latin typeface="Cambria Math" panose="02040503050406030204" pitchFamily="18" charset="0"/>
                                </a:rPr>
                                <m:t>−</m:t>
                              </m:r>
                              <m:sSub>
                                <m:sSubPr>
                                  <m:ctrlPr>
                                    <a:rPr lang="es-CL" sz="1600" i="1">
                                      <a:latin typeface="Cambria Math" panose="02040503050406030204" pitchFamily="18" charset="0"/>
                                    </a:rPr>
                                  </m:ctrlPr>
                                </m:sSubPr>
                                <m:e>
                                  <m:r>
                                    <a:rPr lang="es-CL" sz="1600" i="1">
                                      <a:latin typeface="Cambria Math" panose="02040503050406030204" pitchFamily="18" charset="0"/>
                                    </a:rPr>
                                    <m:t>𝑡</m:t>
                                  </m:r>
                                </m:e>
                                <m:sub>
                                  <m:r>
                                    <a:rPr lang="es-CL" sz="1600" i="1">
                                      <a:latin typeface="Cambria Math" panose="02040503050406030204" pitchFamily="18" charset="0"/>
                                    </a:rPr>
                                    <m:t>𝑖</m:t>
                                  </m:r>
                                </m:sub>
                              </m:sSub>
                            </m:e>
                          </m:d>
                        </m:e>
                        <m:sup>
                          <m:r>
                            <a:rPr lang="es-CL" sz="1600" b="0" i="1" smtClean="0">
                              <a:latin typeface="Cambria Math" panose="02040503050406030204" pitchFamily="18" charset="0"/>
                            </a:rPr>
                            <m:t>2</m:t>
                          </m:r>
                        </m:sup>
                      </m:sSup>
                    </m:oMath>
                  </m:oMathPara>
                </a14:m>
                <a:endParaRPr lang="es-CL" sz="1600" dirty="0"/>
              </a:p>
              <a:p>
                <a:pPr algn="just"/>
                <a:endParaRPr lang="es-ES" sz="1600" dirty="0"/>
              </a:p>
              <a:p>
                <a:pPr algn="just"/>
                <a14:m>
                  <m:oMathPara xmlns:m="http://schemas.openxmlformats.org/officeDocument/2006/math">
                    <m:oMathParaPr>
                      <m:jc m:val="centerGroup"/>
                    </m:oMathParaPr>
                    <m:oMath xmlns:m="http://schemas.openxmlformats.org/officeDocument/2006/math">
                      <m:r>
                        <a:rPr lang="es-CL" sz="1600" b="0" i="1" smtClean="0">
                          <a:latin typeface="Cambria Math" panose="02040503050406030204" pitchFamily="18" charset="0"/>
                        </a:rPr>
                        <m:t>𝑣</m:t>
                      </m:r>
                      <m:d>
                        <m:dPr>
                          <m:ctrlPr>
                            <a:rPr lang="es-CL" sz="1600" b="0" i="1" smtClean="0">
                              <a:latin typeface="Cambria Math" panose="02040503050406030204" pitchFamily="18" charset="0"/>
                            </a:rPr>
                          </m:ctrlPr>
                        </m:dPr>
                        <m:e>
                          <m:r>
                            <a:rPr lang="es-CL" sz="1600" b="0" i="1" smtClean="0">
                              <a:latin typeface="Cambria Math" panose="02040503050406030204" pitchFamily="18" charset="0"/>
                            </a:rPr>
                            <m:t>𝑡</m:t>
                          </m:r>
                        </m:e>
                      </m:d>
                      <m:r>
                        <a:rPr lang="es-CL" sz="1600" b="0" i="1" smtClean="0">
                          <a:latin typeface="Cambria Math" panose="02040503050406030204" pitchFamily="18" charset="0"/>
                        </a:rPr>
                        <m:t>=</m:t>
                      </m:r>
                      <m:sSub>
                        <m:sSubPr>
                          <m:ctrlPr>
                            <a:rPr lang="es-CL" sz="1600" b="0" i="1" smtClean="0">
                              <a:latin typeface="Cambria Math" panose="02040503050406030204" pitchFamily="18" charset="0"/>
                            </a:rPr>
                          </m:ctrlPr>
                        </m:sSubPr>
                        <m:e>
                          <m:r>
                            <a:rPr lang="es-CL" sz="1600" b="0" i="1" smtClean="0">
                              <a:latin typeface="Cambria Math" panose="02040503050406030204" pitchFamily="18" charset="0"/>
                            </a:rPr>
                            <m:t>𝑣</m:t>
                          </m:r>
                        </m:e>
                        <m:sub>
                          <m:r>
                            <a:rPr lang="es-CL" sz="1600" b="0" i="1" smtClean="0">
                              <a:latin typeface="Cambria Math" panose="02040503050406030204" pitchFamily="18" charset="0"/>
                            </a:rPr>
                            <m:t>𝑖</m:t>
                          </m:r>
                        </m:sub>
                      </m:sSub>
                      <m:r>
                        <a:rPr lang="es-CL" sz="1600" b="0" i="1" smtClean="0">
                          <a:latin typeface="Cambria Math" panose="02040503050406030204" pitchFamily="18" charset="0"/>
                        </a:rPr>
                        <m:t>+</m:t>
                      </m:r>
                      <m:r>
                        <a:rPr lang="es-CL" sz="1600" b="0" i="1" smtClean="0">
                          <a:latin typeface="Cambria Math" panose="02040503050406030204" pitchFamily="18" charset="0"/>
                        </a:rPr>
                        <m:t>𝑎</m:t>
                      </m:r>
                      <m:d>
                        <m:dPr>
                          <m:ctrlPr>
                            <a:rPr lang="es-CL" sz="1600" b="0" i="1" smtClean="0">
                              <a:latin typeface="Cambria Math" panose="02040503050406030204" pitchFamily="18" charset="0"/>
                            </a:rPr>
                          </m:ctrlPr>
                        </m:dPr>
                        <m:e>
                          <m:r>
                            <a:rPr lang="es-CL" sz="1600" b="0" i="1" smtClean="0">
                              <a:latin typeface="Cambria Math" panose="02040503050406030204" pitchFamily="18" charset="0"/>
                            </a:rPr>
                            <m:t>𝑡</m:t>
                          </m:r>
                          <m:r>
                            <a:rPr lang="es-CL" sz="1600" b="0" i="1" smtClean="0">
                              <a:latin typeface="Cambria Math" panose="02040503050406030204" pitchFamily="18" charset="0"/>
                            </a:rPr>
                            <m:t>−</m:t>
                          </m:r>
                          <m:sSub>
                            <m:sSubPr>
                              <m:ctrlPr>
                                <a:rPr lang="es-CL" sz="1600" b="0" i="1" smtClean="0">
                                  <a:latin typeface="Cambria Math" panose="02040503050406030204" pitchFamily="18" charset="0"/>
                                </a:rPr>
                              </m:ctrlPr>
                            </m:sSubPr>
                            <m:e>
                              <m:r>
                                <a:rPr lang="es-CL" sz="1600" b="0" i="1" smtClean="0">
                                  <a:latin typeface="Cambria Math" panose="02040503050406030204" pitchFamily="18" charset="0"/>
                                </a:rPr>
                                <m:t>𝑡</m:t>
                              </m:r>
                            </m:e>
                            <m:sub>
                              <m:r>
                                <a:rPr lang="es-CL" sz="1600" b="0" i="1" smtClean="0">
                                  <a:latin typeface="Cambria Math" panose="02040503050406030204" pitchFamily="18" charset="0"/>
                                </a:rPr>
                                <m:t>𝑖</m:t>
                              </m:r>
                            </m:sub>
                          </m:sSub>
                        </m:e>
                      </m:d>
                    </m:oMath>
                  </m:oMathPara>
                </a14:m>
                <a:endParaRPr lang="es-CL" sz="1600" dirty="0"/>
              </a:p>
              <a:p>
                <a:pPr algn="just"/>
                <a:endParaRPr lang="es-CL" sz="1600" dirty="0"/>
              </a:p>
              <a:p>
                <a:pPr algn="just"/>
                <a14:m>
                  <m:oMathPara xmlns:m="http://schemas.openxmlformats.org/officeDocument/2006/math">
                    <m:oMathParaPr>
                      <m:jc m:val="centerGroup"/>
                    </m:oMathParaPr>
                    <m:oMath xmlns:m="http://schemas.openxmlformats.org/officeDocument/2006/math">
                      <m:sSup>
                        <m:sSupPr>
                          <m:ctrlPr>
                            <a:rPr lang="es-CL" sz="1600" b="0" i="1" smtClean="0">
                              <a:latin typeface="Cambria Math" panose="02040503050406030204" pitchFamily="18" charset="0"/>
                            </a:rPr>
                          </m:ctrlPr>
                        </m:sSupPr>
                        <m:e>
                          <m:r>
                            <a:rPr lang="es-CL" sz="1600" b="0" i="1" smtClean="0">
                              <a:latin typeface="Cambria Math" panose="02040503050406030204" pitchFamily="18" charset="0"/>
                            </a:rPr>
                            <m:t>𝑣</m:t>
                          </m:r>
                        </m:e>
                        <m:sup>
                          <m:r>
                            <a:rPr lang="es-CL" sz="1600" b="0" i="1" smtClean="0">
                              <a:latin typeface="Cambria Math" panose="02040503050406030204" pitchFamily="18" charset="0"/>
                            </a:rPr>
                            <m:t>2</m:t>
                          </m:r>
                        </m:sup>
                      </m:sSup>
                      <m:d>
                        <m:dPr>
                          <m:ctrlPr>
                            <a:rPr lang="es-CL" sz="1600" b="0" i="1" smtClean="0">
                              <a:latin typeface="Cambria Math" panose="02040503050406030204" pitchFamily="18" charset="0"/>
                            </a:rPr>
                          </m:ctrlPr>
                        </m:dPr>
                        <m:e>
                          <m:r>
                            <a:rPr lang="es-CL" sz="1600" b="0" i="1" smtClean="0">
                              <a:latin typeface="Cambria Math" panose="02040503050406030204" pitchFamily="18" charset="0"/>
                            </a:rPr>
                            <m:t>𝑡</m:t>
                          </m:r>
                        </m:e>
                      </m:d>
                      <m:r>
                        <a:rPr lang="es-CL" sz="1600" b="0" i="1" smtClean="0">
                          <a:latin typeface="Cambria Math" panose="02040503050406030204" pitchFamily="18" charset="0"/>
                        </a:rPr>
                        <m:t>=</m:t>
                      </m:r>
                      <m:sSubSup>
                        <m:sSubSupPr>
                          <m:ctrlPr>
                            <a:rPr lang="es-CL" sz="1600" b="0" i="1" smtClean="0">
                              <a:latin typeface="Cambria Math" panose="02040503050406030204" pitchFamily="18" charset="0"/>
                            </a:rPr>
                          </m:ctrlPr>
                        </m:sSubSupPr>
                        <m:e>
                          <m:r>
                            <a:rPr lang="es-CL" sz="1600" b="0" i="1" smtClean="0">
                              <a:latin typeface="Cambria Math" panose="02040503050406030204" pitchFamily="18" charset="0"/>
                            </a:rPr>
                            <m:t>𝑣</m:t>
                          </m:r>
                        </m:e>
                        <m:sub>
                          <m:r>
                            <a:rPr lang="es-CL" sz="1600" b="0" i="1" smtClean="0">
                              <a:latin typeface="Cambria Math" panose="02040503050406030204" pitchFamily="18" charset="0"/>
                            </a:rPr>
                            <m:t>𝑖</m:t>
                          </m:r>
                        </m:sub>
                        <m:sup>
                          <m:r>
                            <a:rPr lang="es-CL" sz="1600" b="0" i="1" smtClean="0">
                              <a:latin typeface="Cambria Math" panose="02040503050406030204" pitchFamily="18" charset="0"/>
                            </a:rPr>
                            <m:t>2</m:t>
                          </m:r>
                        </m:sup>
                      </m:sSubSup>
                      <m:r>
                        <a:rPr lang="es-CL" sz="1600" b="0" i="1" smtClean="0">
                          <a:latin typeface="Cambria Math" panose="02040503050406030204" pitchFamily="18" charset="0"/>
                        </a:rPr>
                        <m:t>+2</m:t>
                      </m:r>
                      <m:r>
                        <a:rPr lang="es-CL" sz="1600" b="0" i="1" smtClean="0">
                          <a:latin typeface="Cambria Math" panose="02040503050406030204" pitchFamily="18" charset="0"/>
                        </a:rPr>
                        <m:t>𝑎</m:t>
                      </m:r>
                      <m:d>
                        <m:dPr>
                          <m:ctrlPr>
                            <a:rPr lang="es-CL" sz="1600" b="0" i="1" smtClean="0">
                              <a:latin typeface="Cambria Math" panose="02040503050406030204" pitchFamily="18" charset="0"/>
                            </a:rPr>
                          </m:ctrlPr>
                        </m:dPr>
                        <m:e>
                          <m:r>
                            <a:rPr lang="es-CL" sz="1600" b="0" i="1" smtClean="0">
                              <a:latin typeface="Cambria Math" panose="02040503050406030204" pitchFamily="18" charset="0"/>
                            </a:rPr>
                            <m:t>𝑥</m:t>
                          </m:r>
                          <m:r>
                            <a:rPr lang="es-CL" sz="1600" b="0" i="1" smtClean="0">
                              <a:latin typeface="Cambria Math" panose="02040503050406030204" pitchFamily="18" charset="0"/>
                            </a:rPr>
                            <m:t>−</m:t>
                          </m:r>
                          <m:sSub>
                            <m:sSubPr>
                              <m:ctrlPr>
                                <a:rPr lang="es-CL" sz="1600" b="0" i="1" smtClean="0">
                                  <a:latin typeface="Cambria Math" panose="02040503050406030204" pitchFamily="18" charset="0"/>
                                </a:rPr>
                              </m:ctrlPr>
                            </m:sSubPr>
                            <m:e>
                              <m:r>
                                <a:rPr lang="es-CL" sz="1600" b="0" i="1" smtClean="0">
                                  <a:latin typeface="Cambria Math" panose="02040503050406030204" pitchFamily="18" charset="0"/>
                                </a:rPr>
                                <m:t>𝑥</m:t>
                              </m:r>
                            </m:e>
                            <m:sub>
                              <m:r>
                                <a:rPr lang="es-CL" sz="1600" b="0" i="1" smtClean="0">
                                  <a:latin typeface="Cambria Math" panose="02040503050406030204" pitchFamily="18" charset="0"/>
                                </a:rPr>
                                <m:t>𝑖</m:t>
                              </m:r>
                            </m:sub>
                          </m:sSub>
                        </m:e>
                      </m:d>
                    </m:oMath>
                  </m:oMathPara>
                </a14:m>
                <a:endParaRPr lang="es-ES" sz="1600" dirty="0"/>
              </a:p>
              <a:p>
                <a:pPr algn="just"/>
                <a:endParaRPr lang="es-ES" sz="1600" dirty="0"/>
              </a:p>
              <a:p>
                <a:pPr algn="just"/>
                <a:r>
                  <a:rPr lang="es-ES" sz="1600" dirty="0"/>
                  <a:t>donde </a:t>
                </a:r>
                <a14:m>
                  <m:oMath xmlns:m="http://schemas.openxmlformats.org/officeDocument/2006/math">
                    <m:sSub>
                      <m:sSubPr>
                        <m:ctrlPr>
                          <a:rPr lang="es-CL" sz="1600" b="0" i="1" smtClean="0">
                            <a:latin typeface="Cambria Math" panose="02040503050406030204" pitchFamily="18" charset="0"/>
                          </a:rPr>
                        </m:ctrlPr>
                      </m:sSubPr>
                      <m:e>
                        <m:r>
                          <a:rPr lang="es-CL" sz="1600" b="0" i="1" smtClean="0">
                            <a:latin typeface="Cambria Math" panose="02040503050406030204" pitchFamily="18" charset="0"/>
                          </a:rPr>
                          <m:t>𝑥</m:t>
                        </m:r>
                      </m:e>
                      <m:sub>
                        <m:r>
                          <a:rPr lang="es-CL" sz="1600" b="0" i="1" smtClean="0">
                            <a:latin typeface="Cambria Math" panose="02040503050406030204" pitchFamily="18" charset="0"/>
                          </a:rPr>
                          <m:t>𝑖</m:t>
                        </m:r>
                      </m:sub>
                    </m:sSub>
                  </m:oMath>
                </a14:m>
                <a:r>
                  <a:rPr lang="es-ES" sz="1600" dirty="0"/>
                  <a:t> es la posición inicial de la partícula, </a:t>
                </a:r>
                <a14:m>
                  <m:oMath xmlns:m="http://schemas.openxmlformats.org/officeDocument/2006/math">
                    <m:sSub>
                      <m:sSubPr>
                        <m:ctrlPr>
                          <a:rPr lang="es-CL" sz="1600" i="1" smtClean="0">
                            <a:latin typeface="Cambria Math" panose="02040503050406030204" pitchFamily="18" charset="0"/>
                          </a:rPr>
                        </m:ctrlPr>
                      </m:sSubPr>
                      <m:e>
                        <m:r>
                          <a:rPr lang="en-US" sz="1600" b="0" i="1" smtClean="0">
                            <a:latin typeface="Cambria Math" panose="02040503050406030204" pitchFamily="18" charset="0"/>
                          </a:rPr>
                          <m:t>𝑣</m:t>
                        </m:r>
                      </m:e>
                      <m:sub>
                        <m:r>
                          <a:rPr lang="en-US" sz="1600" b="0" i="1" smtClean="0">
                            <a:latin typeface="Cambria Math" panose="02040503050406030204" pitchFamily="18" charset="0"/>
                          </a:rPr>
                          <m:t>𝑖</m:t>
                        </m:r>
                      </m:sub>
                    </m:sSub>
                  </m:oMath>
                </a14:m>
                <a:r>
                  <a:rPr lang="es-ES" sz="1600" dirty="0"/>
                  <a:t> es su velocidad inicial, </a:t>
                </a:r>
                <a14:m>
                  <m:oMath xmlns:m="http://schemas.openxmlformats.org/officeDocument/2006/math">
                    <m:sSub>
                      <m:sSubPr>
                        <m:ctrlPr>
                          <a:rPr lang="es-CL" sz="1600" i="1">
                            <a:latin typeface="Cambria Math" panose="02040503050406030204" pitchFamily="18" charset="0"/>
                          </a:rPr>
                        </m:ctrlPr>
                      </m:sSubPr>
                      <m:e>
                        <m:r>
                          <a:rPr lang="es-CL" sz="1600" i="1">
                            <a:latin typeface="Cambria Math" panose="02040503050406030204" pitchFamily="18" charset="0"/>
                          </a:rPr>
                          <m:t>𝑡</m:t>
                        </m:r>
                      </m:e>
                      <m:sub>
                        <m:r>
                          <a:rPr lang="es-CL" sz="1600" i="1">
                            <a:latin typeface="Cambria Math" panose="02040503050406030204" pitchFamily="18" charset="0"/>
                          </a:rPr>
                          <m:t>𝑖</m:t>
                        </m:r>
                      </m:sub>
                    </m:sSub>
                  </m:oMath>
                </a14:m>
                <a:r>
                  <a:rPr lang="es-ES" sz="1600" dirty="0"/>
                  <a:t> es el instante inicial (usualmente cero), y </a:t>
                </a:r>
                <a14:m>
                  <m:oMath xmlns:m="http://schemas.openxmlformats.org/officeDocument/2006/math">
                    <m:r>
                      <a:rPr lang="es-CL" sz="1600" i="1">
                        <a:latin typeface="Cambria Math" panose="02040503050406030204" pitchFamily="18" charset="0"/>
                      </a:rPr>
                      <m:t>𝑎</m:t>
                    </m:r>
                  </m:oMath>
                </a14:m>
                <a:r>
                  <a:rPr lang="es-ES" sz="1600" dirty="0"/>
                  <a:t> es la aceleración. </a:t>
                </a:r>
              </a:p>
              <a:p>
                <a:pPr algn="just"/>
                <a:endParaRPr lang="es-ES" sz="1600" dirty="0"/>
              </a:p>
              <a:p>
                <a:pPr algn="just"/>
                <a:r>
                  <a:rPr lang="es-ES" sz="1600" dirty="0"/>
                  <a:t>La aceleración se define como la variación de la velocidad en el tiempo. Su unidad en el S.I. es m/s</a:t>
                </a:r>
                <a:r>
                  <a:rPr lang="es-ES" sz="1600" baseline="30000" dirty="0"/>
                  <a:t>2</a:t>
                </a:r>
                <a:r>
                  <a:rPr lang="es-ES" sz="1600" dirty="0"/>
                  <a:t>.</a:t>
                </a:r>
              </a:p>
            </p:txBody>
          </p:sp>
        </mc:Choice>
        <mc:Fallback xmlns="">
          <p:sp>
            <p:nvSpPr>
              <p:cNvPr id="13" name="TextBox 12">
                <a:extLst>
                  <a:ext uri="{FF2B5EF4-FFF2-40B4-BE49-F238E27FC236}">
                    <a16:creationId xmlns:a16="http://schemas.microsoft.com/office/drawing/2014/main" id="{F6849FE3-762A-D58A-8B8E-6F8DF0B59C1F}"/>
                  </a:ext>
                </a:extLst>
              </p:cNvPr>
              <p:cNvSpPr txBox="1">
                <a:spLocks noRot="1" noChangeAspect="1" noMove="1" noResize="1" noEditPoints="1" noAdjustHandles="1" noChangeArrowheads="1" noChangeShapeType="1" noTextEdit="1"/>
              </p:cNvSpPr>
              <p:nvPr/>
            </p:nvSpPr>
            <p:spPr>
              <a:xfrm>
                <a:off x="346504" y="830427"/>
                <a:ext cx="11106130" cy="4013791"/>
              </a:xfrm>
              <a:prstGeom prst="rect">
                <a:avLst/>
              </a:prstGeom>
              <a:blipFill>
                <a:blip r:embed="rId3"/>
                <a:stretch>
                  <a:fillRect l="-329" t="-455" r="-274" b="-910"/>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E06F73FB-376E-6AFC-EA0F-DDA4EFAA0BE8}"/>
              </a:ext>
            </a:extLst>
          </p:cNvPr>
          <p:cNvSpPr txBox="1"/>
          <p:nvPr/>
        </p:nvSpPr>
        <p:spPr>
          <a:xfrm>
            <a:off x="7628965" y="2160494"/>
            <a:ext cx="2113079" cy="338554"/>
          </a:xfrm>
          <a:prstGeom prst="rect">
            <a:avLst/>
          </a:prstGeom>
          <a:noFill/>
        </p:spPr>
        <p:txBody>
          <a:bodyPr wrap="none" rtlCol="0">
            <a:spAutoFit/>
          </a:bodyPr>
          <a:lstStyle/>
          <a:p>
            <a:r>
              <a:rPr lang="en-US" sz="1600" dirty="0" err="1">
                <a:solidFill>
                  <a:srgbClr val="FF0000"/>
                </a:solidFill>
              </a:rPr>
              <a:t>Ecuación</a:t>
            </a:r>
            <a:r>
              <a:rPr lang="en-US" sz="1600" dirty="0">
                <a:solidFill>
                  <a:srgbClr val="FF0000"/>
                </a:solidFill>
              </a:rPr>
              <a:t> </a:t>
            </a:r>
            <a:r>
              <a:rPr lang="en-US" sz="1600" dirty="0" err="1">
                <a:solidFill>
                  <a:srgbClr val="FF0000"/>
                </a:solidFill>
              </a:rPr>
              <a:t>itinerario</a:t>
            </a:r>
            <a:endParaRPr lang="en-US" sz="1600" dirty="0">
              <a:solidFill>
                <a:srgbClr val="FF0000"/>
              </a:solidFill>
            </a:endParaRPr>
          </a:p>
        </p:txBody>
      </p:sp>
      <p:sp>
        <p:nvSpPr>
          <p:cNvPr id="2" name="TextBox 1">
            <a:extLst>
              <a:ext uri="{FF2B5EF4-FFF2-40B4-BE49-F238E27FC236}">
                <a16:creationId xmlns:a16="http://schemas.microsoft.com/office/drawing/2014/main" id="{6300E398-1F1B-C8C9-F3C0-A3E820036DED}"/>
              </a:ext>
            </a:extLst>
          </p:cNvPr>
          <p:cNvSpPr txBox="1"/>
          <p:nvPr/>
        </p:nvSpPr>
        <p:spPr>
          <a:xfrm>
            <a:off x="6899543" y="3258128"/>
            <a:ext cx="4672864" cy="276999"/>
          </a:xfrm>
          <a:prstGeom prst="rect">
            <a:avLst/>
          </a:prstGeom>
          <a:noFill/>
        </p:spPr>
        <p:txBody>
          <a:bodyPr wrap="square" rtlCol="0">
            <a:spAutoFit/>
          </a:bodyPr>
          <a:lstStyle/>
          <a:p>
            <a:pPr algn="ctr"/>
            <a:r>
              <a:rPr lang="en-US" sz="1200" dirty="0">
                <a:solidFill>
                  <a:srgbClr val="FF0000"/>
                </a:solidFill>
              </a:rPr>
              <a:t>(Se </a:t>
            </a:r>
            <a:r>
              <a:rPr lang="en-US" sz="1200" dirty="0" err="1">
                <a:solidFill>
                  <a:srgbClr val="FF0000"/>
                </a:solidFill>
              </a:rPr>
              <a:t>obtiene</a:t>
            </a:r>
            <a:r>
              <a:rPr lang="en-US" sz="1200" dirty="0">
                <a:solidFill>
                  <a:srgbClr val="FF0000"/>
                </a:solidFill>
              </a:rPr>
              <a:t> de </a:t>
            </a:r>
            <a:r>
              <a:rPr lang="en-US" sz="1200" dirty="0" err="1">
                <a:solidFill>
                  <a:srgbClr val="FF0000"/>
                </a:solidFill>
              </a:rPr>
              <a:t>combinar</a:t>
            </a:r>
            <a:r>
              <a:rPr lang="en-US" sz="1200" dirty="0">
                <a:solidFill>
                  <a:srgbClr val="FF0000"/>
                </a:solidFill>
              </a:rPr>
              <a:t> las dos </a:t>
            </a:r>
            <a:r>
              <a:rPr lang="en-US" sz="1200" dirty="0" err="1">
                <a:solidFill>
                  <a:srgbClr val="FF0000"/>
                </a:solidFill>
              </a:rPr>
              <a:t>ecuaciones</a:t>
            </a:r>
            <a:r>
              <a:rPr lang="en-US" sz="1200" dirty="0">
                <a:solidFill>
                  <a:srgbClr val="FF0000"/>
                </a:solidFill>
              </a:rPr>
              <a:t> </a:t>
            </a:r>
            <a:r>
              <a:rPr lang="en-US" sz="1200" dirty="0" err="1">
                <a:solidFill>
                  <a:srgbClr val="FF0000"/>
                </a:solidFill>
              </a:rPr>
              <a:t>anteriores</a:t>
            </a:r>
            <a:r>
              <a:rPr lang="en-US" sz="1200" dirty="0">
                <a:solidFill>
                  <a:srgbClr val="FF0000"/>
                </a:solidFill>
              </a:rPr>
              <a:t>)</a:t>
            </a:r>
          </a:p>
        </p:txBody>
      </p:sp>
      <p:cxnSp>
        <p:nvCxnSpPr>
          <p:cNvPr id="3" name="Straight Arrow Connector 2">
            <a:extLst>
              <a:ext uri="{FF2B5EF4-FFF2-40B4-BE49-F238E27FC236}">
                <a16:creationId xmlns:a16="http://schemas.microsoft.com/office/drawing/2014/main" id="{A7EB393C-3C8D-6453-4E57-DD6837F0BB21}"/>
              </a:ext>
            </a:extLst>
          </p:cNvPr>
          <p:cNvCxnSpPr>
            <a:cxnSpLocks/>
          </p:cNvCxnSpPr>
          <p:nvPr/>
        </p:nvCxnSpPr>
        <p:spPr>
          <a:xfrm flipV="1">
            <a:off x="2370504" y="5101192"/>
            <a:ext cx="0" cy="12240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a:extLst>
              <a:ext uri="{FF2B5EF4-FFF2-40B4-BE49-F238E27FC236}">
                <a16:creationId xmlns:a16="http://schemas.microsoft.com/office/drawing/2014/main" id="{CD5F036F-403C-4C85-6CA3-6960647F5182}"/>
              </a:ext>
            </a:extLst>
          </p:cNvPr>
          <p:cNvCxnSpPr>
            <a:cxnSpLocks/>
          </p:cNvCxnSpPr>
          <p:nvPr/>
        </p:nvCxnSpPr>
        <p:spPr>
          <a:xfrm>
            <a:off x="2214811" y="6199944"/>
            <a:ext cx="16920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F51DA391-5EE8-69C4-1C61-6E253FF61D07}"/>
              </a:ext>
            </a:extLst>
          </p:cNvPr>
          <p:cNvSpPr txBox="1"/>
          <p:nvPr/>
        </p:nvSpPr>
        <p:spPr>
          <a:xfrm>
            <a:off x="3511577" y="6155915"/>
            <a:ext cx="1041554" cy="338554"/>
          </a:xfrm>
          <a:prstGeom prst="rect">
            <a:avLst/>
          </a:prstGeom>
          <a:noFill/>
        </p:spPr>
        <p:txBody>
          <a:bodyPr wrap="square" rtlCol="0">
            <a:spAutoFit/>
          </a:bodyPr>
          <a:lstStyle/>
          <a:p>
            <a:pPr algn="ctr"/>
            <a:r>
              <a:rPr lang="es-CL" sz="1600" i="1" dirty="0"/>
              <a:t>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76F91A6-B09F-5118-C7A0-89EEE3E87C44}"/>
                  </a:ext>
                </a:extLst>
              </p:cNvPr>
              <p:cNvSpPr txBox="1"/>
              <p:nvPr/>
            </p:nvSpPr>
            <p:spPr>
              <a:xfrm>
                <a:off x="1218002" y="4981063"/>
                <a:ext cx="1778466"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s-CL" sz="1600" b="0" i="1" smtClean="0">
                          <a:latin typeface="Cambria Math" panose="02040503050406030204" pitchFamily="18" charset="0"/>
                        </a:rPr>
                        <m:t>𝑥</m:t>
                      </m:r>
                      <m:d>
                        <m:dPr>
                          <m:ctrlPr>
                            <a:rPr lang="es-CL" sz="1600" b="0" i="1" smtClean="0">
                              <a:latin typeface="Cambria Math" panose="02040503050406030204" pitchFamily="18" charset="0"/>
                            </a:rPr>
                          </m:ctrlPr>
                        </m:dPr>
                        <m:e>
                          <m:r>
                            <a:rPr lang="es-CL" sz="1600" b="0" i="1" smtClean="0">
                              <a:latin typeface="Cambria Math" panose="02040503050406030204" pitchFamily="18" charset="0"/>
                            </a:rPr>
                            <m:t>𝑡</m:t>
                          </m:r>
                        </m:e>
                      </m:d>
                    </m:oMath>
                  </m:oMathPara>
                </a14:m>
                <a:endParaRPr lang="es-CL" sz="1600" i="1" dirty="0"/>
              </a:p>
            </p:txBody>
          </p:sp>
        </mc:Choice>
        <mc:Fallback xmlns="">
          <p:sp>
            <p:nvSpPr>
              <p:cNvPr id="9" name="TextBox 8">
                <a:extLst>
                  <a:ext uri="{FF2B5EF4-FFF2-40B4-BE49-F238E27FC236}">
                    <a16:creationId xmlns:a16="http://schemas.microsoft.com/office/drawing/2014/main" id="{E76F91A6-B09F-5118-C7A0-89EEE3E87C44}"/>
                  </a:ext>
                </a:extLst>
              </p:cNvPr>
              <p:cNvSpPr txBox="1">
                <a:spLocks noRot="1" noChangeAspect="1" noMove="1" noResize="1" noEditPoints="1" noAdjustHandles="1" noChangeArrowheads="1" noChangeShapeType="1" noTextEdit="1"/>
              </p:cNvSpPr>
              <p:nvPr/>
            </p:nvSpPr>
            <p:spPr>
              <a:xfrm>
                <a:off x="1218002" y="4981063"/>
                <a:ext cx="1778466" cy="33855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A743803-5BF9-D5BD-E481-93894407AD81}"/>
                  </a:ext>
                </a:extLst>
              </p:cNvPr>
              <p:cNvSpPr txBox="1"/>
              <p:nvPr/>
            </p:nvSpPr>
            <p:spPr>
              <a:xfrm>
                <a:off x="2143616" y="5705315"/>
                <a:ext cx="222319"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s-CL"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𝑖</m:t>
                          </m:r>
                        </m:sub>
                      </m:sSub>
                    </m:oMath>
                  </m:oMathPara>
                </a14:m>
                <a:endParaRPr lang="es-CL" sz="1600" i="1" dirty="0"/>
              </a:p>
            </p:txBody>
          </p:sp>
        </mc:Choice>
        <mc:Fallback xmlns="">
          <p:sp>
            <p:nvSpPr>
              <p:cNvPr id="10" name="TextBox 9">
                <a:extLst>
                  <a:ext uri="{FF2B5EF4-FFF2-40B4-BE49-F238E27FC236}">
                    <a16:creationId xmlns:a16="http://schemas.microsoft.com/office/drawing/2014/main" id="{CA743803-5BF9-D5BD-E481-93894407AD81}"/>
                  </a:ext>
                </a:extLst>
              </p:cNvPr>
              <p:cNvSpPr txBox="1">
                <a:spLocks noRot="1" noChangeAspect="1" noMove="1" noResize="1" noEditPoints="1" noAdjustHandles="1" noChangeArrowheads="1" noChangeShapeType="1" noTextEdit="1"/>
              </p:cNvSpPr>
              <p:nvPr/>
            </p:nvSpPr>
            <p:spPr>
              <a:xfrm>
                <a:off x="2143616" y="5705315"/>
                <a:ext cx="222319" cy="338554"/>
              </a:xfrm>
              <a:prstGeom prst="rect">
                <a:avLst/>
              </a:prstGeom>
              <a:blipFill>
                <a:blip r:embed="rId5"/>
                <a:stretch>
                  <a:fillRect l="-25000"/>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D8E60AAE-A7C4-2168-089B-56896ABC23DC}"/>
              </a:ext>
            </a:extLst>
          </p:cNvPr>
          <p:cNvSpPr txBox="1"/>
          <p:nvPr/>
        </p:nvSpPr>
        <p:spPr>
          <a:xfrm>
            <a:off x="9929071" y="6198634"/>
            <a:ext cx="423114" cy="338554"/>
          </a:xfrm>
          <a:prstGeom prst="rect">
            <a:avLst/>
          </a:prstGeom>
          <a:noFill/>
        </p:spPr>
        <p:txBody>
          <a:bodyPr wrap="square" rtlCol="0">
            <a:spAutoFit/>
          </a:bodyPr>
          <a:lstStyle/>
          <a:p>
            <a:pPr algn="ctr"/>
            <a:r>
              <a:rPr lang="es-CL" sz="1600" i="1" dirty="0"/>
              <a:t>t</a:t>
            </a:r>
          </a:p>
        </p:txBody>
      </p:sp>
      <p:cxnSp>
        <p:nvCxnSpPr>
          <p:cNvPr id="16" name="Straight Connector 15">
            <a:extLst>
              <a:ext uri="{FF2B5EF4-FFF2-40B4-BE49-F238E27FC236}">
                <a16:creationId xmlns:a16="http://schemas.microsoft.com/office/drawing/2014/main" id="{9A19FFFE-8E4E-777E-CCBD-7DE01C9CD8BA}"/>
              </a:ext>
            </a:extLst>
          </p:cNvPr>
          <p:cNvCxnSpPr>
            <a:cxnSpLocks/>
          </p:cNvCxnSpPr>
          <p:nvPr/>
        </p:nvCxnSpPr>
        <p:spPr>
          <a:xfrm>
            <a:off x="8548458" y="5462501"/>
            <a:ext cx="126000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8971413-952B-FA3D-B8D8-FC0A35DC5B95}"/>
                  </a:ext>
                </a:extLst>
              </p:cNvPr>
              <p:cNvSpPr txBox="1"/>
              <p:nvPr/>
            </p:nvSpPr>
            <p:spPr>
              <a:xfrm>
                <a:off x="8180042" y="5056016"/>
                <a:ext cx="425447"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𝑎</m:t>
                      </m:r>
                    </m:oMath>
                  </m:oMathPara>
                </a14:m>
                <a:endParaRPr lang="es-CL" sz="1600" i="1" dirty="0"/>
              </a:p>
            </p:txBody>
          </p:sp>
        </mc:Choice>
        <mc:Fallback xmlns="">
          <p:sp>
            <p:nvSpPr>
              <p:cNvPr id="17" name="TextBox 16">
                <a:extLst>
                  <a:ext uri="{FF2B5EF4-FFF2-40B4-BE49-F238E27FC236}">
                    <a16:creationId xmlns:a16="http://schemas.microsoft.com/office/drawing/2014/main" id="{B8971413-952B-FA3D-B8D8-FC0A35DC5B95}"/>
                  </a:ext>
                </a:extLst>
              </p:cNvPr>
              <p:cNvSpPr txBox="1">
                <a:spLocks noRot="1" noChangeAspect="1" noMove="1" noResize="1" noEditPoints="1" noAdjustHandles="1" noChangeArrowheads="1" noChangeShapeType="1" noTextEdit="1"/>
              </p:cNvSpPr>
              <p:nvPr/>
            </p:nvSpPr>
            <p:spPr>
              <a:xfrm>
                <a:off x="8180042" y="5056016"/>
                <a:ext cx="425447" cy="338554"/>
              </a:xfrm>
              <a:prstGeom prst="rect">
                <a:avLst/>
              </a:prstGeom>
              <a:blipFill>
                <a:blip r:embed="rId6"/>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9F16FE07-2214-4CF8-E56E-BE8B7DEB3C31}"/>
              </a:ext>
            </a:extLst>
          </p:cNvPr>
          <p:cNvSpPr txBox="1"/>
          <p:nvPr/>
        </p:nvSpPr>
        <p:spPr>
          <a:xfrm>
            <a:off x="280518" y="4828112"/>
            <a:ext cx="1778465" cy="584775"/>
          </a:xfrm>
          <a:prstGeom prst="rect">
            <a:avLst/>
          </a:prstGeom>
          <a:noFill/>
        </p:spPr>
        <p:txBody>
          <a:bodyPr wrap="square" rtlCol="0">
            <a:spAutoFit/>
          </a:bodyPr>
          <a:lstStyle/>
          <a:p>
            <a:r>
              <a:rPr lang="en-US" sz="1600" dirty="0" err="1"/>
              <a:t>Gráficos</a:t>
            </a:r>
            <a:r>
              <a:rPr lang="en-US" sz="1600" dirty="0"/>
              <a:t> del </a:t>
            </a:r>
            <a:r>
              <a:rPr lang="en-US" sz="1600" dirty="0" err="1"/>
              <a:t>movimiento</a:t>
            </a:r>
            <a:endParaRPr lang="en-US" sz="1600" dirty="0"/>
          </a:p>
        </p:txBody>
      </p:sp>
      <p:cxnSp>
        <p:nvCxnSpPr>
          <p:cNvPr id="19" name="Straight Arrow Connector 18">
            <a:extLst>
              <a:ext uri="{FF2B5EF4-FFF2-40B4-BE49-F238E27FC236}">
                <a16:creationId xmlns:a16="http://schemas.microsoft.com/office/drawing/2014/main" id="{7829CA7B-929E-2144-583E-8322CA2C15B5}"/>
              </a:ext>
            </a:extLst>
          </p:cNvPr>
          <p:cNvCxnSpPr>
            <a:cxnSpLocks/>
          </p:cNvCxnSpPr>
          <p:nvPr/>
        </p:nvCxnSpPr>
        <p:spPr>
          <a:xfrm flipV="1">
            <a:off x="8548458" y="5101192"/>
            <a:ext cx="0" cy="12240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0073595B-D9CB-77D8-B687-18CE8FF293F0}"/>
              </a:ext>
            </a:extLst>
          </p:cNvPr>
          <p:cNvCxnSpPr>
            <a:cxnSpLocks/>
          </p:cNvCxnSpPr>
          <p:nvPr/>
        </p:nvCxnSpPr>
        <p:spPr>
          <a:xfrm>
            <a:off x="8392765" y="6199944"/>
            <a:ext cx="16920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993D92D1-F631-4EAB-7E36-33C3BDA6B05D}"/>
              </a:ext>
            </a:extLst>
          </p:cNvPr>
          <p:cNvCxnSpPr>
            <a:cxnSpLocks/>
          </p:cNvCxnSpPr>
          <p:nvPr/>
        </p:nvCxnSpPr>
        <p:spPr>
          <a:xfrm flipV="1">
            <a:off x="5490061" y="5057163"/>
            <a:ext cx="0" cy="12240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56BDB198-33B3-A8E0-E65F-97AA3F853C9F}"/>
              </a:ext>
            </a:extLst>
          </p:cNvPr>
          <p:cNvCxnSpPr>
            <a:cxnSpLocks/>
          </p:cNvCxnSpPr>
          <p:nvPr/>
        </p:nvCxnSpPr>
        <p:spPr>
          <a:xfrm>
            <a:off x="5334368" y="6155915"/>
            <a:ext cx="16920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09735AE0-31C6-476D-AF6D-664CFC0B2080}"/>
              </a:ext>
            </a:extLst>
          </p:cNvPr>
          <p:cNvSpPr txBox="1"/>
          <p:nvPr/>
        </p:nvSpPr>
        <p:spPr>
          <a:xfrm>
            <a:off x="6631134" y="6111886"/>
            <a:ext cx="1041554" cy="338554"/>
          </a:xfrm>
          <a:prstGeom prst="rect">
            <a:avLst/>
          </a:prstGeom>
          <a:noFill/>
        </p:spPr>
        <p:txBody>
          <a:bodyPr wrap="square" rtlCol="0">
            <a:spAutoFit/>
          </a:bodyPr>
          <a:lstStyle/>
          <a:p>
            <a:pPr algn="ctr"/>
            <a:r>
              <a:rPr lang="es-CL" sz="1600" i="1" dirty="0"/>
              <a:t>t</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6C3DDDF-2162-16ED-0F4F-E90B8F657BC6}"/>
                  </a:ext>
                </a:extLst>
              </p:cNvPr>
              <p:cNvSpPr txBox="1"/>
              <p:nvPr/>
            </p:nvSpPr>
            <p:spPr>
              <a:xfrm>
                <a:off x="4934285" y="4937034"/>
                <a:ext cx="585013"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𝑣</m:t>
                      </m:r>
                      <m:d>
                        <m:dPr>
                          <m:ctrlPr>
                            <a:rPr lang="es-CL" sz="1600" b="0" i="1" smtClean="0">
                              <a:latin typeface="Cambria Math" panose="02040503050406030204" pitchFamily="18" charset="0"/>
                            </a:rPr>
                          </m:ctrlPr>
                        </m:dPr>
                        <m:e>
                          <m:r>
                            <a:rPr lang="es-CL" sz="1600" b="0" i="1" smtClean="0">
                              <a:latin typeface="Cambria Math" panose="02040503050406030204" pitchFamily="18" charset="0"/>
                            </a:rPr>
                            <m:t>𝑡</m:t>
                          </m:r>
                        </m:e>
                      </m:d>
                    </m:oMath>
                  </m:oMathPara>
                </a14:m>
                <a:endParaRPr lang="es-CL" sz="1600" i="1" dirty="0"/>
              </a:p>
            </p:txBody>
          </p:sp>
        </mc:Choice>
        <mc:Fallback xmlns="">
          <p:sp>
            <p:nvSpPr>
              <p:cNvPr id="31" name="TextBox 30">
                <a:extLst>
                  <a:ext uri="{FF2B5EF4-FFF2-40B4-BE49-F238E27FC236}">
                    <a16:creationId xmlns:a16="http://schemas.microsoft.com/office/drawing/2014/main" id="{C6C3DDDF-2162-16ED-0F4F-E90B8F657BC6}"/>
                  </a:ext>
                </a:extLst>
              </p:cNvPr>
              <p:cNvSpPr txBox="1">
                <a:spLocks noRot="1" noChangeAspect="1" noMove="1" noResize="1" noEditPoints="1" noAdjustHandles="1" noChangeArrowheads="1" noChangeShapeType="1" noTextEdit="1"/>
              </p:cNvSpPr>
              <p:nvPr/>
            </p:nvSpPr>
            <p:spPr>
              <a:xfrm>
                <a:off x="4934285" y="4937034"/>
                <a:ext cx="585013" cy="33855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603EB73-BA2C-C399-AA7B-27A4A1C71593}"/>
                  </a:ext>
                </a:extLst>
              </p:cNvPr>
              <p:cNvSpPr txBox="1"/>
              <p:nvPr/>
            </p:nvSpPr>
            <p:spPr>
              <a:xfrm>
                <a:off x="5226792" y="5570923"/>
                <a:ext cx="222319"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s-CL" sz="1600" b="0" i="1" smtClean="0">
                              <a:latin typeface="Cambria Math" panose="02040503050406030204" pitchFamily="18" charset="0"/>
                            </a:rPr>
                          </m:ctrlPr>
                        </m:sSubPr>
                        <m:e>
                          <m:r>
                            <a:rPr lang="en-US" sz="1600" b="0" i="1" smtClean="0">
                              <a:latin typeface="Cambria Math" panose="02040503050406030204" pitchFamily="18" charset="0"/>
                            </a:rPr>
                            <m:t>𝑣</m:t>
                          </m:r>
                        </m:e>
                        <m:sub>
                          <m:r>
                            <a:rPr lang="en-US" sz="1600" b="0" i="1" smtClean="0">
                              <a:latin typeface="Cambria Math" panose="02040503050406030204" pitchFamily="18" charset="0"/>
                            </a:rPr>
                            <m:t>𝑖</m:t>
                          </m:r>
                        </m:sub>
                      </m:sSub>
                    </m:oMath>
                  </m:oMathPara>
                </a14:m>
                <a:endParaRPr lang="es-CL" sz="1600" i="1" dirty="0"/>
              </a:p>
            </p:txBody>
          </p:sp>
        </mc:Choice>
        <mc:Fallback xmlns="">
          <p:sp>
            <p:nvSpPr>
              <p:cNvPr id="32" name="TextBox 31">
                <a:extLst>
                  <a:ext uri="{FF2B5EF4-FFF2-40B4-BE49-F238E27FC236}">
                    <a16:creationId xmlns:a16="http://schemas.microsoft.com/office/drawing/2014/main" id="{F603EB73-BA2C-C399-AA7B-27A4A1C71593}"/>
                  </a:ext>
                </a:extLst>
              </p:cNvPr>
              <p:cNvSpPr txBox="1">
                <a:spLocks noRot="1" noChangeAspect="1" noMove="1" noResize="1" noEditPoints="1" noAdjustHandles="1" noChangeArrowheads="1" noChangeShapeType="1" noTextEdit="1"/>
              </p:cNvSpPr>
              <p:nvPr/>
            </p:nvSpPr>
            <p:spPr>
              <a:xfrm>
                <a:off x="5226792" y="5570923"/>
                <a:ext cx="222319" cy="338554"/>
              </a:xfrm>
              <a:prstGeom prst="rect">
                <a:avLst/>
              </a:prstGeom>
              <a:blipFill>
                <a:blip r:embed="rId8"/>
                <a:stretch>
                  <a:fillRect l="-24324"/>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D7DCC4E8-DF90-5965-6853-942B3FB111A4}"/>
              </a:ext>
            </a:extLst>
          </p:cNvPr>
          <p:cNvCxnSpPr>
            <a:cxnSpLocks/>
          </p:cNvCxnSpPr>
          <p:nvPr/>
        </p:nvCxnSpPr>
        <p:spPr>
          <a:xfrm flipV="1">
            <a:off x="5480924" y="5275588"/>
            <a:ext cx="1466562" cy="515982"/>
          </a:xfrm>
          <a:prstGeom prst="line">
            <a:avLst/>
          </a:prstGeom>
        </p:spPr>
        <p:style>
          <a:lnRef idx="1">
            <a:schemeClr val="accent1"/>
          </a:lnRef>
          <a:fillRef idx="0">
            <a:schemeClr val="accent1"/>
          </a:fillRef>
          <a:effectRef idx="0">
            <a:schemeClr val="accent1"/>
          </a:effectRef>
          <a:fontRef idx="minor">
            <a:schemeClr val="tx1"/>
          </a:fontRef>
        </p:style>
      </p:cxnSp>
      <p:sp>
        <p:nvSpPr>
          <p:cNvPr id="34" name="Arc 33">
            <a:extLst>
              <a:ext uri="{FF2B5EF4-FFF2-40B4-BE49-F238E27FC236}">
                <a16:creationId xmlns:a16="http://schemas.microsoft.com/office/drawing/2014/main" id="{0EA456A4-7246-6D71-AC38-690452B3EC04}"/>
              </a:ext>
            </a:extLst>
          </p:cNvPr>
          <p:cNvSpPr>
            <a:spLocks noChangeAspect="1"/>
          </p:cNvSpPr>
          <p:nvPr/>
        </p:nvSpPr>
        <p:spPr>
          <a:xfrm rot="5638583">
            <a:off x="1508486" y="4176614"/>
            <a:ext cx="1828085" cy="1828085"/>
          </a:xfrm>
          <a:prstGeom prst="arc">
            <a:avLst>
              <a:gd name="adj1" fmla="val 16145605"/>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a:extLst>
              <a:ext uri="{FF2B5EF4-FFF2-40B4-BE49-F238E27FC236}">
                <a16:creationId xmlns:a16="http://schemas.microsoft.com/office/drawing/2014/main" id="{5B4780D4-A326-81C5-A835-100D4F84784D}"/>
              </a:ext>
            </a:extLst>
          </p:cNvPr>
          <p:cNvSpPr txBox="1"/>
          <p:nvPr/>
        </p:nvSpPr>
        <p:spPr>
          <a:xfrm>
            <a:off x="3146410" y="5570923"/>
            <a:ext cx="1101584" cy="338554"/>
          </a:xfrm>
          <a:prstGeom prst="rect">
            <a:avLst/>
          </a:prstGeom>
          <a:noFill/>
        </p:spPr>
        <p:txBody>
          <a:bodyPr wrap="none" rtlCol="0">
            <a:spAutoFit/>
          </a:bodyPr>
          <a:lstStyle/>
          <a:p>
            <a:r>
              <a:rPr lang="en-US" sz="1600" dirty="0" err="1">
                <a:solidFill>
                  <a:srgbClr val="FF0000"/>
                </a:solidFill>
              </a:rPr>
              <a:t>Parábola</a:t>
            </a:r>
            <a:endParaRPr lang="en-US" sz="1600" dirty="0">
              <a:solidFill>
                <a:srgbClr val="FF0000"/>
              </a:solidFill>
            </a:endParaRPr>
          </a:p>
        </p:txBody>
      </p:sp>
      <p:sp>
        <p:nvSpPr>
          <p:cNvPr id="36" name="TextBox 35">
            <a:extLst>
              <a:ext uri="{FF2B5EF4-FFF2-40B4-BE49-F238E27FC236}">
                <a16:creationId xmlns:a16="http://schemas.microsoft.com/office/drawing/2014/main" id="{63F0736F-212C-100F-B271-3E2704B65DF7}"/>
              </a:ext>
            </a:extLst>
          </p:cNvPr>
          <p:cNvSpPr txBox="1"/>
          <p:nvPr/>
        </p:nvSpPr>
        <p:spPr>
          <a:xfrm>
            <a:off x="6101881" y="5570923"/>
            <a:ext cx="777777" cy="338554"/>
          </a:xfrm>
          <a:prstGeom prst="rect">
            <a:avLst/>
          </a:prstGeom>
          <a:noFill/>
        </p:spPr>
        <p:txBody>
          <a:bodyPr wrap="none" rtlCol="0">
            <a:spAutoFit/>
          </a:bodyPr>
          <a:lstStyle/>
          <a:p>
            <a:r>
              <a:rPr lang="en-US" sz="1600" dirty="0">
                <a:solidFill>
                  <a:srgbClr val="FF0000"/>
                </a:solidFill>
              </a:rPr>
              <a:t>Recta</a:t>
            </a:r>
          </a:p>
        </p:txBody>
      </p:sp>
      <p:sp>
        <p:nvSpPr>
          <p:cNvPr id="11" name="Marcador de número de diapositiva 2">
            <a:extLst>
              <a:ext uri="{FF2B5EF4-FFF2-40B4-BE49-F238E27FC236}">
                <a16:creationId xmlns:a16="http://schemas.microsoft.com/office/drawing/2014/main" id="{5D4D2E81-25EA-AA62-300B-4AE0ED6AB5F0}"/>
              </a:ext>
            </a:extLst>
          </p:cNvPr>
          <p:cNvSpPr txBox="1">
            <a:spLocks/>
          </p:cNvSpPr>
          <p:nvPr/>
        </p:nvSpPr>
        <p:spPr>
          <a:xfrm>
            <a:off x="8993372" y="168201"/>
            <a:ext cx="2743200" cy="365125"/>
          </a:xfrm>
          <a:prstGeom prst="rect">
            <a:avLst/>
          </a:prstGeom>
        </p:spPr>
        <p:txBody>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9C89E4B-EE86-427E-B533-BCEDB2CD4BCC}" type="slidenum">
              <a:rPr lang="es-CL" sz="1200" smtClean="0"/>
              <a:pPr algn="r"/>
              <a:t>12</a:t>
            </a:fld>
            <a:endParaRPr lang="es-CL" sz="1200"/>
          </a:p>
        </p:txBody>
      </p:sp>
    </p:spTree>
    <p:extLst>
      <p:ext uri="{BB962C8B-B14F-4D97-AF65-F5344CB8AC3E}">
        <p14:creationId xmlns:p14="http://schemas.microsoft.com/office/powerpoint/2010/main" val="2093611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6AC27-6D4B-FAC9-6371-E345423380F2}"/>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86E2769B-1CEE-94C2-2A40-BB885E1E1E05}"/>
              </a:ext>
            </a:extLst>
          </p:cNvPr>
          <p:cNvSpPr txBox="1"/>
          <p:nvPr/>
        </p:nvSpPr>
        <p:spPr>
          <a:xfrm>
            <a:off x="133350" y="19050"/>
            <a:ext cx="11934826" cy="461665"/>
          </a:xfrm>
          <a:prstGeom prst="rect">
            <a:avLst/>
          </a:prstGeom>
          <a:noFill/>
          <a:ln cap="flat" cmpd="sng">
            <a:solidFill>
              <a:srgbClr val="FFFFFF"/>
            </a:solidFill>
          </a:ln>
        </p:spPr>
        <p:txBody>
          <a:bodyPr wrap="square" rtlCol="0">
            <a:spAutoFit/>
          </a:bodyPr>
          <a:lstStyle/>
          <a:p>
            <a:pPr algn="ctr"/>
            <a:endParaRPr lang="es-CL" sz="2400" dirty="0"/>
          </a:p>
        </p:txBody>
      </p:sp>
      <p:graphicFrame>
        <p:nvGraphicFramePr>
          <p:cNvPr id="8" name="Tabla 7">
            <a:extLst>
              <a:ext uri="{FF2B5EF4-FFF2-40B4-BE49-F238E27FC236}">
                <a16:creationId xmlns:a16="http://schemas.microsoft.com/office/drawing/2014/main" id="{DED80AAE-206A-69BD-6768-DE390BDDD8F9}"/>
              </a:ext>
            </a:extLst>
          </p:cNvPr>
          <p:cNvGraphicFramePr>
            <a:graphicFrameLocks noGrp="1"/>
          </p:cNvGraphicFramePr>
          <p:nvPr>
            <p:extLst>
              <p:ext uri="{D42A27DB-BD31-4B8C-83A1-F6EECF244321}">
                <p14:modId xmlns:p14="http://schemas.microsoft.com/office/powerpoint/2010/main" val="1901704038"/>
              </p:ext>
            </p:extLst>
          </p:nvPr>
        </p:nvGraphicFramePr>
        <p:xfrm>
          <a:off x="1" y="0"/>
          <a:ext cx="12192000" cy="4572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2960110769"/>
                    </a:ext>
                  </a:extLst>
                </a:gridCol>
              </a:tblGrid>
              <a:tr h="370840">
                <a:tc>
                  <a:txBody>
                    <a:bodyPr/>
                    <a:lstStyle/>
                    <a:p>
                      <a:pPr algn="ctr"/>
                      <a:r>
                        <a:rPr lang="es-MX" sz="2400" dirty="0">
                          <a:latin typeface="Montserrat" pitchFamily="2" charset="77"/>
                        </a:rPr>
                        <a:t>Movimiento rectilíneo uniforme acelerado (MRUA)</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81913"/>
                  </a:ext>
                </a:extLst>
              </a:tr>
            </a:tbl>
          </a:graphicData>
        </a:graphic>
      </p:graphicFrame>
      <p:sp>
        <p:nvSpPr>
          <p:cNvPr id="3" name="TextBox 2">
            <a:extLst>
              <a:ext uri="{FF2B5EF4-FFF2-40B4-BE49-F238E27FC236}">
                <a16:creationId xmlns:a16="http://schemas.microsoft.com/office/drawing/2014/main" id="{BA67EA85-3CB9-940E-D1EF-0123928A66E2}"/>
              </a:ext>
            </a:extLst>
          </p:cNvPr>
          <p:cNvSpPr txBox="1"/>
          <p:nvPr/>
        </p:nvSpPr>
        <p:spPr>
          <a:xfrm>
            <a:off x="403440" y="950550"/>
            <a:ext cx="11385120" cy="584775"/>
          </a:xfrm>
          <a:prstGeom prst="rect">
            <a:avLst/>
          </a:prstGeom>
          <a:noFill/>
          <a:ln>
            <a:solidFill>
              <a:srgbClr val="FF0000"/>
            </a:solidFill>
          </a:ln>
        </p:spPr>
        <p:txBody>
          <a:bodyPr wrap="square">
            <a:spAutoFit/>
          </a:bodyPr>
          <a:lstStyle/>
          <a:p>
            <a:pPr algn="just"/>
            <a:r>
              <a:rPr lang="en-US" sz="1600" b="1" dirty="0" err="1"/>
              <a:t>Ejemplo</a:t>
            </a:r>
            <a:r>
              <a:rPr lang="en-US" sz="1600" b="1" dirty="0"/>
              <a:t>: </a:t>
            </a:r>
            <a:r>
              <a:rPr lang="es-ES" sz="1600" dirty="0"/>
              <a:t>Un camión inicia su movimiento desde el reposo, alcanzando una velocidad de 10 m/s hacia la derecha luego de 20 s. Calcule la aceleración del camión y la distancia recorrida en dicho intervalo de tiempo.</a:t>
            </a:r>
            <a:endParaRPr lang="es-CL" sz="1600" dirty="0"/>
          </a:p>
        </p:txBody>
      </p:sp>
      <p:sp>
        <p:nvSpPr>
          <p:cNvPr id="2" name="Marcador de número de diapositiva 2">
            <a:extLst>
              <a:ext uri="{FF2B5EF4-FFF2-40B4-BE49-F238E27FC236}">
                <a16:creationId xmlns:a16="http://schemas.microsoft.com/office/drawing/2014/main" id="{33E552D5-5EC4-D78B-83E7-8FA150B2CB44}"/>
              </a:ext>
            </a:extLst>
          </p:cNvPr>
          <p:cNvSpPr txBox="1">
            <a:spLocks/>
          </p:cNvSpPr>
          <p:nvPr/>
        </p:nvSpPr>
        <p:spPr>
          <a:xfrm>
            <a:off x="8993372" y="168201"/>
            <a:ext cx="2743200" cy="365125"/>
          </a:xfrm>
          <a:prstGeom prst="rect">
            <a:avLst/>
          </a:prstGeom>
        </p:spPr>
        <p:txBody>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9C89E4B-EE86-427E-B533-BCEDB2CD4BCC}" type="slidenum">
              <a:rPr lang="es-CL" sz="1200" smtClean="0"/>
              <a:pPr algn="r"/>
              <a:t>13</a:t>
            </a:fld>
            <a:endParaRPr lang="es-CL" sz="1200"/>
          </a:p>
        </p:txBody>
      </p:sp>
    </p:spTree>
    <p:extLst>
      <p:ext uri="{BB962C8B-B14F-4D97-AF65-F5344CB8AC3E}">
        <p14:creationId xmlns:p14="http://schemas.microsoft.com/office/powerpoint/2010/main" val="102380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1299F-DCC1-AF7F-948A-BE9B9C38D18D}"/>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837BF55D-CD7D-F9DD-74B8-DBFF7F6C91CE}"/>
              </a:ext>
            </a:extLst>
          </p:cNvPr>
          <p:cNvSpPr txBox="1"/>
          <p:nvPr/>
        </p:nvSpPr>
        <p:spPr>
          <a:xfrm>
            <a:off x="133350" y="19050"/>
            <a:ext cx="11934826" cy="461665"/>
          </a:xfrm>
          <a:prstGeom prst="rect">
            <a:avLst/>
          </a:prstGeom>
          <a:noFill/>
          <a:ln cap="flat" cmpd="sng">
            <a:solidFill>
              <a:srgbClr val="FFFFFF"/>
            </a:solidFill>
          </a:ln>
        </p:spPr>
        <p:txBody>
          <a:bodyPr wrap="square" rtlCol="0">
            <a:spAutoFit/>
          </a:bodyPr>
          <a:lstStyle/>
          <a:p>
            <a:pPr algn="ctr"/>
            <a:endParaRPr lang="es-CL" sz="2400" dirty="0"/>
          </a:p>
        </p:txBody>
      </p:sp>
      <p:graphicFrame>
        <p:nvGraphicFramePr>
          <p:cNvPr id="8" name="Tabla 7">
            <a:extLst>
              <a:ext uri="{FF2B5EF4-FFF2-40B4-BE49-F238E27FC236}">
                <a16:creationId xmlns:a16="http://schemas.microsoft.com/office/drawing/2014/main" id="{C0F76D04-BA5B-8D22-C23D-994E47F7DEB8}"/>
              </a:ext>
            </a:extLst>
          </p:cNvPr>
          <p:cNvGraphicFramePr>
            <a:graphicFrameLocks noGrp="1"/>
          </p:cNvGraphicFramePr>
          <p:nvPr>
            <p:extLst>
              <p:ext uri="{D42A27DB-BD31-4B8C-83A1-F6EECF244321}">
                <p14:modId xmlns:p14="http://schemas.microsoft.com/office/powerpoint/2010/main" val="4118436760"/>
              </p:ext>
            </p:extLst>
          </p:nvPr>
        </p:nvGraphicFramePr>
        <p:xfrm>
          <a:off x="1" y="0"/>
          <a:ext cx="12192000" cy="4572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2960110769"/>
                    </a:ext>
                  </a:extLst>
                </a:gridCol>
              </a:tblGrid>
              <a:tr h="370840">
                <a:tc>
                  <a:txBody>
                    <a:bodyPr/>
                    <a:lstStyle/>
                    <a:p>
                      <a:pPr algn="ctr"/>
                      <a:r>
                        <a:rPr lang="es-MX" sz="2400">
                          <a:latin typeface="Montserrat" pitchFamily="2" charset="77"/>
                        </a:rPr>
                        <a:t>Movimiento rectilíneo uniforme acelerado (MRUA)</a:t>
                      </a:r>
                      <a:endParaRPr lang="es-MX" sz="2400" dirty="0">
                        <a:latin typeface="Montserrat" pitchFamily="2" charset="77"/>
                      </a:endParaRP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81913"/>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42FEB3C-5C25-981A-9ADE-4EE3FDDDC6EE}"/>
                  </a:ext>
                </a:extLst>
              </p:cNvPr>
              <p:cNvSpPr txBox="1"/>
              <p:nvPr/>
            </p:nvSpPr>
            <p:spPr>
              <a:xfrm>
                <a:off x="403440" y="950550"/>
                <a:ext cx="11385120" cy="4668457"/>
              </a:xfrm>
              <a:prstGeom prst="rect">
                <a:avLst/>
              </a:prstGeom>
              <a:noFill/>
              <a:ln>
                <a:solidFill>
                  <a:srgbClr val="FF0000"/>
                </a:solidFill>
              </a:ln>
            </p:spPr>
            <p:txBody>
              <a:bodyPr wrap="square">
                <a:spAutoFit/>
              </a:bodyPr>
              <a:lstStyle/>
              <a:p>
                <a:pPr algn="just"/>
                <a:r>
                  <a:rPr lang="en-US" sz="1600" b="1" dirty="0"/>
                  <a:t>Ejemplo: </a:t>
                </a:r>
                <a:r>
                  <a:rPr lang="es-ES" sz="1600" dirty="0"/>
                  <a:t>Un camión inicia su movimiento desde el reposo, alcanzando una velocidad de 10 m/s hacia la derecha luego de 20 s. Calcule la aceleración del camión y la distancia recorrida en dicho intervalo de tiempo.</a:t>
                </a:r>
              </a:p>
              <a:p>
                <a:endParaRPr lang="es-ES" sz="1600" dirty="0"/>
              </a:p>
              <a:p>
                <a:r>
                  <a:rPr lang="es-ES" sz="1600" b="1" dirty="0"/>
                  <a:t>Desarrollo</a:t>
                </a:r>
              </a:p>
              <a:p>
                <a:r>
                  <a:rPr lang="es-CL" sz="1600" dirty="0"/>
                  <a:t>Supongamos que el camión inicia su movimiento en el origen del plano cartesiano en el eje x.</a:t>
                </a:r>
              </a:p>
              <a:p>
                <a:endParaRPr lang="es-CL" sz="1600" dirty="0"/>
              </a:p>
              <a:p>
                <a:endParaRPr lang="es-CL" sz="1600" dirty="0"/>
              </a:p>
              <a:p>
                <a:endParaRPr lang="es-CL" sz="1600" dirty="0"/>
              </a:p>
              <a:p>
                <a:endParaRPr lang="es-CL" sz="1600" dirty="0"/>
              </a:p>
              <a:p>
                <a:endParaRPr lang="es-CL" sz="1600" dirty="0"/>
              </a:p>
              <a:p>
                <a:endParaRPr lang="es-CL" sz="1600" dirty="0"/>
              </a:p>
              <a:p>
                <a:r>
                  <a:rPr lang="es-CL" sz="1600" dirty="0"/>
                  <a:t>La aceleración es</a:t>
                </a:r>
              </a:p>
              <a:p>
                <a:endParaRPr lang="es-CL" sz="1600" dirty="0"/>
              </a:p>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𝑣</m:t>
                      </m:r>
                      <m:r>
                        <a:rPr lang="en-US" sz="1600" b="0" i="1" smtClean="0">
                          <a:latin typeface="Cambria Math" panose="02040503050406030204" pitchFamily="18" charset="0"/>
                        </a:rPr>
                        <m:t>=</m:t>
                      </m:r>
                      <m:sSub>
                        <m:sSubPr>
                          <m:ctrlPr>
                            <a:rPr lang="es-CL" sz="1600" i="1">
                              <a:latin typeface="Cambria Math" panose="02040503050406030204" pitchFamily="18" charset="0"/>
                            </a:rPr>
                          </m:ctrlPr>
                        </m:sSubPr>
                        <m:e>
                          <m:r>
                            <a:rPr lang="en-US" sz="1600" i="1">
                              <a:latin typeface="Cambria Math" panose="02040503050406030204" pitchFamily="18" charset="0"/>
                            </a:rPr>
                            <m:t>𝑣</m:t>
                          </m:r>
                        </m:e>
                        <m:sub>
                          <m:r>
                            <a:rPr lang="es-CL" sz="1600" i="1">
                              <a:latin typeface="Cambria Math" panose="02040503050406030204" pitchFamily="18" charset="0"/>
                            </a:rPr>
                            <m:t>𝑖</m:t>
                          </m:r>
                          <m:r>
                            <a:rPr lang="es-CL" sz="1600" i="1">
                              <a:latin typeface="Cambria Math" panose="02040503050406030204" pitchFamily="18" charset="0"/>
                            </a:rPr>
                            <m:t> </m:t>
                          </m:r>
                        </m:sub>
                      </m:sSub>
                      <m:r>
                        <a:rPr lang="en-US" sz="1600" b="0" i="1" smtClean="0">
                          <a:latin typeface="Cambria Math" panose="02040503050406030204" pitchFamily="18" charset="0"/>
                        </a:rPr>
                        <m:t>+</m:t>
                      </m:r>
                      <m:r>
                        <a:rPr lang="en-US" sz="1600" b="0" i="1" smtClean="0">
                          <a:latin typeface="Cambria Math" panose="02040503050406030204" pitchFamily="18" charset="0"/>
                        </a:rPr>
                        <m:t>𝑎𝑡</m:t>
                      </m:r>
                      <m:r>
                        <a:rPr lang="es-ES" sz="1600" b="0" i="1" smtClean="0">
                          <a:latin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m:t>
                      </m:r>
                      <m:r>
                        <a:rPr lang="es-E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10</m:t>
                      </m:r>
                      <m:f>
                        <m:fPr>
                          <m:ctrlPr>
                            <a:rPr lang="en-US" sz="1600" b="0" i="1" smtClean="0">
                              <a:latin typeface="Cambria Math" panose="02040503050406030204" pitchFamily="18" charset="0"/>
                              <a:ea typeface="Cambria Math" panose="02040503050406030204" pitchFamily="18" charset="0"/>
                            </a:rPr>
                          </m:ctrlPr>
                        </m:fPr>
                        <m:num>
                          <m:r>
                            <m:rPr>
                              <m:sty m:val="p"/>
                            </m:rPr>
                            <a:rPr lang="en-US" sz="1600" b="0" i="0" smtClean="0">
                              <a:latin typeface="Cambria Math" panose="02040503050406030204" pitchFamily="18" charset="0"/>
                              <a:ea typeface="Cambria Math" panose="02040503050406030204" pitchFamily="18" charset="0"/>
                            </a:rPr>
                            <m:t>m</m:t>
                          </m:r>
                        </m:num>
                        <m:den>
                          <m:r>
                            <m:rPr>
                              <m:sty m:val="p"/>
                            </m:rPr>
                            <a:rPr lang="en-US" sz="1600" b="0" i="0" smtClean="0">
                              <a:latin typeface="Cambria Math" panose="02040503050406030204" pitchFamily="18" charset="0"/>
                              <a:ea typeface="Cambria Math" panose="02040503050406030204" pitchFamily="18" charset="0"/>
                            </a:rPr>
                            <m:t>s</m:t>
                          </m:r>
                        </m:den>
                      </m:f>
                      <m:r>
                        <a:rPr lang="en-US" sz="1600" b="0" i="1" smtClean="0">
                          <a:latin typeface="Cambria Math" panose="02040503050406030204" pitchFamily="18" charset="0"/>
                          <a:ea typeface="Cambria Math" panose="02040503050406030204" pitchFamily="18" charset="0"/>
                        </a:rPr>
                        <m:t>=0+</m:t>
                      </m:r>
                      <m:r>
                        <a:rPr lang="en-US" sz="1600" b="0" i="1" smtClean="0">
                          <a:latin typeface="Cambria Math" panose="02040503050406030204" pitchFamily="18" charset="0"/>
                          <a:ea typeface="Cambria Math" panose="02040503050406030204" pitchFamily="18" charset="0"/>
                        </a:rPr>
                        <m:t>𝑎</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20 </m:t>
                          </m:r>
                          <m:r>
                            <m:rPr>
                              <m:sty m:val="p"/>
                            </m:rPr>
                            <a:rPr lang="en-US" sz="1600" b="0" i="0" smtClean="0">
                              <a:latin typeface="Cambria Math" panose="02040503050406030204" pitchFamily="18" charset="0"/>
                              <a:ea typeface="Cambria Math" panose="02040503050406030204" pitchFamily="18" charset="0"/>
                            </a:rPr>
                            <m:t>s</m:t>
                          </m:r>
                        </m:e>
                      </m:d>
                      <m:r>
                        <a:rPr lang="es-E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m:t>
                      </m:r>
                      <m:r>
                        <a:rPr lang="es-E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𝑎</m:t>
                      </m:r>
                      <m:r>
                        <a:rPr lang="en-US" sz="1600" b="0" i="1" smtClean="0">
                          <a:latin typeface="Cambria Math" panose="02040503050406030204" pitchFamily="18" charset="0"/>
                          <a:ea typeface="Cambria Math" panose="02040503050406030204" pitchFamily="18" charset="0"/>
                        </a:rPr>
                        <m:t>=0.5 </m:t>
                      </m:r>
                      <m:r>
                        <m:rPr>
                          <m:sty m:val="p"/>
                        </m:rPr>
                        <a:rPr lang="en-US" sz="1600" b="0" i="0" smtClean="0">
                          <a:latin typeface="Cambria Math" panose="02040503050406030204" pitchFamily="18" charset="0"/>
                          <a:ea typeface="Cambria Math" panose="02040503050406030204" pitchFamily="18" charset="0"/>
                        </a:rPr>
                        <m:t>m</m:t>
                      </m:r>
                      <m:r>
                        <a:rPr lang="en-US" sz="1600" b="0" i="0" smtClean="0">
                          <a:latin typeface="Cambria Math" panose="02040503050406030204" pitchFamily="18" charset="0"/>
                          <a:ea typeface="Cambria Math" panose="02040503050406030204" pitchFamily="18" charset="0"/>
                        </a:rPr>
                        <m:t>/</m:t>
                      </m:r>
                      <m:sSup>
                        <m:sSupPr>
                          <m:ctrlPr>
                            <a:rPr lang="en-US" sz="1600" b="0" i="1" smtClean="0">
                              <a:latin typeface="Cambria Math" panose="02040503050406030204" pitchFamily="18" charset="0"/>
                              <a:ea typeface="Cambria Math" panose="02040503050406030204" pitchFamily="18" charset="0"/>
                            </a:rPr>
                          </m:ctrlPr>
                        </m:sSupPr>
                        <m:e>
                          <m:r>
                            <m:rPr>
                              <m:sty m:val="p"/>
                            </m:rPr>
                            <a:rPr lang="en-US" sz="1600" b="0" i="0" smtClean="0">
                              <a:latin typeface="Cambria Math" panose="02040503050406030204" pitchFamily="18" charset="0"/>
                              <a:ea typeface="Cambria Math" panose="02040503050406030204" pitchFamily="18" charset="0"/>
                            </a:rPr>
                            <m:t>s</m:t>
                          </m:r>
                        </m:e>
                        <m:sup>
                          <m:r>
                            <a:rPr lang="en-US" sz="1600" b="0" i="0" smtClean="0">
                              <a:latin typeface="Cambria Math" panose="02040503050406030204" pitchFamily="18" charset="0"/>
                              <a:ea typeface="Cambria Math" panose="02040503050406030204" pitchFamily="18" charset="0"/>
                            </a:rPr>
                            <m:t>2</m:t>
                          </m:r>
                        </m:sup>
                      </m:sSup>
                    </m:oMath>
                  </m:oMathPara>
                </a14:m>
                <a:endParaRPr lang="es-CL" sz="1600" dirty="0"/>
              </a:p>
              <a:p>
                <a:r>
                  <a:rPr lang="es-CL" sz="1600" dirty="0"/>
                  <a:t>La distancia recorrida es  </a:t>
                </a:r>
                <a14:m>
                  <m:oMath xmlns:m="http://schemas.openxmlformats.org/officeDocument/2006/math">
                    <m:r>
                      <a:rPr lang="en-US" sz="1600" b="0" i="1" smtClean="0">
                        <a:latin typeface="Cambria Math" panose="02040503050406030204" pitchFamily="18" charset="0"/>
                      </a:rPr>
                      <m:t>𝑑</m:t>
                    </m:r>
                    <m:r>
                      <a:rPr lang="en-US" sz="1600" b="0" i="1" smtClean="0">
                        <a:latin typeface="Cambria Math" panose="02040503050406030204" pitchFamily="18" charset="0"/>
                      </a:rPr>
                      <m:t>=</m:t>
                    </m:r>
                    <m:r>
                      <a:rPr lang="en-US" sz="1600" i="1">
                        <a:latin typeface="Cambria Math" panose="02040503050406030204" pitchFamily="18" charset="0"/>
                        <a:ea typeface="Cambria Math" panose="02040503050406030204" pitchFamily="18" charset="0"/>
                      </a:rPr>
                      <m:t>𝑥</m:t>
                    </m:r>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𝑡</m:t>
                        </m:r>
                        <m:r>
                          <a:rPr lang="en-US" sz="1600" i="1">
                            <a:latin typeface="Cambria Math" panose="02040503050406030204" pitchFamily="18" charset="0"/>
                            <a:ea typeface="Cambria Math" panose="02040503050406030204" pitchFamily="18" charset="0"/>
                          </a:rPr>
                          <m:t>=20 </m:t>
                        </m:r>
                        <m:r>
                          <m:rPr>
                            <m:sty m:val="p"/>
                          </m:rPr>
                          <a:rPr lang="en-US" sz="1600" i="0">
                            <a:latin typeface="Cambria Math" panose="02040503050406030204" pitchFamily="18" charset="0"/>
                            <a:ea typeface="Cambria Math" panose="02040503050406030204" pitchFamily="18" charset="0"/>
                          </a:rPr>
                          <m:t>s</m:t>
                        </m:r>
                      </m:e>
                    </m:d>
                    <m:r>
                      <a:rPr lang="en-US" sz="1600" b="0" i="1" smtClean="0">
                        <a:latin typeface="Cambria Math" panose="02040503050406030204" pitchFamily="18" charset="0"/>
                      </a:rPr>
                      <m:t>−</m:t>
                    </m:r>
                    <m:sSub>
                      <m:sSubPr>
                        <m:ctrlPr>
                          <a:rPr lang="es-CL" sz="1600" i="1">
                            <a:latin typeface="Cambria Math" panose="02040503050406030204" pitchFamily="18" charset="0"/>
                          </a:rPr>
                        </m:ctrlPr>
                      </m:sSubPr>
                      <m:e>
                        <m:r>
                          <a:rPr lang="es-CL" sz="1600" i="1">
                            <a:latin typeface="Cambria Math" panose="02040503050406030204" pitchFamily="18" charset="0"/>
                          </a:rPr>
                          <m:t>𝑥</m:t>
                        </m:r>
                      </m:e>
                      <m:sub>
                        <m:r>
                          <a:rPr lang="es-CL" sz="1600" i="1">
                            <a:latin typeface="Cambria Math" panose="02040503050406030204" pitchFamily="18" charset="0"/>
                          </a:rPr>
                          <m:t>𝑖</m:t>
                        </m:r>
                      </m:sub>
                    </m:sSub>
                    <m:r>
                      <a:rPr lang="en-US" sz="1600" b="0" i="1" smtClean="0">
                        <a:latin typeface="Cambria Math" panose="02040503050406030204" pitchFamily="18" charset="0"/>
                      </a:rPr>
                      <m:t>=</m:t>
                    </m:r>
                    <m:r>
                      <a:rPr lang="en-US" sz="1600" i="1">
                        <a:latin typeface="Cambria Math" panose="02040503050406030204" pitchFamily="18" charset="0"/>
                        <a:ea typeface="Cambria Math" panose="02040503050406030204" pitchFamily="18" charset="0"/>
                      </a:rPr>
                      <m:t>𝑥</m:t>
                    </m:r>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𝑡</m:t>
                        </m:r>
                        <m:r>
                          <a:rPr lang="en-US" sz="1600" i="1">
                            <a:latin typeface="Cambria Math" panose="02040503050406030204" pitchFamily="18" charset="0"/>
                            <a:ea typeface="Cambria Math" panose="02040503050406030204" pitchFamily="18" charset="0"/>
                          </a:rPr>
                          <m:t>=20 </m:t>
                        </m:r>
                        <m:r>
                          <m:rPr>
                            <m:sty m:val="p"/>
                          </m:rPr>
                          <a:rPr lang="en-US" sz="1600" i="0">
                            <a:latin typeface="Cambria Math" panose="02040503050406030204" pitchFamily="18" charset="0"/>
                            <a:ea typeface="Cambria Math" panose="02040503050406030204" pitchFamily="18" charset="0"/>
                          </a:rPr>
                          <m:t>s</m:t>
                        </m:r>
                      </m:e>
                    </m:d>
                    <m:r>
                      <a:rPr lang="en-US" sz="1600" b="0" i="1" smtClean="0">
                        <a:latin typeface="Cambria Math" panose="02040503050406030204" pitchFamily="18" charset="0"/>
                      </a:rPr>
                      <m:t>−0=</m:t>
                    </m:r>
                    <m:r>
                      <a:rPr lang="en-US" sz="1600" i="1">
                        <a:latin typeface="Cambria Math" panose="02040503050406030204" pitchFamily="18" charset="0"/>
                        <a:ea typeface="Cambria Math" panose="02040503050406030204" pitchFamily="18" charset="0"/>
                      </a:rPr>
                      <m:t>𝑥</m:t>
                    </m:r>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𝑡</m:t>
                        </m:r>
                        <m:r>
                          <a:rPr lang="en-US" sz="1600" i="1">
                            <a:latin typeface="Cambria Math" panose="02040503050406030204" pitchFamily="18" charset="0"/>
                            <a:ea typeface="Cambria Math" panose="02040503050406030204" pitchFamily="18" charset="0"/>
                          </a:rPr>
                          <m:t>=20 </m:t>
                        </m:r>
                        <m:r>
                          <m:rPr>
                            <m:sty m:val="p"/>
                          </m:rPr>
                          <a:rPr lang="en-US" sz="1600" i="0">
                            <a:latin typeface="Cambria Math" panose="02040503050406030204" pitchFamily="18" charset="0"/>
                            <a:ea typeface="Cambria Math" panose="02040503050406030204" pitchFamily="18" charset="0"/>
                          </a:rPr>
                          <m:t>s</m:t>
                        </m:r>
                      </m:e>
                    </m:d>
                  </m:oMath>
                </a14:m>
                <a:r>
                  <a:rPr lang="es-CL" sz="1600" dirty="0"/>
                  <a:t>. Calculemos la posición a los 20 s</a:t>
                </a:r>
              </a:p>
              <a:p>
                <a:endParaRPr lang="es-CL" sz="1600" dirty="0"/>
              </a:p>
              <a:p>
                <a:pPr/>
                <a14:m>
                  <m:oMathPara xmlns:m="http://schemas.openxmlformats.org/officeDocument/2006/math">
                    <m:oMathParaPr>
                      <m:jc m:val="centerGroup"/>
                    </m:oMathParaPr>
                    <m:oMath xmlns:m="http://schemas.openxmlformats.org/officeDocument/2006/math">
                      <m:r>
                        <a:rPr lang="es-CL" sz="1600" b="0" i="1" smtClean="0">
                          <a:latin typeface="Cambria Math" panose="02040503050406030204" pitchFamily="18" charset="0"/>
                        </a:rPr>
                        <m:t>𝑥</m:t>
                      </m:r>
                      <m:d>
                        <m:dPr>
                          <m:ctrlPr>
                            <a:rPr lang="es-CL" sz="1600" b="0" i="1" smtClean="0">
                              <a:latin typeface="Cambria Math" panose="02040503050406030204" pitchFamily="18" charset="0"/>
                            </a:rPr>
                          </m:ctrlPr>
                        </m:dPr>
                        <m:e>
                          <m:r>
                            <a:rPr lang="es-CL" sz="1600" b="0" i="1" smtClean="0">
                              <a:latin typeface="Cambria Math" panose="02040503050406030204" pitchFamily="18" charset="0"/>
                            </a:rPr>
                            <m:t>𝑡</m:t>
                          </m:r>
                        </m:e>
                      </m:d>
                      <m:r>
                        <a:rPr lang="es-CL" sz="1600" b="0" i="1" smtClean="0">
                          <a:latin typeface="Cambria Math" panose="02040503050406030204" pitchFamily="18" charset="0"/>
                        </a:rPr>
                        <m:t>=</m:t>
                      </m:r>
                      <m:sSub>
                        <m:sSubPr>
                          <m:ctrlPr>
                            <a:rPr lang="es-CL" sz="1600" b="0" i="1" smtClean="0">
                              <a:latin typeface="Cambria Math" panose="02040503050406030204" pitchFamily="18" charset="0"/>
                            </a:rPr>
                          </m:ctrlPr>
                        </m:sSubPr>
                        <m:e>
                          <m:r>
                            <a:rPr lang="es-CL" sz="1600" b="0" i="1" smtClean="0">
                              <a:latin typeface="Cambria Math" panose="02040503050406030204" pitchFamily="18" charset="0"/>
                            </a:rPr>
                            <m:t>𝑥</m:t>
                          </m:r>
                        </m:e>
                        <m:sub>
                          <m:r>
                            <a:rPr lang="es-CL" sz="1600" b="0" i="1" smtClean="0">
                              <a:latin typeface="Cambria Math" panose="02040503050406030204" pitchFamily="18" charset="0"/>
                            </a:rPr>
                            <m:t>𝑖</m:t>
                          </m:r>
                        </m:sub>
                      </m:sSub>
                      <m:r>
                        <a:rPr lang="es-CL" sz="1600" b="0" i="1" smtClean="0">
                          <a:latin typeface="Cambria Math" panose="02040503050406030204" pitchFamily="18" charset="0"/>
                        </a:rPr>
                        <m:t>+</m:t>
                      </m:r>
                      <m:sSub>
                        <m:sSubPr>
                          <m:ctrlPr>
                            <a:rPr lang="es-CL" sz="1600" b="0" i="1" smtClean="0">
                              <a:latin typeface="Cambria Math" panose="02040503050406030204" pitchFamily="18" charset="0"/>
                            </a:rPr>
                          </m:ctrlPr>
                        </m:sSubPr>
                        <m:e>
                          <m:r>
                            <a:rPr lang="es-CL" sz="1600" b="0" i="1" smtClean="0">
                              <a:latin typeface="Cambria Math" panose="02040503050406030204" pitchFamily="18" charset="0"/>
                            </a:rPr>
                            <m:t>𝑣</m:t>
                          </m:r>
                        </m:e>
                        <m:sub>
                          <m:r>
                            <a:rPr lang="es-CL" sz="1600" b="0" i="1" smtClean="0">
                              <a:latin typeface="Cambria Math" panose="02040503050406030204" pitchFamily="18" charset="0"/>
                            </a:rPr>
                            <m:t>𝑖</m:t>
                          </m:r>
                        </m:sub>
                      </m:sSub>
                      <m:r>
                        <a:rPr lang="en-US" sz="1600" b="0" i="1" smtClean="0">
                          <a:latin typeface="Cambria Math" panose="02040503050406030204" pitchFamily="18" charset="0"/>
                        </a:rPr>
                        <m:t>𝑡</m:t>
                      </m:r>
                      <m:r>
                        <a:rPr lang="es-CL" sz="1600" b="0" i="1" smtClean="0">
                          <a:latin typeface="Cambria Math" panose="02040503050406030204" pitchFamily="18" charset="0"/>
                        </a:rPr>
                        <m:t>+</m:t>
                      </m:r>
                      <m:f>
                        <m:fPr>
                          <m:ctrlPr>
                            <a:rPr lang="es-CL" sz="1600" b="0" i="1" smtClean="0">
                              <a:latin typeface="Cambria Math" panose="02040503050406030204" pitchFamily="18" charset="0"/>
                            </a:rPr>
                          </m:ctrlPr>
                        </m:fPr>
                        <m:num>
                          <m:r>
                            <a:rPr lang="es-CL" sz="1600" b="0" i="1" smtClean="0">
                              <a:latin typeface="Cambria Math" panose="02040503050406030204" pitchFamily="18" charset="0"/>
                            </a:rPr>
                            <m:t>1</m:t>
                          </m:r>
                        </m:num>
                        <m:den>
                          <m:r>
                            <a:rPr lang="es-CL" sz="1600" b="0" i="1" smtClean="0">
                              <a:latin typeface="Cambria Math" panose="02040503050406030204" pitchFamily="18" charset="0"/>
                            </a:rPr>
                            <m:t>2</m:t>
                          </m:r>
                        </m:den>
                      </m:f>
                      <m:r>
                        <a:rPr lang="es-CL" sz="1600" b="0" i="1" smtClean="0">
                          <a:latin typeface="Cambria Math" panose="02040503050406030204" pitchFamily="18" charset="0"/>
                        </a:rPr>
                        <m:t>𝑎</m:t>
                      </m:r>
                      <m:sSup>
                        <m:sSupPr>
                          <m:ctrlPr>
                            <a:rPr lang="es-CL" sz="1600" b="0" i="1" smtClean="0">
                              <a:latin typeface="Cambria Math" panose="02040503050406030204" pitchFamily="18" charset="0"/>
                            </a:rPr>
                          </m:ctrlPr>
                        </m:sSupPr>
                        <m:e>
                          <m:r>
                            <a:rPr lang="en-US" sz="1600" b="0" i="1" smtClean="0">
                              <a:latin typeface="Cambria Math" panose="02040503050406030204" pitchFamily="18" charset="0"/>
                            </a:rPr>
                            <m:t>𝑡</m:t>
                          </m:r>
                        </m:e>
                        <m:sup>
                          <m:r>
                            <a:rPr lang="es-CL" sz="1600" b="0" i="1" smtClean="0">
                              <a:latin typeface="Cambria Math" panose="02040503050406030204" pitchFamily="18" charset="0"/>
                            </a:rPr>
                            <m:t>2</m:t>
                          </m:r>
                        </m:sup>
                      </m:sSup>
                      <m:r>
                        <a:rPr lang="es-ES" sz="1600" b="0" i="1" smtClean="0">
                          <a:latin typeface="Cambria Math" panose="02040503050406030204" pitchFamily="18" charset="0"/>
                        </a:rPr>
                        <m:t>  </m:t>
                      </m:r>
                      <m:r>
                        <a:rPr lang="es-CL" sz="1600" b="0" i="1" smtClean="0">
                          <a:latin typeface="Cambria Math" panose="02040503050406030204" pitchFamily="18" charset="0"/>
                          <a:ea typeface="Cambria Math" panose="02040503050406030204" pitchFamily="18" charset="0"/>
                        </a:rPr>
                        <m:t>⇒</m:t>
                      </m:r>
                      <m:r>
                        <a:rPr lang="es-E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𝑥</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r>
                            <a:rPr lang="en-US" sz="1600" b="0" i="1" smtClean="0">
                              <a:latin typeface="Cambria Math" panose="02040503050406030204" pitchFamily="18" charset="0"/>
                              <a:ea typeface="Cambria Math" panose="02040503050406030204" pitchFamily="18" charset="0"/>
                            </a:rPr>
                            <m:t>=20 </m:t>
                          </m:r>
                          <m:r>
                            <m:rPr>
                              <m:sty m:val="p"/>
                            </m:rPr>
                            <a:rPr lang="en-US" sz="1600" b="0" i="0" smtClean="0">
                              <a:latin typeface="Cambria Math" panose="02040503050406030204" pitchFamily="18" charset="0"/>
                              <a:ea typeface="Cambria Math" panose="02040503050406030204" pitchFamily="18" charset="0"/>
                            </a:rPr>
                            <m:t>s</m:t>
                          </m:r>
                        </m:e>
                      </m:d>
                      <m:r>
                        <a:rPr lang="en-US" sz="1600" b="0" i="1" smtClean="0">
                          <a:latin typeface="Cambria Math" panose="02040503050406030204" pitchFamily="18" charset="0"/>
                          <a:ea typeface="Cambria Math" panose="02040503050406030204" pitchFamily="18" charset="0"/>
                        </a:rPr>
                        <m:t>=0+0+</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1</m:t>
                          </m:r>
                        </m:num>
                        <m:den>
                          <m:r>
                            <a:rPr lang="en-US" sz="1600" b="0" i="1" smtClean="0">
                              <a:latin typeface="Cambria Math" panose="02040503050406030204" pitchFamily="18" charset="0"/>
                              <a:ea typeface="Cambria Math" panose="02040503050406030204" pitchFamily="18" charset="0"/>
                            </a:rPr>
                            <m:t>2</m:t>
                          </m:r>
                        </m:den>
                      </m:f>
                      <m:d>
                        <m:dPr>
                          <m:ctrlPr>
                            <a:rPr lang="en-US" sz="1600" b="0" i="1" smtClean="0">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0.5 </m:t>
                          </m:r>
                          <m:r>
                            <m:rPr>
                              <m:sty m:val="p"/>
                            </m:rPr>
                            <a:rPr lang="en-US" sz="1600" i="0">
                              <a:latin typeface="Cambria Math" panose="02040503050406030204" pitchFamily="18" charset="0"/>
                              <a:ea typeface="Cambria Math" panose="02040503050406030204" pitchFamily="18" charset="0"/>
                            </a:rPr>
                            <m:t>m</m:t>
                          </m:r>
                          <m:r>
                            <a:rPr lang="en-US" sz="1600" i="0">
                              <a:latin typeface="Cambria Math" panose="02040503050406030204" pitchFamily="18" charset="0"/>
                              <a:ea typeface="Cambria Math" panose="02040503050406030204" pitchFamily="18" charset="0"/>
                            </a:rPr>
                            <m:t>/</m:t>
                          </m:r>
                          <m:sSup>
                            <m:sSupPr>
                              <m:ctrlPr>
                                <a:rPr lang="en-US" sz="1600" i="1">
                                  <a:latin typeface="Cambria Math" panose="02040503050406030204" pitchFamily="18" charset="0"/>
                                  <a:ea typeface="Cambria Math" panose="02040503050406030204" pitchFamily="18" charset="0"/>
                                </a:rPr>
                              </m:ctrlPr>
                            </m:sSupPr>
                            <m:e>
                              <m:r>
                                <m:rPr>
                                  <m:sty m:val="p"/>
                                </m:rPr>
                                <a:rPr lang="en-US" sz="1600" i="0">
                                  <a:latin typeface="Cambria Math" panose="02040503050406030204" pitchFamily="18" charset="0"/>
                                  <a:ea typeface="Cambria Math" panose="02040503050406030204" pitchFamily="18" charset="0"/>
                                </a:rPr>
                                <m:t>s</m:t>
                              </m:r>
                            </m:e>
                            <m:sup>
                              <m:r>
                                <a:rPr lang="en-US" sz="1600" i="0">
                                  <a:latin typeface="Cambria Math" panose="02040503050406030204" pitchFamily="18" charset="0"/>
                                  <a:ea typeface="Cambria Math" panose="02040503050406030204" pitchFamily="18" charset="0"/>
                                </a:rPr>
                                <m:t>2</m:t>
                              </m:r>
                            </m:sup>
                          </m:sSup>
                        </m:e>
                      </m:d>
                      <m:sSup>
                        <m:sSupPr>
                          <m:ctrlPr>
                            <a:rPr lang="en-US" sz="1600" b="0" i="1" smtClean="0">
                              <a:latin typeface="Cambria Math" panose="02040503050406030204" pitchFamily="18" charset="0"/>
                              <a:ea typeface="Cambria Math" panose="02040503050406030204" pitchFamily="18" charset="0"/>
                            </a:rPr>
                          </m:ctrlPr>
                        </m:sSupPr>
                        <m:e>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20 </m:t>
                              </m:r>
                              <m:r>
                                <m:rPr>
                                  <m:sty m:val="p"/>
                                </m:rPr>
                                <a:rPr lang="en-US" sz="1600" b="0" i="0" smtClean="0">
                                  <a:latin typeface="Cambria Math" panose="02040503050406030204" pitchFamily="18" charset="0"/>
                                  <a:ea typeface="Cambria Math" panose="02040503050406030204" pitchFamily="18" charset="0"/>
                                </a:rPr>
                                <m:t>s</m:t>
                              </m:r>
                            </m:e>
                          </m:d>
                        </m:e>
                        <m:sup>
                          <m:r>
                            <a:rPr lang="en-US" sz="1600" b="0" i="1" smtClean="0">
                              <a:latin typeface="Cambria Math" panose="02040503050406030204" pitchFamily="18" charset="0"/>
                              <a:ea typeface="Cambria Math" panose="02040503050406030204" pitchFamily="18" charset="0"/>
                            </a:rPr>
                            <m:t>2</m:t>
                          </m:r>
                        </m:sup>
                      </m:sSup>
                      <m:r>
                        <a:rPr lang="es-ES" sz="1600" b="0" i="1" smtClean="0">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m:t>
                      </m:r>
                      <m:r>
                        <a:rPr lang="es-ES" sz="1600" b="0" i="1" smtClean="0">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𝑥</m:t>
                      </m:r>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𝑡</m:t>
                          </m:r>
                          <m:r>
                            <a:rPr lang="en-US" sz="1600" i="1">
                              <a:latin typeface="Cambria Math" panose="02040503050406030204" pitchFamily="18" charset="0"/>
                              <a:ea typeface="Cambria Math" panose="02040503050406030204" pitchFamily="18" charset="0"/>
                            </a:rPr>
                            <m:t>=20 </m:t>
                          </m:r>
                          <m:r>
                            <m:rPr>
                              <m:sty m:val="p"/>
                            </m:rPr>
                            <a:rPr lang="en-US" sz="1600" i="0">
                              <a:latin typeface="Cambria Math" panose="02040503050406030204" pitchFamily="18" charset="0"/>
                              <a:ea typeface="Cambria Math" panose="02040503050406030204" pitchFamily="18" charset="0"/>
                            </a:rPr>
                            <m:t>s</m:t>
                          </m:r>
                        </m:e>
                      </m:d>
                      <m:r>
                        <a:rPr lang="en-US" sz="1600" b="0" i="1" smtClean="0">
                          <a:latin typeface="Cambria Math" panose="02040503050406030204" pitchFamily="18" charset="0"/>
                          <a:ea typeface="Cambria Math" panose="02040503050406030204" pitchFamily="18" charset="0"/>
                        </a:rPr>
                        <m:t>=100 </m:t>
                      </m:r>
                      <m:r>
                        <m:rPr>
                          <m:sty m:val="p"/>
                        </m:rPr>
                        <a:rPr lang="en-US" sz="1600" b="0" i="0" smtClean="0">
                          <a:latin typeface="Cambria Math" panose="02040503050406030204" pitchFamily="18" charset="0"/>
                          <a:ea typeface="Cambria Math" panose="02040503050406030204" pitchFamily="18" charset="0"/>
                        </a:rPr>
                        <m:t>m</m:t>
                      </m:r>
                    </m:oMath>
                  </m:oMathPara>
                </a14:m>
                <a:endParaRPr lang="es-CL" sz="1600" dirty="0"/>
              </a:p>
            </p:txBody>
          </p:sp>
        </mc:Choice>
        <mc:Fallback xmlns="">
          <p:sp>
            <p:nvSpPr>
              <p:cNvPr id="3" name="TextBox 2">
                <a:extLst>
                  <a:ext uri="{FF2B5EF4-FFF2-40B4-BE49-F238E27FC236}">
                    <a16:creationId xmlns:a16="http://schemas.microsoft.com/office/drawing/2014/main" id="{E42FEB3C-5C25-981A-9ADE-4EE3FDDDC6EE}"/>
                  </a:ext>
                </a:extLst>
              </p:cNvPr>
              <p:cNvSpPr txBox="1">
                <a:spLocks noRot="1" noChangeAspect="1" noMove="1" noResize="1" noEditPoints="1" noAdjustHandles="1" noChangeArrowheads="1" noChangeShapeType="1" noTextEdit="1"/>
              </p:cNvSpPr>
              <p:nvPr/>
            </p:nvSpPr>
            <p:spPr>
              <a:xfrm>
                <a:off x="403440" y="950550"/>
                <a:ext cx="11385120" cy="4668457"/>
              </a:xfrm>
              <a:prstGeom prst="rect">
                <a:avLst/>
              </a:prstGeom>
              <a:blipFill>
                <a:blip r:embed="rId3"/>
                <a:stretch>
                  <a:fillRect l="-223" t="-270" r="-223"/>
                </a:stretch>
              </a:blipFill>
              <a:ln>
                <a:solidFill>
                  <a:srgbClr val="FF0000"/>
                </a:solidFill>
              </a:ln>
            </p:spPr>
            <p:txBody>
              <a:bodyPr/>
              <a:lstStyle/>
              <a:p>
                <a:r>
                  <a:rPr lang="es-ES_tradnl">
                    <a:noFill/>
                  </a:rPr>
                  <a:t> </a:t>
                </a:r>
              </a:p>
            </p:txBody>
          </p:sp>
        </mc:Fallback>
      </mc:AlternateContent>
      <p:cxnSp>
        <p:nvCxnSpPr>
          <p:cNvPr id="2" name="Straight Connector 1">
            <a:extLst>
              <a:ext uri="{FF2B5EF4-FFF2-40B4-BE49-F238E27FC236}">
                <a16:creationId xmlns:a16="http://schemas.microsoft.com/office/drawing/2014/main" id="{2A76A467-8EA0-E692-4CFA-4A2C71726581}"/>
              </a:ext>
            </a:extLst>
          </p:cNvPr>
          <p:cNvCxnSpPr>
            <a:cxnSpLocks/>
          </p:cNvCxnSpPr>
          <p:nvPr/>
        </p:nvCxnSpPr>
        <p:spPr>
          <a:xfrm>
            <a:off x="2006367" y="3182117"/>
            <a:ext cx="8179266" cy="0"/>
          </a:xfrm>
          <a:prstGeom prst="line">
            <a:avLst/>
          </a:prstGeom>
          <a:ln w="28575"/>
        </p:spPr>
        <p:style>
          <a:lnRef idx="1">
            <a:schemeClr val="dk1"/>
          </a:lnRef>
          <a:fillRef idx="0">
            <a:schemeClr val="dk1"/>
          </a:fillRef>
          <a:effectRef idx="0">
            <a:schemeClr val="dk1"/>
          </a:effectRef>
          <a:fontRef idx="minor">
            <a:schemeClr val="tx1"/>
          </a:fontRef>
        </p:style>
      </p:cxnSp>
      <p:grpSp>
        <p:nvGrpSpPr>
          <p:cNvPr id="4" name="Group 3">
            <a:extLst>
              <a:ext uri="{FF2B5EF4-FFF2-40B4-BE49-F238E27FC236}">
                <a16:creationId xmlns:a16="http://schemas.microsoft.com/office/drawing/2014/main" id="{C0D0D851-34E7-E7A0-50F1-FD4CCF57BB31}"/>
              </a:ext>
            </a:extLst>
          </p:cNvPr>
          <p:cNvGrpSpPr/>
          <p:nvPr/>
        </p:nvGrpSpPr>
        <p:grpSpPr>
          <a:xfrm>
            <a:off x="2597520" y="2416003"/>
            <a:ext cx="1833241" cy="757856"/>
            <a:chOff x="8141245" y="3710818"/>
            <a:chExt cx="1833241" cy="757856"/>
          </a:xfrm>
        </p:grpSpPr>
        <p:sp>
          <p:nvSpPr>
            <p:cNvPr id="5" name="Rectangle 4">
              <a:extLst>
                <a:ext uri="{FF2B5EF4-FFF2-40B4-BE49-F238E27FC236}">
                  <a16:creationId xmlns:a16="http://schemas.microsoft.com/office/drawing/2014/main" id="{93DF2292-9570-4452-6A01-E04D8F3AD6B5}"/>
                </a:ext>
              </a:extLst>
            </p:cNvPr>
            <p:cNvSpPr/>
            <p:nvPr/>
          </p:nvSpPr>
          <p:spPr>
            <a:xfrm>
              <a:off x="8141245" y="3710818"/>
              <a:ext cx="1455473" cy="46547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Oval 6">
              <a:extLst>
                <a:ext uri="{FF2B5EF4-FFF2-40B4-BE49-F238E27FC236}">
                  <a16:creationId xmlns:a16="http://schemas.microsoft.com/office/drawing/2014/main" id="{1043A52C-9D17-9D16-4B63-B6DCF4A37DC5}"/>
                </a:ext>
              </a:extLst>
            </p:cNvPr>
            <p:cNvSpPr>
              <a:spLocks noChangeAspect="1"/>
            </p:cNvSpPr>
            <p:nvPr/>
          </p:nvSpPr>
          <p:spPr>
            <a:xfrm>
              <a:off x="8297411" y="4180674"/>
              <a:ext cx="288000" cy="288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Oval 8">
              <a:extLst>
                <a:ext uri="{FF2B5EF4-FFF2-40B4-BE49-F238E27FC236}">
                  <a16:creationId xmlns:a16="http://schemas.microsoft.com/office/drawing/2014/main" id="{E184C292-8B28-DB35-96D0-1C22032B7630}"/>
                </a:ext>
              </a:extLst>
            </p:cNvPr>
            <p:cNvSpPr>
              <a:spLocks noChangeAspect="1"/>
            </p:cNvSpPr>
            <p:nvPr/>
          </p:nvSpPr>
          <p:spPr>
            <a:xfrm>
              <a:off x="9166288" y="4174350"/>
              <a:ext cx="288000" cy="288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0" name="Rectangle 9">
              <a:extLst>
                <a:ext uri="{FF2B5EF4-FFF2-40B4-BE49-F238E27FC236}">
                  <a16:creationId xmlns:a16="http://schemas.microsoft.com/office/drawing/2014/main" id="{2B2A7161-5F1F-C2CF-0FF3-9C8A93EC93CF}"/>
                </a:ext>
              </a:extLst>
            </p:cNvPr>
            <p:cNvSpPr/>
            <p:nvPr/>
          </p:nvSpPr>
          <p:spPr>
            <a:xfrm>
              <a:off x="9596718" y="3921852"/>
              <a:ext cx="377768" cy="25249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11" name="Straight Connector 10">
              <a:extLst>
                <a:ext uri="{FF2B5EF4-FFF2-40B4-BE49-F238E27FC236}">
                  <a16:creationId xmlns:a16="http://schemas.microsoft.com/office/drawing/2014/main" id="{963855EF-9D0F-F9E3-59AC-FF387E322A82}"/>
                </a:ext>
              </a:extLst>
            </p:cNvPr>
            <p:cNvCxnSpPr>
              <a:cxnSpLocks/>
            </p:cNvCxnSpPr>
            <p:nvPr/>
          </p:nvCxnSpPr>
          <p:spPr>
            <a:xfrm flipH="1" flipV="1">
              <a:off x="9596718" y="3710818"/>
              <a:ext cx="255996" cy="211034"/>
            </a:xfrm>
            <a:prstGeom prst="line">
              <a:avLst/>
            </a:prstGeom>
            <a:ln w="28575"/>
          </p:spPr>
          <p:style>
            <a:lnRef idx="1">
              <a:schemeClr val="dk1"/>
            </a:lnRef>
            <a:fillRef idx="0">
              <a:schemeClr val="dk1"/>
            </a:fillRef>
            <a:effectRef idx="0">
              <a:schemeClr val="dk1"/>
            </a:effectRef>
            <a:fontRef idx="minor">
              <a:schemeClr val="tx1"/>
            </a:fontRef>
          </p:style>
        </p:cxnSp>
      </p:grpSp>
      <p:cxnSp>
        <p:nvCxnSpPr>
          <p:cNvPr id="12" name="Straight Connector 11">
            <a:extLst>
              <a:ext uri="{FF2B5EF4-FFF2-40B4-BE49-F238E27FC236}">
                <a16:creationId xmlns:a16="http://schemas.microsoft.com/office/drawing/2014/main" id="{372D1E87-DBB1-7C32-91D8-5EC94A6DFFBD}"/>
              </a:ext>
            </a:extLst>
          </p:cNvPr>
          <p:cNvCxnSpPr/>
          <p:nvPr/>
        </p:nvCxnSpPr>
        <p:spPr>
          <a:xfrm flipH="1">
            <a:off x="2249648" y="2534218"/>
            <a:ext cx="268447"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A9950BBA-2E1C-72DE-FF83-CF87DED4CC25}"/>
              </a:ext>
            </a:extLst>
          </p:cNvPr>
          <p:cNvCxnSpPr/>
          <p:nvPr/>
        </p:nvCxnSpPr>
        <p:spPr>
          <a:xfrm flipH="1">
            <a:off x="2249648" y="2711785"/>
            <a:ext cx="268447"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FD5C7D83-6829-2BDE-3FC7-DDBAA92C0E85}"/>
              </a:ext>
            </a:extLst>
          </p:cNvPr>
          <p:cNvCxnSpPr/>
          <p:nvPr/>
        </p:nvCxnSpPr>
        <p:spPr>
          <a:xfrm flipH="1">
            <a:off x="2249648" y="2879533"/>
            <a:ext cx="268447" cy="0"/>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EED9030-FD02-1088-2ED4-D251E1DE9228}"/>
                  </a:ext>
                </a:extLst>
              </p:cNvPr>
              <p:cNvSpPr txBox="1"/>
              <p:nvPr/>
            </p:nvSpPr>
            <p:spPr>
              <a:xfrm>
                <a:off x="2383871" y="3241076"/>
                <a:ext cx="2150094"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s-CL" sz="1600" b="0" i="1" smtClean="0">
                              <a:latin typeface="Cambria Math" panose="02040503050406030204" pitchFamily="18" charset="0"/>
                            </a:rPr>
                          </m:ctrlPr>
                        </m:sSubPr>
                        <m:e>
                          <m:r>
                            <a:rPr lang="es-CL" sz="1600" b="0" i="1" smtClean="0">
                              <a:latin typeface="Cambria Math" panose="02040503050406030204" pitchFamily="18" charset="0"/>
                            </a:rPr>
                            <m:t>𝑥</m:t>
                          </m:r>
                        </m:e>
                        <m:sub>
                          <m:r>
                            <a:rPr lang="es-CL" sz="1600" b="0" i="1" smtClean="0">
                              <a:latin typeface="Cambria Math" panose="02040503050406030204" pitchFamily="18" charset="0"/>
                            </a:rPr>
                            <m:t>𝑖</m:t>
                          </m:r>
                        </m:sub>
                      </m:sSub>
                      <m:r>
                        <a:rPr lang="en-US" sz="1600" b="0" i="1" smtClean="0">
                          <a:latin typeface="Cambria Math" panose="02040503050406030204" pitchFamily="18" charset="0"/>
                        </a:rPr>
                        <m:t>=0</m:t>
                      </m:r>
                      <m:r>
                        <a:rPr lang="es-CL" sz="1600" b="0" i="1" smtClean="0">
                          <a:latin typeface="Cambria Math" panose="02040503050406030204" pitchFamily="18" charset="0"/>
                        </a:rPr>
                        <m:t>,</m:t>
                      </m:r>
                      <m:sSub>
                        <m:sSubPr>
                          <m:ctrlPr>
                            <a:rPr lang="es-CL" sz="1600" i="1">
                              <a:latin typeface="Cambria Math" panose="02040503050406030204" pitchFamily="18" charset="0"/>
                            </a:rPr>
                          </m:ctrlPr>
                        </m:sSubPr>
                        <m:e>
                          <m:r>
                            <a:rPr lang="es-CL" sz="1600" i="1">
                              <a:latin typeface="Cambria Math" panose="02040503050406030204" pitchFamily="18" charset="0"/>
                            </a:rPr>
                            <m:t>𝑡</m:t>
                          </m:r>
                        </m:e>
                        <m:sub>
                          <m:r>
                            <a:rPr lang="es-CL" sz="1600" i="1">
                              <a:latin typeface="Cambria Math" panose="02040503050406030204" pitchFamily="18" charset="0"/>
                            </a:rPr>
                            <m:t>𝑖</m:t>
                          </m:r>
                          <m:r>
                            <a:rPr lang="es-CL" sz="1600" i="1">
                              <a:latin typeface="Cambria Math" panose="02040503050406030204" pitchFamily="18" charset="0"/>
                            </a:rPr>
                            <m:t> </m:t>
                          </m:r>
                        </m:sub>
                      </m:sSub>
                      <m:r>
                        <a:rPr lang="en-US" sz="1600" b="0" i="1" smtClean="0">
                          <a:latin typeface="Cambria Math" panose="02040503050406030204" pitchFamily="18" charset="0"/>
                        </a:rPr>
                        <m:t>=0,</m:t>
                      </m:r>
                      <m:sSub>
                        <m:sSubPr>
                          <m:ctrlPr>
                            <a:rPr lang="es-CL" sz="1600" i="1">
                              <a:latin typeface="Cambria Math" panose="02040503050406030204" pitchFamily="18" charset="0"/>
                            </a:rPr>
                          </m:ctrlPr>
                        </m:sSubPr>
                        <m:e>
                          <m:r>
                            <a:rPr lang="en-US" sz="1600" b="0" i="1" smtClean="0">
                              <a:latin typeface="Cambria Math" panose="02040503050406030204" pitchFamily="18" charset="0"/>
                            </a:rPr>
                            <m:t>𝑣</m:t>
                          </m:r>
                        </m:e>
                        <m:sub>
                          <m:r>
                            <a:rPr lang="es-CL" sz="1600" i="1">
                              <a:latin typeface="Cambria Math" panose="02040503050406030204" pitchFamily="18" charset="0"/>
                            </a:rPr>
                            <m:t>𝑖</m:t>
                          </m:r>
                          <m:r>
                            <a:rPr lang="es-CL" sz="1600" i="1">
                              <a:latin typeface="Cambria Math" panose="02040503050406030204" pitchFamily="18" charset="0"/>
                            </a:rPr>
                            <m:t> </m:t>
                          </m:r>
                        </m:sub>
                      </m:sSub>
                      <m:r>
                        <a:rPr lang="en-US" sz="1600" i="1">
                          <a:latin typeface="Cambria Math" panose="02040503050406030204" pitchFamily="18" charset="0"/>
                        </a:rPr>
                        <m:t>=0</m:t>
                      </m:r>
                    </m:oMath>
                  </m:oMathPara>
                </a14:m>
                <a:endParaRPr lang="es-CL" sz="1600" b="0" i="1" dirty="0"/>
              </a:p>
            </p:txBody>
          </p:sp>
        </mc:Choice>
        <mc:Fallback xmlns="">
          <p:sp>
            <p:nvSpPr>
              <p:cNvPr id="15" name="TextBox 14">
                <a:extLst>
                  <a:ext uri="{FF2B5EF4-FFF2-40B4-BE49-F238E27FC236}">
                    <a16:creationId xmlns:a16="http://schemas.microsoft.com/office/drawing/2014/main" id="{8EED9030-FD02-1088-2ED4-D251E1DE9228}"/>
                  </a:ext>
                </a:extLst>
              </p:cNvPr>
              <p:cNvSpPr txBox="1">
                <a:spLocks noRot="1" noChangeAspect="1" noMove="1" noResize="1" noEditPoints="1" noAdjustHandles="1" noChangeArrowheads="1" noChangeShapeType="1" noTextEdit="1"/>
              </p:cNvSpPr>
              <p:nvPr/>
            </p:nvSpPr>
            <p:spPr>
              <a:xfrm>
                <a:off x="2383871" y="3241076"/>
                <a:ext cx="2150094" cy="338554"/>
              </a:xfrm>
              <a:prstGeom prst="rect">
                <a:avLst/>
              </a:prstGeom>
              <a:blipFill>
                <a:blip r:embed="rId4"/>
                <a:stretch>
                  <a:fillRect/>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E1AC1994-E911-766D-E38B-4F64E79523B6}"/>
              </a:ext>
            </a:extLst>
          </p:cNvPr>
          <p:cNvCxnSpPr>
            <a:cxnSpLocks/>
          </p:cNvCxnSpPr>
          <p:nvPr/>
        </p:nvCxnSpPr>
        <p:spPr>
          <a:xfrm flipV="1">
            <a:off x="3367695" y="3058762"/>
            <a:ext cx="0" cy="246710"/>
          </a:xfrm>
          <a:prstGeom prst="line">
            <a:avLst/>
          </a:prstGeom>
          <a:ln w="28575"/>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FCCB5EA-EA31-7EC8-1C21-992ECD2DBDA5}"/>
              </a:ext>
            </a:extLst>
          </p:cNvPr>
          <p:cNvCxnSpPr>
            <a:cxnSpLocks/>
          </p:cNvCxnSpPr>
          <p:nvPr/>
        </p:nvCxnSpPr>
        <p:spPr>
          <a:xfrm flipV="1">
            <a:off x="8387930" y="3058762"/>
            <a:ext cx="0" cy="246710"/>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669DC26-0155-F932-6BB0-85E580CF3D98}"/>
                  </a:ext>
                </a:extLst>
              </p:cNvPr>
              <p:cNvSpPr txBox="1"/>
              <p:nvPr/>
            </p:nvSpPr>
            <p:spPr>
              <a:xfrm>
                <a:off x="7147315" y="3241076"/>
                <a:ext cx="2660814"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𝑥</m:t>
                      </m:r>
                      <m:r>
                        <a:rPr lang="en-US" sz="1600" b="0" i="1" smtClean="0">
                          <a:latin typeface="Cambria Math" panose="02040503050406030204" pitchFamily="18" charset="0"/>
                        </a:rPr>
                        <m:t>=?,</m:t>
                      </m:r>
                      <m:r>
                        <a:rPr lang="en-US" sz="1600" i="1" smtClean="0">
                          <a:latin typeface="Cambria Math" panose="02040503050406030204" pitchFamily="18" charset="0"/>
                        </a:rPr>
                        <m:t>𝑡</m:t>
                      </m:r>
                      <m:r>
                        <a:rPr lang="en-US" sz="1600" b="0" i="1" smtClean="0">
                          <a:latin typeface="Cambria Math" panose="02040503050406030204" pitchFamily="18" charset="0"/>
                        </a:rPr>
                        <m:t>=20 </m:t>
                      </m:r>
                      <m:r>
                        <m:rPr>
                          <m:sty m:val="p"/>
                        </m:rPr>
                        <a:rPr lang="en-US" sz="1600" b="0" i="0" smtClean="0">
                          <a:latin typeface="Cambria Math" panose="02040503050406030204" pitchFamily="18" charset="0"/>
                        </a:rPr>
                        <m:t>s</m:t>
                      </m:r>
                      <m:r>
                        <a:rPr lang="en-US" sz="1600" b="0" i="1" smtClean="0">
                          <a:latin typeface="Cambria Math" panose="02040503050406030204" pitchFamily="18" charset="0"/>
                        </a:rPr>
                        <m:t>, </m:t>
                      </m:r>
                      <m:r>
                        <a:rPr lang="en-US" sz="1600" b="0" i="1" smtClean="0">
                          <a:latin typeface="Cambria Math" panose="02040503050406030204" pitchFamily="18" charset="0"/>
                        </a:rPr>
                        <m:t>𝑣</m:t>
                      </m:r>
                      <m:r>
                        <a:rPr lang="en-US" sz="1600" b="0" i="1" smtClean="0">
                          <a:latin typeface="Cambria Math" panose="02040503050406030204" pitchFamily="18" charset="0"/>
                        </a:rPr>
                        <m:t>=10 </m:t>
                      </m:r>
                      <m:r>
                        <m:rPr>
                          <m:sty m:val="p"/>
                        </m:rPr>
                        <a:rPr lang="en-US" sz="1600" b="0" i="0" smtClean="0">
                          <a:latin typeface="Cambria Math" panose="02040503050406030204" pitchFamily="18" charset="0"/>
                        </a:rPr>
                        <m:t>m</m:t>
                      </m:r>
                      <m:r>
                        <a:rPr lang="en-US" sz="1600" b="0" i="0" smtClean="0">
                          <a:latin typeface="Cambria Math" panose="02040503050406030204" pitchFamily="18" charset="0"/>
                        </a:rPr>
                        <m:t>/</m:t>
                      </m:r>
                      <m:r>
                        <m:rPr>
                          <m:sty m:val="p"/>
                        </m:rPr>
                        <a:rPr lang="en-US" sz="1600" b="0" i="0" smtClean="0">
                          <a:latin typeface="Cambria Math" panose="02040503050406030204" pitchFamily="18" charset="0"/>
                        </a:rPr>
                        <m:t>s</m:t>
                      </m:r>
                    </m:oMath>
                  </m:oMathPara>
                </a14:m>
                <a:endParaRPr lang="es-CL" sz="1600" b="0" dirty="0"/>
              </a:p>
            </p:txBody>
          </p:sp>
        </mc:Choice>
        <mc:Fallback xmlns="">
          <p:sp>
            <p:nvSpPr>
              <p:cNvPr id="18" name="TextBox 17">
                <a:extLst>
                  <a:ext uri="{FF2B5EF4-FFF2-40B4-BE49-F238E27FC236}">
                    <a16:creationId xmlns:a16="http://schemas.microsoft.com/office/drawing/2014/main" id="{F669DC26-0155-F932-6BB0-85E580CF3D98}"/>
                  </a:ext>
                </a:extLst>
              </p:cNvPr>
              <p:cNvSpPr txBox="1">
                <a:spLocks noRot="1" noChangeAspect="1" noMove="1" noResize="1" noEditPoints="1" noAdjustHandles="1" noChangeArrowheads="1" noChangeShapeType="1" noTextEdit="1"/>
              </p:cNvSpPr>
              <p:nvPr/>
            </p:nvSpPr>
            <p:spPr>
              <a:xfrm>
                <a:off x="7147315" y="3241076"/>
                <a:ext cx="2660814" cy="338554"/>
              </a:xfrm>
              <a:prstGeom prst="rect">
                <a:avLst/>
              </a:prstGeom>
              <a:blipFill>
                <a:blip r:embed="rId5"/>
                <a:stretch>
                  <a:fillRect b="-14815"/>
                </a:stretch>
              </a:blipFill>
            </p:spPr>
            <p:txBody>
              <a:bodyPr/>
              <a:lstStyle/>
              <a:p>
                <a:r>
                  <a:rPr lang="es-ES_tradnl">
                    <a:noFill/>
                  </a:rPr>
                  <a:t> </a:t>
                </a:r>
              </a:p>
            </p:txBody>
          </p:sp>
        </mc:Fallback>
      </mc:AlternateContent>
      <p:sp>
        <p:nvSpPr>
          <p:cNvPr id="19" name="Marcador de número de diapositiva 2">
            <a:extLst>
              <a:ext uri="{FF2B5EF4-FFF2-40B4-BE49-F238E27FC236}">
                <a16:creationId xmlns:a16="http://schemas.microsoft.com/office/drawing/2014/main" id="{956A775B-1B4F-73BB-2D52-9A21D5ECC574}"/>
              </a:ext>
            </a:extLst>
          </p:cNvPr>
          <p:cNvSpPr txBox="1">
            <a:spLocks/>
          </p:cNvSpPr>
          <p:nvPr/>
        </p:nvSpPr>
        <p:spPr>
          <a:xfrm>
            <a:off x="8993372" y="168201"/>
            <a:ext cx="2743200" cy="365125"/>
          </a:xfrm>
          <a:prstGeom prst="rect">
            <a:avLst/>
          </a:prstGeom>
        </p:spPr>
        <p:txBody>
          <a:bodyPr/>
          <a:ls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9C89E4B-EE86-427E-B533-BCEDB2CD4BCC}" type="slidenum">
              <a:rPr lang="es-CL" sz="1200" smtClean="0"/>
              <a:pPr algn="r"/>
              <a:t>14</a:t>
            </a:fld>
            <a:endParaRPr lang="es-CL" sz="1200"/>
          </a:p>
        </p:txBody>
      </p:sp>
    </p:spTree>
    <p:extLst>
      <p:ext uri="{BB962C8B-B14F-4D97-AF65-F5344CB8AC3E}">
        <p14:creationId xmlns:p14="http://schemas.microsoft.com/office/powerpoint/2010/main" val="339734886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ersonalizado 3">
      <a:majorFont>
        <a:latin typeface="Calibri Ligh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3ED9FA7-1573-4D4C-874A-E7039CDF8A48}">
  <we:reference id="wa104381909" version="3.15.0.0" store="en-US" storeType="OMEX"/>
  <we:alternateReferences>
    <we:reference id="wa104381909" version="3.15.0.0" store="wa104381909" storeType="OMEX"/>
  </we:alternateReferences>
  <we:properties>
    <we:property name="EQUATION_HISTORY" value="&quot;[{\&quot;mathml\&quot;:\&quot;&lt;math style=\\\&quot;font-family:stix;font-size:16px;\\\&quot; xmlns=\\\&quot;http://www.w3.org/1998/Math/MathML\\\&quot;&gt;&lt;mstyle mathsize=\\\&quot;16px\\\&quot;&gt;&lt;mo&gt;$&lt;/mo&gt;&lt;mi&gt;x&lt;/mi&gt;&lt;mfenced&gt;&lt;mi&gt;t&lt;/mi&gt;&lt;/mfenced&gt;&lt;mo&gt;=&lt;/mo&gt;&lt;msub&gt;&lt;mi&gt;x&lt;/mi&gt;&lt;mi&gt;i&lt;/mi&gt;&lt;/msub&gt;&lt;mo&gt;+&lt;/mo&gt;&lt;msub&gt;&lt;mi&gt;v&lt;/mi&gt;&lt;mi&gt;i&lt;/mi&gt;&lt;/msub&gt;&lt;mfenced&gt;&lt;mrow&gt;&lt;mi&gt;t&lt;/mi&gt;&lt;mo&gt;-&lt;/mo&gt;&lt;msub&gt;&lt;mi&gt;t&lt;/mi&gt;&lt;mi&gt;i&lt;/mi&gt;&lt;/msub&gt;&lt;/mrow&gt;&lt;/mfenced&gt;&lt;mo&gt;+&lt;/mo&gt;&lt;mo&gt;\\\\&lt;/mo&gt;&lt;mi&gt;f&lt;/mi&gt;&lt;mi&gt;r&lt;/mi&gt;&lt;mi&gt;a&lt;/mi&gt;&lt;mi&gt;c&lt;/mi&gt;&lt;mfenced open=\\\&quot;{\\\&quot; close=\\\&quot;}\\\&quot;&gt;&lt;mn&gt;1&lt;/mn&gt;&lt;/mfenced&gt;&lt;mfenced open=\\\&quot;{\\\&quot; close=\\\&quot;}\\\&quot;&gt;&lt;mn&gt;2&lt;/mn&gt;&lt;/mfenced&gt;&lt;msup&gt;&lt;mfenced&gt;&lt;mrow&gt;&lt;mi&gt;t&lt;/mi&gt;&lt;mo&gt;-&lt;/mo&gt;&lt;msub&gt;&lt;mi&gt;t&lt;/mi&gt;&lt;mi&gt;i&lt;/mi&gt;&lt;/msub&gt;&lt;/mrow&gt;&lt;/mfenced&gt;&lt;mn&gt;2&lt;/mn&gt;&lt;/msup&gt;&lt;/mstyle&gt;&lt;/math&gt;\&quot;,\&quot;base64Image\&quot;:\&quot;iVBORw0KGgoAAAANSUhEUgAABewAAAB0CAYAAAD3sXJ4AAAACXBIWXMAAA7EAAAOxAGVKw4bAAAABGJhU0UAAABJzyRrqgAAL+1JREFUeNrtnQ+kVdkXx5ckGXkkT5InkiQjkYwkiZGRJJEkSWKMkSSRJElijCRJJEmSSJIkQ0aSJJIkIzGSJBmSJ0+e+P3umnvuvPNOa5977r3nz97nfD4cv5/m3XP2Xmvvs797nb3XFgEAAADIxpHW9b/EtQ+zQA04ZLTtQ5gFAAAA0NgAaGwAAAAAHzlhiK1fMAvUiMNGGz+IWQAAAACNDYDGBgAAAGAiAVA+J422vguzAAAAABobAI0NAAAA4AP7DHF1FLNAjblmtPl1mAUAAADQ2ABobAAAAIAq2WKIqguYBWrO9Nb1JNHuR1vXYkwDAAAAaGwANDYAAABAFSxvXWMJQXW/dU3FNNAARlrXP4n2/6p1DWEaAAAAQGMDoLEBAAAAymS4db1LCKn30b8DNIV18u3qt2uYBQAAANDYAGhsAAAAgDK5a4ioVZgFGshpoy/sxCwAAACAxgZAYwMAAACUwV5DPB3DLNBQNNfmK/k21+YIpgEAAAA0NgAaGwAAAKBIFrauLwnh9Lx1TcE00GBWGxPs25gFAAAA0NgAaGwAAACAInlgiKZlmAVALhh9YwtmAQAAADQ2ABobAAAAoAh2GWLpFGYB+Jc50t6mG+8fb6S9nRcAAAAAjQ3QXI2t5d3Ruq60rteta6x1fY3+V+tzLXoXzMDlAAAAkJWZreufhFB637qGMA3AfxwyJtyHMQsAAACgsQEaq7EPtK5PRh2sazT6ewAAAICu/G6Iid2YBWAS01rXu0Q/+dy6ZmEaAAAAQGMDNEpj6we5+5ItUJ+87kW/BwAAADAZaV3jCQHxSjgEC8BiryG4j2MWAAAAQGMDNEZj60cG62yKXq6HrWsqrgcAAACLM4Z42IFZAJzi/IN8uwKIre0AAACAxgZohsaO9++XrevX1rVQJj7IaX1WSDvdzxtxB+1/96Ey62IF2khbBAAAqBxd+fNVvl35AwBuyGUPAAAAaGyAZmrs5bHynZTuu2Y0eH9a7IC9vifmV10hAvYAAAB+ccIQDb9iFoBUNJ9mcov7O2GLOwAAAKCxAequsTupcC70+LvjYgftf6u6QgTsAQAA/GGGtLcZxsXCP9JeAQAA6ZwVtrkDAAAAGhugSRp7SVSmv1vX9D5+/9yo3/OqK0XAHgAAwB/2GWLhGGYByMQyo/88wCwAAABobDQ2QG019kkZLK69Q+y0OJVCwB4AAMAfXhpiYR5mAcjMM6MPLcQswXDU8N8FzAINYmrrWi/tLfo3onfap9b1Rdqrg6tCUyJoeoD3JT7zc1TvT5EdbkR22RDZCR9ORleVboremfdiz9Sg05i0U1hoeY60rh8a6EM0NkB9NbaeRfF0gN/PEDstTik7cDS30Fpp5+y6Ke1Tfsdk8oEbX2ODyKvoZarbHra0rmHaZmWsjRrerBrVaXXU2ZfiXgCA/1hpiIQ/MQtAT+w1+tFxzBIMiw3/fRS/zyJYIO1VmhogG43mUzrP0pVn+6JJIEA3ZkVz9TGjD7yM2lIVgRENAuuBg59i5SkLre9+sQOtnyN7zcSHMqd1nXI8N+3SMu1oiA/R2AD11dizo7JsH/A+H6XkgL0OGrpS5Z8eX97WpSJ0E220NIZa18XI9q+lXl9/t8nE1/6jwoFwAADKOSH/NkAegYtkP3qNWYLileHDHz0spy5oupRhDqWrWlfgVkhhubQX1CXbzj/RvKkKdH62R9or6pPlqoKdYgdT3rau7xvsQ7XLqAwW53ncuubX3IdobID6amwt12EZPK54V0pMibPD8ULUF/oZaafD2RD7dw3G66qWXdJehf/V8ULX1SILaKuFoqL+TWTvJ1LPHQ4rY6LmUeuai9sBoMGowPiUGG/Hpb9DcwCazn1Dvy7HLMFw3PDfec/KuEYmB+detK7NMrES6ydj/jUf14LBsNiBXg1ijlRUpq1ifzirMmCv6AI26wOCzpuHGujD0zL4osz4TqZVNfUhGhsAjZ2FZMD+WVEPOm8YUVc0a76y72J/l5bDvrO16qvjhb6StloIe2M2148jM2tc1/ky8WHiA20KABrMemOsvYZZAPrWUqTFCZflhv8+eFQ+XfA0Hivbbfk28DNi1OEirgWDU2IHUKsIgKwVO0exLwF7ZbWjTEcb5sMzkl+wPv5hcUUNfYjGBkBjZyH54fVUEQ857xC5y4y/zXLorB5IYn0FvUFbzZWpMpECR6+H0oycl/ph6LVMfFTaQFMAgAZywRhnt2IWgL6YJ3auXgiHN4YP13hQLl2BGg/Wa3DTWqVpBdNGcSsY8z8r7/jdksuhcQJr1aSPAXvlgdipZ6Y0xIe7JP9gfTxuNFwzH6KxAdDY3dB3T3Kxeu4LircYxhsXO1ivZAnYK7pK5J0QsC8KDcz/GbOtHjI71KD6z0m0LwZQAGgaybNmvgoHFQIMgnXA3QhmCYaThv9Oe6BXPyTe04sdf3tb7N3OAK65ePzaVdLzF0Vz+s78Uxf+nRI7vYtPAfs9jnKtboAP9RDX5AeCj9H7UVeSx3fnT418rDGiyzL5Y2PadaVmPkRjA6Cxu7FMCk6Ho18ErNUoxzIOMBu73H9pJDQJ2OeLBuYfyuRDG4YbaIdFMvnMhS00DQBoCKuMsftPzAIwEFaKgp8xS9DvxfcVlymZ2/Rcyt9aO55v4VZIcEjsoOWSEp6twV0N/J41nrdI/A7Yr3KU69cG+DD5HlL/ZQ0+a4whayqdZTXxIRobAI2dhf2J+mzP+wGbHC+9tMM8ewnYK4eFgH2e6HkC8WD9aCSQmsoamfzley1NBAAawBFj7D6AWQAGYqPRr65ilqCwUnJWdd5RMgWF6tS0Q2T1v8VXdeqK5QW4FBJccszfy0jtomkN0nZ0p6XIqZrpjnKdr7kP10g+wW2NG3VbbX+xJj5EYwOgsbPwVAo+bPaKYbRXXX7Ta8B+mrRPOydgnw93Ev5iVfnkQVVPc1+ISQCg5liT4h8wC8BAqGZN5qIkh3hYnDXejScrKIcusEmmBr2T4XdzI12rq7aGcScY3BB/UyddFn8D9uIo19Wa+/B+ju/CTZIesNfdF1Nq4EM0NgAauxvJdDiFHBj+wngZ3ezym14D9iITWwUI2A9GchvJxcDrk+eA/lgmH2BBjjmANvoB60zi+g2zBI3mFx2vYJJUh7EC8FU3nhnauM47Ges2Rqwx/PemgnJYKS8284qAHLDOOvAl6GGldfIpYP/VKNeNGvswnqboWU5j9AVJD9qvCdyHaGzAV2jsXt/jhenmsT5eeP0E7IejlysB+/7ZmvCTrtoJ9ZBZfdnck/YWkrxYnBjAL9JkAP7lR+M9/w9mqZ1P65jnuIixAvBVP8GIOh9sX7cxYop8e1hgYSufHGjAJ3kA53j07wB5BgkI2PfGF2lWwP5oAe/AEbGD5oXlcC7Zh2hswFdo7G6sjpX/cZH6znrJPurym34C9hI1MgL2/Q+Mn6Q+q3SOSTHb15IH4myi6QAQsK8hBw2fHqlhPYsaKwBfpbFVys/LyxiRL1bQsMxdAz8bz7/GawJygoB9/zQtYP+XZMugkEf5O9fvgfsQjQ34Co2dhqY8/FsmzhqaW+TDrINDxqNCuOg3YK9fWzmsoz+SJ7s/Drgu8cMmtuV877mJNh3yLgSAvCBgXz+uGz5dX7M6FjlWAL5K43ujfz1hjAiKn6T3M7ry5LHx/F28KiAnCNj3T5MC9nNi916S871/SfHz+cB9iMYGfIXGTqOzS0Cz1RR+tsVbx4t2X8pv+g3YQ39YX6E2BFqXlTI5DdOcAjtQ5zpBE4KGQ8C+frw3fFqnj5NljBWAr1xMMQIC41LfPK91HCPUV6NGvZaW8OxFjrnVCK8LyAkC9v3TpID95ui+dwso/5oUP58N3IdobMBXaGwXO6Iya1qwdWU88IbjRfsxRVgSsC8PPUk5+VHldaB1WZWYPL0o8MUWt5d2pgU0JWgwBOzrxZDhz/c1ql9ZYwXgqzQeGv1sGWNEUFw26nW0hOceNZ77ltcF5AgB+/5pUsD+tBS3Ovy7FD/vC9iHaGzAV2hsFxpn7GTz2FLWQ/envGw159mw8RsC9uVxoKLJRt5oLvnkAcenCnxe8iPHFZoSNBgC9vVinSeTzTqMFYCvXFwy+tmWmvqyrmPEBqNeL0t47kvjuZd5ZUCOELDvnyYF7OdLcSk0pqX4eWPAPkRjA75CY1ssirSxlvXnMh+8IOVl2xG281JeZATsi0NPGv5g+OT7wOpx1NG2iswFd9Z43iKaFDQUAvb1wjrM8HQN6lXFWAH4ysUeqfbQUsaIfHS0FdhZXOAzFzv6xi+8NiBHCNj3T9MOnS2KtID9/IB9iMYGfIXGTqKZZ95JOTuITG5IetBeg8ZrYn9PwL4crAHjXUDl149BDx1tajyaSBXFRik/nx6ArxCwrxd1W/lb5VgB+KoXHXGVMSI4rhp1O1zg8444+scPvD4gRwjY9w8B+3xwpcR5G7gP0diAr9DYcWa3rjdRGY9V2TjGJD1or3nAO18T6haw11xluu1EA7p3o8FSO4XmK9va473WRwPw5+geT2Xyx45eeGL4IYTULroj46RM5Heyrj8rEBFanmHGAvpjA23alID9rKiN3IjE/OY+7zM/ekfpPV6JfysjrUnejwH6y4exAvCVC+vg0KeMEcGxxajbswKf98Qxh/L5MLWRSHfpdvt70j19z5zoffBPNE5eylFfq500ldH5qL+NRe8d1YJ/tK7d0l7ZG//77dJeAXs19puiPpDoocUHW9d1aQcmO+X7HPlebbi8Ih1AwD4bBOzzYYVUc+Bs0T5EYwO+QmN3UG3zIirfmaoLs0PSA/bxxrJTwg/YL5R2fvgHkZBO+1CRZevsLMcL/n/RoLIgh0bs85ba4Ugsv8rYjlzXtRzLZOUQ3SdAf2zeIcR1DcaowNGg/LnW9Vzy+cCpk/+/jXud9KjeVqq0GYH4zMexAvCV611gjR+MEWExzTEJXljAs+Y4+oBPk1Bd0KKLGXSXgQadR43y7kn5vX4A+WT85okM9lFiKCrThwzvlFcykebSyjed90pEtdleaZ/tlvW9pwtORgr0IwH7/iFgnw8bHT5eGbgP0dhobHyFxlZmtq7HUdku+VKoQ300ko0BNo6nUdk/R4Pl1UhYuep4MYNA7ybiej3wxbWldrWndr044MumiG3KV6U5q+NCJZT+SDDGH/QE+TtRe+n2Pnndx/1XpdxvtSd95quEG0T0cawAfOXCCmZOY4wIDiv154EcteWg11jB9V8i7Q/YWQMDSxz3Odrld9v7LN8uae+iTH4A0NSg86JxTy9dsHEq+u/697Mcc9e8ViLqM/fJxCFznY8BugNBP1zMlYmPFLoz70KiHB+luJX+BOz7h4B9Pljvg2eB+xCNjcbGV2hsRT/UP8jh3aIf+3LfdbSrx0ai4mQosMahKROslTU7xb0i17VqRL+Ovcxgp163Uj1x3CekieIUsVMtPSrp+QcdNmza6mr6Yz22NhKMaaMTZN26vzH63wPGRH+Qd+a6lHvd8aT+1mrDkKl6rAB85eK+UdflNaxn3QP22yS/BRyjkn/A/nbB9dcP0deiOZte91LK4goYns1Qj15XoA1H42r8Hu+l+2Kwzq7wk5Lvx5g4ujgguXNPbTAn5TdTxT4HblYBPiVg3z8E7PPhD6P8OwL3IRob8BUae1rs/XZHBtuxd1YKShO2RrJtSYyLq19r0nBcK3N/cnSqzpeXK5Eg00MJ9iUCSLd6LMPMHkW0r7hy2/1e0vNdW/X2emirdQVMAMu4mtAfCcb4j06gP/bQVroN0q57jXn6rrgRuP+qHisAX7m4btR1PWNEcOhKKSstzrwcnzEk7lR+33loE1cqVOvQtxMZNeH1Hp6vAfG3id+rhsuaC/9h1Eat3XbLBrTNAZm8ylbnxFl22Lm0/G8F+I+Aff8QsB+c6cY79ZWUd1ZHUT5EYwO+QmPfjGmS6QPcp7MQfklRBdVA1z3pLXj3QvxN2ZIVVyqao8bfnpGJXQbWQKYNblUfZdgk9ThswrXC/aeSnr/S8XwfA7YE7P3tjwRjwuCAo63s7uNeW8TfgL1VtkuB+67qsQLwlQtry/LWGtazCWOEFRzbn+P9XYtEnntqj+mS7ays/TKRCua4tBe9uM4ayrqKbK18G2j/o8eJ8WFHGT4OYJMZsYl6fFFa1vMOzkl+6fn6ac8E7LNBwH5wrA9+G2rgQzQ24Ktma+xO2kPdhdlPFhn9aKkB+tPRfR6WUeg9jpdi2qWrW2cH2nBc+YuTQd7N0b/fK6AMv0n2VS8+Y22Vy/sgqDS+E3dKFd8gYO9vfyQYEwauw/76FdpWejgftsXuHCBIwlgB+Ko3jkkzDq9vwhhhvTvznEgdF3fqUB9xBewXG9pUg4gruvQLvZZmeK4G65Nb/h9J76vYtuc8V9KV/cl0pFrv73u4hys933gB/rOCvR89aVu+B+ytXRm+BOw/ShgkU1ncqYkP0diAr5qrsdPGrn6vstKE/XuQTq+r7T9GAY/QmCL2ttnPsb+ZG9VPt0gW8WHiRmCivxc7lr1LwLUKaIln9iJg729/JBgTDs8l34Om94t/q2zOGHXcGbDPfBkrAF9ZWKsIzzFGBMlMhyacm9P9bzt00hZP7bGqi8/nRdpKbbYm8dupiXmh/k2W1Kga9E8G69/3qd1c5xxt6+NervOPelkx/F2KVv6rAP/9aTzHl0UrvgfsLV/frqAcPvswjaXGnGxuTXyIxgZ81UyNfVLyj5P9I+WlCfsPXc3woceC6krYWYE1nj8ddZmX+O+bCnr+G8fzjwc++aviJOvRQCZQBOz97Y8EY8LB2lo3PsBgOSVxr80e1PFSQAGhkMYKwFcWm436XmaMCJa7Rj3zOoNrrItW8Y3d4l6drmPfI+m+2k1Xy2sqoDkZnjfimEP2m6rQNbnuNXCoH3Ke5xQ0eFXinMOa31zxpG35HrC3FsZ9qKAcPvswjWTe6V018iEaG/BV8zT2ESkmTlZZ7HbIERRJuzQAvTigxuM6XEkDgnuk+PQ0rlXhOwKyoWu77IqSy/FCOGgldKrujwRjwsG1Rb7fA+imyeT89dM8nCiFfgimL2MF4CuL9TLYwZqMEX7xi1HP+zncd7Gjb3zw2BbWWNIJvB2VibzyeaBj5zPjeScHuOdVySdtnbUo5J2089n3yg8yedGVHqq7rQDfzZZs5w9Uhe8B+0OOsg2VWAbffZjWxuPlvVYzH6KxAV81S2OvkeIWts6v0rj9rAbWbZVLAmk8rkNf9Wuubvv6JMWl3piRYsOQDjq7L/aBjWVvC7kj9TgPoMlU2R8JxoTF6pzfnetzCizkyS2p12FEvowVgK8s1koYB9czRmTDCpJ9zUFDbAtMa04Re0fAAml/fPgaaau80lxYq+E1sP3dAPe0VsWf6fEeRwqaby2KrqL42dGO53rSvnwP2C+U6hfG+e5D13sj/uFN09IM1cyHaGzAV2jsWhAP2OtWybuSLWivK03mBVC/WV3qsafAZ69Iee7mQNrHVLF3CVRxoM8thy1v042Docr+SDAmLKY52siZPu93JjaJmu9JHa0DiVYH6i+fxgrAVxZLjDo/Yoyo3aR40FWtrp3Hv3pqA+vj9tvovz2QfFf6rpT8g+LTHO+jjTnMt5573n71cF4r9c4pj8roe8BeuWyU7YWUc7hjCD60OCiTF2IuqKEP0diAr9DYtWCdIY40FcEn6R60fx4NVL7zVso7OCjOTym22xhI+9gg/gRWXQf4vqYbB0VV/dGHd2wo1xdPbDeak+CZHruXTwd+vzPqNzPQdl7lWDEtoL51l3G9MobEzzQnjBH9s0fyP9TtmaPOyz1t18fFzhvb2dH4OKfnTIl0Wt5B8Y1ir07+bsBy+b6bWetnHW58XcoJNGclhIC92vKOw5bT8OE3aGrJ8VhfW1NTH6Kx0dhobDR27YJJ8SCyHij0KEPHOBFAHa9VJOTSJmGhBOxdB0F9X0FZrjvK8oluHBRV9UeCMeEFY6wdX+/6uM/eWL182qJsfRifHmg7r3KsYDIR7rheJtM91Q+MEf0zV+xg76w+7+daGffF43b9xKGnXkb/f2lOz9lb0HzmnAy2Ks9VLl0c4mv6gbUx/8QXH/l4vlkIAfsOuyI7JhcDrWm4D5NBtVcez73y9CEaG42NxkZj1y6YtNEQrhe6dAwVtr6nxtkt1QTN6xCwtyYCVW2tvuqw5SjdOCh2B94nCMZU2+e/9jgJ13Gsc3DcUc/axmejflMDbedVjhVMJsId18tkmqf6gTFiMKzFRbv6vNePjvr+4Wmbnuko737Jd0eZrn79YDzn5YD31bH8vXHf33oY3z84bHDcM1+pDXWFZTxfv2qAK9Leke3rx4WQAvbxfnxeJu/SfCrttFbTG+jDODcljBW/efgQjY3GRmOjsWsXTHIFzE506RzHPK+jK+fi4QonYSEEJ4fEr4O3CNjXg6r6I8GY8IIxrrGnl0MFO4GL1+LfypovAU2AfR4rmEyEO66XjY/vOsaIwdhvlO9On/fa56jvEU/b8xax00RqYEsPuJtboI3zyI2/1nHfrAdD/pzSRpd56K/h1nVAJqfqUH/9LsUebDsIoQXs1e/6oSoerH0XteHhhvqww7FYmY96XM68fIjGRmOjsdHYtQsmpQWRr6d0jqee11G/eI+LnRetSELPYb/JUfadFZXHFbBnu01YVNUfCcaEF4zZPuBkXtMifIx+s9bDtlGXyUTVYwWTiXDHdSYTjBGDMl/snVhDfdzLNddZ72l7tnRxZ8V5XivMVbO9MZ6jHwQG/Qh+y7iv6sOsq2AfO/zl+2pGtdtpsc8eGPasrKEE7Gc72tNxKSaPfUg+lGiM75TxnKf9Im8forHR2GhsNHbtgkkbuwQ+RsWdFsf3bWBPpfyV2ctSXihbAmgb5xxlryoFkuvQWQ60CI8q+mNd+FGas9Vuo6PPb+pxonnB0/qN12Qy4dtYAfiqyZOJJo0RaZpiex/3ee+Y4/iaRsGVDmZM+s/jn2S94xmDjqsLHPfNemjwSMocK5TVjL+InXvfp7N2QgjYz3f0hR348JtYj6+Lo4rwIRob8BUauxZkDdgrp1IG7YWBTV46V5Hb175Lee62ANrGS7G32lbFTQkrtyj41R8JxoTHakc7ySLg10R/qysDhzytX0g5YUMaKwBfZe1zXxkjasFho843e7zHHMc7+YmndU5bFHQyx+e4drcOumvtrAyWfmhnSv13B9R2bxvlf+BR+UII2Fsf7K7jw/909Fhsvuzrx8cifIjGBnyFxvaKxdJf0LyXgP3qlEH7R0/togcyvZPqAudfJcytMbMd5b7kmaitcyqVOlJ1fyQYExYz+gxG6O86W/hXBSRsQpxM+DhWAL5q8mSiiQH7RWKnVuklZYtrK/tZT+t8MEVLzc/pGa4UhmMy2M7qhSnzo6zzycsp9V8XUNt17WDwJQe/7wF7V2xiDT6UpdJOG6tleRhpYx8pyodobMBXaGyv0MbQT+Cyl4D91ADF0RWZ+LpVRSd65XjuGc/b0xZHuTdXWKYHjjKd98x2Ieaj/V9D+iPBmLCY4mgnFzNO5I96Xr86bNf1cawAfJV1MkFKnPrwl1HvrT38/qQMloKtbO5J8Tl8XTsirw1431uO+45L9g8Bj6QeuzWniv3xwpeDjn0P2J8YsB3V1YeacqqTYkbfjbM87gNF+RCNDfgKje0VGujqZ8VDLwF75bMMdghgmWyOvfSXRBOWZLlfFVyGa9JfwKlqXCtXqhzwP0oYuxUI2PvbHwnGhIc15qTlp90a/c29AOpWhwOxfBwrAF81eTLR1ID9URkssOwKgM/2sK6uAGHeZ2QdcTxj7wD3XJ+iQ3sZt0dT7jM1sLZrHep7w5Oy+R6wt3Zfv2i4DzW911uZSAs52/P2X5QP0diAr9DYXnFJ+ssp2GvA3iWQvvfMHrNlIiC4L/o3V/B8ZoHlOOR45g3P29Nbo8zPKy7TuISxu4OAvb/9kWBMeFi7MVy5iXUc0g/X7wOYoNRlMuHjWAH4qsmTiaYG7JeIvUozS/DWlfrlrad1dR3IPir5riy+nrPuHops6lr89VsOc4IQx9E7Rh2eeVI23wP2VprNWw324bBM5NHWFfYLcr7/1IB8iMYGfIXG9opOwP5yj7/LY4X9Vyl361kWOl9r4weS7pbyt7u6grfPPG5LCxxlPl1hmaalCMbpntmPgL2//ZFgTD0msncck5Q3kThYEUjdrPE0pJWBPo4VgK960RGjjBG14lWfmsJ1gOsVT+vpCqLmnSLyL8dzhvu8XyctoutDwPoe7vVV6hOwt1YYf/K8rfli5zHxY1GcDz7UHPWPY89eVsD930r+5xYW5UM0NuArNLZXdAL2KmBGevhdLwF7Vz7hF57Z4meZ+LI8O4MgP1lgWVzbVn3+4rTTYaeNKR20aBYF0vaSfYqAvV/9kWBMeFgT+7fGO6hzxsWugOr2Sfz/ABnaWAH4ysV08TcoxhiRD1Yu5KsZfrfL0T9+9rSef8tgB7ZmZczxnH4WaW2P+eOM2Iu/egmmfU7Rs1MCa7e3PQ50+B6wt1ZR32igD3V8ux+LMawq4BkXpL2zZUYgPkRjA75CY3vFJelvhUUvAfsVMvgWxqKZJxNpe9ZnFJ8Pu9xTg4xDA5TpT8l3hUrRXHUI6WkO22j6ieUFl8m1/fcsXd9rfOyPBGPC4nIGAXBTwlzJYG0DDikllI9jBeArF0OGDT4wRtSK5WIvkOkWCHblnl3iYR0XOspaRFt2pZ3plaWR3vs76ofWTgjXzuMZYqfgeSruQPL8HOo+o0SfErDvHwL2beIHOW8o4P7bpLgz+IryIRob8BUa2ysuJQy0OuPvegnYH3MM2Is8skNnleWpDANa1lUdegjSowHKtEfCyL3ewToM1AqiTon+/c8SyrQ7MBuCv/2RYExYXDDqO2aIpFsB1u0Po26rAyq/j2MF4CsXVo7zOo4lTQ7YK1Ye2W4BrL+6jDM+8YuUkw5HcQXse1nB3jkAU4NyP7SuuT2Uv7Nq+L7xTNdHljxSK+qCKs09fLsknxKw7x8C9hOppvTaVsD9N8XeBasC8iEaG/AVGtsrkgH7rIfuZQ3Y6xfJj4YjLnpkg4MykSbFteXJdQisaxvpgRxe8HMczzzoYTtypZ45Zvytrm7XLanzSijXZSn+cC1oRn8kGBMWrq3z8XHvoYS1zbWD9cHqp0DK7utYAfjKxVrx43BCxohiOWnU/1LK30939I8bntbvpqO8awt41qjjWVlXBg5HGlB/sz36t22Oe25N/FYXbmjA7Y3YO5K3ijuQPMjHi06wXgOUa0ryqc8B+0tCwN5nH56KPW9fjvf9Tto7o+NpKV8F5kM0NuArNLZXWAOqnhLeLWifNWB/w7j/a/Fna9GqKIijL/3FKX+3podOtTK655kcymelxbnuYTty5eBKpjPprHgvK1/0cyEdTkj43h8JxoSDazVhZ+W9roycFWjdrstgh+4xVgC+ys76QHQYY8Tg+iNZf50gT+mhXfi6qEbrMN5j/QbhtsM2hzP8dkQmdi78Hvv3rOmHdN45mqIhNdXAJ8e91B79pE6cH81ti0or0oudfQnY3xC/zwpocsD+iJR71tmBwHyIxgZ8hcb2CtcXcM3ftSLld90C9hoIuWPc9430drjtIGgewRNROc4bom6RTGxF+bXLvaY6xO7rhPDQL18fIrGZx8rNLQ5B6RtXHO0onstxY8mCSEW5dXAvedqqoQ79kWBM+EKo005mB1w3a9zeEkjZfRwrAF+lsdmwwWXGiFryXrKvrDzs6B+rA/Ft1oN1++Go43kfu8wBN8nEruwrif/2XNKDv6rxbkq21bAHUvRBr4s7NkRlHpfuKWLzxteA/RRx77LwJSVuUwP2v0q5wfqvBertonyIxgZ8hcb2ihFxr4TorEZcYPzOFbDXl7J+uf3kEIZlrqy/7CiDfsnZJRPBwaxfce45bHQyEieaY1E/SGj+yrwOnJoS3TP5zB88a0cvxZ2iRIOrnTQnf5fYBqwDZ8mJVR116I9p/BJN9vV5p6T7YXUEY4plu7gP2JvvYXl7aT9Wup+dgfjFx7ECwvJV2e/aHYYNztXQ3wTs23615kEW1griL+JnysUTki2dTF4sSplXvo80XycoMSOasN+X9NV1Y4776XlfGjR/Jr2tQvxTBlsRrDn1L8V0xaoK/OprwH6HpAdxj3pQxiYG7LdKucH6olNbFOVDNDagsdHYXqJBs+cpL1zN9Xtc2kHQtTJ5dYIOvHsj8WOtaH5QgZCZ4ihL8noi7XxrWdibcXDK++CWfcYzjnvUdrLaWlegLK544rWBru51GwmhP1r8YDz3BMGYSrEC9ro7yccdNr22H2v3wNkavQfKHisgHF9V8a49bjxzXw19TsDeTrf3Uewg/KiEk3f1mdgrX4cKfOYN6S/A51rhnuW3h3son34o+KPLvHdLwkYapNddALoysrPLUz8uDFfkVx8D9tqHPnXx07gH87GmBezXSfnB+v9Fzw3Nh2hsQGOjsb0XqzfFTjfRy6UpdU63rqUVdoRudXjZo8gadgwO8etIAXWZFtkzmdIhpJfORyl3V8AU+fbk7ad070rbSF36o8UxR5snGFMd243ghK+HRvXafkLdPujjWAFh+aqKd+1FKW9lMmNE9e3+o3Q/0H6+o0/84mGdZjvKeq+E577vYd6oQcq0VazdgsD96j312Zs+5rm6SG1lxb6tOmA/EsUN1kcBlns92lA/iugq0o1RH1sczXnLoEkBe100OSblB+vfBepDNDagsdHYQaDbH/Trt66evxoJk4/RCz8ZeNMX5uPoZfaz+PPV7nwXkdDPioiDKffcW2BddovfeTLTVtLozo0FJZdng1GOVXRr+mNBWOX4QDCmUpIBe5+3s/baftZ5MtGsw1gBYfmqindtyAfQMUbko1WS27NdqSVGPKyPq6xlrGDTDxuvpHtg70oG250W90GxO3IInmj715SKt6P57pfYHPdzNM+9Es1z53ni26oD9qOSf5C3rHMAmhSwvy3VrK4/HqgP0diAxkZj14Juh876gH500O2RL6OXun5s0Bzmvw543z2RAP0SDaoq4IreSaBi8kWiMf/hka1nREL3Q8wut3IQ0f3ywJgMAP2xKDRfa/JL+VHP7N+0YEx8hcwez8vaa/uZa/jyVSB+8W2sgLB8VcW79r404/B6AvYT85sviSu5UtRKucguThtdMb076kdjsXeJzmEOSfbgt76PzkS/1XvoqvhT0XjYVHzNYR8CTT10Fh92B40NaGw0dm0Ere8B+7qxwmjQSzHLN6yWb78MzsIsUMI7UT9A6AeJwx6Wr2nBmAVR/XbUsP1YWym/0AWBd20hWKtIp9XQrgTss/PIsNV+zAIlQ7C3fwjY40M0NgAau/bOJGBfPsktoQ8wyTckD9dah0kACMbUjA+GP2dgFoBcmWL0s7pO3BkjsqG7Ba3cs3MxDZQMwd7+IWCPD9HYAGjsWkPAvhqmS/uLV7xhb8Ms/7EvYZvfMQnAv2gwYVfi2o5ZajVR/xGzAOTKImlO6hPGiGysNdrEXcwCnugAgr3ZIGCPD9HYAGjsWkPAvjoWy+TtI3o40mzM8m+njw/ef2ASAKgplwyRswWzAOTKRqOfXcUsjeaYcEAa+MFNsQ/hhe5YBz1ex4f4EI0NgMauCwTsq2VDonHfa7g9dJvaXzL56xxb1wCgrvxsiJzTmAUgV/YY/ew3zNJonkiYhxFC/bhmvJ/GMUtXrDQMel3Gh/gQjQ2Axq4LP0l7NbNeGzBHJeylgf/HrZgdNGXQMM0DAGrMOvFjOzdAnWGVHcQZMdrDbswCFXFW7KAlB/alM+yw2wl8iA/R2ABobIA8OSTksz8Vq/9zIVgPAPVnyBA57zELQK48NPrZMsxSOxZE79RuHEi0hb+lvdIToAq2ih20XINpUlnvsNtmfIgP0dgAaGyAvNkfa+RfpX0gVlM4Gqu7dvqZNAcokWmRqN7Zui5KOzXVY8wCJbWf94bQGcKsQF/JBQ3Ejsu3qQoI0NaHWVFbiuc/TlvZ+lJYCQb+ME/soOVBTJPKcYfdRvAhPkRjAxobjQ1QBNtijX5MmnGSeTxYrznrptMMoGD0YOMrreu2TD74OX6dwkxQUvu5Lhx+CPSVovjeeOYTXFMrzhk+PuT42+SKzruYDzzgsdGGX2IWJxoMem3Y7CE+xIdobEBjo7EBimRF6/ogE0H7dTWuaycNju4o2IvroSQ03ZIesq1bWE86Brh1mAlKaj8HjN8fwcxAX8kFK1XBRVxTKz4bPr7m+Ntnsb/52LrmYj7wgJ8c70fOVrDZL/6loMGHfvoQjQ1obDQ2QCEd8Has4e+sWf2mR5OpTu7QH3A5VMhd+XYr11TMAiW1nx8NsXMLswJ9JRcuGP1rK66oFVbA/oDxd/sSf/MTpgOPOGO0Y13QtA3TTGK7+LszFh/650M0NqCx0dgAhaGB+o9R419Uo3p1VtafbV0zcDNUzJvEQHMbk0CJ7WeqfJv/T3dXkf8P6CuD88yYTCzCFbXimuHjpLbU4PxXqe9CGKgHmvP8i9Ger7auhQ23jb63bxi20Q92+/AhPkRjAxobjQ1QBXqYVt2+zKtgWYlrwZP+lRxo9mMWKLn93DPuswLzAn1lIPQArq+JZ47iitqxWNoBGGuFl6a8ORb7dw2kccgs+Mxsae8QeWi8vx60rj0Ns8feyBbJlaP3pR3kHcaH+BCNDWhsNDYAANSPLcYA9z1mgZLbzxHJltIBgHdtdjaKvcoR6sdamdiR6roeSTu4DxAKugp4aevaIO2PUDulebtDOnXeGtnhewlrdTQ+rN6HaGxAY6OxAQAgQJK51z5gEqig/awwRM89zAv0lYE4bfSrn3FFbdFVrcelvUV7LLr+itreaswDANBI0NiAxkZjAwBAgLxKDDSXMAlU1H4+yLcHlQ1hYqCv9M1LYzIxgisAAAAaBRob0NhobAAACIg5xkBDbluoqv1cMO63FTMDfaUvFhjPfIErAAAAGgcaG9DYaGwAAAgIK9/bLMwCFbWf9cb9rmFmoK/0xV7jmcdxBQAAQONAYwMaG40NAAABcSkx0DzFJFBh+9EDuD4l7jneuqZjaqCv9Mw9YzLxA64AAABoHGhsQGOjsQEAICD+Tgw0v2ESqLj9nDME0A5MDfSVnrC2B7/GDQAAAI0FjQ1obDQ2AAAEwIgx2PyIWaDi9rPSuO+fmBvoKz3BVl0AAABAYwMaG40NAACBsTUx0IxJe7skQNXt5y9DCM3D5EBfycwzow8txBUAAACNBo0NaGw0NgAAeM6VxEBzA5OAJ+2HlQtAX+mfZUb/eYAbAAAAGg8aG9DYaGwAAPCct4nB5ldMAp60nxmt63Pi/v+0rmmYHegrXSFHLQAAAKCxAY2NxgYAgMCw8r0twizgUfv53XjGbkwP9JVUZrWu8cTz3gnpzgAAAACNDWhsNDYAAHjNFul+sjkBfKiy/agI+5p4zitMD/SVVA4bk5fDuAEAAADQ2IDGRmMDAIDfnE0MNhcS/32BtLdHjmAqqLD9nBG2HQJ9JSu6nf1D4nm67X0INwAAAAAaG9DYaGwAAPCbPxIDzsbYf5vZuv5uXfsxE1TcflRgJbce6gogth4CfeVb9hmT72O4AAAAANDYgMZGYwMAgP+MJgaczkFDehDRI+G0c/Cn/Vh5NvfgAqCvTGK6tPNoxp+lz56FCwAAAACNDWhsNDYAAPhPMm/hcOta3LqeSXu71xxMBJ60H10h8U/iefoMtiACfWUC8moCAAAAGhvQ2GhsAAAImFFj4NHrS+tahXnAs/azy3jWKdwA9JV/mWM85420VwQBAAAAoLEBjY3GBgCAALhqDG6fWtdaTAOetp8HxjOX4Qqgr/x7yFbyGVswPQAAAKCxAY2NxgYAgHDQr8X3pf0FWreM6SnrI5gFPG4/C6LnxQXTC+FwLGh2X1ltTCRuY3YAAABAYwMaG40NAAAAUDR7DOF0HLNAQ9HtuK/k20Ow+PgKAAAAaGwANDYAAABAKfxhTChWYxZoIKeNvrATswAAAAAaGwCNDQAAAFAWw9I+7CcuoHQb5GxMAw1igzGRuIpZAAAAAI0NgMYGAAAAKJvlrWssIaQ0h+FUTAMNQLfjfky0f922OwPTAAAAABobAI0NAAAAUAVb5NvVDxcwC9Qczan5RL7NqbkY0wAAAAAaGwCNDQAAAFAl+4wJxVHMAjXmmtHm12EWAAAAQGMDoLEBAAAAfOB3Q1z9ilmghpw02vouzAIAAABobAA0NgAAAIDvE4pfMAvUiMNGG9+PWQAAAACNDYDGBgAAAPCRI63rS+Lah1mgBhw02vYhzAIAAABobAA0dtn8HwytBbHnisytAAACRHRFWHRNYXRoTUwAPG1hdGggeG1sbnM9Imh0dHA6Ly93d3cudzMub3JnLzE5OTgvTWF0aC9NYXRoTUwiPjxtc3R5bGUgbWF0aHNpemU9IjE2cHgiPjxtbz4kPC9tbz48bWk+eDwvbWk+PG1mZW5jZWQ+PG1pPnQ8L21pPjwvbWZlbmNlZD48bW8+PTwvbW8+PG1zdWI+PG1pPng8L21pPjxtaT5pPC9taT48L21zdWI+PG1vPis8L21vPjxtc3ViPjxtaT52PC9taT48bWk+aTwvbWk+PC9tc3ViPjxtZmVuY2VkPjxtcm93PjxtaT50PC9taT48bW8+LTwvbW8+PG1zdWI+PG1pPnQ8L21pPjxtaT5pPC9taT48L21zdWI+PC9tcm93PjwvbWZlbmNlZD48bW8+KzwvbW8+PG1vPlw8L21vPjxtaT5mPC9taT48bWk+cjwvbWk+PG1pPmE8L21pPjxtaT5jPC9taT48bWZlbmNlZCBjbG9zZT0ifSIgb3Blbj0ieyI+PG1uPjE8L21uPjwvbWZlbmNlZD48bWZlbmNlZCBjbG9zZT0ifSIgb3Blbj0ieyI+PG1uPjI8L21uPjwvbWZlbmNlZD48bXN1cD48bWZlbmNlZD48bXJvdz48bWk+dDwvbWk+PG1vPi08L21vPjxtc3ViPjxtaT50PC9taT48bWk+aTwvbWk+PC9tc3ViPjwvbXJvdz48L21mZW5jZWQ+PG1uPjI8L21uPjwvbXN1cD48L21zdHlsZT48L21hdGg+ZxNp6AAAAABJRU5ErkJggg==\&quot;,\&quot;slideId\&quot;:313,\&quot;accessibleText\&quot;:\&quot;$ x open parentheses t close parentheses equals x subscript i plus v subscript i open parentheses t minus t subscript i close parentheses plus backslash f r a c open curly brackets 1 close curly brackets open curly brackets 2 close curly brackets open parentheses t minus t subscript i close parentheses squared\&quot;,\&quot;imageHeight\&quot;:24.050666666666668},{\&quot;mathml\&quot;:\&quot;&lt;math style=\\\&quot;font-family:stix;font-size:16px;\\\&quot; xmlns=\\\&quot;http://www.w3.org/1998/Math/MathML\\\&quot;&gt;&lt;mstyle mathsize=\\\&quot;16px\\\&quot;&gt;&lt;mo&gt;$&lt;/mo&gt;&lt;mo&gt;$&lt;/mo&gt;&lt;mo&gt;\\\\&lt;/mo&gt;&lt;mi&gt;f&lt;/mi&gt;&lt;mi&gt;r&lt;/mi&gt;&lt;mi&gt;a&lt;/mi&gt;&lt;mi&gt;c&lt;/mi&gt;&lt;mfenced open=\\\&quot;{\\\&quot; close=\\\&quot;}\\\&quot;&gt;&lt;mn&gt;1&lt;/mn&gt;&lt;/mfenced&gt;&lt;mfenced open=\\\&quot;{\\\&quot; close=\\\&quot;}\\\&quot;&gt;&lt;mn&gt;2&lt;/mn&gt;&lt;/mfenced&gt;&lt;mo&gt;$&lt;/mo&gt;&lt;mo&gt;$&lt;/mo&gt;&lt;/mstyle&gt;&lt;/math&gt;\&quot;,\&quot;base64Image\&quot;:\&quot;iVBORw0KGgoAAAANSUhEUgAAA3EAAABeCAYAAACNZp0yAAAACXBIWXMAAA7EAAAOxAGVKw4bAAAABGJhU0UAAABJzyRrqgAAHM9JREFUeNrtnQ+EFtsbxx9rrSSRJMkVSZIkkiRJZCVJIslKsiRJkkiSJJGsJImsJEkkSa4rkiRJXEmSxMpKkkiSta7l/t7n7nl/TW8z58zMO3/PfD4cv5/buzNnvvPMzPOc85zniFSLi4G2UgCtAQAAAPC/AK0rzb+BthM50BoAAAAA/wvQGrEBrQEAAADwv9AaEButAQAAAAD/C60RG9AaAAAAAP8L0BqxwXOt/+q4vnb72mo93HoAqBgzWu1Uq11GCgD8L0BrxIamar07IojT1u/Zta5rtbOtdt8EqeOt9k+r/Wi1F612tdU2EbyC5wHQllY73Wo3ZXIQ57N5BvR5mKhw36e32gnTV30/fa9IvyaMdtqvL+b9otqeabWtrTYLOyqU5a12oNVutNoj864fM+/69n0aabU7rTZkrqMPO8L/ArTOmkXGyb5mXpLBl1FQ7ODDr7950mq3W+1Cq203xwG0jvoYT0QEccMe3Nce80F/bwlWO9uoCeYAfEAd1D3mXRVl8y9b7XBF31/TWu14q33r6HNVgrhFRruXFn2ft9q+igQLPtrR3FY72WofErzng+0fE9StxY7wv/B10bobZpsP1ruUL6Oo9tGIvwyJ0bqDB+JnSqXuc/K245pGzEdwTsAxORpx/Ud5RKDmbHA4to9bbXVF+z611Y6Z91BY379XsM+rjKZReuu96MeOMkNnZ4dCHNBu2tMKfLt9tSP8L7T2Fn0ZnY3xMtLI+M+Ql84D829xhNeIegVao7Vhj6X/62t6j/fI7zOM11ttSshvey3Xv5ZXE9SU/WKfeRisaL/1GdUZiS+Od+v3Cms/6Pi+7MaOumatpJ95czX9dpzAjvC/8HXROg79JqK1vSg1tU3X9LRnRqJyVzUi1tHLtzFEP28cWLRuttazxK+UyuMh13HF8vtDlvv2F7EA1JB1jvfRxgr2uc88i59iOg3fK34PNjj6vxo7Ss1uyzcry3ZPwgf+sCP8L7RG6/845hgNOifhC1rjLEDUh/+VQ3Bd+DsNrRuv9UPxI6XyYMg1/O14qYxY7tkY8QDUDH1ebWkzZyvW317z3MYN3uoSxClnLP1/gx2lYl8BwVuw3a+AU1pnO8L/QmtvOS72XFPb1GSSKjJHHKNWZ9G68VrvlfqnVPZHvLAWO/7uX4I48IitYh99nV6hIEFT9dKmxNUhiFNHxpaOtBE7SsTmggO4druGHeF/4euidZAtDqHnJnA845QCXW8+emHnu4jWjde67imV2v/PEj6178I2E3ePmABqxi2LPd+sSPCmg0ajgYGWJ+Y9o0UqnnoUxInRvMr3oy52tMDyXdUZw9PmWz9bfs0e0TTdxSYo1SIMSSoVV2n9WV3tCP8Lrb1DR1WiFm3rB21ljGOk2c9hdcRozkW0RmuZnAIP0+mLVD+l8q6EjxbPjvG3ByV6se9iAagXthH7gQr07438THM+IOFpPVc8CuJ2WK7hB3YUm+ch/Xgt6TJFtCjKs4RBnC4tmIkd4X+hdeO1/q/qUdTDGHfWI+2mfIMNExut42NLqVxX4X5HpdhcTnCMcyGjVusEoF4sdDiiVSgFfSLG4Mhsj4K4JY7rmIcdpfo26axaTwbHHUsQyA1hR/hf+LrN1lpfOrYF3EtyFlu51xCx0ToZNsfpcoXv8UhGjoZ+BLfJ5PqCplWyAj/Y4nD06lSk6I0nQVyv4zo2YUdWdL/AzhmGUxkeX/dk+xoziNOAbxp2hP+F1o3VWtaIfQNHKUBsdVb/aYDYaJ2cqJTKzxXtb9Ts4Sv8eWggO8WfIj13PQniROz7NO3AjqwclfzXf2nWRdwtCwaxI/wvtG6s1r+9kILtTkFiixHYd7HROjm28s1VSy/U0afRiL4ewZ+HBrLHk6BHzDvalyDuu9Rrw+aq2FGP/Fq9VIuS5DUTdiJmEHcbO8L/QuvGam2tMHStQLEXNkBstE7OHKlPSqVtofd8/HloIPsI4moXxB3CjiLpXO/cn+O5tIrlqFR7LWad7Aj/C6295J5F7KsFiq088VxstE7HY6lHSmVUKfLX+PJAEEcQV5Mg7iJ2FMsG7hZwvkMSbzauDzvC/0LrRmotf0o2e31kIfYBz8VG6+76WuWUSlulrnP48kAQRxBHEFdrO9JCHu01NrpebVEB57Ttl1qF72Cd7Aj/C60bJ/ZowWIvbLBho3U0c2rwoThn6eNGfHkgiCOII4irtR0FK2ReK/Dan8cI4jZiR/hfaN1IrZ0fpqUFiq3oIuEpaI3WHUSlKlYhpdJWTldHbtkeAAjiCOII4uptR8GBukUFXnucjeYJ4vC/0LqZWv83omQT+1bBYvsMWqfnoFQ3pXK9pW9PMHsgiCOII4irvR2112bfL/ja98QI4jZgR/hfaN1MdsV4QWxGbLQumbkV/lhctvRtCLMHgjiCOIK42tuRFmQYkXwrUoaxLYbfsAQ7wv9C62aySOKVsF2J2GhdMlVNqfxiuZ9bMHsgiCOII4jDjlKyxWF3WvikBzvC/0Lr5vI2huBfZXIXdsRG67KwlVteW1Kf1jru5SxMHgjiCOII4rCjnIK4N9gR/hdaN5vDEm8vkvFWG0BstC6JPyx6XSipT7aqlJ8xdyCII4gjiMOOumCrw+6uYUf4X2jdbKZKdHW9qH2vehAbrUvg7widPpXUn/eWe3fbQ/11U1ldRL9bJqumPWi1bwn+XqtSXWq1DzJZuVPvm64bnFFA35e12hGZXFSto4Rjpg/6v69Mv8LSOxbLZI6/OiXXZXIj01Hzd2UUFFhk+qNrdLSU85fAtegHUUc3dSPik1LeWhmCOII47Cgbdjrsbjt2hP+F1jCQQGxtz2RyZgSx0boqoztrCu7Lcsd9O1FjnfVlusI4COeMA/s54jofxjjeTBMARWn11vwma/SYx2SyIEHc5+1WR1B51/LbeQXdD93r5oxj0CCqPTYBLM43QRxBXP04Zbl2HbiZgh3hf6E1KDcSCv41MAqE2GhdBPOkmJTK0RTOcjdtXsm6rmq14612UybXWEwk6LsrWF1jCQCD7VLGwZsGPWPyexGA2+ZZmis/R/7+MAME7SI1WkSnvb/fWER/XxZ0X+5L+MyzOkmaajU7cB06U7pJJmcWO697D843QRxBXO24abn2G9gR/he+LrTREZ3HKRzQ64iN1gWSd0rlnIIDuB81cFBtzbZP344EAeE/kk2Vtb3mQ9B5/GETuNnQYO5DIDi1zbaezfF+LJDwGUCdsRyIodPsiD7vwvkmiCOIqxVvpHoFveoexOF/obW36M7mD7t0ShEbrfMk75TK7QUHcXcroKnO+Gwwzr/a5ULj8L/rIvDamUKLRV0G32HP04eEdtGuOKqB4AFLX/PaL0qrsI7L7zNpxxIEuQsj+jwWI5DF+SaII4irjo8Qdd0vsCP8L3xdCEPTiK51Ibam/yxARrTOiflSfpXKHY77MuyJ1nNMoBZ1nX9F/N2mlPa8ImU/NaAKS9l8Ium2eXhp/v6L5DtrGGRmxIdOr2t1ikCwjBlEgjiCOOwoO2yVKbdgR/hf+LpgY78kWxvTOXJ8XvIpVoDWaP1Cyq1SeUmqWzEsa2ypEEdDfq+BWHAd2SNjn59j2HFfiv5FzZZp5cy0i/6vOPr6Z8Yaa+GR0Qh7XpjieI8sfX+N800QRxBXC65GXPNz7Aj/C18X4qAlt99L+uhZH/IjKZ0ztEbrKI5IuVUqn0q1C5VkyQPLda7q+O0c+VlWWGergvu/rBJ3FcWkDFmONSUn+9J2MEN9+yOcIf1vy1Mcb6bjIzleEef7W82eA4K4agZxdbOjuPRa7tMK7Aj/C18XreOi+ayXpbt8Vi3xvRkp0TojFliu/3zO5+5xOMlfPNP6q0Svr+rp0OWZ2NN9LmUYfF+U6O0Kut137oTjGVuakbabJTpddVPKY7pSfccq4nzX7TnxKYj74lEQ59v7ts2uiOu9gh3hf+HronUa1ncZPbfX0JDXitZZEJVS+THn87pmlG55pHGvxC/IEpwVOxxxvLBKVVqdcyBhv6Jm4HRUfn4G132pAKdxo2Uw4EwXx90Z471QFBct/Xhes2fBpyDuZc2cb5/sKC7PJHx97EzsCP8LXxet0zLVOFATXQiu6Ty6J1UPcqJ1FxyTclIq90hxqXZVeMFGXeehiN/djnFcnWUabLVtKZySg5L/Yn/bAuybGRxfC5XY9p/r5nmd53hnrCzQfmwjrXcI4krjnuU6Llewvz7ZUdz3Q5az89gR/hdawy8slsnKb91Ez7oh7RKkROuULJRyUipdm1eu8Ujj4+KuJKmpix/lZzn/PEeKN1r6czXD89yV/Eoda5AVlYakH7EsUjWPRHzkii7TbNuouG4VXH0K4vIepMCOuuNpTYKiutkR/hdaQwc7Ag5c2uh5EBnROiWvpPiUyreS/4bVVSFqb5fguqrgKPmGHPuyQKIX0n+S7tfBBbGld3Szz5ouxLalIGW5RcZq4+DeMMF4GcV2nlmudVfNngWfgrhBqVd6ok925GKLhO8J14cd4X/h66J1HkzpMnLWdg4Z0ToFtpmiVTmcb6pD20ceaavr4aLSG24HAoX2f7uWY196HMHPzoKu+12Xx7at7dG1gTMbYj//Sv3WMPgUxC0SexnvXuyoFKaGDCB9kepWO66THeF/oTVY6Hx40wh+DRnROsOPSB4PsGsT6yGP7Gyz5Tr3m9+0Z0K/5hyAnLH05VnG51or+azzWOewnVOevad2Wa71aQ2vx6cgTnlhuZYB7KgUhkK+7+uwI/wvfF20LlLsvcbpSiP6eaRE64REpVR+yOFcxx2a+lTu9rzYS+wPdthhXixzaJ51oY4DlnNtTXlMTYUaEXsa7izP3lO2mdN1Nbwe34I424DUS+yocMKKmQxiR/hf+LpoXbTY7dQmXaT4PIXge5ETrRNwokAH3+XIzfDIzqLW/umsW68Jkov4UNucuD8LdtbT3t9jDru54tk7yjZzerKm1+RbEKectVzPWeyoMPS9Mlrj66u6HeF/oTVapxC7jVZK+yeB2PpbqsugdVyKTKn8ZjnXO49sbK7Yq44Fy/znORq+z2G/yzM+n669G5dsR5VnSHRBljzXb5bBFBOQRgU5dV5s7mMQJ8a5+SHR6cNTsKPc6ayGO4wd4X8BWldFbGVpyEiTrb1EUrROwBvJP6XyD4eO1z2yMVvVMf1Ytxff382xD7rI/5MUW0SmX7JPyXDNwo14YC8a/O6S8Kqe+vHUgi5zan6NvgZxYu7NuQgnXO/pbimm6m4T7KiTzhT9W9gR/hegddXEVnRE+mECwXchK1rHpIiUym0NstfbYk9jai80XpRjHw479F6fwzmHJdv1juqwfBZ/K2jpesXT8ns56Anz/tkr/qQY+xzEtdG1m1re+6b8Pnv8wdzrZdhRZnSuJ7vnyXWVZUf4X/i6aJ2j2EpvjI9hXlXn0NpfrRcX4CSfd2i42BP70sAjKi1Gy123q5HlmfLT6wh+3uV0zqh02QlJt0/T5hjPXn+NbUVH3o+Y+9G5j6A6cANSzf2tCOLCmS6TKcyP5PcCAm/NvZ6DHWXC8o4A5774U5K/LDvC/8LXReucxW4LHjdynoO0aB2TqEIcoxkd/5FFuzGP7GuN5To/BYKaPPcuGnTY6uEczrlDsi9lfkvcefq+bA6/XcIrcOqAwJCQTllldA3sBQlfYzJi7i12lB3z5NdU8Sfix5qxKtkR/hdao3VOYiuzZbLKnUvsbUiL1jE5KfmlVPaIfRHtbY/s62QMW7mccx+ein0T2dk5nPOxZFthzWUzvm0Or/QZ26CwSX3YI/aCFH3YUabM6ghSdWZgmgfPfhXtCP8LrdE6J7GVIzHEHkJatI7JUskvpXK5Q7tjHtlXnPK9ea6FW+g498Mczunai25TimOui6HjsKfvKFtp+BMEcZXBtpb4DHaUObp+J7hliv7/mR4871W3I/wvtEbrHMTW0SfXSPUNpEXrBOSVUrlb/F3XFGR6jBfg/RIdAm37cjjndbHP/KVZq3I0hpY7PX5PvZBii9IQxCVjreVaXmBHmaPf4GCGgX6rZnnwnNfFjvC/0No7rdUx6StR7DgfxrtojdYJOG25vhUVc/KryPYYgcfanPvwt+P8f2R8PtfMX9r1cDdjaLnR4w/wTvFrcblvQdwzy7XswI4yRb/9D+TXQUVf1uXUwY7wv9DaR63/S+XJygFNK/ZBh9h/ojVaJ8CWFtfNFPory3Gfe+R4X3XYSN4bmrtmAvPYU81VfCSt3TyLEcTN9ziI65XfK9MF2wKCuNKYX6NBqbrbka6NvRfo78ccBqKwI/wvfN3maf3/PZE2lij2lgYZNloXw7uI63uf8nh9DifikkeO9yeHjRzN+fxbpdgN1V1r4dLuDyfy+/5IYW2K+I0tkK3bfj0+BXEDkv3MM3YUTnBGXrdNWejR810XO8L/Qmuvg7jzJYrd7xD7HlqjdUKyTqnc4NBtqye6LXVcpwayc3PuwylHH7KuSvcixjVPTXnsiRhBnO/YUkqvEsSVhm3G/QZ2lPl3X9tX8471ibrYEf4XWvuo9f/F/lCi2OsdYt9Ea7ROiK2SZJpKWYelGXuOHHJc54MKOMobMjzXAfk5Oh61yferLo5PEBddJr6O6xJ8CuLuSnnbhzTFjoY6bGNlQeedY/yCHuwI/wutvdb6l1Gi9SWJ7ZrlOI/WaJ2CEckupfK2RbOPHml232EfRaQtvXT0YUZG51kgP9Md9+XkiIwTxMlF8WctqU9BnG0G+iJ21DXBCrtjrbamwHO31/gux47wv9Dab183KPb9ksR25a5uQ2u0TsFZyS6l0rZOzJdStboI2VaWV/+tiPVbPxw2msXocl8gWLxm7D6PZ+JbjCCuV/zGFiB/IYgrjS81C+LqZEcHO96bRW4/036XvcKO8L/Q2n9fd7jjwpaXILYrhWsuWqN1ClZINimVs6X4PcvKYLPjOu8U1A/X7FUWtNdxaAEc3VPmchfPxDTLvz2MEcQtaXAQ940grjS+exTEVcmOOvcT3VzgubVS5Fdz3gPYEf4XWvvv63aK/bwEsW051c/EH9C6eN5L9ymVrmqJKzzR6oLjOgcK6kfe6Yftl7sGi+0iA1HbR3x2HEuLrGg6bVS1uesxriePojjTzPN8TsqvfrlP/NlXjSAOO0ryrShyjzTdNLy9hEBn/2ZgR/hfaO2/rzsccoEHChTbtbP6LrRG6y4YyiD4OmM5hgYCPZ5o9VbKT6VUxhyO8swujh3cyHyP+W9TLee6FcNh0/5GjTTujhHEZZ2br8/5Y3PsRzjfBHEEcYWg5dQnQt4vRbBUfl0DfhM7wv9C62b4usMRjunqgsQ+bhH6jWcBBVoXTxYplX9ZjnHfE53mOpzTIqu/fXD0ZVPK424OvNgvdfz3qHMdjjjWhsCxbDNp82MEce8z1E5H358GjjuzArblUxB3jyAOOwphXcfg06Gcz6cDhwvMoNRd+b0K7nrsCP8LrZvh6w5LdBrR4pzFXizRo+76UlqF1midAaMR1z0S8+9ta7ROeaLRoJRflbKNa7bjQopjBmfEHsqvs6e2PQXDNitdG3iWjsc49/MYgVwWm6Lq2s12pbivKd4pBHFu3hLEYUcdrHJoWXR7jx3hf6F1c3zdYcsD+Dlh5JxEbB2hto24D4p/oHU5nLNc+zLH3y6RfGaFqoZtCwV98c0osC/HHJr/MAFLHLTy4/nA32qQMz1B0NhZtGRNwGm5FrMPAzEcrzfSXZVK3X/qo5RTzrwpQdxUce/7NyH1Sa8miOuepfKzkEhV2nHsCP8LrZvj6w7H+Cgdjflhiiv2TsuLb8LjoAKty2GlRfPTXTjgE+JHefgesZf1f1xwf5bFcFQei70qpJgPxevA3+gsyqyQ39le+sFncWtghO9hwnv/OsY1DXcR9LaDC5017q+YffkSxA1KPCd6HUFcI+xogXFI/61Ym4cd4X+hdXN83RkxBG+PFO/oQmy9Wbovw9+Oc6wQf0Hr8ohy1N85/u6K+F/haI3DHg+V0KcXEi9taH+H0zLPPA9POn77MiKAE7Gny+psm+43c1V+nc2blvB6lot7FqddSGV6zGNuMc9x0JGtYgDhQxCn93skphP9gCDOezvSNcQfKxjAPcCO8L/Qupm+7vIQxyes6YtL05M2hzgynWL3mt9ddoxYfTaOYo80A7QunrQplbaXwxlPtDnpsMP5JfRpfYaOzUOxp4MmOdYbSzDoIu5Mjj6jp0xwHZzt0/Nq+u5p+X3rDF33ubSi9lX3IE5Tdx8ntJOLNXjHEsSlY1aCgL7oth07wv9C60b7uv85Dg8SvDTGjAPRWcHvk7hHnl+aF3OfNBO0Lo7Vkjylsteha78n2jx32E1ZDEv3Tk2cQHs85rFedRHAtdmbg+N2N4N+EcT9ygwTMKsT+kPSF5g4Yd4TVXzvEsQlZ6ZE7ylZdvtaksNaNzvC/0LrRrDAfIBeZPiSmTBRuR53qQBaF0tU+ktUSuU6x0vGhxGe6Q47Ol1i33rFvr2DrekatLhVqOJUj3ws2RV3WSvRm9AnaZoivKMGNlaHIG61cRC+Jgjqk7Zxc3w9zzaCuNrZUU/Md0VZ7Tx2hP+F1hDl6On0pU5N6hqRe2Y06ptxZsdDouNxExHrppNHzahmH1KidYlckGQplfstv7/piSbbHS/IKpTj1Wpr/yQI3nYnDLAPOD4Qp3II2PvMMz6aMkDdL/UpqlOHIC7L9N04bWcFrpkgLvkz+2+F2xLsCP8LraEbqvaRQmsIstq8BMLayZDf37J8nAaQs1B0XdIRmUzJ+G7umb7odXb1jgn0lndx/IMyOSPbPq4GSkNSzHrAlab/t00ffgTs8kfgo6V9XFzDe+fTPnE+QRAHBHH4X2gNiI3WXhI1S6KzQtOQBwDnG+cbO8KOCOIArREb0Lo6zLB8mO4hDwDON843dgQEcZgAWiM2oHW12CKkUgLgfON8Y0dAEIf/hdaIDWhdG85YnIVe5AHA+cb5xo6AIA4TQGvEBrSuFlGb+15AGgCcb8+d7yPYEXhqR/hfaA2IjdYeY9vkezHyACRiEOe7ds73IHYEntoR/hdaA2KjtcdErYd7iDQAiRkQ+wbYUA62vRcHsCPw1I7wv9AaIhgMtAXIgdY1ZTjig7QWaQASs0nsmxT3IFHh9DruySbsCDy1I/wvtAYAT1FH4EvIx+gZ0gCkYp7D0VuGRIWzxHFPFmBH4KkdAQBADZgmyTfl7o/4GK1GToDU2NbNsGVH8eyw3I8x7Ag8tyMAAKgoGnC9CXxMPpiPTRxuhXyMbiMpQFfcsDh7N5GncG7W9H5gR9gRAAB4ilaPHJN0+flz5PeqlDryOxdZAbqi3+LsaWGEmUhUGNPFXoxiC3YEntsRAABUkHuWj8ojx9+eleaUSAYomteWZ/Ms8hTGWct9eIcdQUPsCAAAKsaY5cPy1fJ3Ots23vH7O8gJkBkrxF4EYTMS5c5Gxz1Yix1BQ+wIAABqFMTdsPzd7Y7fvpTkRVEAwM5OsafD7UGi3Ngj9vS3PdgRNMyOAACgQjywfFxWRPzN3o7fjbTabKQEyIX1rfbe8pw+FqrBZslqo2mU3iPmnmBH0EQ7AgCACn3Yoz4yvSG/393xm78J4AByR/djHDRO4UTE86qz4YdbbSlyJWax0e5lhLaqua4R3iX13iQbO8KOAADAI05FfHAutNoU87HRnP07Hf8+bP4dAIpD05Z1HdMxmUx51uJEOsPyTSbTo8eRKDHjRjvVcMRoeq3Vjshkld4p2BFgRwAAUEV0zcQnsS++brdnrbYOyQAAAAAAAMqlTybTPHTT0VH5ORqre7/p2jktkbwcmQAAAACgSP4HYkWJOCXRAugAAAEadEVYdE1hdGhNTAA8bWF0aCB4bWxucz0iaHR0cDovL3d3dy53My5vcmcvMTk5OC9NYXRoL01hdGhNTCI+PG1zdHlsZSBtYXRoc2l6ZT0iMTZweCI+PG1vPiQ8L21vPjxtbz4kPC9tbz48bW8+XDwvbW8+PG1pPmY8L21pPjxtaT5yPC9taT48bWk+YTwvbWk+PG1pPmM8L21pPjxtZmVuY2VkIGNsb3NlPSJ9IiBvcGVuPSJ7Ij48bW4+MTwvbW4+PC9tZmVuY2VkPjxtZmVuY2VkIGNsb3NlPSJ9IiBvcGVuPSJ7Ij48bW4+MjwvbW4+PC9tZmVuY2VkPjxtbz4kPC9tbz48bW8+JDwvbW8+PC9tc3R5bGU+PC9tYXRoPk1hiNMAAAAASUVORK5CYII=\&quot;,\&quot;slideId\&quot;:313,\&quot;accessibleText\&quot;:\&quot;$ $ backslash f r a c open curly brackets 1 close curly brackets open curly brackets 2 close curly brackets $ $\&quot;,\&quot;imageHeight\&quot;:15.04},{\&quot;mathml\&quot;:\&quot;&lt;math style=\\\&quot;font-family:stix;font-size:16px;\\\&quot; xmlns=\\\&quot;http://www.w3.org/1998/Math/MathML\\\&quot;&gt;&lt;mstyle mathsize=\\\&quot;16px\\\&quot;&gt;&lt;mo&gt;$&lt;/mo&gt;&lt;mi&gt;x&lt;/mi&gt;&lt;mfenced&gt;&lt;mi&gt;t&lt;/mi&gt;&lt;/mfenced&gt;&lt;mo&gt;=&lt;/mo&gt;&lt;msub&gt;&lt;mi&gt;x&lt;/mi&gt;&lt;mi&gt;i&lt;/mi&gt;&lt;/msub&gt;&lt;mo&gt;+&lt;/mo&gt;&lt;msub&gt;&lt;mi&gt;v&lt;/mi&gt;&lt;mi&gt;i&lt;/mi&gt;&lt;/msub&gt;&lt;mfenced&gt;&lt;mrow&gt;&lt;mi&gt;t&lt;/mi&gt;&lt;mo&gt;-&lt;/mo&gt;&lt;msub&gt;&lt;mi&gt;t&lt;/mi&gt;&lt;mi&gt;i&lt;/mi&gt;&lt;/msub&gt;&lt;/mrow&gt;&lt;/mfenced&gt;&lt;mo&gt;+&lt;/mo&gt;&lt;mo&gt;\\\\&lt;/mo&gt;&lt;mi&gt;f&lt;/mi&gt;&lt;mi&gt;r&lt;/mi&gt;&lt;mi&gt;a&lt;/mi&gt;&lt;mi&gt;c&lt;/mi&gt;&lt;mfenced open=\\\&quot;{\\\&quot; close=\\\&quot;}\\\&quot;&gt;&lt;mn&gt;1&lt;/mn&gt;&lt;/mfenced&gt;&lt;mfenced open=\\\&quot;{\\\&quot; close=\\\&quot;}\\\&quot;&gt;&lt;mn&gt;2&lt;/mn&gt;&lt;/mfenced&gt;&lt;msup&gt;&lt;mfenced&gt;&lt;mrow&gt;&lt;mi&gt;t&lt;/mi&gt;&lt;mo&gt;-&lt;/mo&gt;&lt;msub&gt;&lt;mi&gt;t&lt;/mi&gt;&lt;mi&gt;i&lt;/mi&gt;&lt;/msub&gt;&lt;/mrow&gt;&lt;/mfenced&gt;&lt;mn&gt;2&lt;/mn&gt;&lt;/msup&gt;&lt;mo&gt;$&lt;/mo&gt;&lt;/mstyle&gt;&lt;/math&gt;\&quot;,\&quot;base64Image\&quot;:\&quot;iVBORw0KGgoAAAANSUhEUgAABc8AAABuCAYAAADxlutWAAAACXBIWXMAAA7EAAAOxAGVKw4bAAAABGJhU0UAAABFxpIngQAALeNJREFUeNrtnQ/kVcn7xx9JVhJJkqxIkqwVSdZKliQrH4mVZK1EkiSJJFlZka8kSSRJkkiSJLGSJIkkSRJJkiSSJMmHvvfpzt1O5z5zP+fee/7MnPN6cXx/v+1zz5l5npk573nOzDMiAAAAEAO7W9eX1LULs0AkbXU3ZgEAAECrAqBVAQAAACBvdhoCbw9mgYDZY7TZHZgFAAAArQqAVgUAAACAvFhvCLtDmAUi4KDRdjdgFgAAALQqAFoVAAAAAIZlmSHoLmIWiIgLRhtegVkAAADQqgBoVQAAAAAYlDmt621KyD1sXZMwDUSEttcHqXb81rVvAAAAQKsCoFUBAAAAoC8mtq5HKRH3rnXNxjTA5BoAAADQqgBoVQAAAICmckK6tw+uwSwQMWuNNn0cswAAAKBVAdCqAAAAAJCV1YZwO4NZoAacMtr2aswCAACAVgVAqwIAAADAWExpXa9Tgu1V65qKaaCm7fs17RsAAACtCoBWBQAAAICxOC7dqx3WYhaoEWyJBQAAQKsCoFUBAAAAoC8WGELtJmaBGnLDaOsLMQsAAABaFQCtOhR6aO+e1nVF2of4fnbX+9Z1rXXta10/4WIAAACIkTuGSEPYQB2Zb7T1u5gFAAAArQqAVh0ITS1j5Wz3XZda14+4GgAAAGLhD0PQnMQsUGM4kAkAAACtCoBWHZ65reuFZA+cd663retXXA0AAAAx8CglZEalveUOoK7Mcu082e4fYxYAAAC0KgBaNTMzpH1o75cBL03nwg4SAAAACJp1hog5hlmgARwz2v46zAIAAIBWBUCrZuJWomya53xV65qS+HdN56Ir5s+JP4CuH8fG4e7q0S0ER9w1H3MAAAD8xz1DwMzDLNAA5hlt/z5mAQAAQKsCoFXHZIMrkx4IujbD3y9qXS/FDqBvrLAexIwdyxIO+Z3+BwAA8JUlhnC5ilmgQVwx+sBSzAIAAIBWBUCretGV4s9def7q43eajuatUaebFdaFmDGGAAAA8HLREC7LMAs0VCN2rkuYBQAAAK0KgFb1MuLKcnmA32416qT53ccHYGOC5xgCAADgP2ZK9yE0zzALNJCnhnifiVkAoGGMxwSAVgVAq2bkrCvHnAHfN++lO4D+a0V1IWaMIYJkVuTl/0Hahx4AAMTMbkOw7MEs0ED2GH1hF2YJhp2Gf/4KsJyTW9fm1nXBTQg1/+dHaR+ktcv9O4CiB6mtkfZBcLp68EXr+tC6PrWuwxWU5xfXTv8t4VlHXD21vi9d/U84e0zDV18DSqvc89Qf79yzOuPJCzfG6HtrQQN8hVYFCFOrjnNjw8kh7mEdIFpVvLaRMePFretv91J54V4yya+Vo+4loC+iB+7v/iftLQd8bS+Wme6lq/mNfoi4HsdcHf7EpQAQMY8NwTILs0ADmWX0hUeYJRjmGP65HFgZt7u5xZce12shn37Tme7mEZ89bUQDEZtKLM98NzfrPL+M4PlGV0+r/jpPPyNh7Pwp21e6MGuf2Csxe116kObKGvsKrQoQplZd4MowzEe8A0adlpdQ9sbHjDe6xmMN7p9TL7rRHn93Uhp+umpBrEtMKjZGXhdtH89cXbQjTcG9ABAZC4x34C3MAg3mltEnFmCWYHhgaPZJAZRLy5A8yEsD5JsTZfstVe6PzDMa/d597ZmD3pf2at6yJuWz3Jw3XY5/S3q+rljU1dW3PfZ464IbTfHVSI/nZb2KmpNW6Su0KkC4WnW6GwuHYYNRnyJ3tTQ+ZjzfvcTSldLgpm7zmSfdS/D1ZadfNA6Jf5XIAfeygOGY2LpOJxraqprUa2pi8NIThn/G1QAQEfuM9942zAINxjq4aD9mCYa/Df+sq7hMGiC/nZp7zEj9zVyxg1zQLLStvPDMObeWWA4NShwU/2rqfyuwzUZPeV5JNamOyvbVNhkuaJ5ehTqjRr5CqwLUW6vuMMaSIiBm7CqT3kr0yTkhWYle+Wv0BblX7C8LV+ifQ/GjfFsp9FHK2YJRJvph4GqifitxOQBEgrUN9kfMAg3G2g77GLMEwzzDPxcrLlNyxbnOR+Yaf3PMKPdH3Nk49ngm3mWlaOnMd30pOKoMnitrPeXZW3NfbZD8AufJAPqUmvgKrQpQb616PFWXEwU8g5ixtLcnfEwVXHOE/WL8bZbk73qq6xvDGDAYi+Tb9jNtZCtqWk/N3X410V7W43oACBxrJeR9zALQlRpEr3mYJRjSgZTPUt0ZOumV8Ds9f3fJaFPvcGXjeGK0g7slPHeCtPPxW3PckILnyk2xVwXW1VeLpTvH7nlpp0GYLd+COvq/mld8tbQDSx8lWwqX2H2FVgWov1a9kKrHkpzvT8zY8dAo9FrP32Y9OXWhdH+VgP5ZIt8fdrK25vXViVsy/9QGmgAABMwW4/35P8wC8LUfpPvGFswSDHv70P5FsihVBk3x4Nu2u1vsbb7QHGZKNavO/5J2akk9UHKzK4e20z8lzOC5r1xzaugr/aiR/BioPsoa/NJV5Udk7AD6ysh9hVYFqL9WTcZei/g4RsxY7O1C93r8fVZDdIQGwfPB0YORkl939jSk3tOcQO3UexVNAQAC5YLxDl2BWQC+bu0MLTUIfMM6PO5cBeVIT8Z29vjbCakxV1eW/oArG8UqsQONPxX83KNir65T/pXwgue+wPWqGvoq+VHt2oBjwjrpHTy/F7mv0KoA9daqv6bqsDrn+xMzdlhbILfnZAjlhhA8HwQ9NDO54rxpByLpV6jOISqfeghWAICq0FVn6e1rOm6NxzQAX/tB+jC0j8IB8iHxtOLxK52jWFMtTMvwu9kZ/w7qh7VKd7TiccU6iLHq4Lm4+VO6TOtr5is9M+utu7cuvBomP/l26R1A/zlSX6FVAeqvVY8myn+jgPsTM+4xWP+eoyF+EYLn/aITglcJuw0rBmJlp3x/WjATJQAIicXG+/M6ZgH4j+tGH1mMWYLhgOGf1SU9Wyemz1LPvoxLYAw2Gm32Q8Vl8h1UWXXw/K1Um+aoDF9tStz7txzud0f8wfOdkfoKrQpQb606Vb7FdPV/i0jPRcxY2iedWi+HZTkaQrkvBM/7mUzcSvljeWR1UPGSV4qZe7zooSFYK3TWYJagqXMOyTzHcWiuL/YbfWQr43YwLDLKf7akZ68xnv0X3R3GYLPRbt5XXKZQg+fWQWxHauarzpz5fE73Wyn+4PnZSH2FVgV8UW+tmszbXsT5H8SMHUs9hliRsyF2CMHzrPxT0SQmL/RLl251uZ3T/dJfy7fRRKCmEDyPj3NSbT7RWMZxaK4vVkt1wVnG7Wy8SJVfVxeVsZ3/hmG7qXR5GAOC59mpe/B8hnxLBZPXSktdxPbW488bkfoKrQr4or5adZ4bA7XMpwt6BjHjMQyxNWdDzHdiHHrzs3TnhZsVUfn1q9QDV/Z/crzvFfl+u99smgrUEILn8fHc8Fns6aWKGsehmb6YavSRF4zbQXFQyg+szJZyD+SD+kDwPDt1D553xt+8g1znPP58Hamv0KqAL+qpVcfJtywN+uGiqAPUiRknGnu/J0oPYgjIxr2UH45FVHbtvFcl37xzvg57iaYCNYTgeVxMCHACH/I4Ds31xTujr0xg3A6GJUYdThf8zN3GMw/S7SEDBM+zU/fg+Wl3z0U5l/t/Hn++itBXaFXAF/XVqp3FD3p+TJEfxIgZJ/jkMcbGphkiQOG1IKKB84IUe0LxU8meYwkgRgiex8UKw18XIhfARY/j0ExfXJT+Dhli3C6fV9J9qF+Rbe6BYbcRuj5kgOB5duoePNcx41AB5f7L488rEfoKrQr4op5atXNuzMvWNbOE5xEzdlz2GOKT2AFKguf5o7kl01uqHkRSdv0SdbWEl/K+1DPu0mygZhA8j99fxyKtS1njODTTF0elvgdD1mXcPizlBbPneeYdU+j+kAGC59lpwoGhZY3rRe/IKcpXaFXAF/XTqr9K+2OFppKaW9IziRk7Nor/VOmPhngmeJ4/mwzb742g3JqP3Vo9tLmgQaKfE34BYoPgeVwcN/z1Z4T1KHMch2b6whrbjjNuB8VvRj1OFvQsK2XLC7o/ZITgeXYIng+Gb+X55gh9hVYFfFEvraqZKd66sXRRic8lZuzQXD6vehgjHcgleJ4/Dw2b/xp4mdeLnRtKr3kFPG+c65hlnXoOQBAGenFJ+jt1nHEcmuqL36Ve28brOG6rxkoHb95LMVuw7xo2O8cQABkheJ4dgueDsdvjz/kR+gqtCviiPlp1jrRXm2tMbEnJzyZmnGDdGIboCIBpNTLE4ta1s3Wdl/aKF91y8MH9t6xMl/ahIpqP+7O0k/Vv7bMcv4i9/SHUnFG6OulWj3byvMBnX+KlSb+qMXUJwuhJ38td2dWPZ6X9gVDbwtIB7qdfsh+43+vk4qhrI1XzUuJNO1DlOA7N88VkKffgNcbtwTheQpBlhqed7wnEBqq9NUC2UtqrT4+7ybO+wy72+J2uxDvQup60rlH3rjrs3ofDMLF1rW1dZ9x78KPTRfr+0dQLsxN/O8m1x06ZdewoKsXhIuezC07rdcqlgdHr7t+Kek8TPM8OwfPBOGWU+3GkvkKrAr6oh1ad6fqzaoyqYrBNjBl7OZHBGNqA9kdsiGVOVL4eo55ZJgsqrN96fr+qjzIdMX5/PTC7/STtANj7DG3Ed/2TQzn+Me77P95n9CuCMJWj2/v1xO1PY7SBficCEzz31HfRjxUHWEal+6NnyIQyjkMzfZHux6NSj0O+6hQ8Xy75bFleMkS79l2zC6qz+koDZZdd8Gq0Rxl8AX5dpfrZ85sTA5ZL63s0wzv1Q0JbrTH+/WzOgQVdCPE0o8+0bJsK8BnB8+wQPB+MG0a5d0XoK7Qq4It6aNVpiXdv1RqzCTHjzJzus0PEYoiF8m2bwSNpr4o9J/6tB9cGFEmD5Il8JeHnV3qSw8Qnj8DnKqnv6rUYCblfEYQpl5XufaCXfpW+5/HhnT7vO7FHezhfYX2nG+V5FriPQhnHoZm+sAJuMxi3g2KcMUl+O8DEcbfkGzgvMti2Q9qruo+7/+21CCC9RXq82Dsik9fnPsujq8cPGAEvPZhtrZtAd56t7UxXfWuQuhNsL+KwM30P/+2ekwyMq81Wp/qxftROLwrKe1cBwfPsEDwfbBz8bPTjaRH6Cq0K+CJ+rao7RTo55jcOcZ/tOZaprjHjgfhfH4a47QJooTPZCbxJRmO0tjONin9L05oMdtmdsVwLPb//KwKbWpOjj1Ls17n5GSc0VbJZ8l9xVdR1pKb9iiBM9ejE/r4nkNDvGHFX/Kd7V8UKozyXIvRTFeM4NNMXdci7WvdxWzkpxR3OPl7sld3XAqq/6prnki2d4pmMWmt8xmcvMZ6tE+YFPX6jwWoNRmrg/E4Bk/5VKT2nY5IGwyf2+M0EoxyLC9bZBM9tCJ73zzKjzAci9RVaFfBF3FpVYyy3XTl2DnEf3QV2Neey1TFmPJRY6meLhm55nBlpXXd46rTa+NtFboB45/59nBOE5xO/04BR1lxiWz3PXhmB3a5J+StBx3nstT8guzQpeB5qvyIIEwYrPW2g35PBf/a8jz5WWLc/jPKcjtBHVYzj0ExfWKtU/mDcjmLcPpbTvX/zvBNCS793JkPAaa/772+c3jkp/tQlWdjusXuWgMRhp5/SHyYeDmGDyUafVR02J8Nv1xY8lhE8zw7B8/45bJR3aqS+QqsCvohXq+qZKZ0UUsPEun5xc+aRAsrYpJjxmOhqhpt9GEOdotv6JkRWT9/hRekXlm7X6myPtFZQTHWNsx/OSfmneeeBrqKx8jtuKuHZVge9FZBtCJ5X368IwoTBOPdeyGNnjbaNt8ZEvirWG/U6Gpl/qhzHoXm+sM53Wc+4HeS4/SFVn9c53XuLRxeMBGYDS5vvSPz7iPtvuiJ7VsJuD43fHcrwPOug1r19lHetx66HBqy/zv8eS/dZTJMy/v6CFBswtdrRm4rbTKjB89dSbfA8RF+N9S5OB7F3RuwrtCrgizi1qmqKKzJcOmfVJ7ucpntRYFmbEjPOzFZDSPe6VHAtjayOj4x63Ez9zUXJ/+vTCxlui2dV/O4p97wSnm11zpAOHiN4Xn2/IggTDuclv9z1IwFNAA4b9doQmW+qHMeheb6owyS+KeO2tfL6txzu61swMjmw+ls685fEJPGtmxf9nPqd/v/v5PuFHZMHsHW/K/H/kMEPaU+jY046iKep07IGzn3BlTx3ilnBjecVt5lQg+f/VjzuhuirXmyU6hZpFOErtCrgizi16vmcYz57SihzE2LGmVGxeKlPJx3tQ2xVjbXdMpmbt/Pl/FCOz5wg+RwuVAUHjHK/LOnZFyXsvOcEz6vtVwRhwsLKjXd3iPsVkYc3r7a9NjLfVDmOQ/N8Ya2OrcMh0HUct1cbdTqcw32tXOKPAqu7dVhgMvDb2bLuW4mmB/T9kVGTHpN8tr+v82itfhfi6Cq1dOBc//9+8qbr3MbKa389Rx+dkPDyOIcaPLd2AZwq8fkh+qoXj1L9fm7kvkKrAr6IT6sezzneo+/kslKl1D1m3DeaC/FpH8bQU3rnRNpROrl557gXqH4d+SHHZ/7seeb7COx1t0Ix5jugaY0A/YogTGisknwODVWmJO7xouJ6WSsoRyLzTZXjODTPFyNGHc8xbgeJtXr41ZD3nCL+/JchscQo4wX3b5skv+Dfbs+caZAJpHXGzOUB/PNM8jksNp0z9q10r9IfBivIeKLidhNq8PyQVBu8DtFXPtKrzjfWwFdoVcAXcWnVg5L/YskqPljWNWY8EMv6dJiKptBzFs/xlF1z83a2by4qoFFZz3wduK0mS7XB6xMSx4FTUE2/IggTFrM9bWDBAPdaI+XnoPQR2mnssY3j0DxfrJC4ViA2edxWzkq+O/xWedr5usDqbQW1t0n7fJZOupZhV3D59P/CAe93ylPmfrBSRgyaZ1U/juv2bQ2i/yP5r3h7K+EdPhxq8NwKBH2U8lJdhugrCz1fKZnr/HRNfIVWBXwRj1YdkWIyDVS1U7uOMeOhDaHbC7OcsPpuCFFYFlY9Ov+tiLQSvlW5DwK3ky+34rSSnn/U8/zTAvQrgjAhMprT5Olc4uVa9fauq0adYsrbVvU4Ds3zxWIpNpUD43a+rDHqdXCI++3ztPO5gdX7mthB7U6KlWE/3GoKlDfGMw4Mcc/bxv36Wem9zTNvmxpJYEPtWfXBY6EGzzXw+lKqCWCH6iuL5Aco7U8/1MRXaFXAF2jVqqhrzHgoQ+jBAbqi4HIGY7wMvIP5EvPrSvApBTxvved5VwL3v7Xyu8yA/36P3S4yRtGvKiCmHPd/VmSjB0ZZ/unzHvruGJUwVp2LdOeFDfHQu5DG8VUR9I9VDX2nlsVkCWenHeP22GiAK526ZZh0WdY8IbQ0heOl+2OvrjSf6/77Yxl+xa5lh1dDvD+sMr/p4/czxD7ga0+gY8hjCTMNRajBcxH7kL9nBc/JQ/ZVmtUl2qVsX6FV0apo1Xi1auzUNWY8tCE6aG6wj2MYI+QA5y5PmbeULLQuB+5/K3/R4RKfvzFSuzWVsvsVQZjwgjBWzsuzfd7jn8QkYnwAfre2Ik+MqN2WPY4zIQn3nVoWE8Xeosm4Hea47Ru7Fw94L2t+cD6wNmqNU7rjqZPDe9jA3xqPj7fmNCcb5P1qHSj4IcAA2/zW9VC6P+aEkoIi5OC5stR412hwe0EDfZVkVkLPaYBsds18hVZFq6JV49WqsVPXmHFuhlB0m+BLCTPvziACtMjcYL7JW8hBYF/+4jJXEvgE6hXGKPoVQZgggzDWaoVrffxedyi8l7BWLVlbzyZE0marGMeZkIT7Ti2LCRLOymPG7Wysk3zSi8z31G1HYG30iFFGTTejK7tvDnnv8Z7ggwYVh1nNfnCINuMbf44E5JOFTkMkV9ffdX04pHdu6MFzce3sT1empD31Y8svDfJVMkh2PxEcW1BDX6FV0apo1Xi1ap1iQHWKGedqCGWG9D5dNdQgp7X1sciJS4wrqK1UM6Mlv4gJnsdF2f2KIEx4QZitYuc0y8r/JLxVip+MOsVCFeM4E5Jw36llBgOsw9AYt8MNnmtwKZ265dkA9/Gd8fNbYG30iUeTD7PivsM2KWYX3nPjnj9m/O0BT5l+DcQfOrnWc46SaWU0h/NKKe/Ay2HnJv8GVk61m+YuTu4qUT2jh8MuaIivOlxIvIeWBFi+PHyFVkWrolXj1aqxU9eYce6GUPQLlS8p/OeAX6R3jfKeLHEg6oiNUDlrlPdGIAKVtC3hUma/IggTXhBmjUd0ZWG2+1tdFTQ9IL/HPCGpYhxnQhLuO7VM0nX9xLgddPBcxM5PuajPexyPYC4w21NGncsMGwDVelpBbg00DnMw4VLjnk/7KJOVD/lNgOOG7j5LB/p1xdrOgNpQDMHzHdJ9WK0GvKc1zFeSKKP28eUBtvm8fIVWRauiVePVqrFT55hx7oZQtvfo+L8GWrfTRlkfF/Qs30qcZwH7/p1R3r9LLoMvhzYHhoZLmf0qZv407LSmBvVa4emzWYIGV93frgusTp8jnpCEMI5DM31RxwlJXcftDtZCj3193uOOcY+bgdVzY485y7CrUn25zofNF2sFNLIuTFjqKdOZgNvicukOBmrbCuFgsZCD55q//oZ0L2AYaaivkrtAVgfWxvP2FVoV8AVatSrqHDMuxBAaGPElg18dYL3miH3ivF5TCnjeSs+zQj2UYEFBk4p+ORKh4G8yZfcrgjBhtgHL/4sy2iPED2NfIp2QhDKOQzN9MegOFMbt6pgi3anXnvTx+3Fip247GFg9z3v6470c7n3Zc+9hUsH86LHrHxl/v9dTpk2Bt8cdEubO05CD52ekmsBXiL5KjtcbAmzfefsKrQr4Aq1aFbWMGS+R7Lnx+jVELzEa2ipCFfd3xP/VowjH+Q5Q+hBoB7C+Cn2U8rdTHPfY7VggdoppO/iRGvYrgjDhMUH6PzRW86Dph0TdVj41AmEVy4QklHEcmukLgudx8q9Rx6w5d5dG8P4f12PiNmyAbZLYQe5XQ973sKe8Wd+XFzy//z3wtmjl4e+nPRZFqMHzOZ5xd0oDfZVctLY9wLZdhK/QqoAv0Kp5QMzYoV+A9xVoCN/KhtAOC/xbvq2meSPlBBl9q3FC7aDWypkLFZTjtKdN/RWInQieV9uvCMKEyec+gyfXJeyTtmPNIxnKOA7N9AVpW+Jkk1HHvRl/u0WGC/KWNSm0yqhb1ccPee8/PPc+NcQ9Z3vmDw/7uMdzT7mmR9AerY85eyouU6jBc6v/3Wqgr/QjXucD2f5A23URvkKrAr5Aq+bVDogZO0PcLdAQf3kMsTYgGyxKdAw9LfycUd47BT37icc+EwNrJxrot4JfWyooi+/LVCirZQieV9+vCMKEx7s+3gOdjy77Aq5PjBOSkMbxptNUXxA8jxPNU5wO1mY9t8TKyx3a2T6+SdvhHO59tIB50EUZfgemb6V9DKsJTxnlPldxmUINnltpQE43zFcLEhr0aMDtughfoVUBX6BV84CYccIQWrBZBRniT48hRgKpv26nfCrf5/mzVtjopGF8Ac8/47HP0sDayTJPOedXUJYrEnb+bILn1fcrgjDhccuo2/oeY03op7jHOCEJaRxvOk30xTixt/4ybsfB9QHb63OpNniXBV96uUU53NuX7/yXAe834n7/UoZLhTMq8aZ0sM4+qnoxRqjB80tGmY42yFe6S+O1e+7ZnO99UvJNP1WEr9CqgC/QqnnQ9JhxlyH2FmSIbR5DzAmk/idcec4n/pvvYISVJYqtVYG1k3+MMr6uqCxW+o8XAdmK4Hn1/YogTHhYk4L01tm50s5zrkGBaYHX571RnwmBlzmkcbzpNNEX1tkH7xm3o8HSNmOlX5jkee+vD6hekz1lfJLT/d957j/I+2K6Gyeui70Ls5/35meJN3huHUT5puIyhRo8fyjVpkys0lcz3Pywc1BpnrsqOh+xFgbuK7Qq4Au0ah40PWbcZQgVd1MKMMSpgDvdKlee50bdPxjlLiKFwFxPQwntIJObkn3l0FZpp+koAl+e+DOMacEQQr8iCBMeVtqe5BZznfTrVv6POU9GiuKthJ9uK9RxHJrpi4lGnd8ybkfDDKOe98f4zYhH44bUntd4yrg3p/t/knyC1D9Ie8WuzqGmS3falaee3/l29/mC+j9E0BatDznvKi5TqMHzqs8bqspXOv/oBKNv5NyuZ7h++DACX6FVAV+gVfOgyTFj0xD9DND9GMLK6X0wgHpPcy8pDcQuNv79fJ8CaI57Of84QFmeSNhbWieIHbC2chDp9jUNkM4uqCxzJJJ8SA0lpH5FECYsrIN+TyYmOfel/23nVfLaqM/kgMsb0jjedJrqi8lSzxVMTQmeK1b6rbk9/t7KJR7a9ueTUuy29LzSo3TynOscbEHGeYOu/L8t9oIcXzqZPA7p3i3FbrW2ArJVrwwkeB6Orya6dq/PupezNtMPV52g/I4IfIVWBXyBVs2DpsaMxxRPK3I0hHV6vW4TnBVAva+68uz0/PtWT9mtLV/63+664M8gW8L2Gc+6F1Ab8a0cmpH6u5+cINpaYFlWiZ03e4qA0K8IwgTMcaNuZxOT+y9uwh1bWw/5rIpQx/Gm01RfLDbqfJ1xOyq2G3Xd2ePvrYMtLwZWp1dSXMoWEXvHXb9bkc+mbG0FJP9K/eYH17/uiL3qdr+nXH8PWd9jUvyiFoLn2Wla8Hx8Qp89knxSAOocRFfU7pJvK7l17jk9Al+hVQFfoFXzoKkx4zEN8V7sFaP9GkK/+lq5u3YEUOddGTrCYsm+IuOIc/Cgq1R+krAPUjxglC+9VU3FieaVK/qQvz1GWa4wngVBaP2KIExYWIdGXZZvh9Adjaw+Vg73FQGXN6RxvOk01RcrjHpfYtyOilnS32KPj9J/nvQy+dmjSf7J8Rk3PM/YkuG3k53G1b8/kfjvZ6T34abj3e+eiT946DuHRlPuDbJgYVLivbitYL+FGDw/6LHng4rL1bTg+Xkp58yoy5H4Cq0K+AKtmgdNjBlnMkTHGCNDGGKaRyweL6lOKkh1+6Ku0Jia+rd18m37Ra8vxiocP2V4ia13/33XkGW+E/DLbax8V52UC/o1vuj0GtYqpj8Yz+hXA7DbjXWvnLgnCFMs23pMQs4FVM6s7cLK4T4SsP1DGsebTmi+KGssHAm87zNuZ+OuUV9rq7Yvzd5vAdVlu6eMi3J8hi+oOtbB2LoSq7ONOb1I5JFxv3GJiegVp8fmDDAWDaK9fkpMfjeV4LcQg+dXPbb8UHG5mhQ8PyblBM6LGuOL8BVaFdCqaNU8qGPMeCDWiX0Sc+cQxll9GGKSE6Lpwyk0WFbWVo59hmjZ78qZzL2YJaefFagddb8dlwgG5bGVw5p87Q+gffgO6Lwp37axPSzpZazPS69ieiHNSelRJbH2Kx+/S5gfq+ochPFtadZJfii7bPppF1ae3FDPXghpHG86ofmizLFwrfjPPYiZpgXPd0i2FUKWvz8HptmsgOeLnJ+xSPwBuKeu/XQO8NMcs6tS5dL/O512xVrRv8H9VsePd5LtA8B8z72+uHKNxWSnAUfdM38vyW+hBc9niz+3fd4fY/qlKcHzv6W8wPnbgsaxInyFVgW0Klo1D+oWMx6KGW5wHvUEta66l98yJ5SS2xnWu0nCabFXlJ6Rcg8PeJ3hpZd1RcXmDPfSlSPTcxqknkvvrTFVMD+jkChjG+5S47nbGcvoVwNwQsI8pLdpwfNrYudirYp+2sVhT/AiREIax5tOaL4ocyxcbzzraA182rTgubWi/Lbxd9Yq0JC2PutH289GGQ8X8KyrMliQ7pTYQbpev9EA3OI+yqZzOl9eds3XrQH5iYm/n+7+m64M6wTetX5lrgINKXiu9rg7hk8eS3ee4LJoQvB8q5QXOC9qjCjKV2hVQKuiVfOiTjHjXNAvBrqa9NWQLxUVCXulmiTvY5W9n8Y/zePczqWrLBbmWPYtxjN+imDwPFxSWQ6lnvsqsMBbnYm5X1lYedxOEIQplHTw/HpqQh4C/bSLmMRVSOM4E5KwfFHmWGide7C+Bj5tWvBcuWfUOR08vWX8zeaA6uA7DG15Ac9S22RZhNC5PkrvnOgvPL+7P+Dkc558O3+kn+uGVLNrr6rgua6WW+LaiK5OPCX+lfuWT0+736nNdEHQ9BLKXPfg+VopN3D+pcA5ShG+QqsCWhWtmjd1iBnnzi/STp+gwuCyG9D1xZ9epaFBsNvu73QCMbficu/r4aBBXkC7PfdSEZz3NjxdXfI09ZyDAbSFxx4b6BemspL5jzdEBQMZ/WpQ0oeE6bi2gCBMoSSD57r6MMQPX/20iz8kzN0LIY/jEJ4vyhwLT0s9zyxpYvDcSpGwLaVnrZVJIeWoPSR2fuqi0srMNzS+7wyQsQLgK904MpqYh23Joew/Od9ekPYOwE+JuZ7aRs9nOuueVeUKsaqC52sk/EMn09Q9eP5Gyg2cP4jMV2hVQKuiVYsk1phxqWQ5ObVKNDD3xDlJnXd1yHJqOorn7n76v/r1a2pBZR8xhPzkiu05U9qnl39wNlDb6tfGOSWWYZOMvUUY6Ff9sMRNUvVaHIiN6xyEWe5eqKGL36ztIrbT2EMYxyFMX5Q1Fl6ScA9GZ9zuj3mu7Sav5Dklvxo2uUfX/5rTXAPPN5yOUru9d3pKNdZsTJSJEA8MDZUmHRiKr9CqgFZFq4ZD6DFjDFET0p226bm90ivydQCfSzOBGtLEIEysTDd89QyzAHixVt3OqEG9GLe7sdIQ7qQLQE4QkM0OwfNm+wqtCoBWrQpixhiiFLSDJk+f1S9+Mxtsj52pAWwLTQRqCkGYeLDSEnzCLABe0ls4Rxm3a8tZw9cz6QKQEwRks0PwvNm+QqsCoFWrgpgxhiiNdI6ycw21g25h/YAdoCHoVrgNqYtt3OHy0pjoTMEsAF1MNvrKK8bt2pI+HPMKXQByhIBsdgie4yu0KgBatQqIGWOIUjmc6rxrG1Z//Vp+O1H/uxLmIYMA0EwuGiKLdyJAN78bfeUCZqklPzMuQsFsEAKyWbECsv/gq0b5Cq0KgFatAmLGGKJ0riZs/U6atZrpiHyfn20azQEAAuK4IbL+xCwAXVipTY5jllqyK+Xnx5gEcmatMZ58xiwmHyrWKfiqel+hVQHQqlVAzNiheQs7W1N/pF0UyiT5fvX1I2lvKak7yZUKz4WDGqAYdLv9IswAA7YLS2Qdw3zAWNjFEaOvrMfsteS+EKSBYllhjCdfGjI/6ocJHjv9jq8a5Su0KqBV0apVQMwYKkHzkiUD6P+2rvE1ru+IfL9iicA5DMt0J0D1BXiidV2X9oE52sb2Yx7axYDtwpoUsr0PGAu7uWT0lRW4Ixr2SHshgwbGN/X4u3TKlgeYDgpA50CjxpiyCtN8x3KxA7JT8FWjfIVWBbQqWhWgUegX+muJjny+pvXUAapzyvHN1jUV18MQLJX2NsjPHlH6xQlWoF0M0i6slULk8gTGwm7eGc+bgFui4G/Dd6s9f3ss9XdLMR8UxL9GuzyJWb7jkGGjW/iqcb5CqwJaFa0K0Dj0630yb9lZaR+qWRdWJwbLE1Lv1fVQPvOk+8T5zzXrQ1B+u3huCC3OZwDGwm9MNfrIC9wQDa8N/502/m6WfL/C9CimgwL5Texc2nMwzVd0i/xHyf7hC1/V21doVUCrolUBGonmDeocKnKldU2sQZ02u/povcgtBUVxLfVSvIRJYMh2cU7YjgyMhb1YbfSRM7ggGqygzk7j7y7K9+lafsB0UDDWQYike2wHRe8btjmPrxrrK7QqoFXRqgCNZW7ruuM69l2Je5X2PlcPrQ+rEKAo9Ev1p9RLcRtmoV0M2S62GGLrf5gVGAv/Y7/RR7bihmiwcoCmD/vbk/g3XSk2E7NBSRyQ7pzab6S9KKdpOwu1vn+1rldGnz0awFwRX1XnK7QqoFXRqgCNZ5MTIzGjomk7roSCWWy8FOdjFtrFkO1ikfH7G5gVGAv/47rxvMW4IRr0ENB0/tHOikVdyHEy8d+fSDsFAUCZzHNzocepdqophw63roUN6KMHpZ1i4EuqPx509sFXzfYVWhXQqmhVAACATOxOvRBfYRLIoV3oyoh0WgMNNHFmAzAWtvtBOvD6UThrIjZGpH3A3Jcel6ZlmIypoGL0cLdl0t6Cv07aqS5/rXmdf3X1/NPVe5nEccgdvirPV2hVQKuiVQEAADJxNfVSPIVJIKd2cUG6A0krMC0wFn7tB+m+cQEXRInmJtZt/g/dpFIvzdUb2spWAABAqwJaFa0KAADQJ9YX5TWYhXaRU7sglyQwFtocMPrGZtwAAABQKmhVQKuiVQEAAHpifVGeglloFzm1i7nGfR5gXmAs/NoP0s9jlTIAAEC5oFUBrYpWBQAA6Mm+1AvxHiaBnNvFY0N4zcLE0OCx8EejTzzBBQAAAJWAVgW0KloVAADAy+3US3E/JoGc28U+Q3xtw8TQ4LFwm9En9uECAACASkCrAloVrQoAAGAysXWNpl6KyzAL7SLndrHAEF+3MDM0eCy8ZfSJBbgBAACgEtCqgFZFqwIAAJisTr0Q9QCScZiFdlFAu3gkbIcFxkJx7T7dFx7hAgAAgEpBqwJaFa0KAADQxZHUS/ESJoGC2sUuQ4TtwdTQwLFwj9EXduMCAACASkGrAloVrQoAANDFw9RLcSsmgYLaxQzp3mr4DFNDA8fCZ6lnjbr+AQAAANWBVgW0KloVAADgO6ZK9xfl+ZiFdlFgu7ho3Jsc+9CksXCZ8ayLuAAAACAI0KqAVkWrAgAA/Ec6b9pLz4saaBd5tYslhhi7ismhQWPhVaMPLMUFAAAAQYBWBbQqWhUAAOA/DqVeiidT/75Y2KpIu8i/XdwzBNk8zA4NGAvnGW3/PuYHAAAICrQqoFXRqgAAAF+5knoxrkr8m+Y0eyXtr9xAu8izXawxRNkJzA4NGAuPGW1/HeYHAAAICrQqoFXRqgAAAF95n3oxTnT/Xbd8PWhdZzAR7aKgdvFIug+hmY3pocZtfrZ0H0L2CNMDAAAECVoV0KpoVQAAgK6X47TW9XPreiztbV9TMBHtoqB2kc7bp9cpTA81bvOnjDbPzh4AAIAwQasCWhWtCgAA0PUFu3O9dy9joF0U2S7uGM/4CfNDDdv8z8a9b2N2AACAoEGrAloVAACg4Zw1XpJvWtcvmIZ2UUK7WGA85ybmhxq2+RvG/RdidgAAgKBBqwJaFQAAoOHMcC/KT63rdes60rqmYxbaRYntgkNpoO5tfq3Rxo9jcgAAgChAqwJaFQAAAAAqQ/PzvUqJNRWEUzEN1ICprj2n2zfnSQAAAKBVAdCqAAAAADAmI9K92uEMZoEaYG2xXYVZAAAA0KoAaFUAAAAAyMpxQ7itxSwQMWyBBQAAQKsCoFUBAAAAYGgmtq6HKfH2rnXNwTQQIXNc+02254eunQMAAABaFQCtCgAAAAB9i7i3hoibhGkgIrS9Pki147dMrgEAANCqAGhVAAAAABiGZdK9ffASZoGIuGS04eWYBQAAAK0KgFYFAAAAgGFZbwi6Q5gFIuCg0XY3YBYAAAC0KgBaFQAAAADyYrsh7P7GLBAwfxttdjtmAQAAQKsCoFUBAAAAIG92ta5PqWs3ZgHaKgAAAPD+B6CtQjH8H6WyEEiDhIzZAAACTnRFWHRNYXRoTUwAPG1hdGggeG1sbnM9Imh0dHA6Ly93d3cudzMub3JnLzE5OTgvTWF0aC9NYXRoTUwiPjxtc3R5bGUgbWF0aHNpemU9IjE2cHgiPjxtbz4kPC9tbz48bWk+eDwvbWk+PG1mZW5jZWQ+PG1pPnQ8L21pPjwvbWZlbmNlZD48bW8+PTwvbW8+PG1zdWI+PG1pPng8L21pPjxtaT5pPC9taT48L21zdWI+PG1vPis8L21vPjxtc3ViPjxtaT52PC9taT48bWk+aTwvbWk+PC9tc3ViPjxtZmVuY2VkPjxtcm93PjxtaT50PC9taT48bW8+LTwvbW8+PG1zdWI+PG1pPnQ8L21pPjxtaT5pPC9taT48L21zdWI+PC9tcm93PjwvbWZlbmNlZD48bW8+KzwvbW8+PG1vPlw8L21vPjxtaT5mPC9taT48bWk+cjwvbWk+PG1pPmE8L21pPjxtaT5jPC9taT48bWZlbmNlZCBjbG9zZT0ifSIgb3Blbj0ieyI+PG1uPjE8L21uPjwvbWZlbmNlZD48bWZlbmNlZCBjbG9zZT0ifSIgb3Blbj0ieyI+PG1uPjI8L21uPjwvbWZlbmNlZD48bXN1cD48bWZlbmNlZD48bXJvdz48bWk+dDwvbWk+PG1vPi08L21vPjxtc3ViPjxtaT50PC9taT48bWk+aTwvbWk+PC9tc3ViPjwvbXJvdz48L21mZW5jZWQ+PG1uPjI8L21uPjwvbXN1cD48bW8+JDwvbW8+PC9tc3R5bGU+PC9tYXRoPsQcEmkAAAAASUVORK5CYII=\&quot;,\&quot;slideId\&quot;:313,\&quot;accessibleText\&quot;:\&quot;$ x open parentheses t close parentheses equals x subscript i plus v subscript i open parentheses t minus t subscript i close parentheses plus backslash f r a c open curly brackets 1 close curly brackets open curly brackets 2 close curly brackets open parentheses t minus t subscript i close parentheses squared $\&quot;,\&quot;imageHeight\&quot;:23.90666666666666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2632</TotalTime>
  <Words>1553</Words>
  <Application>Microsoft Macintosh PowerPoint</Application>
  <PresentationFormat>Widescreen</PresentationFormat>
  <Paragraphs>224</Paragraphs>
  <Slides>14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Cambria Math</vt:lpstr>
      <vt:lpstr>Montserrat</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NICOLÁS RAFAEL AMIGO AHUMADA</dc:creator>
  <cp:lastModifiedBy>Felipe Espinoza</cp:lastModifiedBy>
  <cp:revision>162</cp:revision>
  <dcterms:created xsi:type="dcterms:W3CDTF">2023-11-29T17:29:49Z</dcterms:created>
  <dcterms:modified xsi:type="dcterms:W3CDTF">2026-04-07T03:50:30Z</dcterms:modified>
</cp:coreProperties>
</file>