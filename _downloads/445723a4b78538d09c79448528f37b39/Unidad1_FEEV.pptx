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14" r:id="rId3"/>
    <p:sldId id="320" r:id="rId4"/>
    <p:sldId id="321" r:id="rId5"/>
    <p:sldId id="322" r:id="rId6"/>
    <p:sldId id="323" r:id="rId7"/>
    <p:sldId id="324" r:id="rId8"/>
    <p:sldId id="334" r:id="rId9"/>
    <p:sldId id="335" r:id="rId10"/>
    <p:sldId id="325" r:id="rId11"/>
    <p:sldId id="336" r:id="rId12"/>
    <p:sldId id="337" r:id="rId13"/>
    <p:sldId id="332" r:id="rId14"/>
    <p:sldId id="333" r:id="rId15"/>
    <p:sldId id="326" r:id="rId16"/>
    <p:sldId id="327" r:id="rId17"/>
    <p:sldId id="328" r:id="rId18"/>
    <p:sldId id="338" r:id="rId19"/>
    <p:sldId id="330" r:id="rId20"/>
    <p:sldId id="331" r:id="rId21"/>
    <p:sldId id="329" r:id="rId2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4F4F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4"/>
    <p:restoredTop sz="94658"/>
  </p:normalViewPr>
  <p:slideViewPr>
    <p:cSldViewPr snapToGrid="0">
      <p:cViewPr varScale="1">
        <p:scale>
          <a:sx n="116" d="100"/>
          <a:sy n="116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944D2B-2904-9351-EB10-DD0D3AE397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CBE8D0-7F04-5A32-0C34-4873B2071E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A176E-A79C-41C5-AB55-868D9BEDE518}" type="datetimeFigureOut">
              <a:rPr lang="es-CL" smtClean="0"/>
              <a:t>06-04-26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726D7D-D6D7-19FA-4AEF-8E2EAB4221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B16ABA-0651-D173-7D9B-76EEC91B46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765D3-0C84-4723-B1BA-76A2E1A8051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3805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A4D3B-6B87-4345-8561-678ED7769BE7}" type="datetimeFigureOut">
              <a:rPr lang="es-CL" smtClean="0"/>
              <a:t>06-04-26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B40EE-7968-4939-B522-E630C2D2459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5187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5220-D9C7-758D-63A6-1229020F4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0A48BAE-EDFA-F25A-33A0-4C908D83B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A2EF02-3289-40B3-F08E-95A76A581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8F2847BE-7AAF-326D-ADEB-8654EDAD2B4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6965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0B91-39FC-8FC4-5EF1-676072B1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4010C4-BE46-8C6A-F912-8EFA3EB35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9EC256-FF78-C41C-4369-EB3E33372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7FBE22AA-9C3E-6EB1-07BF-8D13BC840F0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7357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8590D-B8E6-4939-2E3D-5F763E3C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F9B869-DBA4-2A5E-9534-6781CE081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490E63-F2E3-0B3D-FDAD-43F510888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EA6B16A2-E167-DACE-4872-89DE4F1057C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4020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6FF6-0090-577F-4437-B11C78165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E6C4F2-DD5A-47EC-B045-21EDE36B8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8A4187-4769-02EA-AD93-E075C0331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9D54ED8B-A045-EB31-D6F7-1D2EBD27A97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9770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552C-C8A5-699A-3C69-42E3804C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118E154-8442-6794-6111-84F4D0902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592A36-0FF9-649D-3848-5632C99D9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F58FF5C4-AD6F-55B4-60EE-5F8D372D87E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2354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A293E-543A-0FB7-6B84-153E3DCC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25971A-61B4-638B-4B09-7BBF27082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199D8E-12DE-9352-1318-745CFE54B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012E55B4-3EE5-2C34-110F-ED7C0745786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260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34480-636F-E703-01B3-1B70EB46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1A487C-56F2-3089-8447-437F55FCA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4DF248F-7CA2-9091-9F14-A87E0D76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4A6C720F-21C1-7DDC-42BA-0532F4AF34A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7608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F21E2-4BDC-C2C0-6556-8138E770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D5896B-6A7E-C2C1-4884-531C62AFF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9BFD96-4734-4E15-AA38-D9FAB81A3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E794D5CF-A29B-9E60-EB8A-28706EA11EA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5158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BDCC-8AC9-1DE0-0BBE-416549CA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F151E3-B783-4E47-8323-AC981665B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1BACC4-BC61-7F59-5B65-6B6E5C4AA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536B02A8-993F-A184-0DEF-80378042CFA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9519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E382-61B1-0E71-9AC1-A22B75FD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1EE01D-6DF5-9F2B-E4BF-2B25E4CB6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53CB4E-4618-8EC2-BC09-13543A267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5E7FE1A-7FF7-62D4-F79A-096DE19024C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4938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2E5EA-D11A-C392-DC18-13DF7A0C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142F09-2149-5C1F-CB55-34FED40B1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BF43C7-3630-3D77-6056-91728BECD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71CDC6A-9815-12AA-FFEC-5896DC203D2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689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AFA0-9498-8553-2505-8A34F221D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F2011E-69B8-F900-5A63-7352B5BD3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48547D-F6CC-5F86-9A95-A42A85D8F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6A42C94-76E5-3BDE-58A0-2F2D104277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6740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9228B-C028-FE34-A902-94444D86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EE183F-CB5F-C3C5-1C6D-E1CB8532F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E231A4-650E-91CF-1F22-76690A1ED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DE4085F4-FDDD-7D6E-A3E6-D23F95BF8B0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2395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6DFEC-908B-868B-BCF8-8ADD2D49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DD05F7-5E61-237C-EDE6-A9464A5D3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A3A855-9818-657F-13B7-389DD1C03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A890A183-1F4E-639F-2ECB-362CABD8B6B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8720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FA062-EBBC-3D08-7592-90305A78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D300BA-D3B4-C903-800F-250F32F7A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57BB6A-D1EC-633C-4AC7-E4B2E82E8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CE5B0EED-F982-9BAB-0C35-27C120CEBBE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2913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35581-5162-6320-EB75-02CDB61E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C542E8-48D7-0DA5-F9E0-A1DA171CC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38F202F-884C-E4A5-967C-B6E8D9A1D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96EE6AFB-4D3B-20EB-E5DD-A6866464CD9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5398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C36EE-E342-E4CD-E14F-30724E1B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630322-40B6-B8D3-3399-8DAF5C585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48D145-F9B9-23D4-E37C-286D3EC55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89E6E2EB-E21F-556E-D71A-8AB56592E94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5832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23A13-8B6A-0F24-4768-973933E0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04BB87-328C-1E55-7064-0CDFC4A4F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1E9AA0-29E9-36BC-938D-3EF5AE842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06752B88-9728-0086-4982-37F94518AE2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5821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C07E-8461-1FFA-7215-866B4482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7D2303-11F7-2D49-E109-34B9F9BA4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A28756-DB36-9892-2678-2C65FD186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F90D92FA-FABE-1DAF-70D4-B91D23E475E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17298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C36EE-E342-E4CD-E14F-30724E1B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630322-40B6-B8D3-3399-8DAF5C585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48D145-F9B9-23D4-E37C-286D3EC55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89E6E2EB-E21F-556E-D71A-8AB56592E94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429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AE207-9B5B-F51B-2DCE-6B63CD791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8F1123-3B1F-3E75-E681-7AE6ABE35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AB414-C40C-3167-D7B7-5E8B85F2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370B-1A2F-4818-BB44-1429D32737C4}" type="datetimeFigureOut">
              <a:rPr lang="es-CL" smtClean="0"/>
              <a:t>06-04-26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1AD623-DBC1-2178-0E3E-B0F07541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069D30-7548-5909-219E-15AE9979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89E4B-EE86-427E-B533-BCEDB2CD4BCC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4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ACBA2-25C5-C679-100D-DFA42FCE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0078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6E9C7C-3164-2798-8C73-0EC975DC2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40FCBD-1482-A1F0-68D5-4C1DDA093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A91D0E-BEBE-A1C9-4701-575929D93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C370B-1A2F-4818-BB44-1429D32737C4}" type="datetimeFigureOut">
              <a:rPr lang="es-CL" smtClean="0"/>
              <a:t>06-04-26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5442CB-1A01-5798-2666-102FACD50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19774E-35C1-9B8D-AC9B-482856A51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89E4B-EE86-427E-B533-BCEDB2CD4BCC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299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Felipe.espinozav@utem.c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7.png"/><Relationship Id="rId5" Type="http://schemas.openxmlformats.org/officeDocument/2006/relationships/image" Target="../media/image30.png"/><Relationship Id="rId10" Type="http://schemas.openxmlformats.org/officeDocument/2006/relationships/image" Target="../media/image36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60C42A5A-A0E5-A3E7-6E4B-E2E121DEAC13}"/>
              </a:ext>
            </a:extLst>
          </p:cNvPr>
          <p:cNvSpPr/>
          <p:nvPr/>
        </p:nvSpPr>
        <p:spPr>
          <a:xfrm>
            <a:off x="0" y="3831139"/>
            <a:ext cx="12192000" cy="21124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chemeClr val="accent5">
                  <a:lumMod val="45000"/>
                  <a:lumOff val="55000"/>
                  <a:alpha val="94000"/>
                </a:schemeClr>
              </a:gs>
              <a:gs pos="77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36B385-65DE-D10D-6513-32BA9CFD88D3}"/>
              </a:ext>
            </a:extLst>
          </p:cNvPr>
          <p:cNvSpPr txBox="1"/>
          <p:nvPr/>
        </p:nvSpPr>
        <p:spPr>
          <a:xfrm>
            <a:off x="445007" y="4070178"/>
            <a:ext cx="1139692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effectLst/>
                <a:latin typeface="Montserrat" pitchFamily="2" charset="77"/>
              </a:rPr>
              <a:t>Sistemas de Unidades</a:t>
            </a:r>
          </a:p>
          <a:p>
            <a:r>
              <a:rPr lang="es-ES" dirty="0">
                <a:latin typeface="Montserrat" pitchFamily="2" charset="77"/>
              </a:rPr>
              <a:t>Felipe Espinoza Vidal, PhD©</a:t>
            </a:r>
          </a:p>
          <a:p>
            <a:r>
              <a:rPr lang="es-ES" dirty="0">
                <a:latin typeface="Montserrat" pitchFamily="2" charset="77"/>
              </a:rPr>
              <a:t>Departamento de Física</a:t>
            </a:r>
          </a:p>
          <a:p>
            <a:r>
              <a:rPr lang="es-ES" dirty="0">
                <a:latin typeface="Montserrat" pitchFamily="2" charset="77"/>
              </a:rPr>
              <a:t>Facultad de Ciencias Naturales, Matemática y Medio Ambiente</a:t>
            </a:r>
          </a:p>
          <a:p>
            <a:r>
              <a:rPr lang="es-CL" dirty="0">
                <a:latin typeface="Montserrat" panose="00000500000000000000" pitchFamily="2" charset="0"/>
                <a:hlinkClick r:id="rId2"/>
              </a:rPr>
              <a:t>Felipe.espinozav@utem.cl</a:t>
            </a:r>
            <a:br>
              <a:rPr lang="es-CL" dirty="0">
                <a:latin typeface="Montserrat" panose="00000500000000000000" pitchFamily="2" charset="0"/>
              </a:rPr>
            </a:br>
            <a:br>
              <a:rPr lang="es-CL" dirty="0">
                <a:latin typeface="Montserrat" panose="00000500000000000000" pitchFamily="2" charset="0"/>
              </a:rPr>
            </a:br>
            <a:br>
              <a:rPr lang="es-CL" dirty="0">
                <a:latin typeface="Montserrat" panose="00000500000000000000" pitchFamily="2" charset="0"/>
              </a:rPr>
            </a:br>
            <a:r>
              <a:rPr lang="es-CL" dirty="0">
                <a:latin typeface="Montserrat" panose="00000500000000000000" pitchFamily="2" charset="0"/>
              </a:rPr>
              <a:t>Adaptado de: Dr. Nicolas Amigo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78A122CF-E834-34ED-9CB5-AD110F015ECC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</a:t>
            </a:fld>
            <a:endParaRPr lang="es-CL" sz="1200"/>
          </a:p>
        </p:txBody>
      </p:sp>
      <p:pic>
        <p:nvPicPr>
          <p:cNvPr id="3" name="Picture 2" descr="Vicerrectoria Academica – Vicerrectoria Academica">
            <a:extLst>
              <a:ext uri="{FF2B5EF4-FFF2-40B4-BE49-F238E27FC236}">
                <a16:creationId xmlns:a16="http://schemas.microsoft.com/office/drawing/2014/main" id="{25882EEF-80BE-89F3-546D-1B164D28A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" y="0"/>
            <a:ext cx="5346421" cy="193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63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B826-DC83-725D-21F0-24A7CA73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6ED36F4-7AF5-AC8F-7B9D-8E2FE1AB0090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47DEE24-955E-2807-A74C-6499019A9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653223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E696C64-D67D-098D-6438-FB1900C4DDDF}"/>
              </a:ext>
            </a:extLst>
          </p:cNvPr>
          <p:cNvSpPr txBox="1"/>
          <p:nvPr/>
        </p:nvSpPr>
        <p:spPr>
          <a:xfrm>
            <a:off x="346504" y="830427"/>
            <a:ext cx="108707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/>
              <a:t>Magnitudes físicas</a:t>
            </a:r>
          </a:p>
          <a:p>
            <a:pPr algn="just"/>
            <a:r>
              <a:rPr lang="es-ES" sz="1600" dirty="0"/>
              <a:t>Las magnitudes físicas son aquellas variables de un fenómeno físico que pueden ser medidas y estudiadas por el método científico. Casi todas ellas tienen asociadas una unidad de medida que es la cantidad estandarizada respecto a un patrón de referencia de una determinada magnitud física y que es adoptada por convención de la comunidad científica.</a:t>
            </a:r>
          </a:p>
          <a:p>
            <a:pPr algn="just"/>
            <a:endParaRPr lang="es-E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/>
              <a:t>Magnitudes escalares: Son aquellas que quedan completamente determinadas con un número y su unidad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 err="1"/>
              <a:t>Ejemplos</a:t>
            </a:r>
            <a:endParaRPr lang="en-US" sz="1600" b="1" dirty="0"/>
          </a:p>
          <a:p>
            <a:pPr algn="just"/>
            <a:r>
              <a:rPr lang="en-US" sz="1600" dirty="0" err="1"/>
              <a:t>Tiempo</a:t>
            </a:r>
            <a:r>
              <a:rPr lang="en-US" sz="1600" dirty="0"/>
              <a:t>: 2 s, 1 h, 30 min</a:t>
            </a:r>
          </a:p>
          <a:p>
            <a:pPr algn="just"/>
            <a:r>
              <a:rPr lang="en-US" sz="1600" dirty="0"/>
              <a:t>Masa: 4 kg, 10 </a:t>
            </a:r>
            <a:r>
              <a:rPr lang="en-US" sz="1600" dirty="0" err="1"/>
              <a:t>toneladas</a:t>
            </a:r>
            <a:endParaRPr lang="en-US" sz="1600" dirty="0"/>
          </a:p>
          <a:p>
            <a:pPr algn="just"/>
            <a:r>
              <a:rPr lang="en-US" sz="1600" dirty="0" err="1"/>
              <a:t>Temperatura</a:t>
            </a:r>
            <a:r>
              <a:rPr lang="en-US" sz="1600" dirty="0"/>
              <a:t>: 40°C, 273 K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Magnitudes </a:t>
            </a:r>
            <a:r>
              <a:rPr lang="en-US" sz="1600" dirty="0" err="1"/>
              <a:t>vectoriales</a:t>
            </a:r>
            <a:r>
              <a:rPr lang="en-US" sz="1600" dirty="0"/>
              <a:t>: </a:t>
            </a:r>
            <a:r>
              <a:rPr lang="es-ES" sz="1600" dirty="0"/>
              <a:t>Son aquellas que además de un valor numérico y su unidad deben especificar su dirección y sentido.</a:t>
            </a:r>
          </a:p>
          <a:p>
            <a:pPr algn="just"/>
            <a:endParaRPr lang="es-ES" sz="1600" dirty="0"/>
          </a:p>
          <a:p>
            <a:pPr algn="just"/>
            <a:r>
              <a:rPr lang="es-ES" sz="1600" b="1" dirty="0"/>
              <a:t>Ejemplos</a:t>
            </a:r>
          </a:p>
          <a:p>
            <a:pPr algn="just"/>
            <a:r>
              <a:rPr lang="es-ES" sz="1600" dirty="0"/>
              <a:t>Velocidad: 2 km/h hacia el norte, 4 m/s hacia el oeste</a:t>
            </a:r>
          </a:p>
          <a:p>
            <a:pPr algn="just"/>
            <a:r>
              <a:rPr lang="es-ES" sz="1600" dirty="0"/>
              <a:t>Desplazamiento: 5 m hacia el sur, 2 cm hacia el este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E5265496-9640-8DC4-D204-AFF5B3D9F0DB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2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400529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D8E4-7CF4-74CB-F0EB-A5CF9266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FDAE479-04B0-0FC7-2C05-B6C49EFA535E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03F2F88-1004-C398-4900-229549B90D32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E202748-CBCB-EC3A-8AA5-4BB3AE3ADD0D}"/>
              </a:ext>
            </a:extLst>
          </p:cNvPr>
          <p:cNvSpPr txBox="1"/>
          <p:nvPr/>
        </p:nvSpPr>
        <p:spPr>
          <a:xfrm>
            <a:off x="346504" y="830427"/>
            <a:ext cx="108707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/>
              <a:t>Sistema internacional (S.I.) de unidades</a:t>
            </a:r>
          </a:p>
          <a:p>
            <a:pPr algn="just"/>
            <a:r>
              <a:rPr lang="es-ES" sz="1600" dirty="0"/>
              <a:t>El S.I. es una convención de unidades. Este sistema es aceptado universalmente. Dada la utilización del metro para la longitud, el kilogramo para la masa y el segundo para el tiempo como unidades básicas, también podemos llamarlo sistema MKS.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84583F-0FE6-0D31-F8DA-7C97A0178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800642"/>
              </p:ext>
            </p:extLst>
          </p:nvPr>
        </p:nvGraphicFramePr>
        <p:xfrm>
          <a:off x="1062504" y="2186327"/>
          <a:ext cx="9438739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50427">
                  <a:extLst>
                    <a:ext uri="{9D8B030D-6E8A-4147-A177-3AD203B41FA5}">
                      <a16:colId xmlns:a16="http://schemas.microsoft.com/office/drawing/2014/main" val="3078603516"/>
                    </a:ext>
                  </a:extLst>
                </a:gridCol>
                <a:gridCol w="1772078">
                  <a:extLst>
                    <a:ext uri="{9D8B030D-6E8A-4147-A177-3AD203B41FA5}">
                      <a16:colId xmlns:a16="http://schemas.microsoft.com/office/drawing/2014/main" val="4060588230"/>
                    </a:ext>
                  </a:extLst>
                </a:gridCol>
                <a:gridCol w="1772078">
                  <a:extLst>
                    <a:ext uri="{9D8B030D-6E8A-4147-A177-3AD203B41FA5}">
                      <a16:colId xmlns:a16="http://schemas.microsoft.com/office/drawing/2014/main" val="710376433"/>
                    </a:ext>
                  </a:extLst>
                </a:gridCol>
                <a:gridCol w="1772078">
                  <a:extLst>
                    <a:ext uri="{9D8B030D-6E8A-4147-A177-3AD203B41FA5}">
                      <a16:colId xmlns:a16="http://schemas.microsoft.com/office/drawing/2014/main" val="2584422120"/>
                    </a:ext>
                  </a:extLst>
                </a:gridCol>
                <a:gridCol w="1772078">
                  <a:extLst>
                    <a:ext uri="{9D8B030D-6E8A-4147-A177-3AD203B41FA5}">
                      <a16:colId xmlns:a16="http://schemas.microsoft.com/office/drawing/2014/main" val="1366677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Magnitud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Física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Undiad</a:t>
                      </a:r>
                      <a:r>
                        <a:rPr lang="en-US" sz="1600" dirty="0"/>
                        <a:t> S.I.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Símbolo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Desglose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29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Longitud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Fundamental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75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Kilogramo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Fundamental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74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Tiempo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segundo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Fundamental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28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Fuerza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Newton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Derivada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kg·m</a:t>
                      </a:r>
                      <a:r>
                        <a:rPr lang="en-US" sz="1600" dirty="0"/>
                        <a:t>/s</a:t>
                      </a:r>
                      <a:r>
                        <a:rPr lang="en-US" sz="1600" baseline="30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8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Energía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Joule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Derivada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N·m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658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Potencia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Derivada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J/s</a:t>
                      </a:r>
                      <a:endParaRPr lang="en-US" sz="160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28411"/>
                  </a:ext>
                </a:extLst>
              </a:tr>
            </a:tbl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6E52A9F-B031-5D91-3620-1F910EA31D84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3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1351618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34452-A672-87C9-E0AF-4EF27315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2F10A29-AFBD-E5B2-E84D-FC290A54CE40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5A9520F-F0D3-C7FD-0E71-AE5889C8E38A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546E0F7-2644-A4F1-5596-1E6B1948EE2B}"/>
              </a:ext>
            </a:extLst>
          </p:cNvPr>
          <p:cNvSpPr txBox="1"/>
          <p:nvPr/>
        </p:nvSpPr>
        <p:spPr>
          <a:xfrm>
            <a:off x="346504" y="830427"/>
            <a:ext cx="108707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/>
              <a:t>Otros sistemas de unidades</a:t>
            </a:r>
          </a:p>
          <a:p>
            <a:pPr algn="just"/>
            <a:r>
              <a:rPr lang="es-ES" sz="1600" dirty="0"/>
              <a:t>Adicionalmente, existen otros sistemas de unidades tales como el Sistema Cegesimal (CGS), Sistema Inglés, entre otros. Para transformar las unidades de un sistema a otro, es necesario conocer los factores de conversión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FBE23E3-0357-60B7-DD1F-40A39FB000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1777313"/>
                  </p:ext>
                </p:extLst>
              </p:nvPr>
            </p:nvGraphicFramePr>
            <p:xfrm>
              <a:off x="2663379" y="2257357"/>
              <a:ext cx="6236989" cy="148336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2205323">
                      <a:extLst>
                        <a:ext uri="{9D8B030D-6E8A-4147-A177-3AD203B41FA5}">
                          <a16:colId xmlns:a16="http://schemas.microsoft.com/office/drawing/2014/main" val="3078603516"/>
                        </a:ext>
                      </a:extLst>
                    </a:gridCol>
                    <a:gridCol w="2015833">
                      <a:extLst>
                        <a:ext uri="{9D8B030D-6E8A-4147-A177-3AD203B41FA5}">
                          <a16:colId xmlns:a16="http://schemas.microsoft.com/office/drawing/2014/main" val="4060588230"/>
                        </a:ext>
                      </a:extLst>
                    </a:gridCol>
                    <a:gridCol w="2015833">
                      <a:extLst>
                        <a:ext uri="{9D8B030D-6E8A-4147-A177-3AD203B41FA5}">
                          <a16:colId xmlns:a16="http://schemas.microsoft.com/office/drawing/2014/main" val="7103764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/>
                            <a:t>Magnitud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en-US" sz="1600" dirty="0" err="1"/>
                            <a:t>Física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CGS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600" dirty="0"/>
                            <a:t> S.I.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Inglés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600" dirty="0"/>
                            <a:t> S.I.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3292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/>
                            <a:t>Longitud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cm = 0.01 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ft = 0.3048 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9755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Masa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g = 0.001 kg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</a:t>
                          </a:r>
                          <a:r>
                            <a:rPr lang="en-US" sz="1600" dirty="0" err="1"/>
                            <a:t>lb</a:t>
                          </a:r>
                          <a:r>
                            <a:rPr lang="en-US" sz="1600" dirty="0"/>
                            <a:t> = 0.4536 kg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8742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/>
                            <a:t>Fuerza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</a:t>
                          </a:r>
                          <a:r>
                            <a:rPr lang="en-US" sz="1600" dirty="0" err="1"/>
                            <a:t>dyn</a:t>
                          </a:r>
                          <a:r>
                            <a:rPr lang="en-US" sz="1600" dirty="0"/>
                            <a:t> = 0.00001 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</a:t>
                          </a:r>
                          <a:r>
                            <a:rPr lang="en-US" sz="1600" dirty="0" err="1"/>
                            <a:t>lbf</a:t>
                          </a:r>
                          <a:r>
                            <a:rPr lang="en-US" sz="1600" dirty="0"/>
                            <a:t> = 4.4482 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2891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FBE23E3-0357-60B7-DD1F-40A39FB000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1777313"/>
                  </p:ext>
                </p:extLst>
              </p:nvPr>
            </p:nvGraphicFramePr>
            <p:xfrm>
              <a:off x="2663379" y="2257357"/>
              <a:ext cx="6236989" cy="148336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2205323">
                      <a:extLst>
                        <a:ext uri="{9D8B030D-6E8A-4147-A177-3AD203B41FA5}">
                          <a16:colId xmlns:a16="http://schemas.microsoft.com/office/drawing/2014/main" val="3078603516"/>
                        </a:ext>
                      </a:extLst>
                    </a:gridCol>
                    <a:gridCol w="2015833">
                      <a:extLst>
                        <a:ext uri="{9D8B030D-6E8A-4147-A177-3AD203B41FA5}">
                          <a16:colId xmlns:a16="http://schemas.microsoft.com/office/drawing/2014/main" val="4060588230"/>
                        </a:ext>
                      </a:extLst>
                    </a:gridCol>
                    <a:gridCol w="2015833">
                      <a:extLst>
                        <a:ext uri="{9D8B030D-6E8A-4147-A177-3AD203B41FA5}">
                          <a16:colId xmlns:a16="http://schemas.microsoft.com/office/drawing/2014/main" val="7103764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/>
                            <a:t>Magnitud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en-US" sz="1600" dirty="0" err="1"/>
                            <a:t>Física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>
                        <a:blipFill>
                          <a:blip r:embed="rId3"/>
                          <a:stretch>
                            <a:fillRect l="-109434" t="-3333" r="-100629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>
                        <a:blipFill>
                          <a:blip r:embed="rId3"/>
                          <a:stretch>
                            <a:fillRect l="-209434" t="-3333" r="-629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292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/>
                            <a:t>Longitud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cm = 0.01 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ft = 0.3048 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9755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Masa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g = 0.001 kg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</a:t>
                          </a:r>
                          <a:r>
                            <a:rPr lang="en-US" sz="1600" dirty="0" err="1"/>
                            <a:t>lb</a:t>
                          </a:r>
                          <a:r>
                            <a:rPr lang="en-US" sz="1600" dirty="0"/>
                            <a:t> = 0.4536 kg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87426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/>
                            <a:t>Fuerza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</a:t>
                          </a:r>
                          <a:r>
                            <a:rPr lang="en-US" sz="1600" dirty="0" err="1"/>
                            <a:t>dyn</a:t>
                          </a:r>
                          <a:r>
                            <a:rPr lang="en-US" sz="1600" dirty="0"/>
                            <a:t> = 0.00001 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 </a:t>
                          </a:r>
                          <a:r>
                            <a:rPr lang="en-US" sz="1600" dirty="0" err="1"/>
                            <a:t>lbf</a:t>
                          </a:r>
                          <a:r>
                            <a:rPr lang="en-US" sz="1600" dirty="0"/>
                            <a:t> = 4.4482 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2891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505C392-EF97-DBDF-160D-DACC27D15D1C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4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420292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CF5E5-CF46-F442-B6CE-B276757E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0BB2AC1-72F0-CFAC-C1DE-20529E56D14B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EE2E1538-753C-5E32-7BBB-5BB4E758D3BB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147DD81-CBC9-748B-3D51-7DF34AD5A235}"/>
              </a:ext>
            </a:extLst>
          </p:cNvPr>
          <p:cNvSpPr txBox="1"/>
          <p:nvPr/>
        </p:nvSpPr>
        <p:spPr>
          <a:xfrm>
            <a:off x="346504" y="830427"/>
            <a:ext cx="10870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/>
              <a:t>Prefijos de unidades</a:t>
            </a:r>
          </a:p>
          <a:p>
            <a:pPr algn="just"/>
            <a:r>
              <a:rPr lang="es-ES" sz="1600" dirty="0"/>
              <a:t>En física se usan prefijos para indicar cifras muy grandes o muy pequeñas. Los más utilizados son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EB5EE0-1CA5-ADA3-22C5-74BE27FE7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234584"/>
              </p:ext>
            </p:extLst>
          </p:nvPr>
        </p:nvGraphicFramePr>
        <p:xfrm>
          <a:off x="2663379" y="1764914"/>
          <a:ext cx="6236989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05323">
                  <a:extLst>
                    <a:ext uri="{9D8B030D-6E8A-4147-A177-3AD203B41FA5}">
                      <a16:colId xmlns:a16="http://schemas.microsoft.com/office/drawing/2014/main" val="3078603516"/>
                    </a:ext>
                  </a:extLst>
                </a:gridCol>
                <a:gridCol w="2015833">
                  <a:extLst>
                    <a:ext uri="{9D8B030D-6E8A-4147-A177-3AD203B41FA5}">
                      <a16:colId xmlns:a16="http://schemas.microsoft.com/office/drawing/2014/main" val="4060588230"/>
                    </a:ext>
                  </a:extLst>
                </a:gridCol>
                <a:gridCol w="2015833">
                  <a:extLst>
                    <a:ext uri="{9D8B030D-6E8A-4147-A177-3AD203B41FA5}">
                      <a16:colId xmlns:a16="http://schemas.microsoft.com/office/drawing/2014/main" val="710376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Prefijo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Símbolo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29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75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micro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/>
                        <a:t>μ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74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mili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28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centi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59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deci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0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359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26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307210"/>
                  </a:ext>
                </a:extLst>
              </a:tr>
            </a:tbl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2DDE58E-0120-2CC4-EC79-6C5FC8BF680E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5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189876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91D84-55F1-7588-E34B-42277A4EC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CC088A4-8024-87E3-D4DD-08A6E92D3189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99F4A65-7F56-849C-BCA8-957EA6F10EB8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DFC0EBC-C491-81B6-1779-D1F4FECA3398}"/>
              </a:ext>
            </a:extLst>
          </p:cNvPr>
          <p:cNvSpPr txBox="1"/>
          <p:nvPr/>
        </p:nvSpPr>
        <p:spPr>
          <a:xfrm>
            <a:off x="346504" y="830427"/>
            <a:ext cx="10870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/>
              <a:t>Notación científica</a:t>
            </a:r>
          </a:p>
          <a:p>
            <a:pPr algn="just"/>
            <a:r>
              <a:rPr lang="es-ES" sz="1600" dirty="0"/>
              <a:t>Es una forma de escribir los números basada en potencias de 10. Tomemos como ejemplo la cantidad física “longitud” medida en “metros”.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B8D770-3555-BBE0-1029-462CD7371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078206"/>
              </p:ext>
            </p:extLst>
          </p:nvPr>
        </p:nvGraphicFramePr>
        <p:xfrm>
          <a:off x="1939508" y="1855449"/>
          <a:ext cx="7684731" cy="3672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17227">
                  <a:extLst>
                    <a:ext uri="{9D8B030D-6E8A-4147-A177-3AD203B41FA5}">
                      <a16:colId xmlns:a16="http://schemas.microsoft.com/office/drawing/2014/main" val="3078603516"/>
                    </a:ext>
                  </a:extLst>
                </a:gridCol>
                <a:gridCol w="2483752">
                  <a:extLst>
                    <a:ext uri="{9D8B030D-6E8A-4147-A177-3AD203B41FA5}">
                      <a16:colId xmlns:a16="http://schemas.microsoft.com/office/drawing/2014/main" val="4060588230"/>
                    </a:ext>
                  </a:extLst>
                </a:gridCol>
                <a:gridCol w="2483752">
                  <a:extLst>
                    <a:ext uri="{9D8B030D-6E8A-4147-A177-3AD203B41FA5}">
                      <a16:colId xmlns:a16="http://schemas.microsoft.com/office/drawing/2014/main" val="7103764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Notación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estándar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Notación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científica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Notación</a:t>
                      </a:r>
                      <a:r>
                        <a:rPr lang="en-US" sz="1600" dirty="0"/>
                        <a:t> con </a:t>
                      </a:r>
                      <a:r>
                        <a:rPr lang="en-US" sz="1600" dirty="0" err="1"/>
                        <a:t>prefijos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29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/>
                        <a:t>0.000000001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 x 10</a:t>
                      </a:r>
                      <a:r>
                        <a:rPr lang="en-US" sz="1600" baseline="30000" dirty="0"/>
                        <a:t>-9</a:t>
                      </a:r>
                      <a:r>
                        <a:rPr lang="en-US" sz="1600" baseline="0" dirty="0"/>
                        <a:t>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75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0.000001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 x 10</a:t>
                      </a:r>
                      <a:r>
                        <a:rPr lang="en-US" sz="1600" baseline="30000" dirty="0"/>
                        <a:t>-6</a:t>
                      </a:r>
                      <a:r>
                        <a:rPr lang="en-US" sz="1600" baseline="0" dirty="0"/>
                        <a:t>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</a:t>
                      </a:r>
                      <a:r>
                        <a:rPr lang="el-GR" sz="1600" dirty="0"/>
                        <a:t>μ</a:t>
                      </a:r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74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0.001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 x 10</a:t>
                      </a:r>
                      <a:r>
                        <a:rPr lang="en-US" sz="1600" baseline="30000" dirty="0"/>
                        <a:t>-3</a:t>
                      </a:r>
                      <a:r>
                        <a:rPr lang="en-US" sz="1600" baseline="0" dirty="0"/>
                        <a:t>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28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0.01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 x 10</a:t>
                      </a:r>
                      <a:r>
                        <a:rPr lang="en-US" sz="1600" baseline="30000" dirty="0"/>
                        <a:t>-2</a:t>
                      </a:r>
                      <a:r>
                        <a:rPr lang="en-US" sz="1600" baseline="0" dirty="0"/>
                        <a:t>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59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0.1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 x 10</a:t>
                      </a:r>
                      <a:r>
                        <a:rPr lang="en-US" sz="1600" baseline="30000" dirty="0"/>
                        <a:t>-1</a:t>
                      </a:r>
                      <a:r>
                        <a:rPr lang="en-US" sz="1600" baseline="0" dirty="0"/>
                        <a:t>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dm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0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x 10</a:t>
                      </a:r>
                      <a:r>
                        <a:rPr lang="en-US" sz="1600" baseline="30000" dirty="0"/>
                        <a:t>-0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894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1000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 x 10</a:t>
                      </a:r>
                      <a:r>
                        <a:rPr lang="en-US" sz="1600" baseline="30000" dirty="0"/>
                        <a:t>3</a:t>
                      </a:r>
                      <a:r>
                        <a:rPr lang="en-US" sz="1600" baseline="0" dirty="0"/>
                        <a:t>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359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1000000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 x 10</a:t>
                      </a:r>
                      <a:r>
                        <a:rPr lang="en-US" sz="1600" baseline="30000" dirty="0"/>
                        <a:t>6</a:t>
                      </a:r>
                      <a:r>
                        <a:rPr lang="en-US" sz="1600" baseline="0" dirty="0"/>
                        <a:t>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26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1000000000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 x 10</a:t>
                      </a:r>
                      <a:r>
                        <a:rPr lang="en-US" sz="1600" baseline="30000" dirty="0"/>
                        <a:t>9</a:t>
                      </a:r>
                      <a:r>
                        <a:rPr lang="en-US" sz="1600" baseline="0" dirty="0"/>
                        <a:t> m</a:t>
                      </a:r>
                      <a:endParaRPr lang="en-US" sz="16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Gm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307210"/>
                  </a:ext>
                </a:extLst>
              </a:tr>
            </a:tbl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626F341-CD5C-4C64-5B29-B08791C00E42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6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34185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9C73C-3C1E-871D-97D2-B8E93658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FB6A7AF-9B05-B8EE-FE00-9F643BEF9471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5215008-406D-EA95-61BA-D80F668F817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16D4F5D-1B22-2967-B669-28A8129A3AEF}"/>
              </a:ext>
            </a:extLst>
          </p:cNvPr>
          <p:cNvSpPr txBox="1"/>
          <p:nvPr/>
        </p:nvSpPr>
        <p:spPr>
          <a:xfrm>
            <a:off x="346504" y="830427"/>
            <a:ext cx="10870740" cy="1980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/>
              <a:t>Operaciones con notación científica</a:t>
            </a:r>
          </a:p>
          <a:p>
            <a:pPr algn="just"/>
            <a:r>
              <a:rPr lang="es-ES" sz="1600" dirty="0"/>
              <a:t>Las operaciones entre cantidades escritas en notación científica siguen las reglas básicas del álgebra</a:t>
            </a:r>
          </a:p>
          <a:p>
            <a:pPr algn="just"/>
            <a:endParaRPr lang="es-ES" sz="1600" dirty="0"/>
          </a:p>
          <a:p>
            <a:pPr algn="just"/>
            <a:r>
              <a:rPr lang="es-ES" sz="1600" dirty="0"/>
              <a:t>Ejemplo para la suma</a:t>
            </a:r>
          </a:p>
          <a:p>
            <a:pPr algn="just"/>
            <a:r>
              <a:rPr lang="es-ES" sz="1600" dirty="0"/>
              <a:t>4.2×10</a:t>
            </a:r>
            <a:r>
              <a:rPr lang="es-ES" sz="1600" baseline="30000" dirty="0"/>
              <a:t>7</a:t>
            </a:r>
            <a:r>
              <a:rPr lang="es-ES" sz="1600" dirty="0"/>
              <a:t> + 3.0×10</a:t>
            </a:r>
            <a:r>
              <a:rPr lang="es-ES" sz="1600" baseline="30000" dirty="0"/>
              <a:t>5</a:t>
            </a:r>
            <a:r>
              <a:rPr lang="es-ES" sz="1600" dirty="0"/>
              <a:t> = 420×10</a:t>
            </a:r>
            <a:r>
              <a:rPr lang="es-ES" sz="1600" baseline="30000" dirty="0"/>
              <a:t>5</a:t>
            </a:r>
            <a:r>
              <a:rPr lang="es-ES" sz="1600" dirty="0"/>
              <a:t> + 3×10</a:t>
            </a:r>
            <a:r>
              <a:rPr lang="es-ES" sz="1600" baseline="30000" dirty="0"/>
              <a:t>5</a:t>
            </a:r>
            <a:r>
              <a:rPr lang="es-ES" sz="1600" dirty="0"/>
              <a:t> = 423×10</a:t>
            </a:r>
            <a:r>
              <a:rPr lang="es-ES" sz="1600" baseline="30000" dirty="0"/>
              <a:t>5</a:t>
            </a:r>
          </a:p>
          <a:p>
            <a:pPr algn="just"/>
            <a:endParaRPr lang="es-ES" sz="1600" baseline="30000" dirty="0"/>
          </a:p>
          <a:p>
            <a:pPr algn="just"/>
            <a:r>
              <a:rPr lang="es-ES" sz="1600" dirty="0"/>
              <a:t>Ejemplo para la multiplicación</a:t>
            </a:r>
          </a:p>
          <a:p>
            <a:pPr algn="just"/>
            <a:r>
              <a:rPr lang="es-ES" sz="1600" dirty="0"/>
              <a:t>8×10</a:t>
            </a:r>
            <a:r>
              <a:rPr lang="es-ES" sz="1600" baseline="30000" dirty="0"/>
              <a:t>4</a:t>
            </a:r>
            <a:r>
              <a:rPr lang="es-ES" sz="1600" dirty="0"/>
              <a:t> ⋅ 2×10</a:t>
            </a:r>
            <a:r>
              <a:rPr lang="es-ES" sz="1600" baseline="30000" dirty="0"/>
              <a:t>2</a:t>
            </a:r>
            <a:r>
              <a:rPr lang="es-ES" sz="1600" dirty="0"/>
              <a:t> = (8 ⋅ 2) ×10</a:t>
            </a:r>
            <a:r>
              <a:rPr lang="es-ES" sz="1600" baseline="30000" dirty="0"/>
              <a:t>(4+2)</a:t>
            </a:r>
            <a:r>
              <a:rPr lang="es-ES" sz="1600" dirty="0"/>
              <a:t> = 16×10</a:t>
            </a:r>
            <a:r>
              <a:rPr lang="es-ES" sz="1600" baseline="30000" dirty="0"/>
              <a:t>6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8B167CBB-57B2-1414-8CF3-24169EC55722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7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71836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CA64E-3879-306B-8D06-0CE9A52B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3319AE8-79AD-3E1E-2CD3-CDE12153771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AFDAE-B5EC-C5AC-12C6-A6F0EB137242}"/>
              </a:ext>
            </a:extLst>
          </p:cNvPr>
          <p:cNvSpPr txBox="1"/>
          <p:nvPr/>
        </p:nvSpPr>
        <p:spPr>
          <a:xfrm>
            <a:off x="403440" y="950550"/>
            <a:ext cx="11385120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Ejemplo: </a:t>
            </a:r>
            <a:r>
              <a:rPr lang="es-CL" sz="1600" dirty="0"/>
              <a:t>Transformar las siguientes cantidades</a:t>
            </a:r>
            <a:endParaRPr lang="en-US" sz="1600" dirty="0"/>
          </a:p>
          <a:p>
            <a:pPr marL="342900" indent="-342900">
              <a:buFont typeface="+mj-lt"/>
              <a:buAutoNum type="alphaLcParenR"/>
            </a:pPr>
            <a:endParaRPr lang="en-US" sz="1600" dirty="0"/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100 km/h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600" dirty="0"/>
              <a:t>m/s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40 cm</a:t>
            </a:r>
            <a:r>
              <a:rPr lang="en-US" sz="1600" baseline="30000" dirty="0"/>
              <a:t>3</a:t>
            </a:r>
            <a:r>
              <a:rPr lang="en-US" sz="1600" dirty="0"/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1600" dirty="0"/>
              <a:t> m</a:t>
            </a:r>
            <a:r>
              <a:rPr lang="en-US" sz="1600" baseline="30000" dirty="0"/>
              <a:t>3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22 g/cm</a:t>
            </a:r>
            <a:r>
              <a:rPr lang="en-US" sz="1600" baseline="30000" dirty="0"/>
              <a:t>3</a:t>
            </a:r>
            <a:r>
              <a:rPr lang="en-US" sz="1600" dirty="0"/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1600" dirty="0"/>
              <a:t> kg/m</a:t>
            </a:r>
            <a:r>
              <a:rPr lang="en-US" sz="1600" baseline="30000" dirty="0"/>
              <a:t>3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5 </a:t>
            </a:r>
            <a:r>
              <a:rPr lang="en-US" sz="1600" dirty="0" err="1"/>
              <a:t>dias</a:t>
            </a:r>
            <a:r>
              <a:rPr lang="en-US" sz="1600" dirty="0"/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1600" dirty="0"/>
              <a:t> 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AA3F8AD-B175-645E-78DE-345BA4329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253972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4" name="Marcador de número de diapositiva 2">
            <a:extLst>
              <a:ext uri="{FF2B5EF4-FFF2-40B4-BE49-F238E27FC236}">
                <a16:creationId xmlns:a16="http://schemas.microsoft.com/office/drawing/2014/main" id="{55C18103-726B-C848-8102-E424BF3F4FA6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8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8052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1DF6-6FD5-C6BB-9F6B-01770DDA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46D8890-1108-B7A8-560A-6C5FBED76638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189077-B9DD-7ABC-8326-4504E4D5DB5C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48999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 </a:t>
                </a:r>
                <a:r>
                  <a:rPr lang="es-CL" sz="1600" dirty="0"/>
                  <a:t>Transformar las siguientes cantidades</a:t>
                </a: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100 km/h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1600" dirty="0"/>
                  <a:t>m/s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40 cm</a:t>
                </a:r>
                <a:r>
                  <a:rPr lang="en-US" sz="1600" baseline="30000" dirty="0"/>
                  <a:t>3</a:t>
                </a:r>
                <a:r>
                  <a:rPr lang="en-US" sz="1600" dirty="0"/>
                  <a:t>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sz="1600" dirty="0"/>
                  <a:t> m</a:t>
                </a:r>
                <a:r>
                  <a:rPr lang="en-US" sz="1600" baseline="30000" dirty="0"/>
                  <a:t>3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22 g/cm</a:t>
                </a:r>
                <a:r>
                  <a:rPr lang="en-US" sz="1600" baseline="30000" dirty="0"/>
                  <a:t>3</a:t>
                </a:r>
                <a:r>
                  <a:rPr lang="en-US" sz="1600" dirty="0"/>
                  <a:t>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sz="1600" dirty="0"/>
                  <a:t> kg/m</a:t>
                </a:r>
                <a:r>
                  <a:rPr lang="en-US" sz="1600" baseline="30000" dirty="0"/>
                  <a:t>3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5 </a:t>
                </a:r>
                <a:r>
                  <a:rPr lang="en-US" sz="1600" dirty="0" err="1"/>
                  <a:t>dias</a:t>
                </a:r>
                <a:r>
                  <a:rPr lang="en-US" sz="1600" dirty="0"/>
                  <a:t>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sz="1600" dirty="0"/>
                  <a:t> s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r>
                  <a:rPr lang="en-US" sz="1600" b="1" dirty="0"/>
                  <a:t>Desarrollo</a:t>
                </a:r>
              </a:p>
              <a:p>
                <a:endParaRPr lang="en-US" sz="1600" b="1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Transformación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100 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km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=100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1000 </m:t>
                              </m:r>
                              <m:r>
                                <m:rPr>
                                  <m:sty m:val="p"/>
                                </m:rPr>
                                <a:rPr lang="es-CL" sz="160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num>
                            <m:den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3600 </m:t>
                              </m:r>
                              <m:r>
                                <m:rPr>
                                  <m:sty m:val="p"/>
                                </m:rPr>
                                <a:rPr lang="es-CL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den>
                          </m:f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=27.78 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n-US" sz="1600" b="0" dirty="0"/>
              </a:p>
              <a:p>
                <a:pPr marL="342900" indent="-342900">
                  <a:buFont typeface="+mj-lt"/>
                  <a:buAutoNum type="alphaLcParenR" startAt="2"/>
                </a:pPr>
                <a:r>
                  <a:rPr lang="en-US" sz="1600" dirty="0"/>
                  <a:t>Transformación</a:t>
                </a:r>
                <a:endParaRPr lang="es-CL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0 </m:t>
                      </m:r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cm</m:t>
                          </m:r>
                        </m:e>
                        <m:sup>
                          <m: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=40</m:t>
                      </m:r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0.01 </m:t>
                              </m:r>
                              <m:r>
                                <m:rPr>
                                  <m:sty m:val="p"/>
                                </m:rPr>
                                <a:rPr lang="es-CL" sz="160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d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0.0</m:t>
                          </m:r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1 </m:t>
                          </m:r>
                          <m:sSup>
                            <m:sSupPr>
                              <m:ctrlPr>
                                <a:rPr lang="es-CL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L" sz="16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CL" sz="16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lphaLcParenR" startAt="3"/>
                </a:pPr>
                <a:r>
                  <a:rPr lang="en-US" sz="1600" dirty="0"/>
                  <a:t>Transformación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22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num>
                        <m:den>
                          <m:sSup>
                            <m:sSup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L" sz="1600" b="0" i="0" smtClean="0">
                                  <a:latin typeface="Cambria Math" panose="02040503050406030204" pitchFamily="18" charset="0"/>
                                </a:rPr>
                                <m:t>cm</m:t>
                              </m:r>
                            </m:e>
                            <m:sup>
                              <m:r>
                                <a:rPr lang="es-CL" sz="16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=22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0.001 </m:t>
                              </m:r>
                              <m:r>
                                <m:rPr>
                                  <m:sty m:val="p"/>
                                </m:rPr>
                                <a:rPr lang="es-CL" sz="1600" b="0" i="0" smtClean="0">
                                  <a:latin typeface="Cambria Math" panose="02040503050406030204" pitchFamily="18" charset="0"/>
                                </a:rPr>
                                <m:t>kg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CL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L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L" sz="1600" b="0" i="0" smtClean="0">
                                          <a:latin typeface="Cambria Math" panose="02040503050406030204" pitchFamily="18" charset="0"/>
                                        </a:rPr>
                                        <m:t>0.01 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s-CL" sz="1600" b="0" i="0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L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s-CL" sz="16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CL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L" sz="16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s-CL" sz="16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CL" sz="1600" i="0">
                                  <a:latin typeface="Cambria Math" panose="02040503050406030204" pitchFamily="18" charset="0"/>
                                </a:rPr>
                                <m:t>kg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CL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L" sz="16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s-CL" sz="1600" b="0" i="1" smtClean="0"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sup>
                              </m:sSup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s-CL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L" sz="1600" b="0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s-CL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=22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f>
                        <m:fPr>
                          <m:ctrlPr>
                            <a:rPr lang="es-CL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kg</m:t>
                          </m:r>
                        </m:num>
                        <m:den>
                          <m:sSup>
                            <m:sSupPr>
                              <m:ctrlPr>
                                <a:rPr lang="es-C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L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s-CL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 startAt="4"/>
                </a:pPr>
                <a:r>
                  <a:rPr lang="en-US" sz="1600" dirty="0"/>
                  <a:t>Transformación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=5⋅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L" sz="16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  <m:r>
                            <a:rPr lang="es-CL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s-CL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3600 </m:t>
                              </m:r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=432000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189077-B9DD-7ABC-8326-4504E4D5D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4899931"/>
              </a:xfrm>
              <a:prstGeom prst="rect">
                <a:avLst/>
              </a:prstGeom>
              <a:blipFill>
                <a:blip r:embed="rId3"/>
                <a:stretch>
                  <a:fillRect l="-334" t="-25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4168D12-00C8-EBAC-CF03-240FF5C40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253972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4" name="Marcador de número de diapositiva 2">
            <a:extLst>
              <a:ext uri="{FF2B5EF4-FFF2-40B4-BE49-F238E27FC236}">
                <a16:creationId xmlns:a16="http://schemas.microsoft.com/office/drawing/2014/main" id="{F277ED92-3FF7-A32D-094E-9643057BD2D0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9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958890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B1A34-FE76-3621-F4CC-3406FC756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28021E7-4129-C0F2-B724-B87E44D510A1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4AEEF7F-ADC7-E38F-407C-8239D6E2720B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E1721D1-F4AB-C055-DE28-669AD1331812}"/>
                  </a:ext>
                </a:extLst>
              </p:cNvPr>
              <p:cNvSpPr txBox="1"/>
              <p:nvPr/>
            </p:nvSpPr>
            <p:spPr>
              <a:xfrm>
                <a:off x="346504" y="830427"/>
                <a:ext cx="10870740" cy="5751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600" b="1" dirty="0"/>
                  <a:t>Análisis dimensional</a:t>
                </a:r>
              </a:p>
              <a:p>
                <a:pPr algn="just"/>
                <a:r>
                  <a:rPr lang="es-ES" sz="1600" dirty="0"/>
                  <a:t>La dimensión denota la naturaleza física de una magnitud y el análisis dimensional permite verificar la validez de una fórmula o ecuación. Se deben considerar las dimensiones de las tres magnitudes físicas fundamentales</a:t>
                </a:r>
              </a:p>
              <a:p>
                <a:pPr algn="just"/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Longitud: L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Masa: M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Tiempo: T</a:t>
                </a:r>
              </a:p>
              <a:p>
                <a:pPr algn="just"/>
                <a:endParaRPr lang="es-ES" sz="1600" dirty="0"/>
              </a:p>
              <a:p>
                <a:pPr algn="just"/>
                <a:r>
                  <a:rPr lang="es-ES" sz="1600" dirty="0"/>
                  <a:t>La dimensión de una cantidad física se designa encerrándola entre paréntesis cuadrados. Supongamos por ejemplo que la velocidad (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s-ES" sz="1600" dirty="0"/>
                  <a:t>) se calcula como la razón entre la distancia recorrida (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" sz="1600" dirty="0"/>
                  <a:t>) y el tiempo (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sz="1600" dirty="0"/>
                  <a:t>)</a:t>
                </a:r>
              </a:p>
              <a:p>
                <a:pPr algn="just"/>
                <a:endParaRPr lang="es-ES" sz="16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s-ES" sz="1600" dirty="0"/>
              </a:p>
              <a:p>
                <a:pPr algn="just"/>
                <a:endParaRPr lang="es-ES" sz="1600" dirty="0"/>
              </a:p>
              <a:p>
                <a:pPr algn="just"/>
                <a:r>
                  <a:rPr lang="es-ES" sz="1600" dirty="0"/>
                  <a:t>Las dimensiones de dichas cantidades se designan encerrándolas en paréntesis cuadrados</a:t>
                </a:r>
              </a:p>
              <a:p>
                <a:pPr algn="just"/>
                <a:endParaRPr lang="es-ES" sz="16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s-ES" sz="1600" dirty="0"/>
              </a:p>
              <a:p>
                <a:pPr algn="just"/>
                <a:endParaRPr lang="es-ES" sz="1600" dirty="0"/>
              </a:p>
              <a:p>
                <a:pPr algn="just"/>
                <a:r>
                  <a:rPr lang="es-ES" sz="1600" dirty="0"/>
                  <a:t>Es decir, las dimensiones para la velocidad son longitud/tiempo.</a:t>
                </a:r>
              </a:p>
              <a:p>
                <a:pPr algn="just"/>
                <a:endParaRPr lang="es-ES" sz="1600" dirty="0"/>
              </a:p>
              <a:p>
                <a:pPr algn="just"/>
                <a:r>
                  <a:rPr lang="es-ES" sz="1600" dirty="0"/>
                  <a:t>Las cantidades que no tienen unidades se conocen como magnitudes adimensionales.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E1721D1-F4AB-C055-DE28-669AD1331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04" y="830427"/>
                <a:ext cx="10870740" cy="5751767"/>
              </a:xfrm>
              <a:prstGeom prst="rect">
                <a:avLst/>
              </a:prstGeom>
              <a:blipFill>
                <a:blip r:embed="rId3"/>
                <a:stretch>
                  <a:fillRect l="-337" t="-318" r="-280" b="-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7C6B5A0D-7A5C-6825-1AC5-B4DFA2DCD19C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10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2462136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A82EE-C77E-8CA6-0B28-1DDD7AEF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CED09B3-3317-C48C-611A-B49B1C7F0772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38D485-4D71-BCC5-D66D-FD1F13030910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12984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 </a:t>
                </a:r>
                <a:r>
                  <a:rPr lang="es-MX" sz="1600" dirty="0"/>
                  <a:t>La velocidad media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puede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calcularse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mediante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r>
                  <a:rPr lang="en-US" sz="1600" dirty="0" err="1"/>
                  <a:t>donde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600" dirty="0"/>
                  <a:t> es 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recorrida</a:t>
                </a:r>
                <a:r>
                  <a:rPr lang="en-US" sz="1600" dirty="0"/>
                  <a:t> y </a:t>
                </a:r>
                <a14:m>
                  <m:oMath xmlns:m="http://schemas.openxmlformats.org/officeDocument/2006/math">
                    <m:r>
                      <a:rPr lang="es-CL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. Si la </a:t>
                </a:r>
                <a:r>
                  <a:rPr lang="en-US" sz="1600" dirty="0" err="1"/>
                  <a:t>velocidad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dimensiones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longitud</a:t>
                </a:r>
                <a:r>
                  <a:rPr lang="en-US" sz="1600" dirty="0"/>
                  <a:t>/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 y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dimensiones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calcule</a:t>
                </a:r>
                <a:r>
                  <a:rPr lang="en-US" sz="1600" dirty="0"/>
                  <a:t> las </a:t>
                </a:r>
                <a:r>
                  <a:rPr lang="en-US" sz="1600" dirty="0" err="1"/>
                  <a:t>dimensiones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recorrida</a:t>
                </a:r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38D485-4D71-BCC5-D66D-FD1F13030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1298497"/>
              </a:xfrm>
              <a:prstGeom prst="rect">
                <a:avLst/>
              </a:prstGeom>
              <a:blipFill>
                <a:blip r:embed="rId3"/>
                <a:stretch>
                  <a:fillRect l="-214" t="-930" b="-465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3EAD80E-B75E-9DA5-AC16-C1B50ADB0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253972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CC6AE6AD-D714-A35B-D41F-F504B1D015C2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11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920117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1637-5C62-7295-D466-2772B7D0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FDBECB3-601A-FFB7-98CD-C1B2F757F7E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F09973-64F1-0FAA-921A-22DAAA6E9A47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35201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 </a:t>
                </a:r>
                <a:r>
                  <a:rPr lang="es-MX" sz="1600" dirty="0"/>
                  <a:t>La velocidad media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puede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calcularse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mediante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r>
                  <a:rPr lang="en-US" sz="1600" dirty="0" err="1"/>
                  <a:t>donde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600" dirty="0"/>
                  <a:t> es 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recorrida</a:t>
                </a:r>
                <a:r>
                  <a:rPr lang="en-US" sz="1600" dirty="0"/>
                  <a:t> y </a:t>
                </a:r>
                <a14:m>
                  <m:oMath xmlns:m="http://schemas.openxmlformats.org/officeDocument/2006/math">
                    <m:r>
                      <a:rPr lang="es-CL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. Si la </a:t>
                </a:r>
                <a:r>
                  <a:rPr lang="en-US" sz="1600" dirty="0" err="1"/>
                  <a:t>velocidad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dimensiones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longitud</a:t>
                </a:r>
                <a:r>
                  <a:rPr lang="en-US" sz="1600" dirty="0"/>
                  <a:t>/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 y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dimensiones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calcule</a:t>
                </a:r>
                <a:r>
                  <a:rPr lang="en-US" sz="1600" dirty="0"/>
                  <a:t> las </a:t>
                </a:r>
                <a:r>
                  <a:rPr lang="en-US" sz="1600" dirty="0" err="1"/>
                  <a:t>dimensiones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recorrida</a:t>
                </a:r>
                <a:r>
                  <a:rPr lang="en-US" sz="1600" dirty="0"/>
                  <a:t>.</a:t>
                </a:r>
              </a:p>
              <a:p>
                <a:endParaRPr lang="en-US" sz="1600" dirty="0"/>
              </a:p>
              <a:p>
                <a:r>
                  <a:rPr lang="en-US" sz="1600" b="1" dirty="0"/>
                  <a:t>Desarrollo</a:t>
                </a:r>
              </a:p>
              <a:p>
                <a:r>
                  <a:rPr lang="en-US" sz="1600" dirty="0" err="1"/>
                  <a:t>Utilizando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análisis</a:t>
                </a:r>
                <a:r>
                  <a:rPr lang="en-US" sz="1600" dirty="0"/>
                  <a:t> dimensional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CL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s-CL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s-CL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1600" b="1" dirty="0"/>
              </a:p>
              <a:p>
                <a:endParaRPr lang="en-US" sz="1600" b="1" dirty="0"/>
              </a:p>
              <a:p>
                <a:r>
                  <a:rPr lang="en-US" sz="1600" dirty="0"/>
                  <a:t>Es </a:t>
                </a:r>
                <a:r>
                  <a:rPr lang="en-US" sz="1600" dirty="0" err="1"/>
                  <a:t>decir</a:t>
                </a:r>
                <a:r>
                  <a:rPr lang="en-US" sz="1600" dirty="0"/>
                  <a:t>, 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recorrida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dimensiones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longitud</a:t>
                </a:r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F09973-64F1-0FAA-921A-22DAAA6E9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3520131"/>
              </a:xfrm>
              <a:prstGeom prst="rect">
                <a:avLst/>
              </a:prstGeom>
              <a:blipFill>
                <a:blip r:embed="rId3"/>
                <a:stretch>
                  <a:fillRect l="-214" t="-345" b="-120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B579943-A07F-B4C4-AAB3-2B8331923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253972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6867ECBD-32C5-2431-A932-4C637E61DF15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12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1668062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F9944-B5D6-B564-C341-93B216BA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2041B05-4A1B-96C4-8563-930C5D23D890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72350ABC-9F59-D6B6-509A-C1EE7E1AE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732093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886A9A-5D32-E53B-8A29-7C61FBE191BE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181588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 </a:t>
                </a:r>
                <a:r>
                  <a:rPr lang="es-MX" sz="1600" dirty="0"/>
                  <a:t>La velocidad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s-MX" sz="1600" dirty="0"/>
                  <a:t> de las ondas en una cuerda que experimenta una fuerza de tensión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MX" sz="1600" dirty="0"/>
                  <a:t>, está dada por</a:t>
                </a:r>
                <a:r>
                  <a:rPr lang="en-US" sz="1600" dirty="0"/>
                  <a:t> </a:t>
                </a:r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pPr algn="just"/>
                <a:endParaRPr lang="en-US" sz="1600" dirty="0"/>
              </a:p>
              <a:p>
                <a:pPr algn="just"/>
                <a:r>
                  <a:rPr lang="en-US" sz="1600" dirty="0"/>
                  <a:t>Determine </a:t>
                </a:r>
                <a:r>
                  <a:rPr lang="en-US" sz="1600" dirty="0" err="1"/>
                  <a:t>los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valores</a:t>
                </a:r>
                <a:r>
                  <a:rPr lang="en-US" sz="1600" dirty="0"/>
                  <a:t> de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 e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si</a:t>
                </a:r>
                <a:r>
                  <a:rPr lang="en-US" sz="1600" dirty="0"/>
                  <a:t> la </a:t>
                </a:r>
                <a:r>
                  <a:rPr lang="en-US" sz="1600" dirty="0" err="1"/>
                  <a:t>velocidad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dimensiones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longitud</a:t>
                </a:r>
                <a:r>
                  <a:rPr lang="en-US" sz="1600" dirty="0"/>
                  <a:t>/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, la </a:t>
                </a:r>
                <a:r>
                  <a:rPr lang="en-US" sz="1600" dirty="0" err="1"/>
                  <a:t>tensión</a:t>
                </a:r>
                <a:r>
                  <a:rPr lang="en-US" sz="1600" dirty="0"/>
                  <a:t> de (</a:t>
                </a:r>
                <a:r>
                  <a:rPr lang="en-US" sz="1600" dirty="0" err="1"/>
                  <a:t>masa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∙</a:t>
                </a:r>
                <a:r>
                  <a:rPr lang="en-US" sz="1600" dirty="0" err="1"/>
                  <a:t>longitud</a:t>
                </a:r>
                <a:r>
                  <a:rPr lang="en-US" sz="1600" dirty="0"/>
                  <a:t>)/tiempo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, y la </a:t>
                </a:r>
                <a:r>
                  <a:rPr lang="en-US" sz="1600" dirty="0" err="1"/>
                  <a:t>densidad</a:t>
                </a:r>
                <a:r>
                  <a:rPr lang="en-US" sz="1600" dirty="0"/>
                  <a:t> lineal </a:t>
                </a:r>
                <a14:m>
                  <m:oMath xmlns:m="http://schemas.openxmlformats.org/officeDocument/2006/math">
                    <m:r>
                      <a:rPr lang="es-CL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600" dirty="0"/>
                  <a:t> de masa/</a:t>
                </a:r>
                <a:r>
                  <a:rPr lang="en-US" sz="1600" dirty="0" err="1"/>
                  <a:t>longitud</a:t>
                </a:r>
                <a:r>
                  <a:rPr lang="en-US" sz="1600" dirty="0"/>
                  <a:t>.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886A9A-5D32-E53B-8A29-7C61FBE19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1815882"/>
              </a:xfrm>
              <a:prstGeom prst="rect">
                <a:avLst/>
              </a:prstGeom>
              <a:blipFill>
                <a:blip r:embed="rId3"/>
                <a:stretch>
                  <a:fillRect l="-223" t="-690" r="-22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27A79CCC-0B47-77C8-7D8F-F53AE60F0C5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13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2552928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2868-FC24-4B2F-0A02-2D4CBD9D7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09A5419-6CE9-D284-74D3-BE66923AC1AA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05EC6E-A583-69EE-A916-6D938A997CA1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545784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 </a:t>
                </a:r>
                <a:r>
                  <a:rPr lang="es-MX" sz="1600" dirty="0"/>
                  <a:t>La velocidad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s-MX" sz="1600" dirty="0"/>
                  <a:t> de las ondas en una cuerda que experimenta una fuerza de tensión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MX" sz="1600" dirty="0"/>
                  <a:t>, está dada por</a:t>
                </a:r>
              </a:p>
              <a:p>
                <a:r>
                  <a:rPr lang="en-US" sz="16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 algn="just"/>
                <a:r>
                  <a:rPr lang="en-US" sz="1600" dirty="0"/>
                  <a:t>Determine </a:t>
                </a:r>
                <a:r>
                  <a:rPr lang="en-US" sz="1600" dirty="0" err="1"/>
                  <a:t>los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valores</a:t>
                </a:r>
                <a:r>
                  <a:rPr lang="en-US" sz="1600" dirty="0"/>
                  <a:t> de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 e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si</a:t>
                </a:r>
                <a:r>
                  <a:rPr lang="en-US" sz="1600" dirty="0"/>
                  <a:t> la </a:t>
                </a:r>
                <a:r>
                  <a:rPr lang="en-US" sz="1600" dirty="0" err="1"/>
                  <a:t>velocidad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dimensiones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longitud</a:t>
                </a:r>
                <a:r>
                  <a:rPr lang="en-US" sz="1600" dirty="0"/>
                  <a:t>/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, la </a:t>
                </a:r>
                <a:r>
                  <a:rPr lang="en-US" sz="1600" dirty="0" err="1"/>
                  <a:t>tensión</a:t>
                </a:r>
                <a:r>
                  <a:rPr lang="en-US" sz="1600" dirty="0"/>
                  <a:t> de (</a:t>
                </a:r>
                <a:r>
                  <a:rPr lang="en-US" sz="1600" dirty="0" err="1"/>
                  <a:t>masa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∙</a:t>
                </a:r>
                <a:r>
                  <a:rPr lang="en-US" sz="1600" dirty="0" err="1"/>
                  <a:t>longitud</a:t>
                </a:r>
                <a:r>
                  <a:rPr lang="en-US" sz="1600" dirty="0"/>
                  <a:t>)/tiempo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, y la </a:t>
                </a:r>
                <a:r>
                  <a:rPr lang="en-US" sz="1600" dirty="0" err="1"/>
                  <a:t>densidad</a:t>
                </a:r>
                <a:r>
                  <a:rPr lang="en-US" sz="1600" dirty="0"/>
                  <a:t> lineal </a:t>
                </a:r>
                <a14:m>
                  <m:oMath xmlns:m="http://schemas.openxmlformats.org/officeDocument/2006/math">
                    <m:r>
                      <a:rPr lang="es-CL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600" dirty="0"/>
                  <a:t> de masa/</a:t>
                </a:r>
                <a:r>
                  <a:rPr lang="en-US" sz="1600" dirty="0" err="1"/>
                  <a:t>longitud</a:t>
                </a:r>
                <a:r>
                  <a:rPr lang="en-US" sz="1600" dirty="0"/>
                  <a:t>.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r>
                  <a:rPr lang="en-US" sz="1600" b="1" dirty="0"/>
                  <a:t>Desarrollo</a:t>
                </a:r>
              </a:p>
              <a:p>
                <a:r>
                  <a:rPr lang="en-US" sz="1600" dirty="0" err="1"/>
                  <a:t>Utilizando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análisis</a:t>
                </a:r>
                <a:r>
                  <a:rPr lang="en-US" sz="1600" dirty="0"/>
                  <a:t> dimensional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  <a:p>
                <a:endParaRPr lang="en-US" sz="1600" b="1" dirty="0"/>
              </a:p>
              <a:p>
                <a:r>
                  <a:rPr lang="en-US" sz="1600" dirty="0" err="1"/>
                  <a:t>Ecuaciones</a:t>
                </a:r>
                <a:r>
                  <a:rPr lang="en-US" sz="1600" dirty="0"/>
                  <a:t> a resolver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s-CL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L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 err="1"/>
                  <a:t>Resolviendo</a:t>
                </a:r>
                <a:r>
                  <a:rPr lang="en-US" sz="1600" dirty="0"/>
                  <a:t>, se </a:t>
                </a:r>
                <a:r>
                  <a:rPr lang="en-US" sz="1600" dirty="0" err="1"/>
                  <a:t>obtienen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los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valores</a:t>
                </a:r>
                <a:r>
                  <a:rPr lang="en-US" sz="16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endParaRPr lang="en-US" sz="1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05EC6E-A583-69EE-A916-6D938A997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5457841"/>
              </a:xfrm>
              <a:prstGeom prst="rect">
                <a:avLst/>
              </a:prstGeom>
              <a:blipFill>
                <a:blip r:embed="rId3"/>
                <a:stretch>
                  <a:fillRect l="-223" t="-232" r="-22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D561A5C-42FC-68AD-273D-4FFC3D231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253972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Sistemas de medición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4" name="Marcador de número de diapositiva 2">
            <a:extLst>
              <a:ext uri="{FF2B5EF4-FFF2-40B4-BE49-F238E27FC236}">
                <a16:creationId xmlns:a16="http://schemas.microsoft.com/office/drawing/2014/main" id="{8723EDBA-A64A-03BE-1E1B-23EE723B365B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14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1836014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6A1BD-7476-E086-3644-375D1944E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D82424C-ED2F-7F8F-87D6-DB8493003F18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DACD541-C010-6487-D95E-CAAB5FDA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489526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Vectores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90C68F-6F39-9B1B-3D32-679E82321087}"/>
                  </a:ext>
                </a:extLst>
              </p:cNvPr>
              <p:cNvSpPr txBox="1"/>
              <p:nvPr/>
            </p:nvSpPr>
            <p:spPr>
              <a:xfrm>
                <a:off x="346504" y="830427"/>
                <a:ext cx="10870740" cy="3356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600" b="1" dirty="0"/>
                  <a:t>Definición</a:t>
                </a:r>
              </a:p>
              <a:p>
                <a:pPr algn="just"/>
                <a:r>
                  <a:rPr lang="es-MX" sz="1600" dirty="0"/>
                  <a:t>Un vector es un ente geométrico que corresponde a una flecha orientada en el espacio. Un vector tiene un punto inicial y un punto final. Este último corresponde al que apunta la flecha.</a:t>
                </a:r>
                <a:endParaRPr lang="es-ES" sz="1600" dirty="0"/>
              </a:p>
              <a:p>
                <a:pPr algn="just"/>
                <a:endParaRPr lang="es-ES" sz="1600" dirty="0"/>
              </a:p>
              <a:p>
                <a:pPr algn="just"/>
                <a:r>
                  <a:rPr lang="es-ES" sz="1600" dirty="0"/>
                  <a:t>Notación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</m:oMath>
                </a14:m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ES" sz="1600" dirty="0"/>
              </a:p>
              <a:p>
                <a:pPr algn="just"/>
                <a:r>
                  <a:rPr lang="es-ES" sz="1600" dirty="0"/>
                  <a:t>A partir de las flechas se puede determinar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La magnitud: largo de la flecha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La dirección: línea recta infinita imaginaria que contiene a la flecha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El sentido: disposición de los puntos inicial y final de la flecha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90C68F-6F39-9B1B-3D32-679E82321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04" y="830427"/>
                <a:ext cx="10870740" cy="3356303"/>
              </a:xfrm>
              <a:prstGeom prst="rect">
                <a:avLst/>
              </a:prstGeom>
              <a:blipFill>
                <a:blip r:embed="rId3"/>
                <a:stretch>
                  <a:fillRect l="-337" t="-544" r="-280" b="-127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6B404A3-23D5-D4D5-1F1B-41FBDB65E196}"/>
              </a:ext>
            </a:extLst>
          </p:cNvPr>
          <p:cNvCxnSpPr>
            <a:cxnSpLocks/>
          </p:cNvCxnSpPr>
          <p:nvPr/>
        </p:nvCxnSpPr>
        <p:spPr>
          <a:xfrm flipV="1">
            <a:off x="6223708" y="2371316"/>
            <a:ext cx="1484852" cy="1593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B0D5854-6C23-CB6E-8FCB-E7BAB26922D2}"/>
              </a:ext>
            </a:extLst>
          </p:cNvPr>
          <p:cNvSpPr txBox="1"/>
          <p:nvPr/>
        </p:nvSpPr>
        <p:spPr>
          <a:xfrm>
            <a:off x="5922770" y="23713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4ACA6-193B-5928-E92C-22246458CD45}"/>
              </a:ext>
            </a:extLst>
          </p:cNvPr>
          <p:cNvSpPr txBox="1"/>
          <p:nvPr/>
        </p:nvSpPr>
        <p:spPr>
          <a:xfrm>
            <a:off x="7675004" y="216137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0165C4-DF1A-2318-88AE-115BD5A5372D}"/>
                  </a:ext>
                </a:extLst>
              </p:cNvPr>
              <p:cNvSpPr txBox="1"/>
              <p:nvPr/>
            </p:nvSpPr>
            <p:spPr>
              <a:xfrm>
                <a:off x="6734270" y="2144598"/>
                <a:ext cx="371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0165C4-DF1A-2318-88AE-115BD5A53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270" y="2144598"/>
                <a:ext cx="371447" cy="369332"/>
              </a:xfrm>
              <a:prstGeom prst="rect">
                <a:avLst/>
              </a:prstGeom>
              <a:blipFill>
                <a:blip r:embed="rId4"/>
                <a:stretch>
                  <a:fillRect t="-21667" r="-2459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6D7BE22-A3E8-9FDC-FD08-1B9B5B9952BD}"/>
              </a:ext>
            </a:extLst>
          </p:cNvPr>
          <p:cNvSpPr txBox="1"/>
          <p:nvPr/>
        </p:nvSpPr>
        <p:spPr>
          <a:xfrm>
            <a:off x="7526429" y="2555982"/>
            <a:ext cx="2404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Ejemplo de vector en el espacio</a:t>
            </a:r>
          </a:p>
        </p:txBody>
      </p:sp>
      <p:sp>
        <p:nvSpPr>
          <p:cNvPr id="9" name="Marcador de número de diapositiva 2">
            <a:extLst>
              <a:ext uri="{FF2B5EF4-FFF2-40B4-BE49-F238E27FC236}">
                <a16:creationId xmlns:a16="http://schemas.microsoft.com/office/drawing/2014/main" id="{F2293EB8-7956-59EF-518D-1DC94C7B031B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15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72094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0F542-3794-E186-B859-8480C014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29BD5-1124-1976-4207-0C94ABA4FC02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34FFF33-3DDE-5C75-D2AC-FC5093170AFC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Vectores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FDDAAB7-44EA-924E-F178-BA066E208A44}"/>
                  </a:ext>
                </a:extLst>
              </p:cNvPr>
              <p:cNvSpPr txBox="1"/>
              <p:nvPr/>
            </p:nvSpPr>
            <p:spPr>
              <a:xfrm>
                <a:off x="346504" y="830427"/>
                <a:ext cx="10870740" cy="887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600" b="1" dirty="0"/>
                  <a:t>Representación cartesiana</a:t>
                </a:r>
              </a:p>
              <a:p>
                <a:pPr algn="just"/>
                <a:r>
                  <a:rPr lang="es-MX" sz="1600" dirty="0"/>
                  <a:t>El punto inicial del vector se encuentra en el origen del plano cartesiano. Así, las coordenadas a las que llega la flecha representan el vector: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1600" dirty="0"/>
                  <a:t> </a:t>
                </a:r>
                <a:endParaRPr lang="es-E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FDDAAB7-44EA-924E-F178-BA066E208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04" y="830427"/>
                <a:ext cx="10870740" cy="887615"/>
              </a:xfrm>
              <a:prstGeom prst="rect">
                <a:avLst/>
              </a:prstGeom>
              <a:blipFill>
                <a:blip r:embed="rId3"/>
                <a:stretch>
                  <a:fillRect l="-337" t="-2055" r="-280" b="-547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FCC18A-3F49-0CD2-016E-9D4E8F7DF1A1}"/>
              </a:ext>
            </a:extLst>
          </p:cNvPr>
          <p:cNvCxnSpPr>
            <a:cxnSpLocks/>
          </p:cNvCxnSpPr>
          <p:nvPr/>
        </p:nvCxnSpPr>
        <p:spPr>
          <a:xfrm flipV="1">
            <a:off x="6095338" y="1371853"/>
            <a:ext cx="0" cy="18844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396006-101E-075E-259F-C5D76B24B733}"/>
              </a:ext>
            </a:extLst>
          </p:cNvPr>
          <p:cNvCxnSpPr>
            <a:cxnSpLocks/>
          </p:cNvCxnSpPr>
          <p:nvPr/>
        </p:nvCxnSpPr>
        <p:spPr>
          <a:xfrm>
            <a:off x="4196301" y="3050902"/>
            <a:ext cx="379939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0F6B3F-52BA-524D-2F28-785F35D8494D}"/>
              </a:ext>
            </a:extLst>
          </p:cNvPr>
          <p:cNvCxnSpPr>
            <a:cxnSpLocks/>
          </p:cNvCxnSpPr>
          <p:nvPr/>
        </p:nvCxnSpPr>
        <p:spPr>
          <a:xfrm flipV="1">
            <a:off x="6397487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F62ACF-957F-5053-6A16-0BC133099032}"/>
              </a:ext>
            </a:extLst>
          </p:cNvPr>
          <p:cNvCxnSpPr>
            <a:cxnSpLocks/>
          </p:cNvCxnSpPr>
          <p:nvPr/>
        </p:nvCxnSpPr>
        <p:spPr>
          <a:xfrm flipV="1">
            <a:off x="6700962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FDC56F-4163-B7EF-F079-0234BF44777B}"/>
              </a:ext>
            </a:extLst>
          </p:cNvPr>
          <p:cNvCxnSpPr>
            <a:cxnSpLocks/>
          </p:cNvCxnSpPr>
          <p:nvPr/>
        </p:nvCxnSpPr>
        <p:spPr>
          <a:xfrm flipV="1">
            <a:off x="6700962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937D8F-A764-B320-4DE0-FAC5A13E1516}"/>
              </a:ext>
            </a:extLst>
          </p:cNvPr>
          <p:cNvCxnSpPr>
            <a:cxnSpLocks/>
          </p:cNvCxnSpPr>
          <p:nvPr/>
        </p:nvCxnSpPr>
        <p:spPr>
          <a:xfrm flipV="1">
            <a:off x="7004437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FB2163-F5F2-B463-77C2-1342A8CCAE8B}"/>
              </a:ext>
            </a:extLst>
          </p:cNvPr>
          <p:cNvCxnSpPr>
            <a:cxnSpLocks/>
          </p:cNvCxnSpPr>
          <p:nvPr/>
        </p:nvCxnSpPr>
        <p:spPr>
          <a:xfrm flipV="1">
            <a:off x="7003112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68BA878-A4A2-6C02-A71D-44BFEF23D05A}"/>
              </a:ext>
            </a:extLst>
          </p:cNvPr>
          <p:cNvCxnSpPr>
            <a:cxnSpLocks/>
          </p:cNvCxnSpPr>
          <p:nvPr/>
        </p:nvCxnSpPr>
        <p:spPr>
          <a:xfrm flipV="1">
            <a:off x="7306587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843E4F-4D5C-BA94-D1A3-3BB083855DA0}"/>
              </a:ext>
            </a:extLst>
          </p:cNvPr>
          <p:cNvCxnSpPr>
            <a:cxnSpLocks/>
          </p:cNvCxnSpPr>
          <p:nvPr/>
        </p:nvCxnSpPr>
        <p:spPr>
          <a:xfrm flipV="1">
            <a:off x="5182263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B46C9A-0E51-41E1-93DF-9E28396A6BEF}"/>
              </a:ext>
            </a:extLst>
          </p:cNvPr>
          <p:cNvCxnSpPr>
            <a:cxnSpLocks/>
          </p:cNvCxnSpPr>
          <p:nvPr/>
        </p:nvCxnSpPr>
        <p:spPr>
          <a:xfrm flipV="1">
            <a:off x="5485738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1A9E5D-ABA6-BB87-5DB6-18D93A5CA678}"/>
              </a:ext>
            </a:extLst>
          </p:cNvPr>
          <p:cNvCxnSpPr>
            <a:cxnSpLocks/>
          </p:cNvCxnSpPr>
          <p:nvPr/>
        </p:nvCxnSpPr>
        <p:spPr>
          <a:xfrm flipV="1">
            <a:off x="5787888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FC5596-8115-8F95-35D7-B51E42650890}"/>
              </a:ext>
            </a:extLst>
          </p:cNvPr>
          <p:cNvCxnSpPr>
            <a:cxnSpLocks/>
          </p:cNvCxnSpPr>
          <p:nvPr/>
        </p:nvCxnSpPr>
        <p:spPr>
          <a:xfrm flipV="1">
            <a:off x="6091363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A50420-0C57-B67C-3044-352B6A1D4242}"/>
              </a:ext>
            </a:extLst>
          </p:cNvPr>
          <p:cNvCxnSpPr>
            <a:cxnSpLocks/>
          </p:cNvCxnSpPr>
          <p:nvPr/>
        </p:nvCxnSpPr>
        <p:spPr>
          <a:xfrm flipV="1">
            <a:off x="4878788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0D2526-4F26-ACAE-DA50-8DD840C22391}"/>
              </a:ext>
            </a:extLst>
          </p:cNvPr>
          <p:cNvCxnSpPr>
            <a:cxnSpLocks/>
          </p:cNvCxnSpPr>
          <p:nvPr/>
        </p:nvCxnSpPr>
        <p:spPr>
          <a:xfrm flipV="1">
            <a:off x="5182263" y="293958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6F8394C-00E0-61D0-5A91-460B5CC6A19A}"/>
              </a:ext>
            </a:extLst>
          </p:cNvPr>
          <p:cNvGrpSpPr/>
          <p:nvPr/>
        </p:nvGrpSpPr>
        <p:grpSpPr>
          <a:xfrm rot="16200000">
            <a:off x="5635487" y="2485034"/>
            <a:ext cx="909100" cy="222636"/>
            <a:chOff x="2998967" y="3317682"/>
            <a:chExt cx="909100" cy="22263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E49DCCD-693D-B5E7-5915-E1A89EC0EA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8967" y="3317682"/>
              <a:ext cx="0" cy="22263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B7EFF01-2B1E-0473-363D-D553F9457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2442" y="3317682"/>
              <a:ext cx="0" cy="22263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8464E2E-8F4D-4C2A-9D0C-CF82A41D62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4592" y="3317682"/>
              <a:ext cx="0" cy="22263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014AB50-CBDE-215B-218C-ABFE723F1D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8067" y="3317682"/>
              <a:ext cx="0" cy="22263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6D6BCAC-FA90-D352-77AE-F5BF13AFB882}"/>
              </a:ext>
            </a:extLst>
          </p:cNvPr>
          <p:cNvCxnSpPr>
            <a:cxnSpLocks/>
          </p:cNvCxnSpPr>
          <p:nvPr/>
        </p:nvCxnSpPr>
        <p:spPr>
          <a:xfrm rot="16200000" flipV="1">
            <a:off x="6091363" y="2029820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AC68B9-2299-F943-B106-824E00431C1A}"/>
              </a:ext>
            </a:extLst>
          </p:cNvPr>
          <p:cNvCxnSpPr>
            <a:cxnSpLocks/>
          </p:cNvCxnSpPr>
          <p:nvPr/>
        </p:nvCxnSpPr>
        <p:spPr>
          <a:xfrm rot="16200000" flipV="1">
            <a:off x="6091363" y="1726345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47E723-68DC-A748-7193-167134600144}"/>
              </a:ext>
            </a:extLst>
          </p:cNvPr>
          <p:cNvSpPr txBox="1"/>
          <p:nvPr/>
        </p:nvSpPr>
        <p:spPr>
          <a:xfrm>
            <a:off x="6262319" y="3111036"/>
            <a:ext cx="21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6FE1A4-F744-87EF-ACFC-0242AA2278CA}"/>
              </a:ext>
            </a:extLst>
          </p:cNvPr>
          <p:cNvSpPr txBox="1"/>
          <p:nvPr/>
        </p:nvSpPr>
        <p:spPr>
          <a:xfrm>
            <a:off x="6565798" y="3111036"/>
            <a:ext cx="21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D6BB3F-D994-9E48-E14B-BFFA74C1011D}"/>
              </a:ext>
            </a:extLst>
          </p:cNvPr>
          <p:cNvSpPr txBox="1"/>
          <p:nvPr/>
        </p:nvSpPr>
        <p:spPr>
          <a:xfrm>
            <a:off x="6870595" y="3110373"/>
            <a:ext cx="21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2F6992-A0B9-EE3E-08D9-0F649811B980}"/>
              </a:ext>
            </a:extLst>
          </p:cNvPr>
          <p:cNvSpPr txBox="1"/>
          <p:nvPr/>
        </p:nvSpPr>
        <p:spPr>
          <a:xfrm>
            <a:off x="7160157" y="3110373"/>
            <a:ext cx="21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888313-93BE-8559-6638-8649B33579B5}"/>
              </a:ext>
            </a:extLst>
          </p:cNvPr>
          <p:cNvSpPr txBox="1"/>
          <p:nvPr/>
        </p:nvSpPr>
        <p:spPr>
          <a:xfrm>
            <a:off x="4632690" y="3120312"/>
            <a:ext cx="470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-4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42EE43-57D3-7791-98A2-2311FB8384A5}"/>
              </a:ext>
            </a:extLst>
          </p:cNvPr>
          <p:cNvSpPr txBox="1"/>
          <p:nvPr/>
        </p:nvSpPr>
        <p:spPr>
          <a:xfrm>
            <a:off x="4976855" y="3120312"/>
            <a:ext cx="457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-3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A1152A-CC78-7853-314E-839767E15E78}"/>
              </a:ext>
            </a:extLst>
          </p:cNvPr>
          <p:cNvSpPr txBox="1"/>
          <p:nvPr/>
        </p:nvSpPr>
        <p:spPr>
          <a:xfrm>
            <a:off x="5290275" y="3119649"/>
            <a:ext cx="357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-2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3799DC-A401-7A8C-0376-F14025E47DE0}"/>
              </a:ext>
            </a:extLst>
          </p:cNvPr>
          <p:cNvSpPr txBox="1"/>
          <p:nvPr/>
        </p:nvSpPr>
        <p:spPr>
          <a:xfrm>
            <a:off x="5603362" y="3119649"/>
            <a:ext cx="350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-1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6640B4-3512-00C1-9B00-F4FA9D881408}"/>
              </a:ext>
            </a:extLst>
          </p:cNvPr>
          <p:cNvSpPr txBox="1"/>
          <p:nvPr/>
        </p:nvSpPr>
        <p:spPr>
          <a:xfrm>
            <a:off x="5752779" y="2589236"/>
            <a:ext cx="21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0C3FFC-2831-1FD7-755D-DECD08D35411}"/>
              </a:ext>
            </a:extLst>
          </p:cNvPr>
          <p:cNvSpPr txBox="1"/>
          <p:nvPr/>
        </p:nvSpPr>
        <p:spPr>
          <a:xfrm>
            <a:off x="5754104" y="2288004"/>
            <a:ext cx="21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76DDFE-A3F3-7E8B-6FF2-05A071CE0FED}"/>
              </a:ext>
            </a:extLst>
          </p:cNvPr>
          <p:cNvSpPr txBox="1"/>
          <p:nvPr/>
        </p:nvSpPr>
        <p:spPr>
          <a:xfrm>
            <a:off x="5762714" y="1983621"/>
            <a:ext cx="21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ECA04A-9764-18DF-3352-FC8FC8AF0053}"/>
              </a:ext>
            </a:extLst>
          </p:cNvPr>
          <p:cNvSpPr txBox="1"/>
          <p:nvPr/>
        </p:nvSpPr>
        <p:spPr>
          <a:xfrm>
            <a:off x="5778450" y="1682618"/>
            <a:ext cx="21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62A1A8-E284-66C4-5034-4DE518E4721F}"/>
              </a:ext>
            </a:extLst>
          </p:cNvPr>
          <p:cNvSpPr>
            <a:spLocks noChangeAspect="1"/>
          </p:cNvSpPr>
          <p:nvPr/>
        </p:nvSpPr>
        <p:spPr>
          <a:xfrm>
            <a:off x="6031065" y="2989043"/>
            <a:ext cx="108242" cy="10824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0B653B0-A767-819A-1F0A-AAE5666CD48E}"/>
              </a:ext>
            </a:extLst>
          </p:cNvPr>
          <p:cNvSpPr>
            <a:spLocks noChangeAspect="1"/>
          </p:cNvSpPr>
          <p:nvPr/>
        </p:nvSpPr>
        <p:spPr>
          <a:xfrm>
            <a:off x="4816099" y="2083793"/>
            <a:ext cx="108242" cy="10824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7721A80-8D8F-01F8-F544-3100731D660C}"/>
              </a:ext>
            </a:extLst>
          </p:cNvPr>
          <p:cNvCxnSpPr>
            <a:cxnSpLocks/>
          </p:cNvCxnSpPr>
          <p:nvPr/>
        </p:nvCxnSpPr>
        <p:spPr>
          <a:xfrm flipH="1" flipV="1">
            <a:off x="4872162" y="2140312"/>
            <a:ext cx="1211700" cy="9099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9D9F53-7A20-6E42-7CA4-7E7A1575378B}"/>
                  </a:ext>
                </a:extLst>
              </p:cNvPr>
              <p:cNvSpPr txBox="1"/>
              <p:nvPr/>
            </p:nvSpPr>
            <p:spPr>
              <a:xfrm>
                <a:off x="6508273" y="1915041"/>
                <a:ext cx="2404872" cy="616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L" sz="1600" dirty="0"/>
                  <a:t>Ejemplo: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−4,3</m:t>
                        </m:r>
                      </m:e>
                    </m:d>
                  </m:oMath>
                </a14:m>
                <a:endParaRPr lang="es-ES" sz="1600" dirty="0"/>
              </a:p>
              <a:p>
                <a:pPr algn="ctr"/>
                <a:endParaRPr lang="es-CL" sz="1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9D9F53-7A20-6E42-7CA4-7E7A15753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73" y="1915041"/>
                <a:ext cx="2404872" cy="616323"/>
              </a:xfrm>
              <a:prstGeom prst="rect">
                <a:avLst/>
              </a:prstGeom>
              <a:blipFill>
                <a:blip r:embed="rId4"/>
                <a:stretch>
                  <a:fillRect t="-792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62E3D49-83DF-8120-08B2-F47628AA7EF2}"/>
                  </a:ext>
                </a:extLst>
              </p:cNvPr>
              <p:cNvSpPr txBox="1"/>
              <p:nvPr/>
            </p:nvSpPr>
            <p:spPr>
              <a:xfrm>
                <a:off x="424748" y="3264562"/>
                <a:ext cx="1087074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600" b="1" dirty="0"/>
                  <a:t>Vectores unitarios</a:t>
                </a:r>
              </a:p>
              <a:p>
                <a:pPr algn="just"/>
                <a:r>
                  <a:rPr lang="es-MX" sz="1600" dirty="0"/>
                  <a:t>Un vector unitario es un vector de magnitud uno. En tres dimensiones, los vectores unitarios más comunes son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1,0,0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CL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CL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CL" sz="1600" b="0" dirty="0"/>
              </a:p>
              <a:p>
                <a:pPr algn="just"/>
                <a:r>
                  <a:rPr lang="es-ES" sz="1600" dirty="0"/>
                  <a:t>Y en dos dimensiones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CL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62E3D49-83DF-8120-08B2-F47628AA7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48" y="3264562"/>
                <a:ext cx="10870740" cy="1569660"/>
              </a:xfrm>
              <a:prstGeom prst="rect">
                <a:avLst/>
              </a:prstGeom>
              <a:blipFill>
                <a:blip r:embed="rId5"/>
                <a:stretch>
                  <a:fillRect l="-337" t="-1167" r="-280" b="-116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405DC52-0EF5-0F2F-C097-A4A457E87CA9}"/>
                  </a:ext>
                </a:extLst>
              </p:cNvPr>
              <p:cNvSpPr txBox="1"/>
              <p:nvPr/>
            </p:nvSpPr>
            <p:spPr>
              <a:xfrm>
                <a:off x="424748" y="4844169"/>
                <a:ext cx="10870740" cy="1714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600" b="1" dirty="0"/>
                  <a:t>Representación analítica</a:t>
                </a:r>
              </a:p>
              <a:p>
                <a:pPr algn="just"/>
                <a:r>
                  <a:rPr lang="es-MX" sz="1600" dirty="0"/>
                  <a:t>La representación analítica de un vector corresponde a escribir las coordenadas 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s-MX" sz="1600" dirty="0"/>
                  <a:t> respecto a los vectores unitarios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s-CL" sz="16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ES" sz="1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s-ES" sz="16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es-ES" sz="1600" dirty="0"/>
                  <a:t>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CL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s-ES" sz="1600" dirty="0"/>
              </a:p>
              <a:p>
                <a:pPr algn="just"/>
                <a:endParaRPr lang="es-ES" sz="1600" dirty="0"/>
              </a:p>
              <a:p>
                <a:pPr algn="just"/>
                <a:r>
                  <a:rPr lang="es-ES" sz="1600" dirty="0"/>
                  <a:t>Para el ejemplo de la figura anterior (en dos dimensiones), su representación analítica es: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=−4</m:t>
                    </m:r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CL" sz="1600" i="1" smtClean="0"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endParaRPr lang="es-ES" sz="16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405DC52-0EF5-0F2F-C097-A4A457E87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48" y="4844169"/>
                <a:ext cx="10870740" cy="1714444"/>
              </a:xfrm>
              <a:prstGeom prst="rect">
                <a:avLst/>
              </a:prstGeom>
              <a:blipFill>
                <a:blip r:embed="rId6"/>
                <a:stretch>
                  <a:fillRect l="-350" t="-735" r="-233" b="-294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CC4CDD6-6EE9-392B-B017-256B75AE4D4A}"/>
                  </a:ext>
                </a:extLst>
              </p:cNvPr>
              <p:cNvSpPr txBox="1"/>
              <p:nvPr/>
            </p:nvSpPr>
            <p:spPr>
              <a:xfrm>
                <a:off x="5166805" y="2117978"/>
                <a:ext cx="574146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CC4CDD6-6EE9-392B-B017-256B75AE4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805" y="2117978"/>
                <a:ext cx="574146" cy="404791"/>
              </a:xfrm>
              <a:prstGeom prst="rect">
                <a:avLst/>
              </a:prstGeom>
              <a:blipFill>
                <a:blip r:embed="rId7"/>
                <a:stretch>
                  <a:fillRect t="-20896" r="-2978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59848618-5E81-8B65-B6A6-FD5E1AA7DA62}"/>
              </a:ext>
            </a:extLst>
          </p:cNvPr>
          <p:cNvSpPr txBox="1"/>
          <p:nvPr/>
        </p:nvSpPr>
        <p:spPr>
          <a:xfrm>
            <a:off x="7841681" y="3039272"/>
            <a:ext cx="273619" cy="33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i="1" dirty="0"/>
              <a:t>x</a:t>
            </a:r>
            <a:endParaRPr lang="es-CL" i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382A6D-A353-6DDE-3722-38A55E429362}"/>
              </a:ext>
            </a:extLst>
          </p:cNvPr>
          <p:cNvSpPr txBox="1"/>
          <p:nvPr/>
        </p:nvSpPr>
        <p:spPr>
          <a:xfrm>
            <a:off x="5803349" y="1246191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i="1" dirty="0"/>
              <a:t>y</a:t>
            </a:r>
            <a:endParaRPr lang="es-CL" i="1" dirty="0"/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5CDF95CD-4D21-9996-C69A-F7EA9C61178A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16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2580839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7570-CA30-A7FB-BE8A-022417660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3772E56-225E-E081-A4D2-6A21B696B959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3A17C8E-5276-3375-92DB-3F7DAC315CC2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Vectores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EF6612-8DC2-A120-339A-58C8E61FEC6E}"/>
                  </a:ext>
                </a:extLst>
              </p:cNvPr>
              <p:cNvSpPr txBox="1"/>
              <p:nvPr/>
            </p:nvSpPr>
            <p:spPr>
              <a:xfrm>
                <a:off x="373936" y="819517"/>
                <a:ext cx="10870740" cy="475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600" b="1" dirty="0"/>
                  <a:t>Operaciones matemáticas</a:t>
                </a:r>
              </a:p>
              <a:p>
                <a:pPr algn="just"/>
                <a:endParaRPr lang="es-ES" sz="1600" b="1" dirty="0"/>
              </a:p>
              <a:p>
                <a:pPr algn="just"/>
                <a:r>
                  <a:rPr lang="es-ES" sz="1600" dirty="0"/>
                  <a:t>Sean los vectores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CL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s-ES" sz="16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CL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s-ES" sz="1600" dirty="0"/>
              </a:p>
              <a:p>
                <a:pPr algn="just"/>
                <a:endParaRPr lang="es-ES" sz="1600" dirty="0"/>
              </a:p>
              <a:p>
                <a:pPr algn="just"/>
                <a:r>
                  <a:rPr lang="es-ES" sz="1600" dirty="0"/>
                  <a:t>Y el escalar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E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s-ES" sz="1600" dirty="0"/>
              </a:p>
              <a:p>
                <a:pPr algn="just"/>
                <a:endParaRPr lang="es-ES" sz="1600" b="1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Suma y resta: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s-CL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s-CL" sz="16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CL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s-CL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s-CL" sz="16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s-CL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lang="es-CL" sz="1600" dirty="0"/>
              </a:p>
              <a:p>
                <a:pPr algn="just"/>
                <a:endParaRPr lang="es-CL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Multiplicación por escalar: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s-CL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s-CL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acc>
                      <m:accPr>
                        <m:chr m:val="̂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Módulo: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E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Descomposición de un vector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EF6612-8DC2-A120-339A-58C8E61FE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36" y="819517"/>
                <a:ext cx="10870740" cy="4757841"/>
              </a:xfrm>
              <a:prstGeom prst="rect">
                <a:avLst/>
              </a:prstGeom>
              <a:blipFill>
                <a:blip r:embed="rId3"/>
                <a:stretch>
                  <a:fillRect l="-350" t="-266" b="-7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504FCD9-E5C8-DB47-2117-417D33763FE2}"/>
              </a:ext>
            </a:extLst>
          </p:cNvPr>
          <p:cNvCxnSpPr>
            <a:cxnSpLocks/>
          </p:cNvCxnSpPr>
          <p:nvPr/>
        </p:nvCxnSpPr>
        <p:spPr>
          <a:xfrm flipV="1">
            <a:off x="4390313" y="4674261"/>
            <a:ext cx="0" cy="16459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44AE35D-194C-386B-8793-C248E368ACD6}"/>
              </a:ext>
            </a:extLst>
          </p:cNvPr>
          <p:cNvCxnSpPr>
            <a:cxnSpLocks/>
          </p:cNvCxnSpPr>
          <p:nvPr/>
        </p:nvCxnSpPr>
        <p:spPr>
          <a:xfrm>
            <a:off x="4175627" y="6114772"/>
            <a:ext cx="211504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238DB5-8735-FD51-77CD-7ED489F5589B}"/>
              </a:ext>
            </a:extLst>
          </p:cNvPr>
          <p:cNvCxnSpPr>
            <a:cxnSpLocks/>
          </p:cNvCxnSpPr>
          <p:nvPr/>
        </p:nvCxnSpPr>
        <p:spPr>
          <a:xfrm flipV="1">
            <a:off x="4386338" y="6003454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3C6C2F-449E-A56B-0500-2AC6F23FA038}"/>
              </a:ext>
            </a:extLst>
          </p:cNvPr>
          <p:cNvCxnSpPr>
            <a:cxnSpLocks/>
          </p:cNvCxnSpPr>
          <p:nvPr/>
        </p:nvCxnSpPr>
        <p:spPr>
          <a:xfrm flipV="1">
            <a:off x="4378837" y="5370001"/>
            <a:ext cx="1188269" cy="744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F097C4-CA1F-85BF-50D9-CE29D650D111}"/>
                  </a:ext>
                </a:extLst>
              </p:cNvPr>
              <p:cNvSpPr txBox="1"/>
              <p:nvPr/>
            </p:nvSpPr>
            <p:spPr>
              <a:xfrm>
                <a:off x="4781861" y="5340876"/>
                <a:ext cx="393698" cy="404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F097C4-CA1F-85BF-50D9-CE29D650D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861" y="5340876"/>
                <a:ext cx="393698" cy="404791"/>
              </a:xfrm>
              <a:prstGeom prst="rect">
                <a:avLst/>
              </a:prstGeom>
              <a:blipFill>
                <a:blip r:embed="rId4"/>
                <a:stretch>
                  <a:fillRect t="-20896" r="-3230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Arc 42">
            <a:extLst>
              <a:ext uri="{FF2B5EF4-FFF2-40B4-BE49-F238E27FC236}">
                <a16:creationId xmlns:a16="http://schemas.microsoft.com/office/drawing/2014/main" id="{6AC4AE9F-CE1D-8443-318F-ADD82D12E594}"/>
              </a:ext>
            </a:extLst>
          </p:cNvPr>
          <p:cNvSpPr>
            <a:spLocks noChangeAspect="1"/>
          </p:cNvSpPr>
          <p:nvPr/>
        </p:nvSpPr>
        <p:spPr>
          <a:xfrm rot="947026">
            <a:off x="4681741" y="5609983"/>
            <a:ext cx="786941" cy="786941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92CADF-A5C1-BF68-5C75-B7BCF1741DF1}"/>
              </a:ext>
            </a:extLst>
          </p:cNvPr>
          <p:cNvSpPr txBox="1"/>
          <p:nvPr/>
        </p:nvSpPr>
        <p:spPr>
          <a:xfrm>
            <a:off x="4862223" y="5738671"/>
            <a:ext cx="45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i="1" dirty="0"/>
              <a:t>α</a:t>
            </a:r>
            <a:endParaRPr lang="es-CL" i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2F6366-14FD-6B0A-95E9-E29DF4C7FD9A}"/>
              </a:ext>
            </a:extLst>
          </p:cNvPr>
          <p:cNvSpPr txBox="1"/>
          <p:nvPr/>
        </p:nvSpPr>
        <p:spPr>
          <a:xfrm>
            <a:off x="5962754" y="6041424"/>
            <a:ext cx="451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i="1" dirty="0"/>
              <a:t>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37505E-F2B5-0671-B3B9-D028ACBD5C00}"/>
              </a:ext>
            </a:extLst>
          </p:cNvPr>
          <p:cNvSpPr txBox="1"/>
          <p:nvPr/>
        </p:nvSpPr>
        <p:spPr>
          <a:xfrm>
            <a:off x="4053245" y="4565221"/>
            <a:ext cx="451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i="1" dirty="0"/>
              <a:t>y</a:t>
            </a:r>
            <a:endParaRPr lang="es-C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A6182D3-8607-961B-4ED7-607A6C9095A1}"/>
                  </a:ext>
                </a:extLst>
              </p:cNvPr>
              <p:cNvSpPr txBox="1"/>
              <p:nvPr/>
            </p:nvSpPr>
            <p:spPr>
              <a:xfrm>
                <a:off x="4447468" y="6188121"/>
                <a:ext cx="145618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CL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CL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s-CL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CL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s-CL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A6182D3-8607-961B-4ED7-607A6C909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468" y="6188121"/>
                <a:ext cx="145618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FFF49D-5026-9502-7464-0A3D8BB3A591}"/>
                  </a:ext>
                </a:extLst>
              </p:cNvPr>
              <p:cNvSpPr txBox="1"/>
              <p:nvPr/>
            </p:nvSpPr>
            <p:spPr>
              <a:xfrm>
                <a:off x="5541782" y="5566675"/>
                <a:ext cx="1456182" cy="357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CL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s-CL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CL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s-CL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FFF49D-5026-9502-7464-0A3D8BB3A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782" y="5566675"/>
                <a:ext cx="1456182" cy="357983"/>
              </a:xfrm>
              <a:prstGeom prst="rect">
                <a:avLst/>
              </a:prstGeom>
              <a:blipFill>
                <a:blip r:embed="rId6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DAD6BE6-F8DD-3D34-FEFB-FB3B0812F6C2}"/>
              </a:ext>
            </a:extLst>
          </p:cNvPr>
          <p:cNvCxnSpPr>
            <a:cxnSpLocks/>
          </p:cNvCxnSpPr>
          <p:nvPr/>
        </p:nvCxnSpPr>
        <p:spPr>
          <a:xfrm>
            <a:off x="4425245" y="6114772"/>
            <a:ext cx="114370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C88F084-B8E1-C900-73D0-16F12AEA5F41}"/>
              </a:ext>
            </a:extLst>
          </p:cNvPr>
          <p:cNvCxnSpPr>
            <a:cxnSpLocks/>
          </p:cNvCxnSpPr>
          <p:nvPr/>
        </p:nvCxnSpPr>
        <p:spPr>
          <a:xfrm flipH="1" flipV="1">
            <a:off x="5576630" y="5382701"/>
            <a:ext cx="2" cy="7200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CD85523-5B27-74B7-0999-1B54DCB7F29F}"/>
              </a:ext>
            </a:extLst>
          </p:cNvPr>
          <p:cNvCxnSpPr>
            <a:cxnSpLocks/>
          </p:cNvCxnSpPr>
          <p:nvPr/>
        </p:nvCxnSpPr>
        <p:spPr>
          <a:xfrm flipV="1">
            <a:off x="6756639" y="1300982"/>
            <a:ext cx="979070" cy="11600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F5D037B-2CE9-F8AE-F9B5-DD560D8E9D7B}"/>
              </a:ext>
            </a:extLst>
          </p:cNvPr>
          <p:cNvCxnSpPr>
            <a:cxnSpLocks/>
          </p:cNvCxnSpPr>
          <p:nvPr/>
        </p:nvCxnSpPr>
        <p:spPr>
          <a:xfrm flipV="1">
            <a:off x="6757821" y="2444727"/>
            <a:ext cx="205186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14334DF-7F5C-CD3D-D181-2CC8E41E2215}"/>
                  </a:ext>
                </a:extLst>
              </p:cNvPr>
              <p:cNvSpPr txBox="1"/>
              <p:nvPr/>
            </p:nvSpPr>
            <p:spPr>
              <a:xfrm>
                <a:off x="6868676" y="1569863"/>
                <a:ext cx="393698" cy="404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14334DF-7F5C-CD3D-D181-2CC8E41E2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676" y="1569863"/>
                <a:ext cx="393698" cy="404791"/>
              </a:xfrm>
              <a:prstGeom prst="rect">
                <a:avLst/>
              </a:prstGeom>
              <a:blipFill>
                <a:blip r:embed="rId7"/>
                <a:stretch>
                  <a:fillRect t="-21212" r="-3281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59F8B24-4156-B15F-D71A-0977C97DEA5E}"/>
                  </a:ext>
                </a:extLst>
              </p:cNvPr>
              <p:cNvSpPr txBox="1"/>
              <p:nvPr/>
            </p:nvSpPr>
            <p:spPr>
              <a:xfrm>
                <a:off x="7657594" y="2434872"/>
                <a:ext cx="404085" cy="402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59F8B24-4156-B15F-D71A-0977C97DE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594" y="2434872"/>
                <a:ext cx="404085" cy="4029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90C2C9B-1D2A-A57E-2D09-C07213193B2E}"/>
              </a:ext>
            </a:extLst>
          </p:cNvPr>
          <p:cNvCxnSpPr>
            <a:cxnSpLocks/>
          </p:cNvCxnSpPr>
          <p:nvPr/>
        </p:nvCxnSpPr>
        <p:spPr>
          <a:xfrm flipV="1">
            <a:off x="6789038" y="1337131"/>
            <a:ext cx="2854149" cy="111048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E2318B6-F50A-F7EF-9EC6-93CEFFE479A6}"/>
                  </a:ext>
                </a:extLst>
              </p:cNvPr>
              <p:cNvSpPr txBox="1"/>
              <p:nvPr/>
            </p:nvSpPr>
            <p:spPr>
              <a:xfrm>
                <a:off x="7735709" y="1427315"/>
                <a:ext cx="827919" cy="40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s-C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L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s-C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E2318B6-F50A-F7EF-9EC6-93CEFFE47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709" y="1427315"/>
                <a:ext cx="827919" cy="404791"/>
              </a:xfrm>
              <a:prstGeom prst="rect">
                <a:avLst/>
              </a:prstGeom>
              <a:blipFill>
                <a:blip r:embed="rId9"/>
                <a:stretch>
                  <a:fillRect t="-208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C7EE0ED-1E5A-159C-11C3-AA166E4DC14F}"/>
              </a:ext>
            </a:extLst>
          </p:cNvPr>
          <p:cNvCxnSpPr>
            <a:cxnSpLocks/>
          </p:cNvCxnSpPr>
          <p:nvPr/>
        </p:nvCxnSpPr>
        <p:spPr>
          <a:xfrm flipV="1">
            <a:off x="8780119" y="1290490"/>
            <a:ext cx="979070" cy="1160014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5D3DE8A-ABE5-AB4E-FDEB-ABFCA9D44943}"/>
              </a:ext>
            </a:extLst>
          </p:cNvPr>
          <p:cNvCxnSpPr>
            <a:cxnSpLocks/>
          </p:cNvCxnSpPr>
          <p:nvPr/>
        </p:nvCxnSpPr>
        <p:spPr>
          <a:xfrm flipV="1">
            <a:off x="7707325" y="1290490"/>
            <a:ext cx="2051864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4D746BF-40C9-8F49-D8FC-6A788526CCF0}"/>
              </a:ext>
            </a:extLst>
          </p:cNvPr>
          <p:cNvSpPr txBox="1"/>
          <p:nvPr/>
        </p:nvSpPr>
        <p:spPr>
          <a:xfrm>
            <a:off x="5859424" y="862281"/>
            <a:ext cx="18414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Representación geométrica de la suma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302E786-8BBD-5713-EE4A-FFC8049ED1BF}"/>
              </a:ext>
            </a:extLst>
          </p:cNvPr>
          <p:cNvSpPr txBox="1"/>
          <p:nvPr/>
        </p:nvSpPr>
        <p:spPr>
          <a:xfrm>
            <a:off x="9393178" y="1947103"/>
            <a:ext cx="20160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400" dirty="0"/>
              <a:t>Representación geométrica de la resta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355153F-93EE-E24F-6FF3-8F903DA5BD56}"/>
              </a:ext>
            </a:extLst>
          </p:cNvPr>
          <p:cNvCxnSpPr>
            <a:cxnSpLocks/>
          </p:cNvCxnSpPr>
          <p:nvPr/>
        </p:nvCxnSpPr>
        <p:spPr>
          <a:xfrm flipV="1">
            <a:off x="8966067" y="2528163"/>
            <a:ext cx="979070" cy="11600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B19DD96-24B4-9870-597E-9AC67E66F2AF}"/>
              </a:ext>
            </a:extLst>
          </p:cNvPr>
          <p:cNvCxnSpPr>
            <a:cxnSpLocks/>
          </p:cNvCxnSpPr>
          <p:nvPr/>
        </p:nvCxnSpPr>
        <p:spPr>
          <a:xfrm flipV="1">
            <a:off x="8958892" y="3679033"/>
            <a:ext cx="205186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22557BE-A92F-E3EA-CA51-17F8ECB044F2}"/>
                  </a:ext>
                </a:extLst>
              </p:cNvPr>
              <p:cNvSpPr txBox="1"/>
              <p:nvPr/>
            </p:nvSpPr>
            <p:spPr>
              <a:xfrm>
                <a:off x="9069747" y="2804169"/>
                <a:ext cx="393698" cy="404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22557BE-A92F-E3EA-CA51-17F8ECB04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747" y="2804169"/>
                <a:ext cx="393698" cy="404791"/>
              </a:xfrm>
              <a:prstGeom prst="rect">
                <a:avLst/>
              </a:prstGeom>
              <a:blipFill>
                <a:blip r:embed="rId10"/>
                <a:stretch>
                  <a:fillRect t="-21212" r="-3281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AED79BC-D35D-47D7-6DD8-23D805E8E4E1}"/>
                  </a:ext>
                </a:extLst>
              </p:cNvPr>
              <p:cNvSpPr txBox="1"/>
              <p:nvPr/>
            </p:nvSpPr>
            <p:spPr>
              <a:xfrm>
                <a:off x="9858665" y="3669178"/>
                <a:ext cx="404085" cy="402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AED79BC-D35D-47D7-6DD8-23D805E8E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665" y="3669178"/>
                <a:ext cx="404085" cy="4029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830CF42-84DE-6A1E-1340-ECA24E3FC55C}"/>
              </a:ext>
            </a:extLst>
          </p:cNvPr>
          <p:cNvCxnSpPr>
            <a:cxnSpLocks/>
          </p:cNvCxnSpPr>
          <p:nvPr/>
        </p:nvCxnSpPr>
        <p:spPr>
          <a:xfrm flipH="1" flipV="1">
            <a:off x="9975680" y="2517108"/>
            <a:ext cx="1025932" cy="111189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89D4B92-B4BE-5CBA-F757-86338582A696}"/>
                  </a:ext>
                </a:extLst>
              </p:cNvPr>
              <p:cNvSpPr txBox="1"/>
              <p:nvPr/>
            </p:nvSpPr>
            <p:spPr>
              <a:xfrm>
                <a:off x="10596796" y="2678734"/>
                <a:ext cx="827919" cy="404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s-C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L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s-C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89D4B92-B4BE-5CBA-F757-86338582A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796" y="2678734"/>
                <a:ext cx="827919" cy="404791"/>
              </a:xfrm>
              <a:prstGeom prst="rect">
                <a:avLst/>
              </a:prstGeom>
              <a:blipFill>
                <a:blip r:embed="rId12"/>
                <a:stretch>
                  <a:fillRect t="-208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BD4E0E6-E3FB-8189-8131-52E07E9E6AE2}"/>
              </a:ext>
            </a:extLst>
          </p:cNvPr>
          <p:cNvCxnSpPr>
            <a:cxnSpLocks/>
          </p:cNvCxnSpPr>
          <p:nvPr/>
        </p:nvCxnSpPr>
        <p:spPr>
          <a:xfrm flipV="1">
            <a:off x="8708665" y="4438358"/>
            <a:ext cx="375107" cy="69791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78D7361-A259-1C20-59D2-08A9FAB9B93E}"/>
                  </a:ext>
                </a:extLst>
              </p:cNvPr>
              <p:cNvSpPr txBox="1"/>
              <p:nvPr/>
            </p:nvSpPr>
            <p:spPr>
              <a:xfrm>
                <a:off x="8502520" y="4476830"/>
                <a:ext cx="393698" cy="404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78D7361-A259-1C20-59D2-08A9FAB9B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520" y="4476830"/>
                <a:ext cx="393698" cy="404791"/>
              </a:xfrm>
              <a:prstGeom prst="rect">
                <a:avLst/>
              </a:prstGeom>
              <a:blipFill>
                <a:blip r:embed="rId13"/>
                <a:stretch>
                  <a:fillRect t="-20896" r="-3281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Arrow: Right 92">
            <a:extLst>
              <a:ext uri="{FF2B5EF4-FFF2-40B4-BE49-F238E27FC236}">
                <a16:creationId xmlns:a16="http://schemas.microsoft.com/office/drawing/2014/main" id="{21B8FDA2-0A18-C5C2-4734-EBB7A75B5672}"/>
              </a:ext>
            </a:extLst>
          </p:cNvPr>
          <p:cNvSpPr/>
          <p:nvPr/>
        </p:nvSpPr>
        <p:spPr>
          <a:xfrm>
            <a:off x="8983372" y="4729136"/>
            <a:ext cx="520726" cy="30851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A91113E-B902-D441-9708-E6289BE403F1}"/>
              </a:ext>
            </a:extLst>
          </p:cNvPr>
          <p:cNvCxnSpPr>
            <a:cxnSpLocks/>
          </p:cNvCxnSpPr>
          <p:nvPr/>
        </p:nvCxnSpPr>
        <p:spPr>
          <a:xfrm flipV="1">
            <a:off x="9992986" y="4292922"/>
            <a:ext cx="516416" cy="95931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CE51F75-FBA8-95A8-4DF2-34EE5344C9F0}"/>
                  </a:ext>
                </a:extLst>
              </p:cNvPr>
              <p:cNvSpPr txBox="1"/>
              <p:nvPr/>
            </p:nvSpPr>
            <p:spPr>
              <a:xfrm>
                <a:off x="9572660" y="4515302"/>
                <a:ext cx="625364" cy="404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CL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L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es-C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CE51F75-FBA8-95A8-4DF2-34EE5344C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2660" y="4515302"/>
                <a:ext cx="625364" cy="404791"/>
              </a:xfrm>
              <a:prstGeom prst="rect">
                <a:avLst/>
              </a:prstGeom>
              <a:blipFill>
                <a:blip r:embed="rId14"/>
                <a:stretch>
                  <a:fillRect t="-21212" r="-46602" b="-151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509401E2-48CD-22CF-B1E0-6EE77E93B6E1}"/>
              </a:ext>
            </a:extLst>
          </p:cNvPr>
          <p:cNvSpPr txBox="1"/>
          <p:nvPr/>
        </p:nvSpPr>
        <p:spPr>
          <a:xfrm>
            <a:off x="7312663" y="3934180"/>
            <a:ext cx="27438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Representación geométrica de la multiplicación por escalar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55">
                <a:extLst>
                  <a:ext uri="{FF2B5EF4-FFF2-40B4-BE49-F238E27FC236}">
                    <a16:creationId xmlns:a16="http://schemas.microsoft.com/office/drawing/2014/main" id="{D063E51B-5A73-FBA8-7581-4725D81F63A2}"/>
                  </a:ext>
                </a:extLst>
              </p:cNvPr>
              <p:cNvSpPr txBox="1"/>
              <p:nvPr/>
            </p:nvSpPr>
            <p:spPr>
              <a:xfrm>
                <a:off x="7536233" y="5467284"/>
                <a:ext cx="3092010" cy="603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CL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CL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𝐶𝑎𝑡</m:t>
                          </m:r>
                          <m:r>
                            <a:rPr lang="es-E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s-E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𝑂𝑝𝑢𝑒𝑠𝑡𝑜</m:t>
                          </m:r>
                        </m:num>
                        <m:den>
                          <m:r>
                            <a:rPr lang="es-E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𝐻𝑖𝑝𝑜𝑡𝑒𝑛𝑢𝑠𝑎</m:t>
                          </m:r>
                        </m:den>
                      </m:f>
                      <m:r>
                        <a:rPr lang="es-E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s-E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s-CL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55">
                <a:extLst>
                  <a:ext uri="{FF2B5EF4-FFF2-40B4-BE49-F238E27FC236}">
                    <a16:creationId xmlns:a16="http://schemas.microsoft.com/office/drawing/2014/main" id="{D063E51B-5A73-FBA8-7581-4725D81F6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233" y="5467284"/>
                <a:ext cx="3092010" cy="603114"/>
              </a:xfrm>
              <a:prstGeom prst="rect">
                <a:avLst/>
              </a:prstGeom>
              <a:blipFill>
                <a:blip r:embed="rId15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54">
                <a:extLst>
                  <a:ext uri="{FF2B5EF4-FFF2-40B4-BE49-F238E27FC236}">
                    <a16:creationId xmlns:a16="http://schemas.microsoft.com/office/drawing/2014/main" id="{4B9E580D-A960-FBCA-CA8F-88DDE3171F36}"/>
                  </a:ext>
                </a:extLst>
              </p:cNvPr>
              <p:cNvSpPr txBox="1"/>
              <p:nvPr/>
            </p:nvSpPr>
            <p:spPr>
              <a:xfrm>
                <a:off x="7581606" y="6088730"/>
                <a:ext cx="3245419" cy="601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CL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CL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𝐶𝑎𝑡</m:t>
                          </m:r>
                          <m:r>
                            <a:rPr lang="es-E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s-E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𝐴𝑑𝑦𝑎𝑐𝑒𝑛𝑡𝑒</m:t>
                          </m:r>
                        </m:num>
                        <m:den>
                          <m:r>
                            <a:rPr lang="es-E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𝐻𝑖𝑝𝑜𝑡𝑒𝑛𝑢𝑠𝑎</m:t>
                          </m:r>
                        </m:den>
                      </m:f>
                      <m:r>
                        <a:rPr lang="es-E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s-E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s-CL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54">
                <a:extLst>
                  <a:ext uri="{FF2B5EF4-FFF2-40B4-BE49-F238E27FC236}">
                    <a16:creationId xmlns:a16="http://schemas.microsoft.com/office/drawing/2014/main" id="{4B9E580D-A960-FBCA-CA8F-88DDE3171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606" y="6088730"/>
                <a:ext cx="3245419" cy="601318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arcador de número de diapositiva 2">
            <a:extLst>
              <a:ext uri="{FF2B5EF4-FFF2-40B4-BE49-F238E27FC236}">
                <a16:creationId xmlns:a16="http://schemas.microsoft.com/office/drawing/2014/main" id="{67BE0794-9FF1-7BC8-0CF6-572F7AB0154D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17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326479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9E11-EAA6-D99B-5A00-72619D68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oducto vectorial fórmulas y propiedades - Neurochispas">
            <a:extLst>
              <a:ext uri="{FF2B5EF4-FFF2-40B4-BE49-F238E27FC236}">
                <a16:creationId xmlns:a16="http://schemas.microsoft.com/office/drawing/2014/main" id="{E63242B1-962F-46F6-0C2D-DC9D975D7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3069" y="1962606"/>
            <a:ext cx="2437742" cy="216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6E53EC-59D1-20EA-8F28-C08B3B86ED75}"/>
              </a:ext>
            </a:extLst>
          </p:cNvPr>
          <p:cNvSpPr txBox="1"/>
          <p:nvPr/>
        </p:nvSpPr>
        <p:spPr>
          <a:xfrm>
            <a:off x="698204" y="830427"/>
            <a:ext cx="50343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/>
              <a:t>Producto Punto</a:t>
            </a:r>
          </a:p>
          <a:p>
            <a:pPr algn="just"/>
            <a:r>
              <a:rPr lang="es-ES" sz="1600" dirty="0"/>
              <a:t>Es la operación matemática que toma dos vectores y entrega un escalar. </a:t>
            </a:r>
            <a:endParaRPr lang="es-MX" sz="1600" dirty="0"/>
          </a:p>
          <a:p>
            <a:pPr algn="just"/>
            <a:endParaRPr lang="es-MX" sz="1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A73CD81-901E-B2CE-9F8D-E5A47386019C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CA7009C-6328-4B08-33CD-9CDC80497EDD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Vectores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145FA8-85EB-AC3D-DE37-DA5C4E44010D}"/>
              </a:ext>
            </a:extLst>
          </p:cNvPr>
          <p:cNvCxnSpPr>
            <a:cxnSpLocks/>
          </p:cNvCxnSpPr>
          <p:nvPr/>
        </p:nvCxnSpPr>
        <p:spPr>
          <a:xfrm flipV="1">
            <a:off x="2179183" y="2197327"/>
            <a:ext cx="0" cy="1884458"/>
          </a:xfrm>
          <a:prstGeom prst="straightConnector1">
            <a:avLst/>
          </a:prstGeom>
          <a:ln w="1651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96BE97-FA27-54FC-CBE3-57DE2E7E74F4}"/>
              </a:ext>
            </a:extLst>
          </p:cNvPr>
          <p:cNvCxnSpPr>
            <a:cxnSpLocks/>
          </p:cNvCxnSpPr>
          <p:nvPr/>
        </p:nvCxnSpPr>
        <p:spPr>
          <a:xfrm flipV="1">
            <a:off x="559527" y="3438231"/>
            <a:ext cx="2604644" cy="42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0DC8B3-2680-3EB0-F547-C1E8AF8E6469}"/>
              </a:ext>
            </a:extLst>
          </p:cNvPr>
          <p:cNvCxnSpPr>
            <a:cxnSpLocks/>
          </p:cNvCxnSpPr>
          <p:nvPr/>
        </p:nvCxnSpPr>
        <p:spPr>
          <a:xfrm flipV="1">
            <a:off x="559527" y="2187111"/>
            <a:ext cx="1624764" cy="12602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72E0DE-9350-DC61-3A21-0344888A5E40}"/>
                  </a:ext>
                </a:extLst>
              </p:cNvPr>
              <p:cNvSpPr txBox="1"/>
              <p:nvPr/>
            </p:nvSpPr>
            <p:spPr>
              <a:xfrm>
                <a:off x="1946547" y="1820123"/>
                <a:ext cx="574146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72E0DE-9350-DC61-3A21-0344888A5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547" y="1820123"/>
                <a:ext cx="574146" cy="404791"/>
              </a:xfrm>
              <a:prstGeom prst="rect">
                <a:avLst/>
              </a:prstGeom>
              <a:blipFill>
                <a:blip r:embed="rId4"/>
                <a:stretch>
                  <a:fillRect t="-12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CB66EED2-0EBF-4BD0-D0C3-C885D222E5D4}"/>
              </a:ext>
            </a:extLst>
          </p:cNvPr>
          <p:cNvSpPr>
            <a:spLocks noChangeAspect="1"/>
          </p:cNvSpPr>
          <p:nvPr/>
        </p:nvSpPr>
        <p:spPr>
          <a:xfrm rot="947026">
            <a:off x="688926" y="2945672"/>
            <a:ext cx="786941" cy="786941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A91683-A044-68E1-2410-A628E1F2C21A}"/>
                  </a:ext>
                </a:extLst>
              </p:cNvPr>
              <p:cNvSpPr txBox="1"/>
              <p:nvPr/>
            </p:nvSpPr>
            <p:spPr>
              <a:xfrm>
                <a:off x="953190" y="3068899"/>
                <a:ext cx="382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A91683-A044-68E1-2410-A628E1F2C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90" y="3068899"/>
                <a:ext cx="3821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382E10-A57C-75F4-4B7D-F196528BFF7B}"/>
                  </a:ext>
                </a:extLst>
              </p:cNvPr>
              <p:cNvSpPr txBox="1"/>
              <p:nvPr/>
            </p:nvSpPr>
            <p:spPr>
              <a:xfrm>
                <a:off x="911619" y="3722737"/>
                <a:ext cx="1113323" cy="427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E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L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s-ES" sz="1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s-E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MX" sz="1800" dirty="0">
                    <a:solidFill>
                      <a:srgbClr val="FF0000"/>
                    </a:solidFill>
                  </a:rPr>
                  <a:t> </a:t>
                </a:r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382E10-A57C-75F4-4B7D-F196528BF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19" y="3722737"/>
                <a:ext cx="1113323" cy="427040"/>
              </a:xfrm>
              <a:prstGeom prst="rect">
                <a:avLst/>
              </a:prstGeom>
              <a:blipFill>
                <a:blip r:embed="rId6"/>
                <a:stretch>
                  <a:fillRect t="-147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45FA85-7E46-1762-B0A0-83E163D39EA9}"/>
                  </a:ext>
                </a:extLst>
              </p:cNvPr>
              <p:cNvSpPr txBox="1"/>
              <p:nvPr/>
            </p:nvSpPr>
            <p:spPr>
              <a:xfrm>
                <a:off x="3092951" y="3207589"/>
                <a:ext cx="379335" cy="368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s-CL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45FA85-7E46-1762-B0A0-83E163D39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951" y="3207589"/>
                <a:ext cx="379335" cy="3684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19537A2E-3D2D-4F14-E751-FFBD947D6E5E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18</a:t>
            </a:fld>
            <a:endParaRPr lang="es-CL" sz="1200"/>
          </a:p>
        </p:txBody>
      </p:sp>
      <p:cxnSp>
        <p:nvCxnSpPr>
          <p:cNvPr id="7" name="Straight Arrow Connector 8">
            <a:extLst>
              <a:ext uri="{FF2B5EF4-FFF2-40B4-BE49-F238E27FC236}">
                <a16:creationId xmlns:a16="http://schemas.microsoft.com/office/drawing/2014/main" id="{544A8E87-967E-CDB3-44BF-5D20CC89166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9828" y="3432127"/>
            <a:ext cx="0" cy="648000"/>
          </a:xfrm>
          <a:prstGeom prst="straightConnector1">
            <a:avLst/>
          </a:prstGeom>
          <a:ln w="1651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8">
            <a:extLst>
              <a:ext uri="{FF2B5EF4-FFF2-40B4-BE49-F238E27FC236}">
                <a16:creationId xmlns:a16="http://schemas.microsoft.com/office/drawing/2014/main" id="{C8A228CA-7B74-0D11-EBA7-E4073C0A7717}"/>
              </a:ext>
            </a:extLst>
          </p:cNvPr>
          <p:cNvCxnSpPr>
            <a:cxnSpLocks/>
          </p:cNvCxnSpPr>
          <p:nvPr/>
        </p:nvCxnSpPr>
        <p:spPr>
          <a:xfrm rot="-5400000" flipV="1">
            <a:off x="1369527" y="2947614"/>
            <a:ext cx="0" cy="1620000"/>
          </a:xfrm>
          <a:prstGeom prst="straightConnector1">
            <a:avLst/>
          </a:prstGeom>
          <a:ln w="1651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21">
                <a:extLst>
                  <a:ext uri="{FF2B5EF4-FFF2-40B4-BE49-F238E27FC236}">
                    <a16:creationId xmlns:a16="http://schemas.microsoft.com/office/drawing/2014/main" id="{4595C58E-97F3-F055-8F57-7EA02A5555C0}"/>
                  </a:ext>
                </a:extLst>
              </p:cNvPr>
              <p:cNvSpPr txBox="1"/>
              <p:nvPr/>
            </p:nvSpPr>
            <p:spPr>
              <a:xfrm>
                <a:off x="3676799" y="2014087"/>
                <a:ext cx="1721562" cy="3701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func>
                        <m:func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s-CL" i="1" dirty="0"/>
              </a:p>
            </p:txBody>
          </p:sp>
        </mc:Choice>
        <mc:Fallback xmlns="">
          <p:sp>
            <p:nvSpPr>
              <p:cNvPr id="16" name="TextBox 21">
                <a:extLst>
                  <a:ext uri="{FF2B5EF4-FFF2-40B4-BE49-F238E27FC236}">
                    <a16:creationId xmlns:a16="http://schemas.microsoft.com/office/drawing/2014/main" id="{4595C58E-97F3-F055-8F57-7EA02A555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799" y="2014087"/>
                <a:ext cx="1721562" cy="370101"/>
              </a:xfrm>
              <a:prstGeom prst="rect">
                <a:avLst/>
              </a:prstGeom>
              <a:blipFill>
                <a:blip r:embed="rId8"/>
                <a:stretch>
                  <a:fillRect t="-16667" b="-1333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18">
                <a:extLst>
                  <a:ext uri="{FF2B5EF4-FFF2-40B4-BE49-F238E27FC236}">
                    <a16:creationId xmlns:a16="http://schemas.microsoft.com/office/drawing/2014/main" id="{F8B6BE84-6224-BCA2-1AE6-E8BCBDBEAA03}"/>
                  </a:ext>
                </a:extLst>
              </p:cNvPr>
              <p:cNvSpPr txBox="1"/>
              <p:nvPr/>
            </p:nvSpPr>
            <p:spPr>
              <a:xfrm>
                <a:off x="3583504" y="2499544"/>
                <a:ext cx="2149080" cy="1138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600" dirty="0"/>
                  <a:t>siendo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600" dirty="0"/>
                  <a:t>el ángulo que forman los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s-MX" sz="1600" dirty="0"/>
                  <a:t> 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6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s-MX" sz="1600" dirty="0"/>
              </a:p>
              <a:p>
                <a:endParaRPr lang="es-MX" sz="1600" dirty="0"/>
              </a:p>
            </p:txBody>
          </p:sp>
        </mc:Choice>
        <mc:Fallback xmlns="">
          <p:sp>
            <p:nvSpPr>
              <p:cNvPr id="23" name="TextBox 18">
                <a:extLst>
                  <a:ext uri="{FF2B5EF4-FFF2-40B4-BE49-F238E27FC236}">
                    <a16:creationId xmlns:a16="http://schemas.microsoft.com/office/drawing/2014/main" id="{F8B6BE84-6224-BCA2-1AE6-E8BCBDBEA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504" y="2499544"/>
                <a:ext cx="2149080" cy="1138710"/>
              </a:xfrm>
              <a:prstGeom prst="rect">
                <a:avLst/>
              </a:prstGeom>
              <a:blipFill>
                <a:blip r:embed="rId9"/>
                <a:stretch>
                  <a:fillRect l="-1765" t="-109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1">
                <a:extLst>
                  <a:ext uri="{FF2B5EF4-FFF2-40B4-BE49-F238E27FC236}">
                    <a16:creationId xmlns:a16="http://schemas.microsoft.com/office/drawing/2014/main" id="{4F07859F-F777-FD7D-7BA0-9CD0D4E0EB0E}"/>
                  </a:ext>
                </a:extLst>
              </p:cNvPr>
              <p:cNvSpPr txBox="1"/>
              <p:nvPr/>
            </p:nvSpPr>
            <p:spPr>
              <a:xfrm>
                <a:off x="559527" y="4523538"/>
                <a:ext cx="5173051" cy="1595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600" b="0" dirty="0"/>
                  <a:t>Este es un producto conmutativo, y cumple con las </a:t>
                </a:r>
                <a:r>
                  <a:rPr lang="es-ES" sz="1600" dirty="0"/>
                  <a:t>propiedades:</a:t>
                </a:r>
              </a:p>
              <a:p>
                <a:endParaRPr lang="es-E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=1;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=1;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=1  </m:t>
                      </m:r>
                    </m:oMath>
                  </m:oMathPara>
                </a14:m>
                <a:endParaRPr lang="es-CL" sz="1600" i="1" dirty="0"/>
              </a:p>
              <a:p>
                <a:endParaRPr lang="es-CL" sz="16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=0;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L" sz="1600" i="1" dirty="0"/>
              </a:p>
            </p:txBody>
          </p:sp>
        </mc:Choice>
        <mc:Fallback xmlns="">
          <p:sp>
            <p:nvSpPr>
              <p:cNvPr id="24" name="TextBox 21">
                <a:extLst>
                  <a:ext uri="{FF2B5EF4-FFF2-40B4-BE49-F238E27FC236}">
                    <a16:creationId xmlns:a16="http://schemas.microsoft.com/office/drawing/2014/main" id="{4F07859F-F777-FD7D-7BA0-9CD0D4E0E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27" y="4523538"/>
                <a:ext cx="5173051" cy="1595950"/>
              </a:xfrm>
              <a:prstGeom prst="rect">
                <a:avLst/>
              </a:prstGeom>
              <a:blipFill>
                <a:blip r:embed="rId10"/>
                <a:stretch>
                  <a:fillRect l="-735" t="-1587" b="-23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1">
                <a:extLst>
                  <a:ext uri="{FF2B5EF4-FFF2-40B4-BE49-F238E27FC236}">
                    <a16:creationId xmlns:a16="http://schemas.microsoft.com/office/drawing/2014/main" id="{899A4C28-4B0B-A8AD-A866-F44C30548C56}"/>
                  </a:ext>
                </a:extLst>
              </p:cNvPr>
              <p:cNvSpPr txBox="1"/>
              <p:nvPr/>
            </p:nvSpPr>
            <p:spPr>
              <a:xfrm>
                <a:off x="3578397" y="3639949"/>
                <a:ext cx="1430007" cy="654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s-CL" i="1" dirty="0"/>
              </a:p>
            </p:txBody>
          </p:sp>
        </mc:Choice>
        <mc:Fallback xmlns="">
          <p:sp>
            <p:nvSpPr>
              <p:cNvPr id="25" name="TextBox 21">
                <a:extLst>
                  <a:ext uri="{FF2B5EF4-FFF2-40B4-BE49-F238E27FC236}">
                    <a16:creationId xmlns:a16="http://schemas.microsoft.com/office/drawing/2014/main" id="{899A4C28-4B0B-A8AD-A866-F44C3054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397" y="3639949"/>
                <a:ext cx="1430007" cy="654603"/>
              </a:xfrm>
              <a:prstGeom prst="rect">
                <a:avLst/>
              </a:prstGeom>
              <a:blipFill>
                <a:blip r:embed="rId11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18">
                <a:extLst>
                  <a:ext uri="{FF2B5EF4-FFF2-40B4-BE49-F238E27FC236}">
                    <a16:creationId xmlns:a16="http://schemas.microsoft.com/office/drawing/2014/main" id="{77FA78E9-CAE2-D4A9-4DFE-DC5F45BC9941}"/>
                  </a:ext>
                </a:extLst>
              </p:cNvPr>
              <p:cNvSpPr txBox="1"/>
              <p:nvPr/>
            </p:nvSpPr>
            <p:spPr>
              <a:xfrm>
                <a:off x="6445358" y="830427"/>
                <a:ext cx="5034377" cy="1867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600" b="1" dirty="0"/>
                  <a:t>Producto Cruz</a:t>
                </a:r>
              </a:p>
              <a:p>
                <a:pPr algn="just"/>
                <a:r>
                  <a:rPr lang="es-ES" sz="1600" dirty="0"/>
                  <a:t>Es la operación matemática que toma dos vectores y entrega otro vector. </a:t>
                </a:r>
              </a:p>
              <a:p>
                <a:pPr algn="just"/>
                <a:endParaRPr lang="es-ES" sz="1600" dirty="0"/>
              </a:p>
              <a:p>
                <a:pPr algn="just"/>
                <a:r>
                  <a:rPr lang="es-ES" sz="1600" dirty="0"/>
                  <a:t>Magnitud: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ES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× </m:t>
                        </m:r>
                        <m:acc>
                          <m:accPr>
                            <m:chr m:val="⃗"/>
                            <m:ctrlP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𝐵</m:t>
                    </m:r>
                    <m:func>
                      <m:funcPr>
                        <m:ctrlPr>
                          <a:rPr lang="es-E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s-CL" sz="1600" i="1" dirty="0"/>
              </a:p>
              <a:p>
                <a:pPr algn="just"/>
                <a:endParaRPr lang="es-MX" sz="1600" dirty="0"/>
              </a:p>
              <a:p>
                <a:pPr algn="just"/>
                <a:endParaRPr lang="es-MX" sz="1600" dirty="0"/>
              </a:p>
            </p:txBody>
          </p:sp>
        </mc:Choice>
        <mc:Fallback xmlns="">
          <p:sp>
            <p:nvSpPr>
              <p:cNvPr id="26" name="TextBox 18">
                <a:extLst>
                  <a:ext uri="{FF2B5EF4-FFF2-40B4-BE49-F238E27FC236}">
                    <a16:creationId xmlns:a16="http://schemas.microsoft.com/office/drawing/2014/main" id="{77FA78E9-CAE2-D4A9-4DFE-DC5F45BC9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358" y="830427"/>
                <a:ext cx="5034377" cy="1867178"/>
              </a:xfrm>
              <a:prstGeom prst="rect">
                <a:avLst/>
              </a:prstGeom>
              <a:blipFill>
                <a:blip r:embed="rId12"/>
                <a:stretch>
                  <a:fillRect l="-756" t="-1351" r="-7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1">
                <a:extLst>
                  <a:ext uri="{FF2B5EF4-FFF2-40B4-BE49-F238E27FC236}">
                    <a16:creationId xmlns:a16="http://schemas.microsoft.com/office/drawing/2014/main" id="{A3C310F2-2160-B0B3-89F8-977DE1990EF6}"/>
                  </a:ext>
                </a:extLst>
              </p:cNvPr>
              <p:cNvSpPr txBox="1"/>
              <p:nvPr/>
            </p:nvSpPr>
            <p:spPr>
              <a:xfrm>
                <a:off x="6445358" y="4523538"/>
                <a:ext cx="5173051" cy="2101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600" b="0" dirty="0"/>
                  <a:t>Este es un producto no conmutativo entonces:</a:t>
                </a:r>
                <a:endParaRPr lang="es-ES" sz="1600" dirty="0"/>
              </a:p>
              <a:p>
                <a:endParaRPr lang="es-E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=0;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CL" sz="1600" i="1" dirty="0"/>
              </a:p>
              <a:p>
                <a:endParaRPr lang="es-CL" sz="16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;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;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s-CL" sz="1600" i="1" dirty="0"/>
              </a:p>
              <a:p>
                <a:endParaRPr lang="es-CL" sz="16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;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;      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s-CL" sz="1600" i="1" dirty="0"/>
              </a:p>
              <a:p>
                <a:endParaRPr lang="es-CL" sz="1600" i="1" dirty="0"/>
              </a:p>
            </p:txBody>
          </p:sp>
        </mc:Choice>
        <mc:Fallback xmlns="">
          <p:sp>
            <p:nvSpPr>
              <p:cNvPr id="27" name="TextBox 21">
                <a:extLst>
                  <a:ext uri="{FF2B5EF4-FFF2-40B4-BE49-F238E27FC236}">
                    <a16:creationId xmlns:a16="http://schemas.microsoft.com/office/drawing/2014/main" id="{A3C310F2-2160-B0B3-89F8-977DE1990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358" y="4523538"/>
                <a:ext cx="5173051" cy="2101537"/>
              </a:xfrm>
              <a:prstGeom prst="rect">
                <a:avLst/>
              </a:prstGeom>
              <a:blipFill>
                <a:blip r:embed="rId13"/>
                <a:stretch>
                  <a:fillRect l="-735" t="-12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18">
                <a:extLst>
                  <a:ext uri="{FF2B5EF4-FFF2-40B4-BE49-F238E27FC236}">
                    <a16:creationId xmlns:a16="http://schemas.microsoft.com/office/drawing/2014/main" id="{E356A2EC-A7C8-B394-145A-8625B1272C7D}"/>
                  </a:ext>
                </a:extLst>
              </p:cNvPr>
              <p:cNvSpPr txBox="1"/>
              <p:nvPr/>
            </p:nvSpPr>
            <p:spPr>
              <a:xfrm>
                <a:off x="6486884" y="2499544"/>
                <a:ext cx="2149080" cy="1138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600" dirty="0"/>
                  <a:t>siendo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600" dirty="0"/>
                  <a:t>el ángulo que forman los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s-MX" sz="1600" dirty="0"/>
                  <a:t> 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6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s-MX" sz="1600" dirty="0"/>
              </a:p>
              <a:p>
                <a:endParaRPr lang="es-MX" sz="1600" dirty="0"/>
              </a:p>
            </p:txBody>
          </p:sp>
        </mc:Choice>
        <mc:Fallback xmlns="">
          <p:sp>
            <p:nvSpPr>
              <p:cNvPr id="28" name="TextBox 18">
                <a:extLst>
                  <a:ext uri="{FF2B5EF4-FFF2-40B4-BE49-F238E27FC236}">
                    <a16:creationId xmlns:a16="http://schemas.microsoft.com/office/drawing/2014/main" id="{E356A2EC-A7C8-B394-145A-8625B1272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884" y="2499544"/>
                <a:ext cx="2149080" cy="1138710"/>
              </a:xfrm>
              <a:prstGeom prst="rect">
                <a:avLst/>
              </a:prstGeom>
              <a:blipFill>
                <a:blip r:embed="rId14"/>
                <a:stretch>
                  <a:fillRect l="-1170" t="-109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18">
            <a:extLst>
              <a:ext uri="{FF2B5EF4-FFF2-40B4-BE49-F238E27FC236}">
                <a16:creationId xmlns:a16="http://schemas.microsoft.com/office/drawing/2014/main" id="{210EB05E-AE8E-3B68-D70A-604C9A77DC94}"/>
              </a:ext>
            </a:extLst>
          </p:cNvPr>
          <p:cNvSpPr txBox="1"/>
          <p:nvPr/>
        </p:nvSpPr>
        <p:spPr>
          <a:xfrm>
            <a:off x="10123922" y="3824805"/>
            <a:ext cx="1702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regla de la mano derecha</a:t>
            </a:r>
            <a:endParaRPr lang="es-MX" sz="1600" dirty="0"/>
          </a:p>
          <a:p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418937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D303-CC08-47A2-93CF-BBD9D3EB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996D35D-8D64-402D-795D-4177EBCD42D1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9E4A763-F91A-EE38-7492-AA83B9AF0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417620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Vectores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B12C9-3808-2E48-CE24-7222C08E3F9D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286386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 </a:t>
                </a:r>
                <a:r>
                  <a:rPr lang="en-US" sz="1600" dirty="0" err="1"/>
                  <a:t>Considere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los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vectores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figura</a:t>
                </a:r>
                <a:r>
                  <a:rPr lang="en-US" sz="1600" dirty="0"/>
                  <a:t>.</a:t>
                </a:r>
              </a:p>
              <a:p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Escriba </a:t>
                </a: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representación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analítica</a:t>
                </a:r>
                <a:r>
                  <a:rPr lang="en-US" sz="1600" dirty="0"/>
                  <a:t>.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 err="1"/>
                  <a:t>Calcule</a:t>
                </a:r>
                <a:r>
                  <a:rPr lang="en-US" sz="1600" dirty="0"/>
                  <a:t> la </a:t>
                </a:r>
                <a:r>
                  <a:rPr lang="en-US" sz="1600" dirty="0" err="1"/>
                  <a:t>suma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Calcule la resta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 err="1"/>
                  <a:t>Calcule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módulo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cada</a:t>
                </a:r>
                <a:r>
                  <a:rPr lang="en-US" sz="1600" dirty="0"/>
                  <a:t> vector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B12C9-3808-2E48-CE24-7222C08E3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2863861"/>
              </a:xfrm>
              <a:prstGeom prst="rect">
                <a:avLst/>
              </a:prstGeom>
              <a:blipFill>
                <a:blip r:embed="rId3"/>
                <a:stretch>
                  <a:fillRect l="-334" t="-44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C91E63-63BD-EFC3-20C1-A90973B7E95F}"/>
              </a:ext>
            </a:extLst>
          </p:cNvPr>
          <p:cNvCxnSpPr>
            <a:cxnSpLocks/>
          </p:cNvCxnSpPr>
          <p:nvPr/>
        </p:nvCxnSpPr>
        <p:spPr>
          <a:xfrm flipV="1">
            <a:off x="9069709" y="855067"/>
            <a:ext cx="11476" cy="2623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1EA24B-A87D-E317-E335-CC6C26D15752}"/>
              </a:ext>
            </a:extLst>
          </p:cNvPr>
          <p:cNvCxnSpPr>
            <a:cxnSpLocks/>
          </p:cNvCxnSpPr>
          <p:nvPr/>
        </p:nvCxnSpPr>
        <p:spPr>
          <a:xfrm flipV="1">
            <a:off x="7626096" y="2294917"/>
            <a:ext cx="2441050" cy="6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230BE9-9739-13FF-412D-C14E2B9E862C}"/>
              </a:ext>
            </a:extLst>
          </p:cNvPr>
          <p:cNvCxnSpPr>
            <a:cxnSpLocks/>
          </p:cNvCxnSpPr>
          <p:nvPr/>
        </p:nvCxnSpPr>
        <p:spPr>
          <a:xfrm flipV="1">
            <a:off x="9077210" y="2184260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1C1387-C78E-65C1-24E2-D9F6E2FF77F4}"/>
              </a:ext>
            </a:extLst>
          </p:cNvPr>
          <p:cNvCxnSpPr>
            <a:cxnSpLocks/>
          </p:cNvCxnSpPr>
          <p:nvPr/>
        </p:nvCxnSpPr>
        <p:spPr>
          <a:xfrm flipH="1" flipV="1">
            <a:off x="8397373" y="1268535"/>
            <a:ext cx="672336" cy="10263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6B373F5-B9C1-70CD-0BB4-F37790CB7940}"/>
              </a:ext>
            </a:extLst>
          </p:cNvPr>
          <p:cNvSpPr txBox="1"/>
          <p:nvPr/>
        </p:nvSpPr>
        <p:spPr>
          <a:xfrm>
            <a:off x="7929081" y="14370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A=15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074D997-9954-7E7B-625E-D0630DC2D640}"/>
              </a:ext>
            </a:extLst>
          </p:cNvPr>
          <p:cNvSpPr>
            <a:spLocks noChangeAspect="1"/>
          </p:cNvSpPr>
          <p:nvPr/>
        </p:nvSpPr>
        <p:spPr>
          <a:xfrm rot="10239192">
            <a:off x="8612017" y="2225711"/>
            <a:ext cx="786941" cy="786941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2F1577-7646-6327-D686-9872AC8C3277}"/>
              </a:ext>
            </a:extLst>
          </p:cNvPr>
          <p:cNvSpPr txBox="1"/>
          <p:nvPr/>
        </p:nvSpPr>
        <p:spPr>
          <a:xfrm>
            <a:off x="8391190" y="1954656"/>
            <a:ext cx="685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60°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CCB9EE-26B3-FBD3-7CA4-4BFBC253EDA4}"/>
              </a:ext>
            </a:extLst>
          </p:cNvPr>
          <p:cNvSpPr txBox="1"/>
          <p:nvPr/>
        </p:nvSpPr>
        <p:spPr>
          <a:xfrm>
            <a:off x="9754612" y="2249849"/>
            <a:ext cx="45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/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3EDDCA-4271-12CC-E9E1-766AE1CC7E59}"/>
              </a:ext>
            </a:extLst>
          </p:cNvPr>
          <p:cNvSpPr txBox="1"/>
          <p:nvPr/>
        </p:nvSpPr>
        <p:spPr>
          <a:xfrm>
            <a:off x="8744117" y="746027"/>
            <a:ext cx="45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/>
              <a:t>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3C24E86-A8E8-AF1B-8BB4-FAFD3217AB03}"/>
              </a:ext>
            </a:extLst>
          </p:cNvPr>
          <p:cNvCxnSpPr>
            <a:cxnSpLocks/>
          </p:cNvCxnSpPr>
          <p:nvPr/>
        </p:nvCxnSpPr>
        <p:spPr>
          <a:xfrm flipH="1">
            <a:off x="8397373" y="2302348"/>
            <a:ext cx="682108" cy="5460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F7DE2BC-0BCE-88CD-154E-078900FF7197}"/>
              </a:ext>
            </a:extLst>
          </p:cNvPr>
          <p:cNvSpPr txBox="1"/>
          <p:nvPr/>
        </p:nvSpPr>
        <p:spPr>
          <a:xfrm>
            <a:off x="8579802" y="2536363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40°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49CA59C3-13D2-913A-7D2D-31C617DDB782}"/>
              </a:ext>
            </a:extLst>
          </p:cNvPr>
          <p:cNvSpPr>
            <a:spLocks noChangeAspect="1"/>
          </p:cNvSpPr>
          <p:nvPr/>
        </p:nvSpPr>
        <p:spPr>
          <a:xfrm rot="15213794">
            <a:off x="8440734" y="1775693"/>
            <a:ext cx="786941" cy="786941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E24692-EB55-D62E-7FAC-8D5E3897D2B6}"/>
              </a:ext>
            </a:extLst>
          </p:cNvPr>
          <p:cNvSpPr txBox="1"/>
          <p:nvPr/>
        </p:nvSpPr>
        <p:spPr>
          <a:xfrm>
            <a:off x="7978420" y="2356742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B=10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BF06067A-9D3B-D27B-72C0-E3C2331F6F7F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19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315368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3F49-07D4-3B5C-E15B-0925DB033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07694B8-1089-BC4C-83C2-A32E60B81884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002A80D-A36E-FC79-BF35-0FB2274FD22A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Vectores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30DF3F-F798-6B52-5E63-CCFD504F186A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451707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 </a:t>
                </a:r>
                <a:r>
                  <a:rPr lang="en-US" sz="1600" dirty="0" err="1"/>
                  <a:t>Considere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los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vectores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figura</a:t>
                </a:r>
                <a:r>
                  <a:rPr lang="en-US" sz="1600" dirty="0"/>
                  <a:t>.</a:t>
                </a:r>
              </a:p>
              <a:p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Escriba </a:t>
                </a: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representación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analítica</a:t>
                </a:r>
                <a:r>
                  <a:rPr lang="en-US" sz="1600" dirty="0"/>
                  <a:t>.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 err="1"/>
                  <a:t>Calcule</a:t>
                </a:r>
                <a:r>
                  <a:rPr lang="en-US" sz="1600" dirty="0"/>
                  <a:t> la </a:t>
                </a:r>
                <a:r>
                  <a:rPr lang="en-US" sz="1600" dirty="0" err="1"/>
                  <a:t>suma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Calcule la resta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 err="1"/>
                  <a:t>Calcule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modulo de </a:t>
                </a:r>
                <a:r>
                  <a:rPr lang="en-US" sz="1600" dirty="0" err="1"/>
                  <a:t>cada</a:t>
                </a:r>
                <a:r>
                  <a:rPr lang="en-US" sz="1600" dirty="0"/>
                  <a:t> vector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r>
                  <a:rPr lang="en-US" sz="1600" b="1" dirty="0"/>
                  <a:t>Desarrollo</a:t>
                </a:r>
              </a:p>
              <a:p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 err="1"/>
                  <a:t>Representación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analítica</a:t>
                </a:r>
                <a:r>
                  <a:rPr lang="en-US" sz="1600" dirty="0"/>
                  <a:t> </a:t>
                </a:r>
                <a:endParaRPr lang="es-CL" sz="1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=−15</m:t>
                    </m:r>
                    <m:func>
                      <m:func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L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60°</m:t>
                            </m:r>
                          </m:e>
                        </m:d>
                      </m:e>
                    </m:func>
                    <m:acc>
                      <m:accPr>
                        <m:chr m:val="̂"/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+15</m:t>
                    </m:r>
                    <m:func>
                      <m:funcPr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L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60°</m:t>
                            </m:r>
                          </m:e>
                        </m:d>
                      </m:e>
                    </m:func>
                    <m:acc>
                      <m:accPr>
                        <m:chr m:val="̂"/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=−7.5</m:t>
                    </m:r>
                    <m:acc>
                      <m:accPr>
                        <m:chr m:val="̂"/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+13</m:t>
                    </m:r>
                    <m:acc>
                      <m:accPr>
                        <m:chr m:val="̂"/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sz="16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s-CL" sz="16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0°</m:t>
                              </m:r>
                            </m:e>
                          </m:d>
                        </m:e>
                      </m:func>
                      <m:acc>
                        <m:accPr>
                          <m:chr m:val="̂"/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−10</m:t>
                      </m:r>
                      <m:func>
                        <m:func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0°</m:t>
                              </m:r>
                            </m:e>
                          </m:d>
                        </m:e>
                      </m:func>
                      <m:acc>
                        <m:accPr>
                          <m:chr m:val="̂"/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CL" sz="1600" b="0" i="0" smtClean="0">
                          <a:latin typeface="Cambria Math" panose="02040503050406030204" pitchFamily="18" charset="0"/>
                        </a:rPr>
                        <m:t>=−6.43</m:t>
                      </m:r>
                      <m:acc>
                        <m:accPr>
                          <m:chr m:val="̂"/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−7.66</m:t>
                      </m:r>
                      <m:acc>
                        <m:accPr>
                          <m:chr m:val="̂"/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 startAt="2"/>
                </a:pPr>
                <a:r>
                  <a:rPr lang="en-US" sz="1600" dirty="0"/>
                  <a:t>Suma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13.93</m:t>
                    </m:r>
                    <m:acc>
                      <m:accPr>
                        <m:chr m:val="̂"/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+5.34</m:t>
                    </m:r>
                    <m:acc>
                      <m:accPr>
                        <m:chr m:val="̂"/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 startAt="2"/>
                </a:pPr>
                <a:r>
                  <a:rPr lang="en-US" sz="1600" dirty="0"/>
                  <a:t>Resta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=−1.07</m:t>
                    </m:r>
                    <m:acc>
                      <m:accPr>
                        <m:chr m:val="̂"/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+20.66</m:t>
                    </m:r>
                    <m:acc>
                      <m:accPr>
                        <m:chr m:val="̂"/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 startAt="2"/>
                </a:pPr>
                <a:r>
                  <a:rPr lang="en-US" sz="1600" dirty="0" err="1"/>
                  <a:t>Módulo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CL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 startAt="2"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30DF3F-F798-6B52-5E63-CCFD504F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4517070"/>
              </a:xfrm>
              <a:prstGeom prst="rect">
                <a:avLst/>
              </a:prstGeom>
              <a:blipFill>
                <a:blip r:embed="rId3"/>
                <a:stretch>
                  <a:fillRect l="-334" t="-27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22">
            <a:extLst>
              <a:ext uri="{FF2B5EF4-FFF2-40B4-BE49-F238E27FC236}">
                <a16:creationId xmlns:a16="http://schemas.microsoft.com/office/drawing/2014/main" id="{480DFD27-CFC8-55BB-F3AE-74FDD566AAF5}"/>
              </a:ext>
            </a:extLst>
          </p:cNvPr>
          <p:cNvCxnSpPr>
            <a:cxnSpLocks/>
          </p:cNvCxnSpPr>
          <p:nvPr/>
        </p:nvCxnSpPr>
        <p:spPr>
          <a:xfrm flipV="1">
            <a:off x="9069709" y="855067"/>
            <a:ext cx="11476" cy="2623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23">
            <a:extLst>
              <a:ext uri="{FF2B5EF4-FFF2-40B4-BE49-F238E27FC236}">
                <a16:creationId xmlns:a16="http://schemas.microsoft.com/office/drawing/2014/main" id="{31A2777E-E02F-839E-CF11-63C1F6946CFB}"/>
              </a:ext>
            </a:extLst>
          </p:cNvPr>
          <p:cNvCxnSpPr>
            <a:cxnSpLocks/>
          </p:cNvCxnSpPr>
          <p:nvPr/>
        </p:nvCxnSpPr>
        <p:spPr>
          <a:xfrm flipV="1">
            <a:off x="7626096" y="2294917"/>
            <a:ext cx="2441050" cy="6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24">
            <a:extLst>
              <a:ext uri="{FF2B5EF4-FFF2-40B4-BE49-F238E27FC236}">
                <a16:creationId xmlns:a16="http://schemas.microsoft.com/office/drawing/2014/main" id="{86B9E3F4-0502-0F88-C3F2-455F0504F9FD}"/>
              </a:ext>
            </a:extLst>
          </p:cNvPr>
          <p:cNvCxnSpPr>
            <a:cxnSpLocks/>
          </p:cNvCxnSpPr>
          <p:nvPr/>
        </p:nvCxnSpPr>
        <p:spPr>
          <a:xfrm flipV="1">
            <a:off x="9077210" y="2184260"/>
            <a:ext cx="0" cy="2226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25">
            <a:extLst>
              <a:ext uri="{FF2B5EF4-FFF2-40B4-BE49-F238E27FC236}">
                <a16:creationId xmlns:a16="http://schemas.microsoft.com/office/drawing/2014/main" id="{5ABD8885-35EA-EC1E-DCFD-DBDCC705842D}"/>
              </a:ext>
            </a:extLst>
          </p:cNvPr>
          <p:cNvCxnSpPr>
            <a:cxnSpLocks/>
          </p:cNvCxnSpPr>
          <p:nvPr/>
        </p:nvCxnSpPr>
        <p:spPr>
          <a:xfrm flipH="1" flipV="1">
            <a:off x="8397373" y="1268535"/>
            <a:ext cx="672336" cy="10263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26">
            <a:extLst>
              <a:ext uri="{FF2B5EF4-FFF2-40B4-BE49-F238E27FC236}">
                <a16:creationId xmlns:a16="http://schemas.microsoft.com/office/drawing/2014/main" id="{EF4367EF-90D3-A517-1E6F-4419C6D3D563}"/>
              </a:ext>
            </a:extLst>
          </p:cNvPr>
          <p:cNvSpPr txBox="1"/>
          <p:nvPr/>
        </p:nvSpPr>
        <p:spPr>
          <a:xfrm>
            <a:off x="7929081" y="14370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A=15</a:t>
            </a:r>
          </a:p>
        </p:txBody>
      </p:sp>
      <p:sp>
        <p:nvSpPr>
          <p:cNvPr id="10" name="Arc 27">
            <a:extLst>
              <a:ext uri="{FF2B5EF4-FFF2-40B4-BE49-F238E27FC236}">
                <a16:creationId xmlns:a16="http://schemas.microsoft.com/office/drawing/2014/main" id="{C7A8D93B-163F-3EF5-22EA-3F8F86436A9D}"/>
              </a:ext>
            </a:extLst>
          </p:cNvPr>
          <p:cNvSpPr>
            <a:spLocks noChangeAspect="1"/>
          </p:cNvSpPr>
          <p:nvPr/>
        </p:nvSpPr>
        <p:spPr>
          <a:xfrm rot="10239192">
            <a:off x="8612017" y="2225711"/>
            <a:ext cx="786941" cy="786941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424E64AE-133C-2DBE-FB8C-4B25A4972EB2}"/>
              </a:ext>
            </a:extLst>
          </p:cNvPr>
          <p:cNvSpPr txBox="1"/>
          <p:nvPr/>
        </p:nvSpPr>
        <p:spPr>
          <a:xfrm>
            <a:off x="8391190" y="1954656"/>
            <a:ext cx="685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60°</a:t>
            </a:r>
          </a:p>
        </p:txBody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050E15E9-3C63-1239-AC32-310B8589F555}"/>
              </a:ext>
            </a:extLst>
          </p:cNvPr>
          <p:cNvSpPr txBox="1"/>
          <p:nvPr/>
        </p:nvSpPr>
        <p:spPr>
          <a:xfrm>
            <a:off x="9754612" y="2249849"/>
            <a:ext cx="45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/>
              <a:t>x</a:t>
            </a:r>
          </a:p>
        </p:txBody>
      </p:sp>
      <p:sp>
        <p:nvSpPr>
          <p:cNvPr id="13" name="TextBox 30">
            <a:extLst>
              <a:ext uri="{FF2B5EF4-FFF2-40B4-BE49-F238E27FC236}">
                <a16:creationId xmlns:a16="http://schemas.microsoft.com/office/drawing/2014/main" id="{E4B99E6C-9C8A-0E28-92C9-680AED9203C9}"/>
              </a:ext>
            </a:extLst>
          </p:cNvPr>
          <p:cNvSpPr txBox="1"/>
          <p:nvPr/>
        </p:nvSpPr>
        <p:spPr>
          <a:xfrm>
            <a:off x="8744117" y="746027"/>
            <a:ext cx="45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/>
              <a:t>y</a:t>
            </a:r>
          </a:p>
        </p:txBody>
      </p:sp>
      <p:cxnSp>
        <p:nvCxnSpPr>
          <p:cNvPr id="14" name="Straight Arrow Connector 31">
            <a:extLst>
              <a:ext uri="{FF2B5EF4-FFF2-40B4-BE49-F238E27FC236}">
                <a16:creationId xmlns:a16="http://schemas.microsoft.com/office/drawing/2014/main" id="{9151F357-B3DF-8CBA-9A5E-281089DA7A98}"/>
              </a:ext>
            </a:extLst>
          </p:cNvPr>
          <p:cNvCxnSpPr>
            <a:cxnSpLocks/>
          </p:cNvCxnSpPr>
          <p:nvPr/>
        </p:nvCxnSpPr>
        <p:spPr>
          <a:xfrm flipH="1">
            <a:off x="8397373" y="2302348"/>
            <a:ext cx="682108" cy="5460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32">
            <a:extLst>
              <a:ext uri="{FF2B5EF4-FFF2-40B4-BE49-F238E27FC236}">
                <a16:creationId xmlns:a16="http://schemas.microsoft.com/office/drawing/2014/main" id="{02F0CB6A-5B1A-E69C-542E-702646688C06}"/>
              </a:ext>
            </a:extLst>
          </p:cNvPr>
          <p:cNvSpPr txBox="1"/>
          <p:nvPr/>
        </p:nvSpPr>
        <p:spPr>
          <a:xfrm>
            <a:off x="8579802" y="2536363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40°</a:t>
            </a:r>
          </a:p>
        </p:txBody>
      </p:sp>
      <p:sp>
        <p:nvSpPr>
          <p:cNvPr id="16" name="Arc 33">
            <a:extLst>
              <a:ext uri="{FF2B5EF4-FFF2-40B4-BE49-F238E27FC236}">
                <a16:creationId xmlns:a16="http://schemas.microsoft.com/office/drawing/2014/main" id="{D2808CBE-B72F-F39B-A3FC-FE75A48F625B}"/>
              </a:ext>
            </a:extLst>
          </p:cNvPr>
          <p:cNvSpPr>
            <a:spLocks noChangeAspect="1"/>
          </p:cNvSpPr>
          <p:nvPr/>
        </p:nvSpPr>
        <p:spPr>
          <a:xfrm rot="15213794">
            <a:off x="8440734" y="1775693"/>
            <a:ext cx="786941" cy="786941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64B27BAC-0B7B-11DB-C375-DB33A2386738}"/>
              </a:ext>
            </a:extLst>
          </p:cNvPr>
          <p:cNvSpPr txBox="1"/>
          <p:nvPr/>
        </p:nvSpPr>
        <p:spPr>
          <a:xfrm>
            <a:off x="7978420" y="2356742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B=10</a:t>
            </a:r>
          </a:p>
        </p:txBody>
      </p:sp>
      <p:sp>
        <p:nvSpPr>
          <p:cNvPr id="18" name="Marcador de número de diapositiva 2">
            <a:extLst>
              <a:ext uri="{FF2B5EF4-FFF2-40B4-BE49-F238E27FC236}">
                <a16:creationId xmlns:a16="http://schemas.microsoft.com/office/drawing/2014/main" id="{439C265F-7C60-5313-5C93-71C5AF63387D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20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2600946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9E11-EAA6-D99B-5A00-72619D68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6E53EC-59D1-20EA-8F28-C08B3B86ED75}"/>
                  </a:ext>
                </a:extLst>
              </p:cNvPr>
              <p:cNvSpPr txBox="1"/>
              <p:nvPr/>
            </p:nvSpPr>
            <p:spPr>
              <a:xfrm>
                <a:off x="346504" y="830427"/>
                <a:ext cx="10870740" cy="4985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600" b="1" dirty="0"/>
                  <a:t>Representación polar</a:t>
                </a:r>
              </a:p>
              <a:p>
                <a:pPr algn="just"/>
                <a:r>
                  <a:rPr lang="es-MX" sz="1600" dirty="0"/>
                  <a:t>En el sistema de coordenadas polares,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s-CL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1600" dirty="0"/>
                  <a:t> es representado por</a:t>
                </a:r>
              </a:p>
              <a:p>
                <a:pPr algn="just"/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</m:oMath>
                </a14:m>
                <a:r>
                  <a:rPr lang="es-MX" sz="1600" dirty="0"/>
                  <a:t>: Distancia desde el origen al punto de coordenadas cartesianas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L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s-CL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1600" dirty="0"/>
                  <a:t>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θ: Á</a:t>
                </a:r>
                <a:r>
                  <a:rPr lang="es-MX" sz="1600" dirty="0"/>
                  <a:t>ngulo entre una línea dibujada desde el origen del sistema al punto en consideración y un eje dado (generalmente el eje-x positivo). El ángulo es medido en el sentido antihorario desde ese eje.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s-MX" sz="1600" dirty="0"/>
              </a:p>
              <a:p>
                <a:pPr algn="just"/>
                <a:r>
                  <a:rPr lang="es-MX" sz="1600" dirty="0"/>
                  <a:t>Para calcular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MX" sz="1600" dirty="0"/>
                  <a:t> y </a:t>
                </a:r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 </a:t>
                </a:r>
                <a:r>
                  <a:rPr lang="es-MX" sz="1600" dirty="0"/>
                  <a:t>se utilizan las siguientes ecuaciones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L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L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L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L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CL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s-MX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CL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L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𝑎𝑟𝑐𝑡𝑎𝑛</m:t>
                    </m:r>
                    <m:d>
                      <m:dPr>
                        <m:ctrlPr>
                          <a:rPr lang="es-CL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CL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L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s-CL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endParaRPr lang="es-MX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6E53EC-59D1-20EA-8F28-C08B3B86E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04" y="830427"/>
                <a:ext cx="10870740" cy="4985788"/>
              </a:xfrm>
              <a:prstGeom prst="rect">
                <a:avLst/>
              </a:prstGeom>
              <a:blipFill>
                <a:blip r:embed="rId3"/>
                <a:stretch>
                  <a:fillRect l="-350" t="-509" r="-23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EA73CD81-901E-B2CE-9F8D-E5A47386019C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CA7009C-6328-4B08-33CD-9CDC80497EDD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Vectores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145FA8-85EB-AC3D-DE37-DA5C4E44010D}"/>
              </a:ext>
            </a:extLst>
          </p:cNvPr>
          <p:cNvCxnSpPr>
            <a:cxnSpLocks/>
          </p:cNvCxnSpPr>
          <p:nvPr/>
        </p:nvCxnSpPr>
        <p:spPr>
          <a:xfrm flipV="1">
            <a:off x="5921602" y="2772365"/>
            <a:ext cx="0" cy="18844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96BE97-FA27-54FC-CBE3-57DE2E7E74F4}"/>
              </a:ext>
            </a:extLst>
          </p:cNvPr>
          <p:cNvCxnSpPr>
            <a:cxnSpLocks/>
          </p:cNvCxnSpPr>
          <p:nvPr/>
        </p:nvCxnSpPr>
        <p:spPr>
          <a:xfrm>
            <a:off x="4022565" y="4451414"/>
            <a:ext cx="379939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0DC8B3-2680-3EB0-F547-C1E8AF8E6469}"/>
              </a:ext>
            </a:extLst>
          </p:cNvPr>
          <p:cNvCxnSpPr>
            <a:cxnSpLocks/>
          </p:cNvCxnSpPr>
          <p:nvPr/>
        </p:nvCxnSpPr>
        <p:spPr>
          <a:xfrm flipV="1">
            <a:off x="5919270" y="3199631"/>
            <a:ext cx="1624764" cy="12602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72E0DE-9350-DC61-3A21-0344888A5E40}"/>
                  </a:ext>
                </a:extLst>
              </p:cNvPr>
              <p:cNvSpPr txBox="1"/>
              <p:nvPr/>
            </p:nvSpPr>
            <p:spPr>
              <a:xfrm>
                <a:off x="7306290" y="2832643"/>
                <a:ext cx="574146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72E0DE-9350-DC61-3A21-0344888A5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290" y="2832643"/>
                <a:ext cx="574146" cy="404791"/>
              </a:xfrm>
              <a:prstGeom prst="rect">
                <a:avLst/>
              </a:prstGeom>
              <a:blipFill>
                <a:blip r:embed="rId4"/>
                <a:stretch>
                  <a:fillRect t="-21212" r="-2978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CB66EED2-0EBF-4BD0-D0C3-C885D222E5D4}"/>
              </a:ext>
            </a:extLst>
          </p:cNvPr>
          <p:cNvSpPr>
            <a:spLocks noChangeAspect="1"/>
          </p:cNvSpPr>
          <p:nvPr/>
        </p:nvSpPr>
        <p:spPr>
          <a:xfrm rot="947026">
            <a:off x="6048669" y="3958192"/>
            <a:ext cx="786941" cy="786941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A91683-A044-68E1-2410-A628E1F2C21A}"/>
                  </a:ext>
                </a:extLst>
              </p:cNvPr>
              <p:cNvSpPr txBox="1"/>
              <p:nvPr/>
            </p:nvSpPr>
            <p:spPr>
              <a:xfrm>
                <a:off x="6312933" y="4081419"/>
                <a:ext cx="382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A91683-A044-68E1-2410-A628E1F2C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933" y="4081419"/>
                <a:ext cx="3821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382E10-A57C-75F4-4B7D-F196528BFF7B}"/>
                  </a:ext>
                </a:extLst>
              </p:cNvPr>
              <p:cNvSpPr txBox="1"/>
              <p:nvPr/>
            </p:nvSpPr>
            <p:spPr>
              <a:xfrm>
                <a:off x="6041136" y="3175449"/>
                <a:ext cx="1113323" cy="427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L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CL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s-E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E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L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</m:oMath>
                </a14:m>
                <a:r>
                  <a:rPr lang="es-MX" sz="1800" dirty="0">
                    <a:solidFill>
                      <a:srgbClr val="FF0000"/>
                    </a:solidFill>
                  </a:rPr>
                  <a:t> </a:t>
                </a:r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382E10-A57C-75F4-4B7D-F196528BF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136" y="3175449"/>
                <a:ext cx="1113323" cy="427040"/>
              </a:xfrm>
              <a:prstGeom prst="rect">
                <a:avLst/>
              </a:prstGeom>
              <a:blipFill>
                <a:blip r:embed="rId6"/>
                <a:stretch>
                  <a:fillRect t="-20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800CBABC-6652-9D01-41A3-46210144F561}"/>
              </a:ext>
            </a:extLst>
          </p:cNvPr>
          <p:cNvSpPr/>
          <p:nvPr/>
        </p:nvSpPr>
        <p:spPr>
          <a:xfrm rot="3163235">
            <a:off x="6607444" y="2763737"/>
            <a:ext cx="124351" cy="1893679"/>
          </a:xfrm>
          <a:prstGeom prst="leftBrace">
            <a:avLst>
              <a:gd name="adj1" fmla="val 45203"/>
              <a:gd name="adj2" fmla="val 48556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D58B6F-3FDA-4775-F3CA-666932C71071}"/>
              </a:ext>
            </a:extLst>
          </p:cNvPr>
          <p:cNvSpPr txBox="1"/>
          <p:nvPr/>
        </p:nvSpPr>
        <p:spPr>
          <a:xfrm>
            <a:off x="5625600" y="2677583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i="1" dirty="0"/>
              <a:t>y</a:t>
            </a:r>
            <a:endParaRPr lang="es-CL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45FA85-7E46-1762-B0A0-83E163D39EA9}"/>
              </a:ext>
            </a:extLst>
          </p:cNvPr>
          <p:cNvSpPr txBox="1"/>
          <p:nvPr/>
        </p:nvSpPr>
        <p:spPr>
          <a:xfrm>
            <a:off x="7795872" y="4247249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i="1" dirty="0"/>
              <a:t>x</a:t>
            </a:r>
            <a:endParaRPr lang="es-CL" i="1" dirty="0"/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19537A2E-3D2D-4F14-E751-FFBD947D6E5E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21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25595122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3">
      <a:majorFont>
        <a:latin typeface="Calibri Ligh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ED9FA7-1573-4D4C-874A-E7039CDF8A48}">
  <we:reference id="wa104381909" version="3.15.0.0" store="en-US" storeType="OMEX"/>
  <we:alternateReferences>
    <we:reference id="wa104381909" version="3.15.0.0" store="wa104381909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tyle mathsize=\\\&quot;16px\\\&quot;&gt;&lt;mo&gt;$&lt;/mo&gt;&lt;mi&gt;x&lt;/mi&gt;&lt;mfenced&gt;&lt;mi&gt;t&lt;/mi&gt;&lt;/mfenced&gt;&lt;mo&gt;=&lt;/mo&gt;&lt;msub&gt;&lt;mi&gt;x&lt;/mi&gt;&lt;mi&gt;i&lt;/mi&gt;&lt;/msub&gt;&lt;mo&gt;+&lt;/mo&gt;&lt;msub&gt;&lt;mi&gt;v&lt;/mi&gt;&lt;mi&gt;i&lt;/mi&gt;&lt;/msub&gt;&lt;mfenced&gt;&lt;mrow&gt;&lt;mi&gt;t&lt;/mi&gt;&lt;mo&gt;-&lt;/mo&gt;&lt;msub&gt;&lt;mi&gt;t&lt;/mi&gt;&lt;mi&gt;i&lt;/mi&gt;&lt;/msub&gt;&lt;/mrow&gt;&lt;/mfenced&gt;&lt;mo&gt;+&lt;/mo&gt;&lt;mo&gt;\\\\&lt;/mo&gt;&lt;mi&gt;f&lt;/mi&gt;&lt;mi&gt;r&lt;/mi&gt;&lt;mi&gt;a&lt;/mi&gt;&lt;mi&gt;c&lt;/mi&gt;&lt;mfenced open=\\\&quot;{\\\&quot; close=\\\&quot;}\\\&quot;&gt;&lt;mn&gt;1&lt;/mn&gt;&lt;/mfenced&gt;&lt;mfenced open=\\\&quot;{\\\&quot; close=\\\&quot;}\\\&quot;&gt;&lt;mn&gt;2&lt;/mn&gt;&lt;/mfenced&gt;&lt;msup&gt;&lt;mfenced&gt;&lt;mrow&gt;&lt;mi&gt;t&lt;/mi&gt;&lt;mo&gt;-&lt;/mo&gt;&lt;msub&gt;&lt;mi&gt;t&lt;/mi&gt;&lt;mi&gt;i&lt;/mi&gt;&lt;/msub&gt;&lt;/mrow&gt;&lt;/mfenced&gt;&lt;mn&gt;2&lt;/mn&gt;&lt;/msup&gt;&lt;/mstyle&gt;&lt;/math&gt;\&quot;,\&quot;base64Image\&quot;:\&quot;iVBORw0KGgoAAAANSUhEUgAABewAAAB0CAYAAAD3sXJ4AAAACXBIWXMAAA7EAAAOxAGVKw4bAAAABGJhU0UAAABJzyRrqgAAL+1JREFUeNrtnQ+kVdkXx5ckGXkkT5InkiQjkYwkiZGRJJEkSWKMkSSRJElijCRJJEmSSJIkQ0aSJJIkIzGSJBmSJ0+e+P3umnvuvPNOa5977r3nz97nfD4cv5/m3XP2Xmvvs797nb3XFgEAAADIxpHW9b/EtQ+zQA04ZLTtQ5gFAAAA0NgAaGwAAAAAHzlhiK1fMAvUiMNGGz+IWQAAAACNDYDGBgAAAGAiAVA+J422vguzAAAAABobAI0NAAAA4AP7DHF1FLNAjblmtPl1mAUAAADQ2ABobAAAAIAq2WKIqguYBWrO9Nb1JNHuR1vXYkwDAAAAaGwANDYAAABAFSxvXWMJQXW/dU3FNNAARlrXP4n2/6p1DWEaAAAAQGMDoLEBAAAAymS4db1LCKn30b8DNIV18u3qt2uYBQAAANDYAGhsAAAAgDK5a4ioVZgFGshpoy/sxCwAAACAxgZAYwMAAACUwV5DPB3DLNBQNNfmK/k21+YIpgEAAAA0NgAaGwAAAKBIFrauLwnh9Lx1TcE00GBWGxPs25gFAAAA0NgAaGwAAACAInlgiKZlmAVALhh9YwtmAQAAADQ2ABobAAAAoAh2GWLpFGYB+Jc50t6mG+8fb6S9nRcAAAAAjQ3QXI2t5d3Ruq60rteta6x1fY3+V+tzLXoXzMDlAAAAkJWZreufhFB637qGMA3AfxwyJtyHMQsAAACgsQEaq7EPtK5PRh2sazT6ewAAAICu/G6Iid2YBWAS01rXu0Q/+dy6ZmEaAAAAQGMDNEpj6we5+5ItUJ+87kW/BwAAADAZaV3jCQHxSjgEC8BiryG4j2MWAAAAQGMDNEZj60cG62yKXq6HrWsqrgcAAACLM4Z42IFZAJzi/IN8uwKIre0AAACAxgZohsaO9++XrevX1rVQJj7IaX1WSDvdzxtxB+1/96Ey62IF2khbBAAAqBxd+fNVvl35AwBuyGUPAAAAaGyAZmrs5bHynZTuu2Y0eH9a7IC9vifmV10hAvYAAAB+ccIQDb9iFoBUNJ9mcov7O2GLOwAAAKCxAequsTupcC70+LvjYgftf6u6QgTsAQAA/GGGtLcZxsXCP9JeAQAA6ZwVtrkDAAAAGhugSRp7SVSmv1vX9D5+/9yo3/OqK0XAHgAAwB/2GWLhGGYByMQyo/88wCwAAABobDQ2QG019kkZLK69Q+y0OJVCwB4AAMAfXhpiYR5mAcjMM6MPLcQswXDU8N8FzAINYmrrWi/tLfo3onfap9b1Rdqrg6tCUyJoeoD3JT7zc1TvT5EdbkR22RDZCR9ORleVboremfdiz9Sg05i0U1hoeY60rh8a6EM0NkB9NbaeRfF0gN/PEDstTik7cDS30Fpp5+y6Ke1Tfsdk8oEbX2ODyKvoZarbHra0rmHaZmWsjRrerBrVaXXU2ZfiXgCA/1hpiIQ/MQtAT+w1+tFxzBIMiw3/fRS/zyJYIO1VmhogG43mUzrP0pVn+6JJIEA3ZkVz9TGjD7yM2lIVgRENAuuBg59i5SkLre9+sQOtnyN7zcSHMqd1nXI8N+3SMu1oiA/R2AD11dizo7JsH/A+H6XkgL0OGrpS5Z8eX97WpSJ0E220NIZa18XI9q+lXl9/t8nE1/6jwoFwAADKOSH/NkAegYtkP3qNWYLileHDHz0spy5oupRhDqWrWlfgVkhhubQX1CXbzj/RvKkKdH62R9or6pPlqoKdYgdT3rau7xvsQ7XLqAwW53ncuubX3IdobID6amwt12EZPK54V0pMibPD8ULUF/oZaafD2RD7dw3G66qWXdJehf/V8ULX1SILaKuFoqL+TWTvJ1LPHQ4rY6LmUeuai9sBoMGowPiUGG/Hpb9DcwCazn1Dvy7HLMFw3PDfec/KuEYmB+detK7NMrES6ydj/jUf14LBsNiBXg1ijlRUpq1ifzirMmCv6AI26wOCzpuHGujD0zL4osz4TqZVNfUhGhsAjZ2FZMD+WVEPOm8YUVc0a76y72J/l5bDvrO16qvjhb6StloIe2M2148jM2tc1/ky8WHiA20KABrMemOsvYZZAPrWUqTFCZflhv8+eFQ+XfA0Hivbbfk28DNi1OEirgWDU2IHUKsIgKwVO0exLwF7ZbWjTEcb5sMzkl+wPv5hcUUNfYjGBkBjZyH54fVUEQ857xC5y4y/zXLorB5IYn0FvUFbzZWpMpECR6+H0oycl/ph6LVMfFTaQFMAgAZywRhnt2IWgL6YJ3auXgiHN4YP13hQLl2BGg/Wa3DTWqVpBdNGcSsY8z8r7/jdksuhcQJr1aSPAXvlgdipZ6Y0xIe7JP9gfTxuNFwzH6KxAdDY3dB3T3Kxeu4LircYxhsXO1ivZAnYK7pK5J0QsC8KDcz/GbOtHjI71KD6z0m0LwZQAGgaybNmvgoHFQIMgnXA3QhmCYaThv9Oe6BXPyTe04sdf3tb7N3OAK65ePzaVdLzF0Vz+s78Uxf+nRI7vYtPAfs9jnKtboAP9RDX5AeCj9H7UVeSx3fnT418rDGiyzL5Y2PadaVmPkRjA6Cxu7FMCk6Ho18ErNUoxzIOMBu73H9pJDQJ2OeLBuYfyuRDG4YbaIdFMvnMhS00DQBoCKuMsftPzAIwEFaKgp8xS9DvxfcVlymZ2/Rcyt9aO55v4VZIcEjsoOWSEp6twV0N/J41nrdI/A7Yr3KU69cG+DD5HlL/ZQ0+a4whayqdZTXxIRobAI2dhf2J+mzP+wGbHC+9tMM8ewnYK4eFgH2e6HkC8WD9aCSQmsoamfzley1NBAAawBFj7D6AWQAGYqPRr65ilqCwUnJWdd5RMgWF6tS0Q2T1v8VXdeqK5QW4FBJccszfy0jtomkN0nZ0p6XIqZrpjnKdr7kP10g+wW2NG3VbbX+xJj5EYwOgsbPwVAo+bPaKYbRXXX7Ta8B+mrRPOydgnw93Ev5iVfnkQVVPc1+ISQCg5liT4h8wC8BAqGZN5qIkh3hYnDXejScrKIcusEmmBr2T4XdzI12rq7aGcScY3BB/UyddFn8D9uIo19Wa+/B+ju/CTZIesNfdF1Nq4EM0NgAauxvJdDiFHBj+wngZ3ezym14D9iITWwUI2A9GchvJxcDrk+eA/lgmH2BBjjmANvoB60zi+g2zBI3mFx2vYJJUh7EC8FU3nhnauM47Ges2Rqwx/PemgnJYKS8284qAHLDOOvAl6GGldfIpYP/VKNeNGvswnqboWU5j9AVJD9qvCdyHaGzAV2jsXt/jhenmsT5eeP0E7IejlysB+/7ZmvCTrtoJ9ZBZfdnck/YWkrxYnBjAL9JkAP7lR+M9/w9mqZ1P65jnuIixAvBVP8GIOh9sX7cxYop8e1hgYSufHGjAJ3kA53j07wB5BgkI2PfGF2lWwP5oAe/AEbGD5oXlcC7Zh2hswFdo7G6sjpX/cZH6znrJPurym34C9hI1MgL2/Q+Mn6Q+q3SOSTHb15IH4myi6QAQsK8hBw2fHqlhPYsaKwBfpbFVys/LyxiRL1bQsMxdAz8bz7/GawJygoB9/zQtYP+XZMugkEf5O9fvgfsQjQ34Co2dhqY8/FsmzhqaW+TDrINDxqNCuOg3YK9fWzmsoz+SJ7s/Drgu8cMmtuV877mJNh3yLgSAvCBgXz+uGz5dX7M6FjlWAL5K43ujfz1hjAiKn6T3M7ry5LHx/F28KiAnCNj3T5MC9nNi916S871/SfHz+cB9iMYGfIXGTqOzS0Cz1RR+tsVbx4t2X8pv+g3YQ39YX6E2BFqXlTI5DdOcAjtQ5zpBE4KGQ8C+frw3fFqnj5NljBWAr1xMMQIC41LfPK91HCPUV6NGvZaW8OxFjrnVCK8LyAkC9v3TpID95ui+dwso/5oUP58N3IdobMBXaGwXO6Iya1qwdWU88IbjRfsxRVgSsC8PPUk5+VHldaB1WZWYPL0o8MUWt5d2pgU0JWgwBOzrxZDhz/c1ql9ZYwXgqzQeGv1sGWNEUFw26nW0hOceNZ77ltcF5AgB+/5pUsD+tBS3Ovy7FD/vC9iHaGzAV2hsFxpn7GTz2FLWQ/envGw159mw8RsC9uVxoKLJRt5oLvnkAcenCnxe8iPHFZoSNBgC9vVinSeTzTqMFYCvXFwy+tmWmvqyrmPEBqNeL0t47kvjuZd5ZUCOELDvnyYF7OdLcSk0pqX4eWPAPkRjA75CY1ssirSxlvXnMh+8IOVl2xG281JeZATsi0NPGv5g+OT7wOpx1NG2iswFd9Z43iKaFDQUAvb1wjrM8HQN6lXFWAH4ysUeqfbQUsaIfHS0FdhZXOAzFzv6xi+8NiBHCNj3T9MOnS2KtID9/IB9iMYGfIXGTqKZZ95JOTuITG5IetBeg8ZrYn9PwL4crAHjXUDl149BDx1tajyaSBXFRik/nx6ArxCwrxd1W/lb5VgB+KoXHXGVMSI4rhp1O1zg8444+scPvD4gRwjY9w8B+3xwpcR5G7gP0diAr9DYcWa3rjdRGY9V2TjGJD1or3nAO18T6haw11xluu1EA7p3o8FSO4XmK9va473WRwPw5+geT2Xyx45eeGL4IYTULroj46RM5Heyrj8rEBFanmHGAvpjA23alID9rKiN3IjE/OY+7zM/ekfpPV6JfysjrUnejwH6y4exAvCVC+vg0KeMEcGxxajbswKf98Qxh/L5MLWRSHfpdvt70j19z5zoffBPNE5eylFfq500ldH5qL+NRe8d1YJ/tK7d0l7ZG//77dJeAXs19puiPpDoocUHW9d1aQcmO+X7HPlebbi8Ih1AwD4bBOzzYYVUc+Bs0T5EYwO+QmN3UG3zIirfmaoLs0PSA/bxxrJTwg/YL5R2fvgHkZBO+1CRZevsLMcL/n/RoLIgh0bs85ba4Ugsv8rYjlzXtRzLZOUQ3SdAf2zeIcR1DcaowNGg/LnW9Vzy+cCpk/+/jXud9KjeVqq0GYH4zMexAvCV611gjR+MEWExzTEJXljAs+Y4+oBPk1Bd0KKLGXSXgQadR43y7kn5vX4A+WT85okM9lFiKCrThwzvlFcykebSyjed90pEtdleaZ/tlvW9pwtORgr0IwH7/iFgnw8bHT5eGbgP0dhobHyFxlZmtq7HUdku+VKoQ300ko0BNo6nUdk/R4Pl1UhYuep4MYNA7ybiej3wxbWldrWndr044MumiG3KV6U5q+NCJZT+SDDGH/QE+TtRe+n2Pnndx/1XpdxvtSd95quEG0T0cawAfOXCCmZOY4wIDiv154EcteWg11jB9V8i7Q/YWQMDSxz3Odrld9v7LN8uae+iTH4A0NSg86JxTy9dsHEq+u/697Mcc9e8ViLqM/fJxCFznY8BugNBP1zMlYmPFLoz70KiHB+luJX+BOz7h4B9Pljvg2eB+xCNjcbGV2hsRT/UP8jh3aIf+3LfdbSrx0ai4mQosMahKROslTU7xb0i17VqRL+Ovcxgp163Uj1x3CekieIUsVMtPSrp+QcdNmza6mr6Yz22NhKMaaMTZN26vzH63wPGRH+Qd+a6lHvd8aT+1mrDkKl6rAB85eK+UdflNaxn3QP22yS/BRyjkn/A/nbB9dcP0deiOZte91LK4goYns1Qj15XoA1H42r8Hu+l+2Kwzq7wk5Lvx5g4ujgguXNPbTAn5TdTxT4HblYBPiVg3z8E7PPhD6P8OwL3IRob8BUae1rs/XZHBtuxd1YKShO2RrJtSYyLq19r0nBcK3N/cnSqzpeXK5Eg00MJ9iUCSLd6LMPMHkW0r7hy2/1e0vNdW/X2emirdQVMAMu4mtAfCcb4j06gP/bQVroN0q57jXn6rrgRuP+qHisAX7m4btR1PWNEcOhKKSstzrwcnzEk7lR+33loE1cqVOvQtxMZNeH1Hp6vAfG3id+rhsuaC/9h1Eat3XbLBrTNAZm8ylbnxFl22Lm0/G8F+I+Aff8QsB+c6cY79ZWUd1ZHUT5EYwO+QmPfjGmS6QPcp7MQfklRBdVA1z3pLXj3QvxN2ZIVVyqao8bfnpGJXQbWQKYNblUfZdgk9ThswrXC/aeSnr/S8XwfA7YE7P3tjwRjwuCAo63s7uNeW8TfgL1VtkuB+67qsQLwlQtry/LWGtazCWOEFRzbn+P9XYtEnntqj+mS7ays/TKRCua4tBe9uM4ayrqKbK18G2j/o8eJ8WFHGT4OYJMZsYl6fFFa1vMOzkl+6fn6ac8E7LNBwH5wrA9+G2rgQzQ24Ktma+xO2kPdhdlPFhn9aKkB+tPRfR6WUeg9jpdi2qWrW2cH2nBc+YuTQd7N0b/fK6AMv0n2VS8+Y22Vy/sgqDS+E3dKFd8gYO9vfyQYEwauw/76FdpWejgftsXuHCBIwlgB+Ko3jkkzDq9vwhhhvTvznEgdF3fqUB9xBewXG9pUg4gruvQLvZZmeK4G65Nb/h9J76vYtuc8V9KV/cl0pFrv73u4hys933gB/rOCvR89aVu+B+ytXRm+BOw/ShgkU1ncqYkP0diAr5qrsdPGrn6vstKE/XuQTq+r7T9GAY/QmCL2ttnPsb+ZG9VPt0gW8WHiRmCivxc7lr1LwLUKaIln9iJg729/JBgTDs8l34Om94t/q2zOGHXcGbDPfBkrAF9ZWKsIzzFGBMlMhyacm9P9bzt00hZP7bGqi8/nRdpKbbYm8dupiXmh/k2W1Kga9E8G69/3qd1c5xxt6+NervOPelkx/F2KVv6rAP/9aTzHl0UrvgfsLV/frqAcPvswjaXGnGxuTXyIxgZ81UyNfVLyj5P9I+WlCfsPXc3woceC6krYWYE1nj8ddZmX+O+bCnr+G8fzjwc++aviJOvRQCZQBOz97Y8EY8LB2lo3PsBgOSVxr80e1PFSQAGhkMYKwFcWm436XmaMCJa7Rj3zOoNrrItW8Y3d4l6drmPfI+m+2k1Xy2sqoDkZnjfimEP2m6rQNbnuNXCoH3Ke5xQ0eFXinMOa31zxpG35HrC3FsZ9qKAcPvswjWTe6V018iEaG/BV8zT2ESkmTlZZ7HbIERRJuzQAvTigxuM6XEkDgnuk+PQ0rlXhOwKyoWu77IqSy/FCOGgldKrujwRjwsG1Rb7fA+imyeT89dM8nCiFfgimL2MF4CuL9TLYwZqMEX7xi1HP+zncd7Gjb3zw2BbWWNIJvB2VibzyeaBj5zPjeScHuOdVySdtnbUo5J2089n3yg8yedGVHqq7rQDfzZZs5w9Uhe8B+0OOsg2VWAbffZjWxuPlvVYzH6KxAV81S2OvkeIWts6v0rj9rAbWbZVLAmk8rkNf9Wuubvv6JMWl3piRYsOQDjq7L/aBjWVvC7kj9TgPoMlU2R8JxoTF6pzfnetzCizkyS2p12FEvowVgK8s1koYB9czRmTDCpJ9zUFDbAtMa04Re0fAAml/fPgaaau80lxYq+E1sP3dAPe0VsWf6fEeRwqaby2KrqL42dGO53rSvnwP2C+U6hfG+e5D13sj/uFN09IM1cyHaGzAV2jsWhAP2OtWybuSLWivK03mBVC/WV3qsafAZ69Iee7mQNrHVLF3CVRxoM8thy1v042Docr+SDAmLKY52siZPu93JjaJmu9JHa0DiVYH6i+fxgrAVxZLjDo/Yoyo3aR40FWtrp3Hv3pqA+vj9tvovz2QfFf6rpT8g+LTHO+jjTnMt5573n71cF4r9c4pj8roe8BeuWyU7YWUc7hjCD60OCiTF2IuqKEP0diAr9DYtWCdIY40FcEn6R60fx4NVL7zVso7OCjOTym22xhI+9gg/gRWXQf4vqYbB0VV/dGHd2wo1xdPbDeak+CZHruXTwd+vzPqNzPQdl7lWDEtoL51l3G9MobEzzQnjBH9s0fyP9TtmaPOyz1t18fFzhvb2dH4OKfnTIl0Wt5B8Y1ir07+bsBy+b6bWetnHW58XcoJNGclhIC92vKOw5bT8OE3aGrJ8VhfW1NTH6Kx0dhobDR27YJJ8SCyHij0KEPHOBFAHa9VJOTSJmGhBOxdB0F9X0FZrjvK8oluHBRV9UeCMeEFY6wdX+/6uM/eWL182qJsfRifHmg7r3KsYDIR7rheJtM91Q+MEf0zV+xg76w+7+daGffF43b9xKGnXkb/f2lOz9lb0HzmnAy2Ks9VLl0c4mv6gbUx/8QXH/l4vlkIAfsOuyI7JhcDrWm4D5NBtVcez73y9CEaG42NxkZj1y6YtNEQrhe6dAwVtr6nxtkt1QTN6xCwtyYCVW2tvuqw5SjdOCh2B94nCMZU2+e/9jgJ13Gsc3DcUc/axmejflMDbedVjhVMJsId18tkmqf6gTFiMKzFRbv6vNePjvr+4Wmbnuko737Jd0eZrn79YDzn5YD31bH8vXHf33oY3z84bHDcM1+pDXWFZTxfv2qAK9Leke3rx4WQAvbxfnxeJu/SfCrttFbTG+jDODcljBW/efgQjY3GRmOjsWsXTHIFzE506RzHPK+jK+fi4QonYSEEJ4fEr4O3CNjXg6r6I8GY8IIxrrGnl0MFO4GL1+LfypovAU2AfR4rmEyEO66XjY/vOsaIwdhvlO9On/fa56jvEU/b8xax00RqYEsPuJtboI3zyI2/1nHfrAdD/pzSRpd56K/h1nVAJqfqUH/9LsUebDsIoQXs1e/6oSoerH0XteHhhvqww7FYmY96XM68fIjGRmOjsdHYtQsmpQWRr6d0jqee11G/eI+LnRetSELPYb/JUfadFZXHFbBnu01YVNUfCcaEF4zZPuBkXtMifIx+s9bDtlGXyUTVYwWTiXDHdSYTjBGDMl/snVhDfdzLNddZ72l7tnRxZ8V5XivMVbO9MZ6jHwQG/Qh+y7iv6sOsq2AfO/zl+2pGtdtpsc8eGPasrKEE7Gc72tNxKSaPfUg+lGiM75TxnKf9Im8forHR2GhsNHbtgkkbuwQ+RsWdFsf3bWBPpfyV2ctSXihbAmgb5xxlryoFkuvQWQ60CI8q+mNd+FGas9Vuo6PPb+pxonnB0/qN12Qy4dtYAfiqyZOJJo0RaZpiex/3ee+Y4/iaRsGVDmZM+s/jn2S94xmDjqsLHPfNemjwSMocK5TVjL+InXvfp7N2QgjYz3f0hR348JtYj6+Lo4rwIRob8BUauxZkDdgrp1IG7YWBTV46V5Hb175Lee62ANrGS7G32lbFTQkrtyj41R8JxoTHakc7ySLg10R/qysDhzytX0g5YUMaKwBfZe1zXxkjasFho843e7zHHMc7+YmndU5bFHQyx+e4drcOumvtrAyWfmhnSv13B9R2bxvlf+BR+UII2Fsf7K7jw/909Fhsvuzrx8cifIjGBnyFxvaKxdJf0LyXgP3qlEH7R0/togcyvZPqAudfJcytMbMd5b7kmaitcyqVOlJ1fyQYExYz+gxG6O86W/hXBSRsQpxM+DhWAL5q8mSiiQH7RWKnVuklZYtrK/tZT+t8MEVLzc/pGa4UhmMy2M7qhSnzo6zzycsp9V8XUNt17WDwJQe/7wF7V2xiDT6UpdJOG6tleRhpYx8pyodobMBXaGyv0MbQT+Cyl4D91ADF0RWZ+LpVRSd65XjuGc/b0xZHuTdXWKYHjjKd98x2Ieaj/V9D+iPBmLCY4mgnFzNO5I96Xr86bNf1cawAfJV1MkFKnPrwl1HvrT38/qQMloKtbO5J8Tl8XTsirw1431uO+45L9g8Bj6QeuzWniv3xwpeDjn0P2J8YsB3V1YeacqqTYkbfjbM87gNF+RCNDfgKje0VGujqZ8VDLwF75bMMdghgmWyOvfSXRBOWZLlfFVyGa9JfwKlqXCtXqhzwP0oYuxUI2PvbHwnGhIc15qTlp90a/c29AOpWhwOxfBwrAF81eTLR1ID9URkssOwKgM/2sK6uAGHeZ2QdcTxj7wD3XJ+iQ3sZt0dT7jM1sLZrHep7w5Oy+R6wt3Zfv2i4DzW911uZSAs52/P2X5QP0diAr9DYXnFJ+ssp2GvA3iWQvvfMHrNlIiC4L/o3V/B8ZoHlOOR45g3P29Nbo8zPKy7TuISxu4OAvb/9kWBMeFi7MVy5iXUc0g/X7wOYoNRlMuHjWAH4qsmTiaYG7JeIvUozS/DWlfrlrad1dR3IPir5riy+nrPuHops6lr89VsOc4IQx9E7Rh2eeVI23wP2VprNWw324bBM5NHWFfYLcr7/1IB8iMYGfIXG9opOwP5yj7/LY4X9Vyl361kWOl9r4weS7pbyt7u6grfPPG5LCxxlPl1hmaalCMbpntmPgL2//ZFgTD0msncck5Q3kThYEUjdrPE0pJWBPo4VgK960RGjjBG14lWfmsJ1gOsVT+vpCqLmnSLyL8dzhvu8XyctoutDwPoe7vVV6hOwt1YYf/K8rfli5zHxY1GcDz7UHPWPY89eVsD930r+5xYW5UM0NuArNLZXdAL2KmBGevhdLwF7Vz7hF57Z4meZ+LI8O4MgP1lgWVzbVn3+4rTTYaeNKR20aBYF0vaSfYqAvV/9kWBMeFgT+7fGO6hzxsWugOr2Sfz/ABnaWAH4ysV08TcoxhiRD1Yu5KsZfrfL0T9+9rSef8tgB7ZmZczxnH4WaW2P+eOM2Iu/egmmfU7Rs1MCa7e3PQ50+B6wt1ZR32igD3V8ux+LMawq4BkXpL2zZUYgPkRjA75CY3vFJelvhUUvAfsVMvgWxqKZJxNpe9ZnFJ8Pu9xTg4xDA5TpT8l3hUrRXHUI6WkO22j6ieUFl8m1/fcsXd9rfOyPBGPC4nIGAXBTwlzJYG0DDikllI9jBeArF0OGDT4wRtSK5WIvkOkWCHblnl3iYR0XOspaRFt2pZ3plaWR3vs76ofWTgjXzuMZYqfgeSruQPL8HOo+o0SfErDvHwL2beIHOW8o4P7bpLgz+IryIRob8BUa2ysuJQy0OuPvegnYH3MM2Is8skNnleWpDANa1lUdegjSowHKtEfCyL3ewToM1AqiTon+/c8SyrQ7MBuCv/2RYExYXDDqO2aIpFsB1u0Po26rAyq/j2MF4CsXVo7zOo4lTQ7YK1Ye2W4BrL+6jDM+8YuUkw5HcQXse1nB3jkAU4NyP7SuuT2Uv7Nq+L7xTNdHljxSK+qCKs09fLsknxKw7x8C9hOppvTaVsD9N8XeBasC8iEaG/AVGtsrkgH7rIfuZQ3Y6xfJj4YjLnpkg4MykSbFteXJdQisaxvpgRxe8HMczzzoYTtypZ45Zvytrm7XLanzSijXZSn+cC1oRn8kGBMWrq3z8XHvoYS1zbWD9cHqp0DK7utYAfjKxVrx43BCxohiOWnU/1LK30939I8bntbvpqO8awt41qjjWVlXBg5HGlB/sz36t22Oe25N/FYXbmjA7Y3YO5K3ijuQPMjHi06wXgOUa0ryqc8B+0tCwN5nH56KPW9fjvf9Tto7o+NpKV8F5kM0NuArNLZXWAOqnhLeLWifNWB/w7j/a/Fna9GqKIijL/3FKX+3podOtTK655kcymelxbnuYTty5eBKpjPprHgvK1/0cyEdTkj43h8JxoSDazVhZ+W9roycFWjdrstgh+4xVgC+ys76QHQYY8Tg+iNZf50gT+mhXfi6qEbrMN5j/QbhtsM2hzP8dkQmdi78Hvv3rOmHdN45mqIhNdXAJ8e91B79pE6cH81ti0or0oudfQnY3xC/zwpocsD+iJR71tmBwHyIxgZ8hcb2CtcXcM3ftSLld90C9hoIuWPc9430drjtIGgewRNROc4bom6RTGxF+bXLvaY6xO7rhPDQL18fIrGZx8rNLQ5B6RtXHO0onstxY8mCSEW5dXAvedqqoQ79kWBM+EKo005mB1w3a9zeEkjZfRwrAF+lsdmwwWXGiFryXrKvrDzs6B+rA/Ft1oN1++Go43kfu8wBN8nEruwrif/2XNKDv6rxbkq21bAHUvRBr4s7NkRlHpfuKWLzxteA/RRx77LwJSVuUwP2v0q5wfqvBertonyIxgZ8hcb2ihFxr4TorEZcYPzOFbDXl7J+uf3kEIZlrqy/7CiDfsnZJRPBwaxfce45bHQyEieaY1E/SGj+yrwOnJoS3TP5zB88a0cvxZ2iRIOrnTQnf5fYBqwDZ8mJVR116I9p/BJN9vV5p6T7YXUEY4plu7gP2JvvYXl7aT9Wup+dgfjFx7ECwvJV2e/aHYYNztXQ3wTs23615kEW1griL+JnysUTki2dTF4sSplXvo80XycoMSOasN+X9NV1Y4776XlfGjR/Jr2tQvxTBlsRrDn1L8V0xaoK/OprwH6HpAdxj3pQxiYG7LdKucH6olNbFOVDNDagsdHYXqJBs+cpL1zN9Xtc2kHQtTJ5dYIOvHsj8WOtaH5QgZCZ4ihL8noi7XxrWdibcXDK++CWfcYzjnvUdrLaWlegLK544rWBru51GwmhP1r8YDz3BMGYSrEC9ro7yccdNr22H2v3wNkavQfKHisgHF9V8a49bjxzXw19TsDeTrf3Uewg/KiEk3f1mdgrX4cKfOYN6S/A51rhnuW3h3son34o+KPLvHdLwkYapNddALoysrPLUz8uDFfkVx8D9tqHPnXx07gH87GmBezXSfnB+v9Fzw3Nh2hsQGOjsb0XqzfFTjfRy6UpdU63rqUVdoRudXjZo8gadgwO8etIAXWZFtkzmdIhpJfORyl3V8AU+fbk7ad070rbSF36o8UxR5snGFMd243ghK+HRvXafkLdPujjWAFh+aqKd+1FKW9lMmNE9e3+o3Q/0H6+o0/84mGdZjvKeq+E577vYd6oQcq0VazdgsD96j312Zs+5rm6SG1lxb6tOmA/EsUN1kcBlns92lA/iugq0o1RH1sczXnLoEkBe100OSblB+vfBepDNDagsdHYQaDbH/Trt66evxoJk4/RCz8ZeNMX5uPoZfaz+PPV7nwXkdDPioiDKffcW2BddovfeTLTVtLozo0FJZdng1GOVXRr+mNBWOX4QDCmUpIBe5+3s/baftZ5MtGsw1gBYfmqindtyAfQMUbko1WS27NdqSVGPKyPq6xlrGDTDxuvpHtg70oG250W90GxO3IInmj715SKt6P57pfYHPdzNM+9Es1z53ni26oD9qOSf5C3rHMAmhSwvy3VrK4/HqgP0diAxkZj14Juh876gH500O2RL6OXun5s0Bzmvw543z2RAP0SDaoq4IreSaBi8kWiMf/hka1nREL3Q8wut3IQ0f3ywJgMAP2xKDRfa/JL+VHP7N+0YEx8hcwez8vaa/uZa/jyVSB+8W2sgLB8VcW79r404/B6AvYT85sviSu5UtRKucguThtdMb076kdjsXeJzmEOSfbgt76PzkS/1XvoqvhT0XjYVHzNYR8CTT10Fh92B40NaGw0dm0Ere8B+7qxwmjQSzHLN6yWb78MzsIsUMI7UT9A6AeJwx6Wr2nBmAVR/XbUsP1YWym/0AWBd20hWKtIp9XQrgTss/PIsNV+zAIlQ7C3fwjY40M0NgAau/bOJGBfPsktoQ8wyTckD9dah0kACMbUjA+GP2dgFoBcmWL0s7pO3BkjsqG7Ba3cs3MxDZQMwd7+IWCPD9HYAGjsWkPAvhqmS/uLV7xhb8Ms/7EvYZvfMQnAv2gwYVfi2o5ZajVR/xGzAOTKImlO6hPGiGysNdrEXcwCnugAgr3ZIGCPD9HYAGjsWkPAvjoWy+TtI3o40mzM8m+njw/ef2ASAKgplwyRswWzAOTKRqOfXcUsjeaYcEAa+MFNsQ/hhe5YBz1ex4f4EI0NgMauCwTsq2VDonHfa7g9dJvaXzL56xxb1wCgrvxsiJzTmAUgV/YY/ew3zNJonkiYhxFC/bhmvJ/GMUtXrDQMel3Gh/gQjQ2Axq4LP0l7NbNeGzBHJeylgf/HrZgdNGXQMM0DAGrMOvFjOzdAnWGVHcQZMdrDbswCFXFW7KAlB/alM+yw2wl8iA/R2ABobIA8OSTksz8Vq/9zIVgPAPVnyBA57zELQK48NPrZMsxSOxZE79RuHEi0hb+lvdIToAq2ih20XINpUlnvsNtmfIgP0dgAaGyAvNkfa+RfpX0gVlM4Gqu7dvqZNAcokWmRqN7Zui5KOzXVY8wCJbWf94bQGcKsQF/JBQ3Ejsu3qQoI0NaHWVFbiuc/TlvZ+lJYCQb+ME/soOVBTJPKcYfdRvAhPkRjAxobjQ1QBNtijX5MmnGSeTxYrznrptMMoGD0YOMrreu2TD74OX6dwkxQUvu5Lhx+CPSVovjeeOYTXFMrzhk+PuT42+SKzruYDzzgsdGGX2IWJxoMem3Y7CE+xIdobEBjo7EBimRF6/ogE0H7dTWuaycNju4o2IvroSQ03ZIesq1bWE86Brh1mAlKaj8HjN8fwcxAX8kFK1XBRVxTKz4bPr7m+Ntnsb/52LrmYj7wgJ8c70fOVrDZL/6loMGHfvoQjQ1obDQ2QCEd8Has4e+sWf2mR5OpTu7QH3A5VMhd+XYr11TMAiW1nx8NsXMLswJ9JRcuGP1rK66oFVbA/oDxd/sSf/MTpgOPOGO0Y13QtA3TTGK7+LszFh/650M0NqCx0dgAhaGB+o9R419Uo3p1VtafbV0zcDNUzJvEQHMbk0CJ7WeqfJv/T3dXkf8P6CuD88yYTCzCFbXimuHjpLbU4PxXqe9CGKgHmvP8i9Ger7auhQ23jb63bxi20Q92+/AhPkRjAxobjQ1QBXqYVt2+zKtgWYlrwZP+lRxo9mMWKLn93DPuswLzAn1lIPQArq+JZ47iitqxWNoBGGuFl6a8ORb7dw2kccgs+Mxsae8QeWi8vx60rj0Ns8feyBbJlaP3pR3kHcaH+BCNDWhsNDYAANSPLcYA9z1mgZLbzxHJltIBgHdtdjaKvcoR6sdamdiR6roeSTu4DxAKugp4aevaIO2PUDulebtDOnXeGtnhewlrdTQ+rN6HaGxAY6OxAQAgQJK51z5gEqig/awwRM89zAv0lYE4bfSrn3FFbdFVrcelvUV7LLr+itreaswDANBI0NiAxkZjAwBAgLxKDDSXMAlU1H4+yLcHlQ1hYqCv9M1LYzIxgisAAAAaBRob0NhobAAACIg5xkBDbluoqv1cMO63FTMDfaUvFhjPfIErAAAAGgcaG9DYaGwAAAgIK9/bLMwCFbWf9cb9rmFmoK/0xV7jmcdxBQAAQONAYwMaG40NAAABcSkx0DzFJFBh+9EDuD4l7jneuqZjaqCv9Mw9YzLxA64AAABoHGhsQGOjsQEAICD+Tgw0v2ESqLj9nDME0A5MDfSVnrC2B7/GDQAAAI0FjQ1obDQ2AAAEwIgx2PyIWaDi9rPSuO+fmBvoKz3BVl0AAABAYwMaG40NAACBsTUx0IxJe7skQNXt5y9DCM3D5EBfycwzow8txBUAAACNBo0NaGw0NgAAeM6VxEBzA5OAJ+2HlQtAX+mfZUb/eYAbAAAAGg8aG9DYaGwAAPCct4nB5ldMAp60nxmt63Pi/v+0rmmYHegrXSFHLQAAAKCxAY2NxgYAgMCw8r0twizgUfv53XjGbkwP9JVUZrWu8cTz3gnpzgAAAACNDWhsNDYAAHjNFul+sjkBfKiy/agI+5p4zitMD/SVVA4bk5fDuAEAAADQ2IDGRmMDAIDfnE0MNhcS/32BtLdHjmAqqLD9nBG2HQJ9JSu6nf1D4nm67X0INwAAAAAaG9DYaGwAAPCbPxIDzsbYf5vZuv5uXfsxE1TcflRgJbce6gogth4CfeVb9hmT72O4AAAAANDYgMZGYwMAgP+MJgaczkFDehDRI+G0c/Cn/Vh5NvfgAqCvTGK6tPNoxp+lz56FCwAAAACNDWhsNDYAAPhPMm/hcOta3LqeSXu71xxMBJ60H10h8U/iefoMtiACfWUC8moCAAAAGhvQ2GhsAAAImFFj4NHrS+tahXnAs/azy3jWKdwA9JV/mWM85420VwQBAAAAoLEBjY3GBgCAALhqDG6fWtdaTAOetp8HxjOX4Qqgr/x7yFbyGVswPQAAAKCxAY2NxgYAgHDQr8X3pf0FWreM6SnrI5gFPG4/C6LnxQXTC+FwLGh2X1ltTCRuY3YAAABAYwMaG40NAAAAUDR7DOF0HLNAQ9HtuK/k20Ow+PgKAAAAaGwANDYAAABAKfxhTChWYxZoIKeNvrATswAAAAAaGwCNDQAAAFAWw9I+7CcuoHQb5GxMAw1igzGRuIpZAAAAAI0NgMYGAAAAKJvlrWssIaQ0h+FUTAMNQLfjfky0f922OwPTAAAAABobAI0NAAAAUAVb5NvVDxcwC9Qczan5RL7NqbkY0wAAAAAaGwCNDQAAAFAl+4wJxVHMAjXmmtHm12EWAAAAQGMDoLEBAAAAfOB3Q1z9ilmghpw02vouzAIAAABobAA0NgAAAIDvE4pfMAvUiMNGG9+PWQAAAACNDYDGBgAAAPCRI63rS+Lah1mgBhw02vYhzAIAAABobAA0dtn8HwytBbHnisytAAACRHRFWHRNYXRoTUwAPG1hdGggeG1sbnM9Imh0dHA6Ly93d3cudzMub3JnLzE5OTgvTWF0aC9NYXRoTUwiPjxtc3R5bGUgbWF0aHNpemU9IjE2cHgiPjxtbz4kPC9tbz48bWk+eDwvbWk+PG1mZW5jZWQ+PG1pPnQ8L21pPjwvbWZlbmNlZD48bW8+PTwvbW8+PG1zdWI+PG1pPng8L21pPjxtaT5pPC9taT48L21zdWI+PG1vPis8L21vPjxtc3ViPjxtaT52PC9taT48bWk+aTwvbWk+PC9tc3ViPjxtZmVuY2VkPjxtcm93PjxtaT50PC9taT48bW8+LTwvbW8+PG1zdWI+PG1pPnQ8L21pPjxtaT5pPC9taT48L21zdWI+PC9tcm93PjwvbWZlbmNlZD48bW8+KzwvbW8+PG1vPlw8L21vPjxtaT5mPC9taT48bWk+cjwvbWk+PG1pPmE8L21pPjxtaT5jPC9taT48bWZlbmNlZCBjbG9zZT0ifSIgb3Blbj0ieyI+PG1uPjE8L21uPjwvbWZlbmNlZD48bWZlbmNlZCBjbG9zZT0ifSIgb3Blbj0ieyI+PG1uPjI8L21uPjwvbWZlbmNlZD48bXN1cD48bWZlbmNlZD48bXJvdz48bWk+dDwvbWk+PG1vPi08L21vPjxtc3ViPjxtaT50PC9taT48bWk+aTwvbWk+PC9tc3ViPjwvbXJvdz48L21mZW5jZWQ+PG1uPjI8L21uPjwvbXN1cD48L21zdHlsZT48L21hdGg+ZxNp6AAAAABJRU5ErkJggg==\&quot;,\&quot;slideId\&quot;:313,\&quot;accessibleText\&quot;:\&quot;$ x open parentheses t close parentheses equals x subscript i plus v subscript i open parentheses t minus t subscript i close parentheses plus backslash f r a c open curly brackets 1 close curly brackets open curly brackets 2 close curly brackets open parentheses t minus t subscript i close parentheses squared\&quot;,\&quot;imageHeight\&quot;:24.050666666666668},{\&quot;mathml\&quot;:\&quot;&lt;math style=\\\&quot;font-family:stix;font-size:16px;\\\&quot; xmlns=\\\&quot;http://www.w3.org/1998/Math/MathML\\\&quot;&gt;&lt;mstyle mathsize=\\\&quot;16px\\\&quot;&gt;&lt;mo&gt;$&lt;/mo&gt;&lt;mo&gt;$&lt;/mo&gt;&lt;mo&gt;\\\\&lt;/mo&gt;&lt;mi&gt;f&lt;/mi&gt;&lt;mi&gt;r&lt;/mi&gt;&lt;mi&gt;a&lt;/mi&gt;&lt;mi&gt;c&lt;/mi&gt;&lt;mfenced open=\\\&quot;{\\\&quot; close=\\\&quot;}\\\&quot;&gt;&lt;mn&gt;1&lt;/mn&gt;&lt;/mfenced&gt;&lt;mfenced open=\\\&quot;{\\\&quot; close=\\\&quot;}\\\&quot;&gt;&lt;mn&gt;2&lt;/mn&gt;&lt;/mfenced&gt;&lt;mo&gt;$&lt;/mo&gt;&lt;mo&gt;$&lt;/mo&gt;&lt;/mstyle&gt;&lt;/math&gt;\&quot;,\&quot;base64Image\&quot;:\&quot;iVBORw0KGgoAAAANSUhEUgAAA3EAAABeCAYAAACNZp0yAAAACXBIWXMAAA7EAAAOxAGVKw4bAAAABGJhU0UAAABJzyRrqgAAHM9JREFUeNrtnQ+EFtsbxx9rrSSRJMkVSZIkkiRJZCVJIslKsiRJkkiSJJGsJImsJEkkSa4rkiRJXEmSxMpKkkiSta7l/t7n7nl/TW8z58zMO3/PfD4cv5/buzNnvvPMzPOc85zniFSLi4G2UgCtAQAAAPC/AK0rzb+BthM50BoAAAAA/wvQGrEBrQEAAADwv9AaEButAQAAAAD/C60RG9AaAAAAAP8L0BqxwXOt/+q4vnb72mo93HoAqBgzWu1Uq11GCgD8L0BrxIamar07IojT1u/Zta5rtbOtdt8EqeOt9k+r/Wi1F612tdU2EbyC5wHQllY73Wo3ZXIQ57N5BvR5mKhw36e32gnTV30/fa9IvyaMdtqvL+b9otqeabWtrTYLOyqU5a12oNVutNoj864fM+/69n0aabU7rTZkrqMPO8L/ArTOmkXGyb5mXpLBl1FQ7ODDr7950mq3W+1Cq203xwG0jvoYT0QEccMe3Nce80F/bwlWO9uoCeYAfEAd1D3mXRVl8y9b7XBF31/TWu14q33r6HNVgrhFRruXFn2ft9q+igQLPtrR3FY72WofErzng+0fE9StxY7wv/B10bobZpsP1ruUL6Oo9tGIvwyJ0bqDB+JnSqXuc/K245pGzEdwTsAxORpx/Ud5RKDmbHA4to9bbXVF+z611Y6Z91BY379XsM+rjKZReuu96MeOMkNnZ4dCHNBu2tMKfLt9tSP8L7T2Fn0ZnY3xMtLI+M+Ql84D829xhNeIegVao7Vhj6X/62t6j/fI7zOM11ttSshvey3Xv5ZXE9SU/WKfeRisaL/1GdUZiS+Od+v3Cms/6Pi+7MaOumatpJ95czX9dpzAjvC/8HXROg79JqK1vSg1tU3X9LRnRqJyVzUi1tHLtzFEP28cWLRuttazxK+UyuMh13HF8vtDlvv2F7EA1JB1jvfRxgr2uc88i59iOg3fK34PNjj6vxo7Ss1uyzcry3ZPwgf+sCP8L7RG6/845hgNOifhC1rjLEDUh/+VQ3Bd+DsNrRuv9UPxI6XyYMg1/O14qYxY7tkY8QDUDH1ebWkzZyvW317z3MYN3uoSxClnLP1/gx2lYl8BwVuw3a+AU1pnO8L/QmtvOS72XFPb1GSSKjJHHKNWZ9G68VrvlfqnVPZHvLAWO/7uX4I48IitYh99nV6hIEFT9dKmxNUhiFNHxpaOtBE7SsTmggO4druGHeF/4euidZAtDqHnJnA845QCXW8+emHnu4jWjde67imV2v/PEj6178I2E3ePmABqxi2LPd+sSPCmg0ajgYGWJ+Y9o0UqnnoUxInRvMr3oy52tMDyXdUZw9PmWz9bfs0e0TTdxSYo1SIMSSoVV2n9WV3tCP8Lrb1DR1WiFm3rB21ljGOk2c9hdcRozkW0RmuZnAIP0+mLVD+l8q6EjxbPjvG3ByV6se9iAagXthH7gQr07438THM+IOFpPVc8CuJ2WK7hB3YUm+ch/Xgt6TJFtCjKs4RBnC4tmIkd4X+hdeO1/q/qUdTDGHfWI+2mfIMNExut42NLqVxX4X5HpdhcTnCMcyGjVusEoF4sdDiiVSgFfSLG4Mhsj4K4JY7rmIcdpfo26axaTwbHHUsQyA1hR/hf+LrN1lpfOrYF3EtyFlu51xCx0ToZNsfpcoXv8UhGjoZ+BLfJ5PqCplWyAj/Y4nD06lSk6I0nQVyv4zo2YUdWdL/AzhmGUxkeX/dk+xoziNOAbxp2hP+F1o3VWtaIfQNHKUBsdVb/aYDYaJ2cqJTKzxXtb9Ts4Sv8eWggO8WfIj13PQniROz7NO3AjqwclfzXf2nWRdwtCwaxI/wvtG6s1r+9kILtTkFiixHYd7HROjm28s1VSy/U0afRiL4ewZ+HBrLHk6BHzDvalyDuu9Rrw+aq2FGP/Fq9VIuS5DUTdiJmEHcbO8L/QuvGam2tMHStQLEXNkBstE7OHKlPSqVtofd8/HloIPsI4moXxB3CjiLpXO/cn+O5tIrlqFR7LWad7Aj/C6295J5F7KsFiq088VxstE7HY6lHSmVUKfLX+PJAEEcQV5Mg7iJ2FMsG7hZwvkMSbzauDzvC/0LrRmotf0o2e31kIfYBz8VG6+76WuWUSlulrnP48kAQRxBHEFdrO9JCHu01NrpebVEB57Ttl1qF72Cd7Aj/C60bJ/ZowWIvbLBho3U0c2rwoThn6eNGfHkgiCOII4irtR0FK2ReK/Dan8cI4jZiR/hfaN1IrZ0fpqUFiq3oIuEpaI3WHUSlKlYhpdJWTldHbtkeAAjiCOII4uptR8GBukUFXnucjeYJ4vC/0LqZWv83omQT+1bBYvsMWqfnoFQ3pXK9pW9PMHsgiCOII4irvR2112bfL/ja98QI4jZgR/hfaN1MdsV4QWxGbLQumbkV/lhctvRtCLMHgjiCOIK42tuRFmQYkXwrUoaxLYbfsAQ7wv9C62aySOKVsF2J2GhdMlVNqfxiuZ9bMHsgiCOII4jDjlKyxWF3WvikBzvC/0Lr5vI2huBfZXIXdsRG67KwlVteW1Kf1jru5SxMHgjiCOII4rCjnIK4N9gR/hdaN5vDEm8vkvFWG0BstC6JPyx6XSipT7aqlJ8xdyCII4gjiMOOumCrw+6uYUf4X2jdbKZKdHW9qH2vehAbrUvg7widPpXUn/eWe3fbQ/11U1ldRL9bJqumPWi1bwn+XqtSXWq1DzJZuVPvm64bnFFA35e12hGZXFSto4Rjpg/6v69Mv8LSOxbLZI6/OiXXZXIj01Hzd2UUFFhk+qNrdLSU85fAtegHUUc3dSPik1LeWhmCOII47Cgbdjrsbjt2hP+F1jCQQGxtz2RyZgSx0boqoztrCu7Lcsd9O1FjnfVlusI4COeMA/s54jofxjjeTBMARWn11vwma/SYx2SyIEHc5+1WR1B51/LbeQXdD93r5oxj0CCqPTYBLM43QRxBXP04Zbl2HbiZgh3hf6E1KDcSCv41MAqE2GhdBPOkmJTK0RTOcjdtXsm6rmq14612UybXWEwk6LsrWF1jCQCD7VLGwZsGPWPyexGA2+ZZmis/R/7+MAME7SI1WkSnvb/fWER/XxZ0X+5L+MyzOkmaajU7cB06U7pJJmcWO697D843QRxBXO24abn2G9gR/he+LrTREZ3HKRzQ64iN1gWSd0rlnIIDuB81cFBtzbZP344EAeE/kk2Vtb3mQ9B5/GETuNnQYO5DIDi1zbaezfF+LJDwGUCdsRyIodPsiD7vwvkmiCOIqxVvpHoFveoexOF/obW36M7mD7t0ShEbrfMk75TK7QUHcXcroKnO+Gwwzr/a5ULj8L/rIvDamUKLRV0G32HP04eEdtGuOKqB4AFLX/PaL0qrsI7L7zNpxxIEuQsj+jwWI5DF+SaII4irjo8Qdd0vsCP8L3xdCEPTiK51Ibam/yxARrTOiflSfpXKHY77MuyJ1nNMoBZ1nX9F/N2mlPa8ImU/NaAKS9l8Ium2eXhp/v6L5DtrGGRmxIdOr2t1ikCwjBlEgjiCOOwoO2yVKbdgR/hf+LpgY78kWxvTOXJ8XvIpVoDWaP1Cyq1SeUmqWzEsa2ypEEdDfq+BWHAd2SNjn59j2HFfiv5FzZZp5cy0i/6vOPr6Z8Yaa+GR0Qh7XpjieI8sfX+N800QRxBXC65GXPNz7Aj/C18X4qAlt99L+uhZH/IjKZ0ztEbrKI5IuVUqn0q1C5VkyQPLda7q+O0c+VlWWGergvu/rBJ3FcWkDFmONSUn+9J2MEN9+yOcIf1vy1Mcb6bjIzleEef7W82eA4K4agZxdbOjuPRa7tMK7Aj/C18XreOi+ayXpbt8Vi3xvRkp0TojFliu/3zO5+5xOMlfPNP6q0Svr+rp0OWZ2NN9LmUYfF+U6O0Kut137oTjGVuakbabJTpddVPKY7pSfccq4nzX7TnxKYj74lEQ59v7ts2uiOu9gh3hf+HronUa1ncZPbfX0JDXitZZEJVS+THn87pmlG55pHGvxC/IEpwVOxxxvLBKVVqdcyBhv6Jm4HRUfn4G132pAKdxo2Uw4EwXx90Z471QFBct/Xhes2fBpyDuZc2cb5/sKC7PJHx97EzsCP8LXxet0zLVOFATXQiu6Ty6J1UPcqJ1FxyTclIq90hxqXZVeMFGXeehiN/djnFcnWUabLVtKZySg5L/Yn/bAuybGRxfC5XY9p/r5nmd53hnrCzQfmwjrXcI4krjnuU6Llewvz7ZUdz3Q5az89gR/hdawy8slsnKb91Ez7oh7RKkROuULJRyUipdm1eu8Ujj4+KuJKmpix/lZzn/PEeKN1r6czXD89yV/Eoda5AVlYakH7EsUjWPRHzkii7TbNuouG4VXH0K4vIepMCOuuNpTYKiutkR/hdaQwc7Ag5c2uh5EBnROiWvpPiUyreS/4bVVSFqb5fguqrgKPmGHPuyQKIX0n+S7tfBBbGld3Szz5ouxLalIGW5RcZq4+DeMMF4GcV2nlmudVfNngWfgrhBqVd6ok925GKLhO8J14cd4X/h66J1HkzpMnLWdg4Z0ToFtpmiVTmcb6pD20ceaavr4aLSG24HAoX2f7uWY196HMHPzoKu+12Xx7at7dG1gTMbYj//Sv3WMPgUxC0SexnvXuyoFKaGDCB9kepWO66THeF/oTVY6Hx40wh+DRnROsOPSB4PsGsT6yGP7Gyz5Tr3m9+0Z0K/5hyAnLH05VnG51or+azzWOewnVOevad2Wa71aQ2vx6cgTnlhuZYB7KgUhkK+7+uwI/wvfF20LlLsvcbpSiP6eaRE64REpVR+yOFcxx2a+lTu9rzYS+wPdthhXixzaJ51oY4DlnNtTXlMTYUaEXsa7izP3lO2mdN1Nbwe34I424DUS+yocMKKmQxiR/hf+LpoXbTY7dQmXaT4PIXge5ETrRNwokAH3+XIzfDIzqLW/umsW68Jkov4UNucuD8LdtbT3t9jDru54tk7yjZzerKm1+RbEKectVzPWeyoMPS9Mlrj66u6HeF/oTVapxC7jVZK+yeB2PpbqsugdVyKTKn8ZjnXO49sbK7Yq44Fy/znORq+z2G/yzM+n669G5dsR5VnSHRBljzXb5bBFBOQRgU5dV5s7mMQJ8a5+SHR6cNTsKPc6ayGO4wd4X8BWldFbGVpyEiTrb1EUrROwBvJP6XyD4eO1z2yMVvVMf1Ytxff382xD7rI/5MUW0SmX7JPyXDNwo14YC8a/O6S8Kqe+vHUgi5zan6NvgZxYu7NuQgnXO/pbimm6m4T7KiTzhT9W9gR/hegddXEVnRE+mECwXchK1rHpIiUym0NstfbYk9jai80XpRjHw479F6fwzmHJdv1juqwfBZ/K2jpesXT8ns56Anz/tkr/qQY+xzEtdG1m1re+6b8Pnv8wdzrZdhRZnSuJ7vnyXWVZUf4X/i6aJ2j2EpvjI9hXlXn0NpfrRcX4CSfd2i42BP70sAjKi1Gy123q5HlmfLT6wh+3uV0zqh02QlJt0/T5hjPXn+NbUVH3o+Y+9G5j6A6cANSzf2tCOLCmS6TKcyP5PcCAm/NvZ6DHWXC8o4A5774U5K/LDvC/8LXReucxW4LHjdynoO0aB2TqEIcoxkd/5FFuzGP7GuN5To/BYKaPPcuGnTY6uEczrlDsi9lfkvcefq+bA6/XcIrcOqAwJCQTllldA3sBQlfYzJi7i12lB3z5NdU8Sfix5qxKtkR/hdao3VOYiuzZbLKnUvsbUiL1jE5KfmlVPaIfRHtbY/s62QMW7mccx+ein0T2dk5nPOxZFthzWUzvm0Or/QZ26CwSX3YI/aCFH3YUabM6ghSdWZgmgfPfhXtCP8LrdE6J7GVIzHEHkJatI7JUskvpXK5Q7tjHtlXnPK9ea6FW+g498Mczunai25TimOui6HjsKfvKFtp+BMEcZXBtpb4DHaUObp+J7hliv7/mR4871W3I/wvtEbrHMTW0SfXSPUNpEXrBOSVUrlb/F3XFGR6jBfg/RIdAm37cjjndbHP/KVZq3I0hpY7PX5PvZBii9IQxCVjreVaXmBHmaPf4GCGgX6rZnnwnNfFjvC/0No7rdUx6StR7DgfxrtojdYJOG25vhUVc/KryPYYgcfanPvwt+P8f2R8PtfMX9r1cDdjaLnR4w/wTvFrcblvQdwzy7XswI4yRb/9D+TXQUVf1uXUwY7wv9DaR63/S+XJygFNK/ZBh9h/ojVaJ8CWFtfNFPory3Gfe+R4X3XYSN4bmrtmAvPYU81VfCSt3TyLEcTN9ziI65XfK9MF2wKCuNKYX6NBqbrbka6NvRfo78ccBqKwI/wvfN3maf3/PZE2lij2lgYZNloXw7uI63uf8nh9DifikkeO9yeHjRzN+fxbpdgN1V1r4dLuDyfy+/5IYW2K+I0tkK3bfj0+BXEDkv3MM3YUTnBGXrdNWejR810XO8L/Qmuvg7jzJYrd7xD7HlqjdUKyTqnc4NBtqye6LXVcpwayc3PuwylHH7KuSvcixjVPTXnsiRhBnO/YUkqvEsSVhm3G/QZ2lPl3X9tX8471ibrYEf4XWvuo9f/F/lCi2OsdYt9Ea7ROiK2SZJpKWYelGXuOHHJc54MKOMobMjzXAfk5Oh61yferLo5PEBddJr6O6xJ8CuLuSnnbhzTFjoY6bGNlQeedY/yCHuwI/wutvdb6l1Gi9SWJ7ZrlOI/WaJ2CEckupfK2RbOPHml232EfRaQtvXT0YUZG51kgP9Md9+XkiIwTxMlF8WctqU9BnG0G+iJ21DXBCrtjrbamwHO31/gux47wv9Dab183KPb9ksR25a5uQ2u0TsFZyS6l0rZOzJdStboI2VaWV/+tiPVbPxw2msXocl8gWLxm7D6PZ+JbjCCuV/zGFiB/IYgrjS81C+LqZEcHO96bRW4/036XvcKO8L/Q2n9fd7jjwpaXILYrhWsuWqN1ClZINimVs6X4PcvKYLPjOu8U1A/X7FUWtNdxaAEc3VPmchfPxDTLvz2MEcQtaXAQ940grjS+exTEVcmOOvcT3VzgubVS5Fdz3gPYEf4XWvvv63aK/bwEsW051c/EH9C6eN5L9ymVrmqJKzzR6oLjOgcK6kfe6Yftl7sGi+0iA1HbR3x2HEuLrGg6bVS1uesxriePojjTzPN8TsqvfrlP/NlXjSAOO0ryrShyjzTdNLy9hEBn/2ZgR/hfaO2/rzsccoEHChTbtbP6LrRG6y4YyiD4OmM5hgYCPZ5o9VbKT6VUxhyO8swujh3cyHyP+W9TLee6FcNh0/5GjTTujhHEZZ2br8/5Y3PsRzjfBHEEcYWg5dQnQt4vRbBUfl0DfhM7wv9C62b4usMRjunqgsQ+bhH6jWcBBVoXTxYplX9ZjnHfE53mOpzTIqu/fXD0ZVPK424OvNgvdfz3qHMdjjjWhsCxbDNp82MEce8z1E5H358GjjuzArblUxB3jyAOOwphXcfg06Gcz6cDhwvMoNRd+b0K7nrsCP8LrZvh6w5LdBrR4pzFXizRo+76UlqF1midAaMR1z0S8+9ta7ROeaLRoJRflbKNa7bjQopjBmfEHsqvs6e2PQXDNitdG3iWjsc49/MYgVwWm6Lq2s12pbivKd4pBHFu3hLEYUcdrHJoWXR7jx3hf6F1c3zdYcsD+Dlh5JxEbB2hto24D4p/oHU5nLNc+zLH3y6RfGaFqoZtCwV98c0osC/HHJr/MAFLHLTy4/nA32qQMz1B0NhZtGRNwGm5FrMPAzEcrzfSXZVK3X/qo5RTzrwpQdxUce/7NyH1Sa8miOuepfKzkEhV2nHsCP8LrZvj6w7H+Cgdjflhiiv2TsuLb8LjoAKty2GlRfPTXTjgE+JHefgesZf1f1xwf5bFcFQei70qpJgPxevA3+gsyqyQ39le+sFncWtghO9hwnv/OsY1DXcR9LaDC5017q+YffkSxA1KPCd6HUFcI+xogXFI/61Ym4cd4X+hdXN83RkxBG+PFO/oQmy9Wbovw9+Oc6wQf0Hr8ohy1N85/u6K+F/haI3DHg+V0KcXEi9taH+H0zLPPA9POn77MiKAE7Gny+psm+43c1V+nc2blvB6lot7FqddSGV6zGNuMc9x0JGtYgDhQxCn93skphP9gCDOezvSNcQfKxjAPcCO8L/Qupm+7vIQxyes6YtL05M2hzgynWL3mt9ddoxYfTaOYo80A7QunrQplbaXwxlPtDnpsMP5JfRpfYaOzUOxp4MmOdYbSzDoIu5Mjj6jp0xwHZzt0/Nq+u5p+X3rDF33ubSi9lX3IE5Tdx8ntJOLNXjHEsSlY1aCgL7oth07wv9C60b7uv85Dg8SvDTGjAPRWcHvk7hHnl+aF3OfNBO0Lo7Vkjylsteha78n2jx32E1ZDEv3Tk2cQHs85rFedRHAtdmbg+N2N4N+EcT9ygwTMKsT+kPSF5g4Yd4TVXzvEsQlZ6ZE7ylZdvtaksNaNzvC/0LrRrDAfIBeZPiSmTBRuR53qQBaF0tU+ktUSuU6x0vGhxGe6Q47Ol1i33rFvr2DrekatLhVqOJUj3ws2RV3WSvRm9AnaZoivKMGNlaHIG61cRC+Jgjqk7Zxc3w9zzaCuNrZUU/Md0VZ7Tx2hP+F1hDl6On0pU5N6hqRe2Y06ptxZsdDouNxExHrppNHzahmH1KidYlckGQplfstv7/piSbbHS/IKpTj1Wpr/yQI3nYnDLAPOD4Qp3II2PvMMz6aMkDdL/UpqlOHIC7L9N04bWcFrpkgLvkz+2+F2xLsCP8LraEbqvaRQmsIstq8BMLayZDf37J8nAaQs1B0XdIRmUzJ+G7umb7odXb1jgn0lndx/IMyOSPbPq4GSkNSzHrAlab/t00ffgTs8kfgo6V9XFzDe+fTPnE+QRAHBHH4X2gNiI3WXhI1S6KzQtOQBwDnG+cbO8KOCOIArREb0Lo6zLB8mO4hDwDON843dgQEcZgAWiM2oHW12CKkUgLgfON8Y0dAEIf/hdaIDWhdG85YnIVe5AHA+cb5xo6AIA4TQGvEBrSuFlGb+15AGgCcb8+d7yPYEXhqR/hfaA2IjdYeY9vkezHyACRiEOe7ds73IHYEntoR/hdaA2KjtcdErYd7iDQAiRkQ+wbYUA62vRcHsCPw1I7wv9AaIhgMtAXIgdY1ZTjig7QWaQASs0nsmxT3IFHh9DruySbsCDy1I/wvtAYAT1FH4EvIx+gZ0gCkYp7D0VuGRIWzxHFPFmBH4KkdAQBADZgmyTfl7o/4GK1GToDU2NbNsGVH8eyw3I8x7Ag8tyMAAKgoGnC9CXxMPpiPTRxuhXyMbiMpQFfcsDh7N5GncG7W9H5gR9gRAAB4ilaPHJN0+flz5PeqlDryOxdZAbqi3+LsaWGEmUhUGNPFXoxiC3YEntsRAABUkHuWj8ojx9+eleaUSAYomteWZ/Ms8hTGWct9eIcdQUPsCAAAKsaY5cPy1fJ3Ots23vH7O8gJkBkrxF4EYTMS5c5Gxz1Yix1BQ+wIAABqFMTdsPzd7Y7fvpTkRVEAwM5OsafD7UGi3Ngj9vS3PdgRNMyOAACgQjywfFxWRPzN3o7fjbTabKQEyIX1rfbe8pw+FqrBZslqo2mU3iPmnmBH0EQ7AgCACn3Yoz4yvSG/393xm78J4AByR/djHDRO4UTE86qz4YdbbSlyJWax0e5lhLaqua4R3iX13iQbO8KOAADAI05FfHAutNoU87HRnP07Hf8+bP4dAIpD05Z1HdMxmUx51uJEOsPyTSbTo8eRKDHjRjvVcMRoeq3Vjshkld4p2BFgRwAAUEV0zcQnsS++brdnrbYOyQAAAAAAAMqlTybTPHTT0VH5ORqre7/p2jktkbwcmQAAAACgSP4HYkWJOCXRAugAAAEadEVYdE1hdGhNTAA8bWF0aCB4bWxucz0iaHR0cDovL3d3dy53My5vcmcvMTk5OC9NYXRoL01hdGhNTCI+PG1zdHlsZSBtYXRoc2l6ZT0iMTZweCI+PG1vPiQ8L21vPjxtbz4kPC9tbz48bW8+XDwvbW8+PG1pPmY8L21pPjxtaT5yPC9taT48bWk+YTwvbWk+PG1pPmM8L21pPjxtZmVuY2VkIGNsb3NlPSJ9IiBvcGVuPSJ7Ij48bW4+MTwvbW4+PC9tZmVuY2VkPjxtZmVuY2VkIGNsb3NlPSJ9IiBvcGVuPSJ7Ij48bW4+MjwvbW4+PC9tZmVuY2VkPjxtbz4kPC9tbz48bW8+JDwvbW8+PC9tc3R5bGU+PC9tYXRoPk1hiNMAAAAASUVORK5CYII=\&quot;,\&quot;slideId\&quot;:313,\&quot;accessibleText\&quot;:\&quot;$ $ backslash f r a c open curly brackets 1 close curly brackets open curly brackets 2 close curly brackets $ $\&quot;,\&quot;imageHeight\&quot;:15.04},{\&quot;mathml\&quot;:\&quot;&lt;math style=\\\&quot;font-family:stix;font-size:16px;\\\&quot; xmlns=\\\&quot;http://www.w3.org/1998/Math/MathML\\\&quot;&gt;&lt;mstyle mathsize=\\\&quot;16px\\\&quot;&gt;&lt;mo&gt;$&lt;/mo&gt;&lt;mi&gt;x&lt;/mi&gt;&lt;mfenced&gt;&lt;mi&gt;t&lt;/mi&gt;&lt;/mfenced&gt;&lt;mo&gt;=&lt;/mo&gt;&lt;msub&gt;&lt;mi&gt;x&lt;/mi&gt;&lt;mi&gt;i&lt;/mi&gt;&lt;/msub&gt;&lt;mo&gt;+&lt;/mo&gt;&lt;msub&gt;&lt;mi&gt;v&lt;/mi&gt;&lt;mi&gt;i&lt;/mi&gt;&lt;/msub&gt;&lt;mfenced&gt;&lt;mrow&gt;&lt;mi&gt;t&lt;/mi&gt;&lt;mo&gt;-&lt;/mo&gt;&lt;msub&gt;&lt;mi&gt;t&lt;/mi&gt;&lt;mi&gt;i&lt;/mi&gt;&lt;/msub&gt;&lt;/mrow&gt;&lt;/mfenced&gt;&lt;mo&gt;+&lt;/mo&gt;&lt;mo&gt;\\\\&lt;/mo&gt;&lt;mi&gt;f&lt;/mi&gt;&lt;mi&gt;r&lt;/mi&gt;&lt;mi&gt;a&lt;/mi&gt;&lt;mi&gt;c&lt;/mi&gt;&lt;mfenced open=\\\&quot;{\\\&quot; close=\\\&quot;}\\\&quot;&gt;&lt;mn&gt;1&lt;/mn&gt;&lt;/mfenced&gt;&lt;mfenced open=\\\&quot;{\\\&quot; close=\\\&quot;}\\\&quot;&gt;&lt;mn&gt;2&lt;/mn&gt;&lt;/mfenced&gt;&lt;msup&gt;&lt;mfenced&gt;&lt;mrow&gt;&lt;mi&gt;t&lt;/mi&gt;&lt;mo&gt;-&lt;/mo&gt;&lt;msub&gt;&lt;mi&gt;t&lt;/mi&gt;&lt;mi&gt;i&lt;/mi&gt;&lt;/msub&gt;&lt;/mrow&gt;&lt;/mfenced&gt;&lt;mn&gt;2&lt;/mn&gt;&lt;/msup&gt;&lt;mo&gt;$&lt;/mo&gt;&lt;/mstyle&gt;&lt;/math&gt;\&quot;,\&quot;base64Image\&quot;:\&quot;iVBORw0KGgoAAAANSUhEUgAABc8AAABuCAYAAADxlutWAAAACXBIWXMAAA7EAAAOxAGVKw4bAAAABGJhU0UAAABFxpIngQAALeNJREFUeNrtnQ/kVcn7xx9JVhJJkqxIkqwVSdZKliQrH4mVZK1EkiSJJFlZka8kSSRJkkiSJLGSJIkkSRJJkiSSJMmHvvfpzt1O5z5zP+fee/7MnPN6cXx/v+1zz5l5npk573nOzDMiAAAAEAO7W9eX1LULs0AkbXU3ZgEAAECrAqBVAQAAACBvdhoCbw9mgYDZY7TZHZgFAAAArQqAVgUAAACAvFhvCLtDmAUi4KDRdjdgFgAAALQqAFoVAAAAAIZlmSHoLmIWiIgLRhtegVkAAADQqgBoVQAAAAAYlDmt621KyD1sXZMwDUSEttcHqXb81rVvAAAAQKsCoFUBAAAAoC8mtq5HKRH3rnXNxjTA5BoAAADQqgBoVQAAAICmckK6tw+uwSwQMWuNNn0cswAAAKBVAdCqAAAAAJCV1YZwO4NZoAacMtr2aswCAACAVgVAqwIAAADAWExpXa9Tgu1V65qKaaCm7fs17RsAAACtCoBWBQAAAICxOC7dqx3WYhaoEWyJBQAAQKsCoFUBAAAAoC8WGELtJmaBGnLDaOsLMQsAAABaFQCtOhR6aO+e1nVF2of4fnbX+9Z1rXXta10/4WIAAACIkTuGSEPYQB2Zb7T1u5gFAAAArQqAVh0ITS1j5Wz3XZda14+4GgAAAGLhD0PQnMQsUGM4kAkAAACtCoBWHZ65reuFZA+cd663retXXA0AAAAx8CglZEalveUOoK7Mcu082e4fYxYAAAC0KgBaNTMzpH1o75cBL03nwg4SAAAACJp1hog5hlmgARwz2v46zAIAAIBWBUCrZuJWomya53xV65qS+HdN56Ir5s+JP4CuH8fG4e7q0S0ER9w1H3MAAAD8xz1DwMzDLNAA5hlt/z5mAQAAQKsCoFXHZIMrkx4IujbD3y9qXS/FDqBvrLAexIwdyxIO+Z3+BwAA8JUlhnC5ilmgQVwx+sBSzAIAAIBWBUCretGV4s9def7q43eajuatUaebFdaFmDGGAAAA8HLREC7LMAs0VCN2rkuYBQAAAK0KgFb1MuLKcnmA32416qT53ccHYGOC5xgCAADgP2ZK9yE0zzALNJCnhnifiVkAoGGMxwSAVgVAq2bkrCvHnAHfN++lO4D+a0V1IWaMIYJkVuTl/0Hahx4AAMTMbkOw7MEs0ED2GH1hF2YJhp2Gf/4KsJyTW9fm1nXBTQg1/+dHaR+ktcv9O4CiB6mtkfZBcLp68EXr+tC6PrWuwxWU5xfXTv8t4VlHXD21vi9d/U84e0zDV18DSqvc89Qf79yzOuPJCzfG6HtrQQN8hVYFCFOrjnNjw8kh7mEdIFpVvLaRMePFretv91J54V4yya+Vo+4loC+iB+7v/iftLQd8bS+Wme6lq/mNfoi4HsdcHf7EpQAQMY8NwTILs0ADmWX0hUeYJRjmGP65HFgZt7u5xZce12shn37Tme7mEZ89bUQDEZtKLM98NzfrPL+M4PlGV0+r/jpPPyNh7Pwp21e6MGuf2Csxe116kObKGvsKrQoQplZd4MowzEe8A0adlpdQ9sbHjDe6xmMN7p9TL7rRHn93Uhp+umpBrEtMKjZGXhdtH89cXbQjTcG9ABAZC4x34C3MAg3mltEnFmCWYHhgaPZJAZRLy5A8yEsD5JsTZfstVe6PzDMa/d597ZmD3pf2at6yJuWz3Jw3XY5/S3q+rljU1dW3PfZ464IbTfHVSI/nZb2KmpNW6Su0KkC4WnW6GwuHYYNRnyJ3tTQ+ZjzfvcTSldLgpm7zmSfdS/D1ZadfNA6Jf5XIAfeygOGY2LpOJxraqprUa2pi8NIThn/G1QAQEfuM9942zAINxjq4aD9mCYa/Df+sq7hMGiC/nZp7zEj9zVyxg1zQLLStvPDMObeWWA4NShwU/2rqfyuwzUZPeV5JNamOyvbVNhkuaJ5ehTqjRr5CqwLUW6vuMMaSIiBm7CqT3kr0yTkhWYle+Wv0BblX7C8LV+ifQ/GjfFsp9FHK2YJRJvph4GqifitxOQBEgrUN9kfMAg3G2g77GLMEwzzDPxcrLlNyxbnOR+Yaf3PMKPdH3Nk49ngm3mWlaOnMd30pOKoMnitrPeXZW3NfbZD8AufJAPqUmvgKrQpQb616PFWXEwU8g5ixtLcnfEwVXHOE/WL8bZbk73qq6xvDGDAYi+Tb9jNtZCtqWk/N3X410V7W43oACBxrJeR9zALQlRpEr3mYJRjSgZTPUt0ZOumV8Ds9f3fJaFPvcGXjeGK0g7slPHeCtPPxW3PckILnyk2xVwXW1VeLpTvH7nlpp0GYLd+COvq/mld8tbQDSx8lWwqX2H2FVgWov1a9kKrHkpzvT8zY8dAo9FrP32Y9OXWhdH+VgP5ZIt8fdrK25vXViVsy/9QGmgAABMwW4/35P8wC8LUfpPvGFswSDHv70P5FsihVBk3x4Nu2u1vsbb7QHGZKNavO/5J2akk9UHKzK4e20z8lzOC5r1xzaugr/aiR/BioPsoa/NJV5Udk7AD6ysh9hVYFqL9WTcZei/g4RsxY7O1C93r8fVZDdIQGwfPB0YORkl939jSk3tOcQO3UexVNAQAC5YLxDl2BWQC+bu0MLTUIfMM6PO5cBeVIT8Z29vjbCakxV1eW/oArG8UqsQONPxX83KNir65T/pXwgue+wPWqGvoq+VHt2oBjwjrpHTy/F7mv0KoA9daqv6bqsDrn+xMzdlhbILfnZAjlhhA8HwQ9NDO54rxpByLpV6jOISqfeghWAICq0FVn6e1rOm6NxzQAX/tB+jC0j8IB8iHxtOLxK52jWFMtTMvwu9kZ/w7qh7VKd7TiccU6iLHq4Lm4+VO6TOtr5is9M+utu7cuvBomP/l26R1A/zlSX6FVAeqvVY8myn+jgPsTM+4xWP+eoyF+EYLn/aITglcJuw0rBmJlp3x/WjATJQAIicXG+/M6ZgH4j+tGH1mMWYLhgOGf1SU9Wyemz1LPvoxLYAw2Gm32Q8Vl8h1UWXXw/K1Um+aoDF9tStz7txzud0f8wfOdkfoKrQpQb606Vb7FdPV/i0jPRcxY2iedWi+HZTkaQrkvBM/7mUzcSvljeWR1UPGSV4qZe7zooSFYK3TWYJagqXMOyTzHcWiuL/YbfWQr43YwLDLKf7akZ68xnv0X3R3GYLPRbt5XXKZQg+fWQWxHauarzpz5fE73Wyn+4PnZSH2FVgV8UW+tmszbXsT5H8SMHUs9hliRsyF2CMHzrPxT0SQmL/RLl251uZ3T/dJfy7fRRKCmEDyPj3NSbT7RWMZxaK4vVkt1wVnG7Wy8SJVfVxeVsZ3/hmG7qXR5GAOC59mpe/B8hnxLBZPXSktdxPbW488bkfoKrQr4or5adZ4bA7XMpwt6BjHjMQyxNWdDzHdiHHrzs3TnhZsVUfn1q9QDV/Z/crzvFfl+u99smgrUEILn8fHc8Fns6aWKGsehmb6YavSRF4zbQXFQyg+szJZyD+SD+kDwPDt1D553xt+8g1znPP58Hamv0KqAL+qpVcfJtywN+uGiqAPUiRknGnu/J0oPYgjIxr2UH45FVHbtvFcl37xzvg57iaYCNYTgeVxMCHACH/I4Ds31xTujr0xg3A6GJUYdThf8zN3GMw/S7SEDBM+zU/fg+Wl3z0U5l/t/Hn++itBXaFXAF/XVqp3FD3p+TJEfxIgZJ/jkMcbGphkiQOG1IKKB84IUe0LxU8meYwkgRgiex8UKw18XIhfARY/j0ExfXJT+Dhli3C6fV9J9qF+Rbe6BYbcRuj5kgOB5duoePNcx41AB5f7L488rEfoKrQr4op5atXNuzMvWNbOE5xEzdlz2GOKT2AFKguf5o7kl01uqHkRSdv0SdbWEl/K+1DPu0mygZhA8j99fxyKtS1njODTTF0elvgdD1mXcPizlBbPneeYdU+j+kAGC59lpwoGhZY3rRe/IKcpXaFXAF/XTqr9K+2OFppKaW9IziRk7Nor/VOmPhngmeJ4/mwzb742g3JqP3Vo9tLmgQaKfE34BYoPgeVwcN/z1Z4T1KHMch2b6whrbjjNuB8VvRj1OFvQsK2XLC7o/ZITgeXYIng+Gb+X55gh9hVYFfFEvraqZKd66sXRRic8lZuzQXD6vehgjHcgleJ4/Dw2b/xp4mdeLnRtKr3kFPG+c65hlnXoOQBAGenFJ+jt1nHEcmuqL36Ve28brOG6rxkoHb95LMVuw7xo2O8cQABkheJ4dgueDsdvjz/kR+gqtCviiPlp1jrRXm2tMbEnJzyZmnGDdGIboCIBpNTLE4ta1s3Wdl/aKF91y8MH9t6xMl/ahIpqP+7O0k/Vv7bMcv4i9/SHUnFG6OulWj3byvMBnX+KlSb+qMXUJwuhJ38td2dWPZ6X9gVDbwtIB7qdfsh+43+vk4qhrI1XzUuJNO1DlOA7N88VkKffgNcbtwTheQpBlhqed7wnEBqq9NUC2UtqrT4+7ybO+wy72+J2uxDvQup60rlH3rjrs3ofDMLF1rW1dZ9x78KPTRfr+0dQLsxN/O8m1x06ZdewoKsXhIuezC07rdcqlgdHr7t+Kek8TPM8OwfPBOGWU+3GkvkKrAr6oh1ad6fqzaoyqYrBNjBl7OZHBGNqA9kdsiGVOVL4eo55ZJgsqrN96fr+qjzIdMX5/PTC7/STtANj7DG3Ed/2TQzn+Me77P95n9CuCMJWj2/v1xO1PY7SBficCEzz31HfRjxUHWEal+6NnyIQyjkMzfZHux6NSj0O+6hQ8Xy75bFleMkS79l2zC6qz+koDZZdd8Gq0Rxl8AX5dpfrZ85sTA5ZL63s0wzv1Q0JbrTH+/WzOgQVdCPE0o8+0bJsK8BnB8+wQPB+MG0a5d0XoK7Qq4It6aNVpiXdv1RqzCTHjzJzus0PEYoiF8m2bwSNpr4o9J/6tB9cGFEmD5Il8JeHnV3qSw8Qnj8DnKqnv6rUYCblfEYQpl5XufaCXfpW+5/HhnT7vO7FHezhfYX2nG+V5FriPQhnHoZm+sAJuMxi3g2KcMUl+O8DEcbfkGzgvMti2Q9qruo+7/+21CCC9RXq82Dsik9fnPsujq8cPGAEvPZhtrZtAd56t7UxXfWuQuhNsL+KwM30P/+2ekwyMq81Wp/qxftROLwrKe1cBwfPsEDwfbBz8bPTjaRH6Cq0K+CJ+rao7RTo55jcOcZ/tOZaprjHjgfhfH4a47QJooTPZCbxJRmO0tjONin9L05oMdtmdsVwLPb//KwKbWpOjj1Ls17n5GSc0VbJZ8l9xVdR1pKb9iiBM9ejE/r4nkNDvGHFX/Kd7V8UKozyXIvRTFeM4NNMXdci7WvdxWzkpxR3OPl7sld3XAqq/6prnki2d4pmMWmt8xmcvMZ6tE+YFPX6jwWoNRmrg/E4Bk/5VKT2nY5IGwyf2+M0EoxyLC9bZBM9tCJ73zzKjzAci9RVaFfBF3FpVYyy3XTl2DnEf3QV2Neey1TFmPJRY6meLhm55nBlpXXd46rTa+NtFboB45/59nBOE5xO/04BR1lxiWz3PXhmB3a5J+StBx3nstT8guzQpeB5qvyIIEwYrPW2g35PBf/a8jz5WWLc/jPKcjtBHVYzj0ExfWKtU/mDcjmLcPpbTvX/zvBNCS793JkPAaa/772+c3jkp/tQlWdjusXuWgMRhp5/SHyYeDmGDyUafVR02J8Nv1xY8lhE8zw7B8/45bJR3aqS+QqsCvohXq+qZKZ0UUsPEun5xc+aRAsrYpJjxmOhqhpt9GEOdotv6JkRWT9/hRekXlm7X6myPtFZQTHWNsx/OSfmneeeBrqKx8jtuKuHZVge9FZBtCJ5X368IwoTBOPdeyGNnjbaNt8ZEvirWG/U6Gpl/qhzHoXm+sM53Wc+4HeS4/SFVn9c53XuLRxeMBGYDS5vvSPz7iPtvuiJ7VsJuD43fHcrwPOug1r19lHetx66HBqy/zv8eS/dZTJMy/v6CFBswtdrRm4rbTKjB89dSbfA8RF+N9S5OB7F3RuwrtCrgizi1qmqKKzJcOmfVJ7ucpntRYFmbEjPOzFZDSPe6VHAtjayOj4x63Ez9zUXJ/+vTCxlui2dV/O4p97wSnm11zpAOHiN4Xn2/IggTDuclv9z1IwFNAA4b9doQmW+qHMeheb6owyS+KeO2tfL6txzu61swMjmw+ls685fEJPGtmxf9nPqd/v/v5PuFHZMHsHW/K/H/kMEPaU+jY046iKep07IGzn3BlTx3ilnBjecVt5lQg+f/VjzuhuirXmyU6hZpFOErtCrgizi16vmcYz57SihzE2LGmVGxeKlPJx3tQ2xVjbXdMpmbt/Pl/FCOz5wg+RwuVAUHjHK/LOnZFyXsvOcEz6vtVwRhwsLKjXd3iPsVkYc3r7a9NjLfVDmOQ/N8Ya2OrcMh0HUct1cbdTqcw32tXOKPAqu7dVhgMvDb2bLuW4mmB/T9kVGTHpN8tr+v82itfhfi6Cq1dOBc//9+8qbr3MbKa389Rx+dkPDyOIcaPLd2AZwq8fkh+qoXj1L9fm7kvkKrAr6IT6sezzneo+/kslKl1D1m3DeaC/FpH8bQU3rnRNpROrl557gXqH4d+SHHZ/7seeb7COx1t0Ix5jugaY0A/YogTGisknwODVWmJO7xouJ6WSsoRyLzTZXjODTPFyNGHc8xbgeJtXr41ZD3nCL+/JchscQo4wX3b5skv+Dfbs+caZAJpHXGzOUB/PNM8jksNp0z9q10r9IfBivIeKLidhNq8PyQVBu8DtFXPtKrzjfWwFdoVcAXcWnVg5L/YskqPljWNWY8EMv6dJiKptBzFs/xlF1z83a2by4qoFFZz3wduK0mS7XB6xMSx4FTUE2/IggTFrM9bWDBAPdaI+XnoPQR2mnssY3j0DxfrJC4ViA2edxWzkq+O/xWedr5usDqbQW1t0n7fJZOupZhV3D59P/CAe93ylPmfrBSRgyaZ1U/juv2bQ2i/yP5r3h7K+EdPhxq8NwKBH2U8lJdhugrCz1fKZnr/HRNfIVWBXwRj1YdkWIyDVS1U7uOMeOhDaHbC7OcsPpuCFFYFlY9Ov+tiLQSvlW5DwK3ky+34rSSnn/U8/zTAvQrgjAhMprT5Olc4uVa9fauq0adYsrbVvU4Ds3zxWIpNpUD43a+rDHqdXCI++3ztPO5gdX7mthB7U6KlWE/3GoKlDfGMw4Mcc/bxv36Wem9zTNvmxpJYEPtWfXBY6EGzzXw+lKqCWCH6iuL5Aco7U8/1MRXaFXAF2jVqqhrzHgoQ+jBAbqi4HIGY7wMvIP5EvPrSvApBTxvved5VwL3v7Xyu8yA/36P3S4yRtGvKiCmHPd/VmSjB0ZZ/unzHvruGJUwVp2LdOeFDfHQu5DG8VUR9I9VDX2nlsVkCWenHeP22GiAK526ZZh0WdY8IbQ0heOl+2OvrjSf6/77Yxl+xa5lh1dDvD+sMr/p4/czxD7ga0+gY8hjCTMNRajBcxH7kL9nBc/JQ/ZVmtUl2qVsX6FV0apo1Xi1auzUNWY8tCE6aG6wj2MYI+QA5y5PmbeULLQuB+5/K3/R4RKfvzFSuzWVsvsVQZjwgjBWzsuzfd7jn8QkYnwAfre2Ik+MqN2WPY4zIQn3nVoWE8Xeosm4Hea47Ru7Fw94L2t+cD6wNmqNU7rjqZPDe9jA3xqPj7fmNCcb5P1qHSj4IcAA2/zW9VC6P+aEkoIi5OC5stR412hwe0EDfZVkVkLPaYBsds18hVZFq6JV49WqsVPXmHFuhlB0m+BLCTPvziACtMjcYL7JW8hBYF/+4jJXEvgE6hXGKPoVQZgggzDWaoVrffxedyi8l7BWLVlbzyZE0marGMeZkIT7Ti2LCRLOymPG7Wysk3zSi8z31G1HYG30iFFGTTejK7tvDnnv8Z7ggwYVh1nNfnCINuMbf44E5JOFTkMkV9ffdX04pHdu6MFzce3sT1empD31Y8svDfJVMkh2PxEcW1BDX6FV0apo1Xi1ap1iQHWKGedqCGWG9D5dNdQgp7X1sciJS4wrqK1UM6Mlv4gJnsdF2f2KIEx4QZitYuc0y8r/JLxVip+MOsVCFeM4E5Jw36llBgOsw9AYt8MNnmtwKZ265dkA9/Gd8fNbYG30iUeTD7PivsM2KWYX3nPjnj9m/O0BT5l+DcQfOrnWc46SaWU0h/NKKe/Ay2HnJv8GVk61m+YuTu4qUT2jh8MuaIivOlxIvIeWBFi+PHyFVkWrolXj1aqxU9eYce6GUPQLlS8p/OeAX6R3jfKeLHEg6oiNUDlrlPdGIAKVtC3hUma/IggTXhBmjUd0ZWG2+1tdFTQ9IL/HPCGpYhxnQhLuO7VM0nX9xLgddPBcxM5PuajPexyPYC4w21NGncsMGwDVelpBbg00DnMw4VLjnk/7KJOVD/lNgOOG7j5LB/p1xdrOgNpQDMHzHdJ9WK0GvKc1zFeSKKP28eUBtvm8fIVWRauiVePVqrFT55hx7oZQtvfo+L8GWrfTRlkfF/Qs30qcZwH7/p1R3r9LLoMvhzYHhoZLmf0qZv407LSmBvVa4emzWYIGV93frgusTp8jnpCEMI5DM31RxwlJXcftDtZCj3193uOOcY+bgdVzY485y7CrUn25zofNF2sFNLIuTFjqKdOZgNvicukOBmrbCuFgsZCD55q//oZ0L2AYaaivkrtAVgfWxvP2FVoV8AVatSrqHDMuxBAaGPElg18dYL3miH3ivF5TCnjeSs+zQj2UYEFBk4p+ORKh4G8yZfcrgjBhtgHL/4sy2iPED2NfIp2QhDKOQzN9MegOFMbt6pgi3anXnvTx+3Fip247GFg9z3v6470c7n3Zc+9hUsH86LHrHxl/v9dTpk2Bt8cdEubO05CD52ekmsBXiL5KjtcbAmzfefsKrQr4Aq1aFbWMGS+R7Lnx+jVELzEa2ipCFfd3xP/VowjH+Q5Q+hBoB7C+Cn2U8rdTHPfY7VggdoppO/iRGvYrgjDhMUH6PzRW86Dph0TdVj41AmEVy4QklHEcmukLgudx8q9Rx6w5d5dG8P4f12PiNmyAbZLYQe5XQ973sKe8Wd+XFzy//z3wtmjl4e+nPRZFqMHzOZ5xd0oDfZVctLY9wLZdhK/QqoAv0Kp5QMzYoV+A9xVoCN/KhtAOC/xbvq2meSPlBBl9q3FC7aDWypkLFZTjtKdN/RWInQieV9uvCMKEyec+gyfXJeyTtmPNIxnKOA7N9AVpW+Jkk1HHvRl/u0WGC/KWNSm0yqhb1ccPee8/PPc+NcQ9Z3vmDw/7uMdzT7mmR9AerY85eyouU6jBc6v/3Wqgr/QjXucD2f5A23URvkKrAr5Aq+bVDogZO0PcLdAQf3kMsTYgGyxKdAw9LfycUd47BT37icc+EwNrJxrot4JfWyooi+/LVCirZQieV9+vCMKEx7s+3gOdjy77Aq5PjBOSkMbxptNUXxA8jxPNU5wO1mY9t8TKyx3a2T6+SdvhHO59tIB50EUZfgemb6V9DKsJTxnlPldxmUINnltpQE43zFcLEhr0aMDtughfoVUBX6BV84CYccIQWrBZBRniT48hRgKpv26nfCrf5/mzVtjopGF8Ac8/47HP0sDayTJPOedXUJYrEnb+bILn1fcrgjDhccuo2/oeY03op7jHOCEJaRxvOk30xTixt/4ybsfB9QHb63OpNniXBV96uUU53NuX7/yXAe834n7/UoZLhTMq8aZ0sM4+qnoxRqjB80tGmY42yFe6S+O1e+7ZnO99UvJNP1WEr9CqgC/QqnnQ9JhxlyH2FmSIbR5DzAmk/idcec4n/pvvYISVJYqtVYG1k3+MMr6uqCxW+o8XAdmK4Hn1/YogTHhYk4L01tm50s5zrkGBaYHX571RnwmBlzmkcbzpNNEX1tkH7xm3o8HSNmOlX5jkee+vD6hekz1lfJLT/d957j/I+2K6Gyeui70Ls5/35meJN3huHUT5puIyhRo8fyjVpkys0lcz3Pywc1BpnrsqOh+xFgbuK7Qq4Au0ah40PWbcZQgVd1MKMMSpgDvdKlee50bdPxjlLiKFwFxPQwntIJObkn3l0FZpp+koAl+e+DOMacEQQr8iCBMeVtqe5BZznfTrVv6POU9GiuKthJ9uK9RxHJrpi4lGnd8ybkfDDKOe98f4zYhH44bUntd4yrg3p/t/knyC1D9Ie8WuzqGmS3falaee3/l29/mC+j9E0BatDznvKi5TqMHzqs8bqspXOv/oBKNv5NyuZ7h++DACX6FVAV+gVfOgyTFj0xD9DND9GMLK6X0wgHpPcy8pDcQuNv79fJ8CaI57Of84QFmeSNhbWieIHbC2chDp9jUNkM4uqCxzJJJ8SA0lpH5FECYsrIN+TyYmOfel/23nVfLaqM/kgMsb0jjedJrqi8lSzxVMTQmeK1b6rbk9/t7KJR7a9ueTUuy29LzSo3TynOscbEHGeYOu/L8t9oIcXzqZPA7p3i3FbrW2ArJVrwwkeB6Orya6dq/PupezNtMPV52g/I4IfIVWBXyBVs2DpsaMxxRPK3I0hHV6vW4TnBVAva+68uz0/PtWT9mtLV/63+664M8gW8L2Gc+6F1Ab8a0cmpH6u5+cINpaYFlWiZ03e4qA0K8IwgTMcaNuZxOT+y9uwh1bWw/5rIpQx/Gm01RfLDbqfJ1xOyq2G3Xd2ePvrYMtLwZWp1dSXMoWEXvHXb9bkc+mbG0FJP9K/eYH17/uiL3qdr+nXH8PWd9jUvyiFoLn2Wla8Hx8Qp89knxSAOocRFfU7pJvK7l17jk9Al+hVQFfoFXzoKkx4zEN8V7sFaP9GkK/+lq5u3YEUOddGTrCYsm+IuOIc/Cgq1R+krAPUjxglC+9VU3FieaVK/qQvz1GWa4wngVBaP2KIExYWIdGXZZvh9Adjaw+Vg73FQGXN6RxvOk01RcrjHpfYtyOilnS32KPj9J/nvQy+dmjSf7J8Rk3PM/YkuG3k53G1b8/kfjvZ6T34abj3e+eiT946DuHRlPuDbJgYVLivbitYL+FGDw/6LHng4rL1bTg+Xkp58yoy5H4Cq0K+AKtmgdNjBlnMkTHGCNDGGKaRyweL6lOKkh1+6Ku0Jia+rd18m37Ra8vxiocP2V4ia13/33XkGW+E/DLbax8V52UC/o1vuj0GtYqpj8Yz+hXA7DbjXWvnLgnCFMs23pMQs4FVM6s7cLK4T4SsP1DGsebTmi+KGssHAm87zNuZ+OuUV9rq7Yvzd5vAdVlu6eMi3J8hi+oOtbB2LoSq7ONOb1I5JFxv3GJiegVp8fmDDAWDaK9fkpMfjeV4LcQg+dXPbb8UHG5mhQ8PyblBM6LGuOL8BVaFdCqaNU8qGPMeCDWiX0Sc+cQxll9GGKSE6Lpwyk0WFbWVo59hmjZ78qZzL2YJaefFagddb8dlwgG5bGVw5p87Q+gffgO6Lwp37axPSzpZazPS69ieiHNSelRJbH2Kx+/S5gfq+ochPFtadZJfii7bPppF1ae3FDPXghpHG86ofmizLFwrfjPPYiZpgXPd0i2FUKWvz8HptmsgOeLnJ+xSPwBuKeu/XQO8NMcs6tS5dL/O512xVrRv8H9VsePd5LtA8B8z72+uHKNxWSnAUfdM38vyW+hBc9niz+3fd4fY/qlKcHzv6W8wPnbgsaxInyFVgW0Klo1D+oWMx6KGW5wHvUEta66l98yJ5SS2xnWu0nCabFXlJ6Rcg8PeJ3hpZd1RcXmDPfSlSPTcxqknkvvrTFVMD+jkChjG+5S47nbGcvoVwNwQsI8pLdpwfNrYudirYp+2sVhT/AiREIax5tOaL4ocyxcbzzraA182rTgubWi/Lbxd9Yq0JC2PutH289GGQ8X8KyrMliQ7pTYQbpev9EA3OI+yqZzOl9eds3XrQH5iYm/n+7+m64M6wTetX5lrgINKXiu9rg7hk8eS3ee4LJoQvB8q5QXOC9qjCjKV2hVQKuiVfOiTjHjXNAvBrqa9NWQLxUVCXulmiTvY5W9n8Y/zePczqWrLBbmWPYtxjN+imDwPFxSWQ6lnvsqsMBbnYm5X1lYedxOEIQplHTw/HpqQh4C/bSLmMRVSOM4E5KwfFHmWGide7C+Bj5tWvBcuWfUOR08vWX8zeaA6uA7DG15Ac9S22RZhNC5PkrvnOgvPL+7P+Dkc558O3+kn+uGVLNrr6rgua6WW+LaiK5OPCX+lfuWT0+736nNdEHQ9BLKXPfg+VopN3D+pcA5ShG+QqsCWhWtmjd1iBnnzi/STp+gwuCyG9D1xZ9epaFBsNvu73QCMbficu/r4aBBXkC7PfdSEZz3NjxdXfI09ZyDAbSFxx4b6BemspL5jzdEBQMZ/WpQ0oeE6bi2gCBMoSSD57r6MMQPX/20iz8kzN0LIY/jEJ4vyhwLT0s9zyxpYvDcSpGwLaVnrZVJIeWoPSR2fuqi0srMNzS+7wyQsQLgK904MpqYh23Joew/Od9ekPYOwE+JuZ7aRs9nOuueVeUKsaqC52sk/EMn09Q9eP5Gyg2cP4jMV2hVQKuiVYsk1phxqWQ5ObVKNDD3xDlJnXd1yHJqOorn7n76v/r1a2pBZR8xhPzkiu05U9qnl39wNlDb6tfGOSWWYZOMvUUY6Ff9sMRNUvVaHIiN6xyEWe5eqKGL36ztIrbT2EMYxyFMX5Q1Fl6ScA9GZ9zuj3mu7Sav5Dklvxo2uUfX/5rTXAPPN5yOUru9d3pKNdZsTJSJEA8MDZUmHRiKr9CqgFZFq4ZD6DFjDFET0p226bm90ivydQCfSzOBGtLEIEysTDd89QyzAHixVt3OqEG9GLe7sdIQ7qQLQE4QkM0OwfNm+wqtCoBWrQpixhiiFLSDJk+f1S9+Mxtsj52pAWwLTQRqCkGYeLDSEnzCLABe0ls4Rxm3a8tZw9cz6QKQEwRks0PwvNm+QqsCoFWrgpgxhiiNdI6ycw21g25h/YAdoCHoVrgNqYtt3OHy0pjoTMEsAF1MNvrKK8bt2pI+HPMKXQByhIBsdgie4yu0KgBatQqIGWOIUjmc6rxrG1Z//Vp+O1H/uxLmIYMA0EwuGiKLdyJAN78bfeUCZqklPzMuQsFsEAKyWbECsv/gq0b5Cq0KgFatAmLGGKJ0riZs/U6atZrpiHyfn20azQEAAuK4IbL+xCwAXVipTY5jllqyK+Xnx5gEcmatMZ58xiwmHyrWKfiqel+hVQHQqlVAzNiheQs7W1N/pF0UyiT5fvX1I2lvKak7yZUKz4WDGqAYdLv9IswAA7YLS2Qdw3zAWNjFEaOvrMfsteS+EKSBYllhjCdfGjI/6ocJHjv9jq8a5Su0KqBV0apVQMwYKkHzkiUD6P+2rvE1ru+IfL9iicA5DMt0J0D1BXiidV2X9oE52sb2Yx7axYDtwpoUsr0PGAu7uWT0lRW4Ixr2SHshgwbGN/X4u3TKlgeYDgpA50CjxpiyCtN8x3KxA7JT8FWjfIVWBbQqWhWgUegX+muJjny+pvXUAapzyvHN1jUV18MQLJX2NsjPHlH6xQlWoF0M0i6slULk8gTGwm7eGc+bgFui4G/Dd6s9f3ss9XdLMR8UxL9GuzyJWb7jkGGjW/iqcb5CqwJaFa0K0Dj0630yb9lZaR+qWRdWJwbLE1Lv1fVQPvOk+8T5zzXrQ1B+u3huCC3OZwDGwm9MNfrIC9wQDa8N/502/m6WfL/C9CimgwL5Texc2nMwzVd0i/xHyf7hC1/V21doVUCrolUBGonmDeocKnKldU2sQZ02u/povcgtBUVxLfVSvIRJYMh2cU7YjgyMhb1YbfSRM7ggGqygzk7j7y7K9+lafsB0UDDWQYike2wHRe8btjmPrxrrK7QqoFXRqgCNZW7ruuM69l2Je5X2PlcPrQ+rEKAo9Ev1p9RLcRtmoV0M2S62GGLrf5gVGAv/Y7/RR7bihmiwcoCmD/vbk/g3XSk2E7NBSRyQ7pzab6S9KKdpOwu1vn+1rldGnz0awFwRX1XnK7QqoFXRqgCNZ5MTIzGjomk7roSCWWy8FOdjFtrFkO1ikfH7G5gVGAv/47rxvMW4IRr0ENB0/tHOikVdyHEy8d+fSDsFAUCZzHNzocepdqophw63roUN6KMHpZ1i4EuqPx509sFXzfYVWhXQqmhVAACATOxOvRBfYRLIoV3oyoh0WgMNNHFmAzAWtvtBOvD6UThrIjZGpH3A3Jcel6ZlmIypoGL0cLdl0t6Cv07aqS5/rXmdf3X1/NPVe5nEccgdvirPV2hVQKuiVQEAADJxNfVSPIVJIKd2cUG6A0krMC0wFn7tB+m+cQEXRInmJtZt/g/dpFIvzdUb2spWAABAqwJaFa0KAADQJ9YX5TWYhXaRU7sglyQwFtocMPrGZtwAAABQKmhVQKuiVQEAAHpifVGeglloFzm1i7nGfR5gXmAs/NoP0s9jlTIAAEC5oFUBrYpWBQAA6Mm+1AvxHiaBnNvFY0N4zcLE0OCx8EejTzzBBQAAAJWAVgW0KloVAADAy+3US3E/JoGc28U+Q3xtw8TQ4LFwm9En9uECAACASkCrAloVrQoAAGAysXWNpl6KyzAL7SLndrHAEF+3MDM0eCy8ZfSJBbgBAACgEtCqgFZFqwIAAJisTr0Q9QCScZiFdlFAu3gkbIcFxkJx7T7dFx7hAgAAgEpBqwJaFa0KAADQxZHUS/ESJoGC2sUuQ4TtwdTQwLFwj9EXduMCAACASkGrAloVrQoAANDFw9RLcSsmgYLaxQzp3mr4DFNDA8fCZ6lnjbr+AQAAANWBVgW0KloVAADgO6ZK9xfl+ZiFdlFgu7ho3Jsc+9CksXCZ8ayLuAAAACAI0KqAVkWrAgAA/Ec6b9pLz4saaBd5tYslhhi7ismhQWPhVaMPLMUFAAAAQYBWBbQqWhUAAOA/DqVeiidT/75Y2KpIu8i/XdwzBNk8zA4NGAvnGW3/PuYHAAAICrQqoFXRqgAAAF+5knoxrkr8m+Y0eyXtr9xAu8izXawxRNkJzA4NGAuPGW1/HeYHAAAICrQqoFXRqgAAAF95n3oxTnT/Xbd8PWhdZzAR7aKgdvFIug+hmY3pocZtfrZ0H0L2CNMDAAAECVoV0KpoVQAAgK6X47TW9XPreiztbV9TMBHtoqB2kc7bp9cpTA81bvOnjDbPzh4AAIAwQasCWhWtCgAA0PUFu3O9dy9joF0U2S7uGM/4CfNDDdv8z8a9b2N2AACAoEGrAloVAACg4Zw1XpJvWtcvmIZ2UUK7WGA85ybmhxq2+RvG/RdidgAAgKBBqwJaFQAAoOHMcC/KT63rdes60rqmYxbaRYntgkNpoO5tfq3Rxo9jcgAAgChAqwJaFQAAAAAqQ/PzvUqJNRWEUzEN1ICprj2n2zfnSQAAAKBVAdCqAAAAADAmI9K92uEMZoEaYG2xXYVZAAAA0KoAaFUAAAAAyMpxQ7itxSwQMWyBBQAAQKsCoFUBAAAAYGgmtq6HKfH2rnXNwTQQIXNc+02254eunQMAAABaFQCtCgAAAAB9i7i3hoibhGkgIrS9Pki147dMrgEAANCqAGhVAAAAABiGZdK9ffASZoGIuGS04eWYBQAAAK0KgFYFAAAAgGFZbwi6Q5gFIuCg0XY3YBYAAAC0KgBaFQAAAADyYrsh7P7GLBAwfxttdjtmAQAAQKsCoFUBAAAAIG92ta5PqWs3ZgHaKgAAAPD+B6CtQjH8H6WyEEiDhIzZAAACTnRFWHRNYXRoTUwAPG1hdGggeG1sbnM9Imh0dHA6Ly93d3cudzMub3JnLzE5OTgvTWF0aC9NYXRoTUwiPjxtc3R5bGUgbWF0aHNpemU9IjE2cHgiPjxtbz4kPC9tbz48bWk+eDwvbWk+PG1mZW5jZWQ+PG1pPnQ8L21pPjwvbWZlbmNlZD48bW8+PTwvbW8+PG1zdWI+PG1pPng8L21pPjxtaT5pPC9taT48L21zdWI+PG1vPis8L21vPjxtc3ViPjxtaT52PC9taT48bWk+aTwvbWk+PC9tc3ViPjxtZmVuY2VkPjxtcm93PjxtaT50PC9taT48bW8+LTwvbW8+PG1zdWI+PG1pPnQ8L21pPjxtaT5pPC9taT48L21zdWI+PC9tcm93PjwvbWZlbmNlZD48bW8+KzwvbW8+PG1vPlw8L21vPjxtaT5mPC9taT48bWk+cjwvbWk+PG1pPmE8L21pPjxtaT5jPC9taT48bWZlbmNlZCBjbG9zZT0ifSIgb3Blbj0ieyI+PG1uPjE8L21uPjwvbWZlbmNlZD48bWZlbmNlZCBjbG9zZT0ifSIgb3Blbj0ieyI+PG1uPjI8L21uPjwvbWZlbmNlZD48bXN1cD48bWZlbmNlZD48bXJvdz48bWk+dDwvbWk+PG1vPi08L21vPjxtc3ViPjxtaT50PC9taT48bWk+aTwvbWk+PC9tc3ViPjwvbXJvdz48L21mZW5jZWQ+PG1uPjI8L21uPjwvbXN1cD48bW8+JDwvbW8+PC9tc3R5bGU+PC9tYXRoPsQcEmkAAAAASUVORK5CYII=\&quot;,\&quot;slideId\&quot;:313,\&quot;accessibleText\&quot;:\&quot;$ x open parentheses t close parentheses equals x subscript i plus v subscript i open parentheses t minus t subscript i close parentheses plus backslash f r a c open curly brackets 1 close curly brackets open curly brackets 2 close curly brackets open parentheses t minus t subscript i close parentheses squared $\&quot;,\&quot;imageHeight\&quot;:23.906666666666666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8466</TotalTime>
  <Words>2160</Words>
  <Application>Microsoft Macintosh PowerPoint</Application>
  <PresentationFormat>Widescreen</PresentationFormat>
  <Paragraphs>444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Montserrat</vt:lpstr>
      <vt:lpstr>Times New Roman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NICOLÁS RAFAEL AMIGO AHUMADA</dc:creator>
  <cp:lastModifiedBy>Felipe Espinoza</cp:lastModifiedBy>
  <cp:revision>172</cp:revision>
  <dcterms:created xsi:type="dcterms:W3CDTF">2023-11-29T17:29:49Z</dcterms:created>
  <dcterms:modified xsi:type="dcterms:W3CDTF">2026-04-07T03:50:20Z</dcterms:modified>
</cp:coreProperties>
</file>