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314" r:id="rId3"/>
    <p:sldId id="320" r:id="rId4"/>
    <p:sldId id="315" r:id="rId5"/>
    <p:sldId id="317" r:id="rId6"/>
    <p:sldId id="316" r:id="rId7"/>
    <p:sldId id="318" r:id="rId8"/>
    <p:sldId id="319" r:id="rId9"/>
    <p:sldId id="321" r:id="rId10"/>
    <p:sldId id="313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2" r:id="rId21"/>
    <p:sldId id="331" r:id="rId22"/>
    <p:sldId id="333" r:id="rId23"/>
    <p:sldId id="334" r:id="rId24"/>
    <p:sldId id="335" r:id="rId2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F4F"/>
    <a:srgbClr val="CC0000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70"/>
    <p:restoredTop sz="94521"/>
  </p:normalViewPr>
  <p:slideViewPr>
    <p:cSldViewPr snapToGrid="0">
      <p:cViewPr varScale="1">
        <p:scale>
          <a:sx n="102" d="100"/>
          <a:sy n="102" d="100"/>
        </p:scale>
        <p:origin x="72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E944D2B-2904-9351-EB10-DD0D3AE397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CBE8D0-7F04-5A32-0C34-4873B2071E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A176E-A79C-41C5-AB55-868D9BEDE518}" type="datetimeFigureOut">
              <a:rPr lang="es-CL" smtClean="0"/>
              <a:t>06-04-26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726D7D-D6D7-19FA-4AEF-8E2EAB4221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B16ABA-0651-D173-7D9B-76EEC91B46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765D3-0C84-4723-B1BA-76A2E1A8051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3805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A4D3B-6B87-4345-8561-678ED7769BE7}" type="datetimeFigureOut">
              <a:rPr lang="es-CL" smtClean="0"/>
              <a:t>06-04-26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B40EE-7968-4939-B522-E630C2D2459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5187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45220-D9C7-758D-63A6-1229020F4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0A48BAE-EDFA-F25A-33A0-4C908D83B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A2EF02-3289-40B3-F08E-95A76A581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8F2847BE-7AAF-326D-ADEB-8654EDAD2B4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6965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45220-D9C7-758D-63A6-1229020F4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0A48BAE-EDFA-F25A-33A0-4C908D83B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A2EF02-3289-40B3-F08E-95A76A581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8F2847BE-7AAF-326D-ADEB-8654EDAD2B4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2300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AE10E-7146-3881-53D3-7F3967BB7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15225E-89D8-9724-4C6B-9614CCFCD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228F5FF-5219-8DB3-D20B-EB362D75A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285A19A0-B72A-CB6D-9A65-1FECBAFD62E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4278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3C627-0DF7-A3B1-B23A-6109851E6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8D1965-7B4D-49E0-5565-BF7D4C40D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D88A43-4CB8-9CA5-9C68-7F9A9139E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A387567E-4F1A-9F82-08AA-0887A21C88D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4734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FC9BD-F6B0-523E-50DF-06595787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F4BE8F-205F-664F-7447-4BD877751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7809DA-D2B9-9148-6160-E3848CFD7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C8BD1CC0-B046-E919-38BF-91F79B34B3F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5190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D3F6A-7F3E-98EE-5E74-9036847E1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77A41FB-87BC-34A7-1839-D10187D27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383D84A-7904-48FB-B4BA-1E09B7742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A9ACA34D-8B86-D119-E6A6-07952404EE4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25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BA911-F452-76CF-8563-3AEA10097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0C78CD1-2627-5928-900B-8E343B6CE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4FA374-6A6F-3FCC-A481-19B38BB0A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1F91F47F-77BA-D3DA-BDD1-0BFD29CE76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5908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824CD-FFC0-EDF9-65A7-41783A5F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E5CEDE0-0D95-0D02-08F1-BE1A78C8E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3BCB17-C351-C237-80F9-36412BE24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528FBE2E-5EB5-AA1F-5643-436613D5F92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9514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466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F0F27-1481-030F-D556-B25F1C683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3087AFD-764F-4AA4-0663-F6DBFAB9E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8121CB9-CCF2-D554-720F-C9BD6C72B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06014D9C-12F1-0DC0-7DAE-10057C7ACCA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8837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1AB15-6A23-F74D-F05D-2B13E27AE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43E492E-7251-CCC5-48C7-FAC4F7D79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70C0091-588E-C50D-8E97-6E48D11AC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36C44A33-D2EB-7ACB-908A-F0B99742A1B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2494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23A13-8B6A-0F24-4768-973933E0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04BB87-328C-1E55-7064-0CDFC4A4F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01E9AA0-29E9-36BC-938D-3EF5AE842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06752B88-9728-0086-4982-37F94518AE2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5821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43245-5D90-68B1-D3BF-BC41D3E6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6D598F-EE2C-27F1-2B3A-DCBD56DE4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332BEAC-B430-50E7-8F54-79039A002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E66C4625-73A4-4058-E66E-1D48C55975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7022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4120-504B-CC09-B32D-50BC329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EC2E2F-D7A4-141E-11C5-50B456C8A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A24952-09C0-AB07-8147-C1B4F1E52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B939C7A5-4BFD-F315-EEE0-0F6DC075F88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401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71F88-6EB4-83B1-D387-EC695184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ECAE2B4-5713-3A01-8C5C-BD285AA73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46A3AB1-A400-0692-4BBB-F703612C4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981BA9F8-315D-71BE-D6CE-5403B9460D8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1696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4120-504B-CC09-B32D-50BC329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EC2E2F-D7A4-141E-11C5-50B456C8A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A24952-09C0-AB07-8147-C1B4F1E52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B939C7A5-4BFD-F315-EEE0-0F6DC075F88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0042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4120-504B-CC09-B32D-50BC329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EC2E2F-D7A4-141E-11C5-50B456C8A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A24952-09C0-AB07-8147-C1B4F1E52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B939C7A5-4BFD-F315-EEE0-0F6DC075F88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05952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4120-504B-CC09-B32D-50BC329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EC2E2F-D7A4-141E-11C5-50B456C8A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A24952-09C0-AB07-8147-C1B4F1E52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B939C7A5-4BFD-F315-EEE0-0F6DC075F88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49321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4120-504B-CC09-B32D-50BC329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EC2E2F-D7A4-141E-11C5-50B456C8A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A24952-09C0-AB07-8147-C1B4F1E52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B939C7A5-4BFD-F315-EEE0-0F6DC075F88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5055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4120-504B-CC09-B32D-50BC329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EC2E2F-D7A4-141E-11C5-50B456C8A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A24952-09C0-AB07-8147-C1B4F1E52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B939C7A5-4BFD-F315-EEE0-0F6DC075F88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12248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4120-504B-CC09-B32D-50BC329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EC2E2F-D7A4-141E-11C5-50B456C8A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A24952-09C0-AB07-8147-C1B4F1E52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B939C7A5-4BFD-F315-EEE0-0F6DC075F88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26574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4120-504B-CC09-B32D-50BC329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EC2E2F-D7A4-141E-11C5-50B456C8A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A24952-09C0-AB07-8147-C1B4F1E52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B939C7A5-4BFD-F315-EEE0-0F6DC075F88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49742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4120-504B-CC09-B32D-50BC329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EC2E2F-D7A4-141E-11C5-50B456C8A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A24952-09C0-AB07-8147-C1B4F1E52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B939C7A5-4BFD-F315-EEE0-0F6DC075F88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MX"/>
              <a:t>¿Qué es la ciencia de materiales?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2735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AE207-9B5B-F51B-2DCE-6B63CD791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8F1123-3B1F-3E75-E681-7AE6ABE35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7AB414-C40C-3167-D7B7-5E8B85F2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C370B-1A2F-4818-BB44-1429D32737C4}" type="datetimeFigureOut">
              <a:rPr lang="es-CL" smtClean="0"/>
              <a:t>06-04-26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1AD623-DBC1-2178-0E3E-B0F07541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069D30-7548-5909-219E-15AE9979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89E4B-EE86-427E-B533-BCEDB2CD4BCC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4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ACBA2-25C5-C679-100D-DFA42FCE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0078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66E9C7C-3164-2798-8C73-0EC975DC2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40FCBD-1482-A1F0-68D5-4C1DDA093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A91D0E-BEBE-A1C9-4701-575929D93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C370B-1A2F-4818-BB44-1429D32737C4}" type="datetimeFigureOut">
              <a:rPr lang="es-CL" smtClean="0"/>
              <a:t>06-04-26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5442CB-1A01-5798-2666-102FACD50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19774E-35C1-9B8D-AC9B-482856A51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89E4B-EE86-427E-B533-BCEDB2CD4BCC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299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0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80.png"/><Relationship Id="rId26" Type="http://schemas.openxmlformats.org/officeDocument/2006/relationships/image" Target="../media/image35.png"/><Relationship Id="rId3" Type="http://schemas.openxmlformats.org/officeDocument/2006/relationships/image" Target="../media/image26.png"/><Relationship Id="rId21" Type="http://schemas.openxmlformats.org/officeDocument/2006/relationships/image" Target="../media/image31.png"/><Relationship Id="rId34" Type="http://schemas.openxmlformats.org/officeDocument/2006/relationships/image" Target="../media/image41.png"/><Relationship Id="rId25" Type="http://schemas.openxmlformats.org/officeDocument/2006/relationships/image" Target="../media/image34.png"/><Relationship Id="rId3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20" Type="http://schemas.openxmlformats.org/officeDocument/2006/relationships/image" Target="../media/image30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33.png"/><Relationship Id="rId32" Type="http://schemas.openxmlformats.org/officeDocument/2006/relationships/image" Target="../media/image22.png"/><Relationship Id="rId5" Type="http://schemas.openxmlformats.org/officeDocument/2006/relationships/image" Target="../media/image28.png"/><Relationship Id="rId23" Type="http://schemas.openxmlformats.org/officeDocument/2006/relationships/image" Target="../media/image14.png"/><Relationship Id="rId28" Type="http://schemas.openxmlformats.org/officeDocument/2006/relationships/image" Target="../media/image37.png"/><Relationship Id="rId19" Type="http://schemas.openxmlformats.org/officeDocument/2006/relationships/image" Target="../media/image29.png"/><Relationship Id="rId31" Type="http://schemas.openxmlformats.org/officeDocument/2006/relationships/image" Target="../media/image39.png"/><Relationship Id="rId4" Type="http://schemas.openxmlformats.org/officeDocument/2006/relationships/image" Target="../media/image27.png"/><Relationship Id="rId22" Type="http://schemas.openxmlformats.org/officeDocument/2006/relationships/image" Target="../media/image32.png"/><Relationship Id="rId27" Type="http://schemas.openxmlformats.org/officeDocument/2006/relationships/image" Target="../media/image36.png"/><Relationship Id="rId30" Type="http://schemas.openxmlformats.org/officeDocument/2006/relationships/image" Target="../media/image20.png"/><Relationship Id="rId35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46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130.png"/><Relationship Id="rId5" Type="http://schemas.openxmlformats.org/officeDocument/2006/relationships/image" Target="../media/image80.png"/><Relationship Id="rId10" Type="http://schemas.openxmlformats.org/officeDocument/2006/relationships/image" Target="../media/image131.png"/><Relationship Id="rId4" Type="http://schemas.openxmlformats.org/officeDocument/2006/relationships/image" Target="../media/image70.pn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60C42A5A-A0E5-A3E7-6E4B-E2E121DEAC13}"/>
              </a:ext>
            </a:extLst>
          </p:cNvPr>
          <p:cNvSpPr/>
          <p:nvPr/>
        </p:nvSpPr>
        <p:spPr>
          <a:xfrm>
            <a:off x="0" y="3831139"/>
            <a:ext cx="12192000" cy="211246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67000">
                <a:schemeClr val="accent5">
                  <a:lumMod val="45000"/>
                  <a:lumOff val="55000"/>
                  <a:alpha val="94000"/>
                </a:schemeClr>
              </a:gs>
              <a:gs pos="77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A36B385-65DE-D10D-6513-32BA9CFD88D3}"/>
              </a:ext>
            </a:extLst>
          </p:cNvPr>
          <p:cNvSpPr txBox="1"/>
          <p:nvPr/>
        </p:nvSpPr>
        <p:spPr>
          <a:xfrm>
            <a:off x="445007" y="4070178"/>
            <a:ext cx="1139692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effectLst/>
                <a:latin typeface="Montserrat" pitchFamily="2" charset="77"/>
              </a:rPr>
              <a:t>Cinemática bidimensional de la partícula </a:t>
            </a:r>
          </a:p>
          <a:p>
            <a:r>
              <a:rPr lang="es-ES" dirty="0">
                <a:latin typeface="Montserrat" pitchFamily="2" charset="77"/>
              </a:rPr>
              <a:t>Felipe Espinoza Vidal, PhD©</a:t>
            </a:r>
          </a:p>
          <a:p>
            <a:r>
              <a:rPr lang="es-ES" dirty="0">
                <a:latin typeface="Montserrat" pitchFamily="2" charset="77"/>
              </a:rPr>
              <a:t>Departamento de Física</a:t>
            </a:r>
          </a:p>
          <a:p>
            <a:r>
              <a:rPr lang="es-ES" dirty="0">
                <a:latin typeface="Montserrat" pitchFamily="2" charset="77"/>
              </a:rPr>
              <a:t>Facultad de Ciencias Naturales, Matemática y Medio Ambiente</a:t>
            </a:r>
          </a:p>
          <a:p>
            <a:r>
              <a:rPr lang="es-CL" dirty="0">
                <a:latin typeface="Montserrat" panose="00000500000000000000" pitchFamily="2" charset="0"/>
              </a:rPr>
              <a:t>felipe.espinozav@utem.cl</a:t>
            </a:r>
            <a:br>
              <a:rPr lang="es-CL" dirty="0">
                <a:latin typeface="Montserrat" panose="00000500000000000000" pitchFamily="2" charset="0"/>
              </a:rPr>
            </a:br>
            <a:br>
              <a:rPr lang="es-CL" dirty="0">
                <a:latin typeface="Montserrat" panose="00000500000000000000" pitchFamily="2" charset="0"/>
              </a:rPr>
            </a:br>
            <a:br>
              <a:rPr lang="es-CL" dirty="0">
                <a:latin typeface="Montserrat" panose="00000500000000000000" pitchFamily="2" charset="0"/>
              </a:rPr>
            </a:br>
            <a:r>
              <a:rPr lang="es-CL" dirty="0">
                <a:latin typeface="Montserrat" panose="00000500000000000000" pitchFamily="2" charset="0"/>
              </a:rPr>
              <a:t>Adaptado de: </a:t>
            </a:r>
            <a:r>
              <a:rPr lang="es-ES" dirty="0">
                <a:latin typeface="Montserrat" pitchFamily="2" charset="77"/>
              </a:rPr>
              <a:t>Dr. Nicolás Amigo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800BBCCF-100D-2FFB-9B96-3C888E92D2BD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</a:t>
            </a:fld>
            <a:endParaRPr lang="es-CL" sz="1200"/>
          </a:p>
        </p:txBody>
      </p:sp>
      <p:pic>
        <p:nvPicPr>
          <p:cNvPr id="1026" name="Picture 2" descr="Vicerrectoria Academica – Vicerrectoria Academica">
            <a:extLst>
              <a:ext uri="{FF2B5EF4-FFF2-40B4-BE49-F238E27FC236}">
                <a16:creationId xmlns:a16="http://schemas.microsoft.com/office/drawing/2014/main" id="{53815732-8702-F737-5C82-6099C22CF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" y="0"/>
            <a:ext cx="5346421" cy="1934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63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B826-DC83-725D-21F0-24A7CA730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6ED36F4-7AF5-AC8F-7B9D-8E2FE1AB0090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547DEE24-955E-2807-A74C-6499019A9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965895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Cinemática 2d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E696C64-D67D-098D-6438-FB1900C4DDDF}"/>
              </a:ext>
            </a:extLst>
          </p:cNvPr>
          <p:cNvSpPr txBox="1"/>
          <p:nvPr/>
        </p:nvSpPr>
        <p:spPr>
          <a:xfrm>
            <a:off x="346505" y="830427"/>
            <a:ext cx="6652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/>
              <a:t>Ecuaciones</a:t>
            </a:r>
            <a:r>
              <a:rPr lang="en-US" sz="1600" b="1" dirty="0"/>
              <a:t> de </a:t>
            </a:r>
            <a:r>
              <a:rPr lang="en-US" sz="1600" b="1" dirty="0" err="1"/>
              <a:t>movimiento</a:t>
            </a:r>
            <a:r>
              <a:rPr lang="en-US" sz="1600" b="1" dirty="0"/>
              <a:t> </a:t>
            </a:r>
            <a:r>
              <a:rPr lang="en-US" sz="1600" b="1" dirty="0" err="1"/>
              <a:t>en</a:t>
            </a:r>
            <a:r>
              <a:rPr lang="en-US" sz="1600" b="1" dirty="0"/>
              <a:t> 1 dimension (</a:t>
            </a:r>
            <a:r>
              <a:rPr lang="en-US" sz="1600" b="1" dirty="0" err="1"/>
              <a:t>semana</a:t>
            </a:r>
            <a:r>
              <a:rPr lang="en-US" sz="1600" b="1" dirty="0"/>
              <a:t> </a:t>
            </a:r>
            <a:r>
              <a:rPr lang="en-US" sz="1600" b="1" dirty="0" err="1"/>
              <a:t>pasada</a:t>
            </a:r>
            <a:r>
              <a:rPr lang="en-US" sz="1600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FC176A-D7D3-ED23-C994-183DDB43727E}"/>
                  </a:ext>
                </a:extLst>
              </p:cNvPr>
              <p:cNvSpPr txBox="1"/>
              <p:nvPr/>
            </p:nvSpPr>
            <p:spPr>
              <a:xfrm>
                <a:off x="6074625" y="1168981"/>
                <a:ext cx="364548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C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s-CL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FC176A-D7D3-ED23-C994-183DDB437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625" y="1168981"/>
                <a:ext cx="3645485" cy="518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9B89BC-4304-D659-48CF-2795F1B53520}"/>
                  </a:ext>
                </a:extLst>
              </p:cNvPr>
              <p:cNvSpPr txBox="1"/>
              <p:nvPr/>
            </p:nvSpPr>
            <p:spPr>
              <a:xfrm>
                <a:off x="6839064" y="1766822"/>
                <a:ext cx="2116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9B89BC-4304-D659-48CF-2795F1B53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064" y="1766822"/>
                <a:ext cx="2116605" cy="276999"/>
              </a:xfrm>
              <a:prstGeom prst="rect">
                <a:avLst/>
              </a:prstGeom>
              <a:blipFill>
                <a:blip r:embed="rId4"/>
                <a:stretch>
                  <a:fillRect l="-865" b="-2000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29FB04-1396-0060-A5FD-92AE566ED561}"/>
                  </a:ext>
                </a:extLst>
              </p:cNvPr>
              <p:cNvSpPr txBox="1"/>
              <p:nvPr/>
            </p:nvSpPr>
            <p:spPr>
              <a:xfrm>
                <a:off x="6615188" y="2229849"/>
                <a:ext cx="2564356" cy="292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29FB04-1396-0060-A5FD-92AE566ED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188" y="2229849"/>
                <a:ext cx="2564356" cy="292003"/>
              </a:xfrm>
              <a:prstGeom prst="rect">
                <a:avLst/>
              </a:prstGeom>
              <a:blipFill>
                <a:blip r:embed="rId5"/>
                <a:stretch>
                  <a:fillRect b="-2083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>
            <a:extLst>
              <a:ext uri="{FF2B5EF4-FFF2-40B4-BE49-F238E27FC236}">
                <a16:creationId xmlns:a16="http://schemas.microsoft.com/office/drawing/2014/main" id="{87280BBD-8FF4-6A41-1348-4C3EE9E2610B}"/>
              </a:ext>
            </a:extLst>
          </p:cNvPr>
          <p:cNvSpPr/>
          <p:nvPr/>
        </p:nvSpPr>
        <p:spPr>
          <a:xfrm>
            <a:off x="9811512" y="1120582"/>
            <a:ext cx="210312" cy="1596587"/>
          </a:xfrm>
          <a:prstGeom prst="rightBrace">
            <a:avLst>
              <a:gd name="adj1" fmla="val 50603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82928-3168-5D13-B1C1-E30DA301F372}"/>
              </a:ext>
            </a:extLst>
          </p:cNvPr>
          <p:cNvSpPr txBox="1"/>
          <p:nvPr/>
        </p:nvSpPr>
        <p:spPr>
          <a:xfrm>
            <a:off x="10021824" y="1734209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MRUA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C22439-CCBF-06B7-C19B-BB54F5F409EC}"/>
                  </a:ext>
                </a:extLst>
              </p:cNvPr>
              <p:cNvSpPr txBox="1"/>
              <p:nvPr/>
            </p:nvSpPr>
            <p:spPr>
              <a:xfrm>
                <a:off x="1194740" y="1688600"/>
                <a:ext cx="21115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C22439-CCBF-06B7-C19B-BB54F5F40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740" y="1688600"/>
                <a:ext cx="2111540" cy="276999"/>
              </a:xfrm>
              <a:prstGeom prst="rect">
                <a:avLst/>
              </a:prstGeom>
              <a:blipFill>
                <a:blip r:embed="rId6"/>
                <a:stretch>
                  <a:fillRect l="-867" b="-22222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Brace 4">
            <a:extLst>
              <a:ext uri="{FF2B5EF4-FFF2-40B4-BE49-F238E27FC236}">
                <a16:creationId xmlns:a16="http://schemas.microsoft.com/office/drawing/2014/main" id="{E5A843E1-7A24-77B7-939D-293CD4E6F2D3}"/>
              </a:ext>
            </a:extLst>
          </p:cNvPr>
          <p:cNvSpPr/>
          <p:nvPr/>
        </p:nvSpPr>
        <p:spPr>
          <a:xfrm>
            <a:off x="3450872" y="1442673"/>
            <a:ext cx="118910" cy="858014"/>
          </a:xfrm>
          <a:prstGeom prst="rightBrace">
            <a:avLst>
              <a:gd name="adj1" fmla="val 93776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A0810-C771-356A-713F-C20544472FD8}"/>
              </a:ext>
            </a:extLst>
          </p:cNvPr>
          <p:cNvSpPr txBox="1"/>
          <p:nvPr/>
        </p:nvSpPr>
        <p:spPr>
          <a:xfrm>
            <a:off x="3690875" y="1687585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MRU</a:t>
            </a:r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E2D61AFF-66A2-C6C4-39A3-6C929E9D201D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2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400529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B826-DC83-725D-21F0-24A7CA730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6ED36F4-7AF5-AC8F-7B9D-8E2FE1AB0090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547DEE24-955E-2807-A74C-6499019A9779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Cinemática 2d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E696C64-D67D-098D-6438-FB1900C4DDDF}"/>
              </a:ext>
            </a:extLst>
          </p:cNvPr>
          <p:cNvSpPr txBox="1"/>
          <p:nvPr/>
        </p:nvSpPr>
        <p:spPr>
          <a:xfrm>
            <a:off x="346505" y="830427"/>
            <a:ext cx="6652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/>
              <a:t>Ecuaciones</a:t>
            </a:r>
            <a:r>
              <a:rPr lang="en-US" sz="1600" b="1" dirty="0"/>
              <a:t> de </a:t>
            </a:r>
            <a:r>
              <a:rPr lang="en-US" sz="1600" b="1" dirty="0" err="1"/>
              <a:t>movimiento</a:t>
            </a:r>
            <a:r>
              <a:rPr lang="en-US" sz="1600" b="1" dirty="0"/>
              <a:t> </a:t>
            </a:r>
            <a:r>
              <a:rPr lang="en-US" sz="1600" b="1" dirty="0" err="1"/>
              <a:t>en</a:t>
            </a:r>
            <a:r>
              <a:rPr lang="en-US" sz="1600" b="1" dirty="0"/>
              <a:t> 1 dimension (</a:t>
            </a:r>
            <a:r>
              <a:rPr lang="en-US" sz="1600" b="1" dirty="0" err="1"/>
              <a:t>semana</a:t>
            </a:r>
            <a:r>
              <a:rPr lang="en-US" sz="1600" b="1" dirty="0"/>
              <a:t> </a:t>
            </a:r>
            <a:r>
              <a:rPr lang="en-US" sz="1600" b="1" dirty="0" err="1"/>
              <a:t>pasada</a:t>
            </a:r>
            <a:r>
              <a:rPr lang="en-US" sz="1600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FC176A-D7D3-ED23-C994-183DDB43727E}"/>
                  </a:ext>
                </a:extLst>
              </p:cNvPr>
              <p:cNvSpPr txBox="1"/>
              <p:nvPr/>
            </p:nvSpPr>
            <p:spPr>
              <a:xfrm>
                <a:off x="6074625" y="1168981"/>
                <a:ext cx="364548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C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s-CL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FC176A-D7D3-ED23-C994-183DDB437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625" y="1168981"/>
                <a:ext cx="3645485" cy="518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9B89BC-4304-D659-48CF-2795F1B53520}"/>
                  </a:ext>
                </a:extLst>
              </p:cNvPr>
              <p:cNvSpPr txBox="1"/>
              <p:nvPr/>
            </p:nvSpPr>
            <p:spPr>
              <a:xfrm>
                <a:off x="6839064" y="1766822"/>
                <a:ext cx="2116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9B89BC-4304-D659-48CF-2795F1B53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064" y="1766822"/>
                <a:ext cx="2116605" cy="276999"/>
              </a:xfrm>
              <a:prstGeom prst="rect">
                <a:avLst/>
              </a:prstGeom>
              <a:blipFill>
                <a:blip r:embed="rId4"/>
                <a:stretch>
                  <a:fillRect l="-865" b="-2000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29FB04-1396-0060-A5FD-92AE566ED561}"/>
                  </a:ext>
                </a:extLst>
              </p:cNvPr>
              <p:cNvSpPr txBox="1"/>
              <p:nvPr/>
            </p:nvSpPr>
            <p:spPr>
              <a:xfrm>
                <a:off x="6615188" y="2229849"/>
                <a:ext cx="2564356" cy="292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29FB04-1396-0060-A5FD-92AE566ED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188" y="2229849"/>
                <a:ext cx="2564356" cy="292003"/>
              </a:xfrm>
              <a:prstGeom prst="rect">
                <a:avLst/>
              </a:prstGeom>
              <a:blipFill>
                <a:blip r:embed="rId5"/>
                <a:stretch>
                  <a:fillRect b="-2083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>
            <a:extLst>
              <a:ext uri="{FF2B5EF4-FFF2-40B4-BE49-F238E27FC236}">
                <a16:creationId xmlns:a16="http://schemas.microsoft.com/office/drawing/2014/main" id="{87280BBD-8FF4-6A41-1348-4C3EE9E2610B}"/>
              </a:ext>
            </a:extLst>
          </p:cNvPr>
          <p:cNvSpPr/>
          <p:nvPr/>
        </p:nvSpPr>
        <p:spPr>
          <a:xfrm>
            <a:off x="9811512" y="1120582"/>
            <a:ext cx="210312" cy="1596587"/>
          </a:xfrm>
          <a:prstGeom prst="rightBrace">
            <a:avLst>
              <a:gd name="adj1" fmla="val 50603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82928-3168-5D13-B1C1-E30DA301F372}"/>
              </a:ext>
            </a:extLst>
          </p:cNvPr>
          <p:cNvSpPr txBox="1"/>
          <p:nvPr/>
        </p:nvSpPr>
        <p:spPr>
          <a:xfrm>
            <a:off x="10021824" y="1734209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MRUA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C22439-CCBF-06B7-C19B-BB54F5F409EC}"/>
                  </a:ext>
                </a:extLst>
              </p:cNvPr>
              <p:cNvSpPr txBox="1"/>
              <p:nvPr/>
            </p:nvSpPr>
            <p:spPr>
              <a:xfrm>
                <a:off x="1194740" y="1688600"/>
                <a:ext cx="21115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C22439-CCBF-06B7-C19B-BB54F5F40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740" y="1688600"/>
                <a:ext cx="2111540" cy="276999"/>
              </a:xfrm>
              <a:prstGeom prst="rect">
                <a:avLst/>
              </a:prstGeom>
              <a:blipFill>
                <a:blip r:embed="rId6"/>
                <a:stretch>
                  <a:fillRect l="-867" b="-22222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Brace 4">
            <a:extLst>
              <a:ext uri="{FF2B5EF4-FFF2-40B4-BE49-F238E27FC236}">
                <a16:creationId xmlns:a16="http://schemas.microsoft.com/office/drawing/2014/main" id="{E5A843E1-7A24-77B7-939D-293CD4E6F2D3}"/>
              </a:ext>
            </a:extLst>
          </p:cNvPr>
          <p:cNvSpPr/>
          <p:nvPr/>
        </p:nvSpPr>
        <p:spPr>
          <a:xfrm>
            <a:off x="3450872" y="1442673"/>
            <a:ext cx="118910" cy="858014"/>
          </a:xfrm>
          <a:prstGeom prst="rightBrace">
            <a:avLst>
              <a:gd name="adj1" fmla="val 93776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A0810-C771-356A-713F-C20544472FD8}"/>
              </a:ext>
            </a:extLst>
          </p:cNvPr>
          <p:cNvSpPr txBox="1"/>
          <p:nvPr/>
        </p:nvSpPr>
        <p:spPr>
          <a:xfrm>
            <a:off x="3690875" y="1687585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MRU</a:t>
            </a:r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E2D61AFF-66A2-C6C4-39A3-6C929E9D201D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3</a:t>
            </a:fld>
            <a:endParaRPr lang="es-CL" sz="1200"/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ECC4B09F-64C7-AA67-DFC5-F6387944B9F9}"/>
              </a:ext>
            </a:extLst>
          </p:cNvPr>
          <p:cNvSpPr txBox="1"/>
          <p:nvPr/>
        </p:nvSpPr>
        <p:spPr>
          <a:xfrm>
            <a:off x="346505" y="2894839"/>
            <a:ext cx="5049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/>
              <a:t>Ecuaciones</a:t>
            </a:r>
            <a:r>
              <a:rPr lang="en-US" sz="1600" b="1" dirty="0"/>
              <a:t> de </a:t>
            </a:r>
            <a:r>
              <a:rPr lang="en-US" sz="1600" b="1" dirty="0" err="1"/>
              <a:t>movimiento</a:t>
            </a:r>
            <a:r>
              <a:rPr lang="en-US" sz="1600" b="1" dirty="0"/>
              <a:t> </a:t>
            </a:r>
            <a:r>
              <a:rPr lang="en-US" sz="1600" b="1" dirty="0" err="1"/>
              <a:t>en</a:t>
            </a:r>
            <a:r>
              <a:rPr lang="en-US" sz="1600" b="1" dirty="0"/>
              <a:t> 2 </a:t>
            </a:r>
            <a:r>
              <a:rPr lang="en-US" sz="1600" b="1" dirty="0" err="1"/>
              <a:t>dimensiones</a:t>
            </a:r>
            <a:endParaRPr lang="en-US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F0516CF4-178C-EE3F-8A89-B62EE443BD02}"/>
                  </a:ext>
                </a:extLst>
              </p:cNvPr>
              <p:cNvSpPr txBox="1"/>
              <p:nvPr/>
            </p:nvSpPr>
            <p:spPr>
              <a:xfrm>
                <a:off x="4273257" y="3233393"/>
                <a:ext cx="3834704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p>
                        <m:s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CL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C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L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s-CL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F0516CF4-178C-EE3F-8A89-B62EE443B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257" y="3233393"/>
                <a:ext cx="3834704" cy="518604"/>
              </a:xfrm>
              <a:prstGeom prst="rect">
                <a:avLst/>
              </a:prstGeom>
              <a:blipFill>
                <a:blip r:embed="rId7"/>
                <a:stretch>
                  <a:fillRect l="-330" t="-4762" b="-119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3">
                <a:extLst>
                  <a:ext uri="{FF2B5EF4-FFF2-40B4-BE49-F238E27FC236}">
                    <a16:creationId xmlns:a16="http://schemas.microsoft.com/office/drawing/2014/main" id="{19820D38-28EE-8817-75D1-48CB54E427A7}"/>
                  </a:ext>
                </a:extLst>
              </p:cNvPr>
              <p:cNvSpPr txBox="1"/>
              <p:nvPr/>
            </p:nvSpPr>
            <p:spPr>
              <a:xfrm>
                <a:off x="5037696" y="3831234"/>
                <a:ext cx="2456698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5" name="TextBox 13">
                <a:extLst>
                  <a:ext uri="{FF2B5EF4-FFF2-40B4-BE49-F238E27FC236}">
                    <a16:creationId xmlns:a16="http://schemas.microsoft.com/office/drawing/2014/main" id="{19820D38-28EE-8817-75D1-48CB54E42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696" y="3831234"/>
                <a:ext cx="2456698" cy="289182"/>
              </a:xfrm>
              <a:prstGeom prst="rect">
                <a:avLst/>
              </a:prstGeom>
              <a:blipFill>
                <a:blip r:embed="rId8"/>
                <a:stretch>
                  <a:fillRect l="-515" b="-833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4">
                <a:extLst>
                  <a:ext uri="{FF2B5EF4-FFF2-40B4-BE49-F238E27FC236}">
                    <a16:creationId xmlns:a16="http://schemas.microsoft.com/office/drawing/2014/main" id="{2496B7AE-D49D-02A5-C56F-7C66B33E568C}"/>
                  </a:ext>
                </a:extLst>
              </p:cNvPr>
              <p:cNvSpPr txBox="1"/>
              <p:nvPr/>
            </p:nvSpPr>
            <p:spPr>
              <a:xfrm>
                <a:off x="4813820" y="4294261"/>
                <a:ext cx="2672463" cy="3131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6" name="TextBox 14">
                <a:extLst>
                  <a:ext uri="{FF2B5EF4-FFF2-40B4-BE49-F238E27FC236}">
                    <a16:creationId xmlns:a16="http://schemas.microsoft.com/office/drawing/2014/main" id="{2496B7AE-D49D-02A5-C56F-7C66B33E5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820" y="4294261"/>
                <a:ext cx="2672463" cy="313163"/>
              </a:xfrm>
              <a:prstGeom prst="rect">
                <a:avLst/>
              </a:prstGeom>
              <a:blipFill>
                <a:blip r:embed="rId9"/>
                <a:stretch>
                  <a:fillRect l="-948" b="-1153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5">
                <a:extLst>
                  <a:ext uri="{FF2B5EF4-FFF2-40B4-BE49-F238E27FC236}">
                    <a16:creationId xmlns:a16="http://schemas.microsoft.com/office/drawing/2014/main" id="{B6521489-E688-4E44-7A9B-EA916CAF3FD2}"/>
                  </a:ext>
                </a:extLst>
              </p:cNvPr>
              <p:cNvSpPr txBox="1"/>
              <p:nvPr/>
            </p:nvSpPr>
            <p:spPr>
              <a:xfrm>
                <a:off x="4352505" y="4820820"/>
                <a:ext cx="3737946" cy="391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CL" b="0" dirty="0"/>
                  <a:t>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CL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C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C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CL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CL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p>
                      <m:sSup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CL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CL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C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s-CL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17" name="TextBox 15">
                <a:extLst>
                  <a:ext uri="{FF2B5EF4-FFF2-40B4-BE49-F238E27FC236}">
                    <a16:creationId xmlns:a16="http://schemas.microsoft.com/office/drawing/2014/main" id="{B6521489-E688-4E44-7A9B-EA916CAF3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505" y="4820820"/>
                <a:ext cx="3737946" cy="391133"/>
              </a:xfrm>
              <a:prstGeom prst="rect">
                <a:avLst/>
              </a:prstGeom>
              <a:blipFill>
                <a:blip r:embed="rId10"/>
                <a:stretch>
                  <a:fillRect l="-3729" t="-6250" r="-1017" b="-1562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6">
                <a:extLst>
                  <a:ext uri="{FF2B5EF4-FFF2-40B4-BE49-F238E27FC236}">
                    <a16:creationId xmlns:a16="http://schemas.microsoft.com/office/drawing/2014/main" id="{ED361C0F-80D3-0E05-CE5F-FE1457F5C267}"/>
                  </a:ext>
                </a:extLst>
              </p:cNvPr>
              <p:cNvSpPr txBox="1"/>
              <p:nvPr/>
            </p:nvSpPr>
            <p:spPr>
              <a:xfrm>
                <a:off x="5116944" y="5400373"/>
                <a:ext cx="2464329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8" name="TextBox 16">
                <a:extLst>
                  <a:ext uri="{FF2B5EF4-FFF2-40B4-BE49-F238E27FC236}">
                    <a16:creationId xmlns:a16="http://schemas.microsoft.com/office/drawing/2014/main" id="{ED361C0F-80D3-0E05-CE5F-FE1457F5C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944" y="5400373"/>
                <a:ext cx="2464329" cy="298928"/>
              </a:xfrm>
              <a:prstGeom prst="rect">
                <a:avLst/>
              </a:prstGeom>
              <a:blipFill>
                <a:blip r:embed="rId11"/>
                <a:stretch>
                  <a:fillRect l="-1020" b="-2083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7">
                <a:extLst>
                  <a:ext uri="{FF2B5EF4-FFF2-40B4-BE49-F238E27FC236}">
                    <a16:creationId xmlns:a16="http://schemas.microsoft.com/office/drawing/2014/main" id="{D9D904CC-190C-507A-57ED-3C8DC11781CC}"/>
                  </a:ext>
                </a:extLst>
              </p:cNvPr>
              <p:cNvSpPr txBox="1"/>
              <p:nvPr/>
            </p:nvSpPr>
            <p:spPr>
              <a:xfrm>
                <a:off x="4893068" y="5881688"/>
                <a:ext cx="2680093" cy="3229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20" name="TextBox 17">
                <a:extLst>
                  <a:ext uri="{FF2B5EF4-FFF2-40B4-BE49-F238E27FC236}">
                    <a16:creationId xmlns:a16="http://schemas.microsoft.com/office/drawing/2014/main" id="{D9D904CC-190C-507A-57ED-3C8DC1178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068" y="5881688"/>
                <a:ext cx="2680093" cy="322909"/>
              </a:xfrm>
              <a:prstGeom prst="rect">
                <a:avLst/>
              </a:prstGeom>
              <a:blipFill>
                <a:blip r:embed="rId12"/>
                <a:stretch>
                  <a:fillRect l="-943" b="-1538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19">
            <a:extLst>
              <a:ext uri="{FF2B5EF4-FFF2-40B4-BE49-F238E27FC236}">
                <a16:creationId xmlns:a16="http://schemas.microsoft.com/office/drawing/2014/main" id="{EF1CCEA7-D4A3-370E-ED0C-CCCC4AA444DD}"/>
              </a:ext>
            </a:extLst>
          </p:cNvPr>
          <p:cNvSpPr/>
          <p:nvPr/>
        </p:nvSpPr>
        <p:spPr>
          <a:xfrm>
            <a:off x="3739896" y="3233393"/>
            <a:ext cx="4727448" cy="13990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C582673D-5271-0894-7877-97969B846A1C}"/>
              </a:ext>
            </a:extLst>
          </p:cNvPr>
          <p:cNvSpPr/>
          <p:nvPr/>
        </p:nvSpPr>
        <p:spPr>
          <a:xfrm>
            <a:off x="3739896" y="4820820"/>
            <a:ext cx="4727448" cy="13990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45494513-46E5-992E-F84D-74834D8620F8}"/>
              </a:ext>
            </a:extLst>
          </p:cNvPr>
          <p:cNvSpPr txBox="1"/>
          <p:nvPr/>
        </p:nvSpPr>
        <p:spPr>
          <a:xfrm>
            <a:off x="8467344" y="3772842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MRUA Eje x</a:t>
            </a: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8ED45F12-095C-FDC4-D189-5096100D12CF}"/>
              </a:ext>
            </a:extLst>
          </p:cNvPr>
          <p:cNvSpPr txBox="1"/>
          <p:nvPr/>
        </p:nvSpPr>
        <p:spPr>
          <a:xfrm>
            <a:off x="8467344" y="5335657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MRUA Eje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1">
                <a:extLst>
                  <a:ext uri="{FF2B5EF4-FFF2-40B4-BE49-F238E27FC236}">
                    <a16:creationId xmlns:a16="http://schemas.microsoft.com/office/drawing/2014/main" id="{E29349B3-7276-26F4-8340-2036EFCBA5EA}"/>
                  </a:ext>
                </a:extLst>
              </p:cNvPr>
              <p:cNvSpPr txBox="1"/>
              <p:nvPr/>
            </p:nvSpPr>
            <p:spPr>
              <a:xfrm>
                <a:off x="9033798" y="6043142"/>
                <a:ext cx="289649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CL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CL" sz="1600" dirty="0">
                    <a:solidFill>
                      <a:srgbClr val="FF0000"/>
                    </a:solidFill>
                  </a:rPr>
                  <a:t> es el instante inicial, normalmente igual a cero</a:t>
                </a:r>
              </a:p>
            </p:txBody>
          </p:sp>
        </mc:Choice>
        <mc:Fallback xmlns="">
          <p:sp>
            <p:nvSpPr>
              <p:cNvPr id="25" name="TextBox 1">
                <a:extLst>
                  <a:ext uri="{FF2B5EF4-FFF2-40B4-BE49-F238E27FC236}">
                    <a16:creationId xmlns:a16="http://schemas.microsoft.com/office/drawing/2014/main" id="{E29349B3-7276-26F4-8340-2036EFCBA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3798" y="6043142"/>
                <a:ext cx="2896495" cy="584775"/>
              </a:xfrm>
              <a:prstGeom prst="rect">
                <a:avLst/>
              </a:prstGeom>
              <a:blipFill>
                <a:blip r:embed="rId13"/>
                <a:stretch>
                  <a:fillRect l="-1310" t="-2128" b="-1276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833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4DB12-FD40-8A63-2BBD-B1465D922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62FA5D2-328C-FB6B-773F-834A533BDF99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0A0C032-C275-ED85-EEF4-59D3ECA61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64358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parabólico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817321C-44DA-FB20-207B-76823A98DD0E}"/>
              </a:ext>
            </a:extLst>
          </p:cNvPr>
          <p:cNvSpPr txBox="1"/>
          <p:nvPr/>
        </p:nvSpPr>
        <p:spPr>
          <a:xfrm>
            <a:off x="346505" y="830427"/>
            <a:ext cx="9086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El </a:t>
            </a:r>
            <a:r>
              <a:rPr lang="en-US" sz="1600" b="1" dirty="0" err="1"/>
              <a:t>movimiento</a:t>
            </a:r>
            <a:r>
              <a:rPr lang="en-US" sz="1600" b="1" dirty="0"/>
              <a:t> </a:t>
            </a:r>
            <a:r>
              <a:rPr lang="en-US" sz="1600" b="1" dirty="0" err="1"/>
              <a:t>parabólico</a:t>
            </a:r>
            <a:r>
              <a:rPr lang="en-US" sz="1600" b="1" dirty="0"/>
              <a:t> es un </a:t>
            </a:r>
            <a:r>
              <a:rPr lang="en-US" sz="1600" b="1" dirty="0" err="1"/>
              <a:t>caso</a:t>
            </a:r>
            <a:r>
              <a:rPr lang="en-US" sz="1600" b="1" dirty="0"/>
              <a:t> particular de </a:t>
            </a:r>
            <a:r>
              <a:rPr lang="en-US" sz="1600" b="1" dirty="0" err="1"/>
              <a:t>movimiento</a:t>
            </a:r>
            <a:r>
              <a:rPr lang="en-US" sz="1600" b="1" dirty="0"/>
              <a:t> </a:t>
            </a:r>
            <a:r>
              <a:rPr lang="en-US" sz="1600" b="1" dirty="0" err="1"/>
              <a:t>en</a:t>
            </a:r>
            <a:r>
              <a:rPr lang="en-US" sz="1600" b="1" dirty="0"/>
              <a:t> dos </a:t>
            </a:r>
            <a:r>
              <a:rPr lang="en-US" sz="1600" b="1" dirty="0" err="1"/>
              <a:t>dimensiones</a:t>
            </a:r>
            <a:endParaRPr lang="en-US" sz="1600" b="1" dirty="0"/>
          </a:p>
        </p:txBody>
      </p:sp>
      <p:pic>
        <p:nvPicPr>
          <p:cNvPr id="5" name="Picture 4" descr="A drawing of a mountain&#10;&#10;Description automatically generated">
            <a:extLst>
              <a:ext uri="{FF2B5EF4-FFF2-40B4-BE49-F238E27FC236}">
                <a16:creationId xmlns:a16="http://schemas.microsoft.com/office/drawing/2014/main" id="{39C51ECF-9252-DCCD-DC63-1414889ED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671" y="1279514"/>
            <a:ext cx="4120658" cy="20191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38BF53-9168-E5C1-C274-D6F337CBEC8F}"/>
              </a:ext>
            </a:extLst>
          </p:cNvPr>
          <p:cNvSpPr txBox="1"/>
          <p:nvPr/>
        </p:nvSpPr>
        <p:spPr>
          <a:xfrm>
            <a:off x="594360" y="3429000"/>
            <a:ext cx="1083501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Consideraciones especiales</a:t>
            </a:r>
          </a:p>
          <a:p>
            <a:pPr marL="285750" indent="-285750">
              <a:buFontTx/>
              <a:buChar char="-"/>
            </a:pPr>
            <a:r>
              <a:rPr lang="es-CL" dirty="0"/>
              <a:t>La fricción del aire sobre el proyectil es despreciable</a:t>
            </a:r>
          </a:p>
          <a:p>
            <a:pPr marL="285750" indent="-285750">
              <a:buFontTx/>
              <a:buChar char="-"/>
            </a:pPr>
            <a:r>
              <a:rPr lang="es-CL" dirty="0"/>
              <a:t>El tiempo que el proyectil está en el aire (t</a:t>
            </a:r>
            <a:r>
              <a:rPr lang="es-CL" baseline="-25000" dirty="0"/>
              <a:t>v</a:t>
            </a:r>
            <a:r>
              <a:rPr lang="es-CL" dirty="0"/>
              <a:t>) se llama “tiempo de vuelo”</a:t>
            </a:r>
          </a:p>
          <a:p>
            <a:pPr marL="285750" indent="-285750">
              <a:buFontTx/>
              <a:buChar char="-"/>
            </a:pPr>
            <a:r>
              <a:rPr lang="es-CL" dirty="0"/>
              <a:t>El alcance del proyectil (R) es la distancia que recorre en el eje horizontal</a:t>
            </a:r>
          </a:p>
          <a:p>
            <a:pPr marL="285750" indent="-285750">
              <a:buFontTx/>
              <a:buChar char="-"/>
            </a:pPr>
            <a:r>
              <a:rPr lang="es-CL" dirty="0"/>
              <a:t>El movimiento es parabólico</a:t>
            </a:r>
          </a:p>
          <a:p>
            <a:pPr marL="285750" indent="-285750">
              <a:buFontTx/>
              <a:buChar char="-"/>
            </a:pPr>
            <a:r>
              <a:rPr lang="es-CL" dirty="0"/>
              <a:t>El alcance máximo se obtiene cuando el ángulo de disparo es 45° respecto a la horizontal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CFDBAFC9-039D-99EA-C606-3D04F3112FC7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4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3279265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C9840-F514-847A-4C1E-CC86D7B42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C8F4355-0708-F254-2A1C-C2D26FAA1320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8CFADFF9-1917-1AE9-0F2F-CBDD02C91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42495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parabólico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FA4FC8E-412D-7009-FEBD-56190CCC67AE}"/>
              </a:ext>
            </a:extLst>
          </p:cNvPr>
          <p:cNvSpPr txBox="1"/>
          <p:nvPr/>
        </p:nvSpPr>
        <p:spPr>
          <a:xfrm>
            <a:off x="346505" y="830427"/>
            <a:ext cx="27735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/>
              <a:t>Análisis</a:t>
            </a:r>
            <a:r>
              <a:rPr lang="en-US" sz="1600" b="1" dirty="0"/>
              <a:t> del </a:t>
            </a:r>
            <a:r>
              <a:rPr lang="en-US" sz="1600" b="1" dirty="0" err="1"/>
              <a:t>movimiento</a:t>
            </a:r>
            <a:endParaRPr lang="en-US" sz="16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D316BE-80F2-BE26-552C-647FC7499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991" y="1168981"/>
            <a:ext cx="6786018" cy="39141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6D2036-717C-91B4-2A03-ED838B3C813A}"/>
              </a:ext>
            </a:extLst>
          </p:cNvPr>
          <p:cNvSpPr txBox="1"/>
          <p:nvPr/>
        </p:nvSpPr>
        <p:spPr>
          <a:xfrm>
            <a:off x="5646420" y="259922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s-C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2A0B60-D33A-C28E-D376-BE4D9BEC4629}"/>
                  </a:ext>
                </a:extLst>
              </p:cNvPr>
              <p:cNvSpPr txBox="1"/>
              <p:nvPr/>
            </p:nvSpPr>
            <p:spPr>
              <a:xfrm>
                <a:off x="1897248" y="3784342"/>
                <a:ext cx="1222773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2A0B60-D33A-C28E-D376-BE4D9BEC4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248" y="3784342"/>
                <a:ext cx="1222773" cy="391261"/>
              </a:xfrm>
              <a:prstGeom prst="rect">
                <a:avLst/>
              </a:prstGeom>
              <a:blipFill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B862B1-A0BB-93F6-D94F-E9F77CB484F8}"/>
                  </a:ext>
                </a:extLst>
              </p:cNvPr>
              <p:cNvSpPr txBox="1"/>
              <p:nvPr/>
            </p:nvSpPr>
            <p:spPr>
              <a:xfrm>
                <a:off x="3120021" y="4433740"/>
                <a:ext cx="114164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B862B1-A0BB-93F6-D94F-E9F77CB48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021" y="4433740"/>
                <a:ext cx="1141648" cy="3912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D7D8AC-371A-2122-B983-A6B5373DF8EB}"/>
              </a:ext>
            </a:extLst>
          </p:cNvPr>
          <p:cNvCxnSpPr/>
          <p:nvPr/>
        </p:nvCxnSpPr>
        <p:spPr>
          <a:xfrm>
            <a:off x="8019288" y="1410508"/>
            <a:ext cx="0" cy="11887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0001D0-51B0-B30F-910A-BF91281B9DCF}"/>
                  </a:ext>
                </a:extLst>
              </p:cNvPr>
              <p:cNvSpPr txBox="1"/>
              <p:nvPr/>
            </p:nvSpPr>
            <p:spPr>
              <a:xfrm>
                <a:off x="8097012" y="1794556"/>
                <a:ext cx="2059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30001D0-51B0-B30F-910A-BF91281B9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012" y="1794556"/>
                <a:ext cx="205954" cy="276999"/>
              </a:xfrm>
              <a:prstGeom prst="rect">
                <a:avLst/>
              </a:prstGeom>
              <a:blipFill>
                <a:blip r:embed="rId6"/>
                <a:stretch>
                  <a:fillRect l="-26471" t="-43478" r="-102941" b="-2608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AE6882-944E-FFA0-DCEB-C3CDAA482415}"/>
                  </a:ext>
                </a:extLst>
              </p:cNvPr>
              <p:cNvSpPr txBox="1"/>
              <p:nvPr/>
            </p:nvSpPr>
            <p:spPr>
              <a:xfrm>
                <a:off x="4077093" y="2980986"/>
                <a:ext cx="114164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AE6882-944E-FFA0-DCEB-C3CDAA482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093" y="2980986"/>
                <a:ext cx="1141648" cy="3912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D15040-D30F-8C77-F64E-2AB447E6358C}"/>
                  </a:ext>
                </a:extLst>
              </p:cNvPr>
              <p:cNvSpPr txBox="1"/>
              <p:nvPr/>
            </p:nvSpPr>
            <p:spPr>
              <a:xfrm>
                <a:off x="6545517" y="2484966"/>
                <a:ext cx="114164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D15040-D30F-8C77-F64E-2AB447E63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517" y="2484966"/>
                <a:ext cx="1141648" cy="3912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9E8570-A004-E051-AAF2-6340575890FE}"/>
                  </a:ext>
                </a:extLst>
              </p:cNvPr>
              <p:cNvSpPr txBox="1"/>
              <p:nvPr/>
            </p:nvSpPr>
            <p:spPr>
              <a:xfrm>
                <a:off x="7732142" y="3979972"/>
                <a:ext cx="114164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9E8570-A004-E051-AAF2-634057589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142" y="3979972"/>
                <a:ext cx="1141648" cy="3912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BB9A041-50CE-7B56-AB7A-E55C5602D1C9}"/>
                  </a:ext>
                </a:extLst>
              </p:cNvPr>
              <p:cNvSpPr txBox="1"/>
              <p:nvPr/>
            </p:nvSpPr>
            <p:spPr>
              <a:xfrm>
                <a:off x="5244141" y="2029524"/>
                <a:ext cx="114164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BB9A041-50CE-7B56-AB7A-E55C5602D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141" y="2029524"/>
                <a:ext cx="1141648" cy="3912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BD616-8696-A646-E5CB-EE6BD7E8CD5D}"/>
                  </a:ext>
                </a:extLst>
              </p:cNvPr>
              <p:cNvSpPr txBox="1"/>
              <p:nvPr/>
            </p:nvSpPr>
            <p:spPr>
              <a:xfrm>
                <a:off x="3024989" y="2589725"/>
                <a:ext cx="1385205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BD616-8696-A646-E5CB-EE6BD7E8C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989" y="2589725"/>
                <a:ext cx="1385205" cy="391261"/>
              </a:xfrm>
              <a:prstGeom prst="rect">
                <a:avLst/>
              </a:prstGeom>
              <a:blipFill>
                <a:blip r:embed="rId11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97C3F59-AB4C-CA03-C6B9-3BC39E4E5D08}"/>
                  </a:ext>
                </a:extLst>
              </p:cNvPr>
              <p:cNvSpPr txBox="1"/>
              <p:nvPr/>
            </p:nvSpPr>
            <p:spPr>
              <a:xfrm>
                <a:off x="5135938" y="1741011"/>
                <a:ext cx="114164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97C3F59-AB4C-CA03-C6B9-3BC39E4E5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938" y="1741011"/>
                <a:ext cx="1141648" cy="391261"/>
              </a:xfrm>
              <a:prstGeom prst="rect">
                <a:avLst/>
              </a:prstGeom>
              <a:blipFill>
                <a:blip r:embed="rId1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85A8FAD-F6F5-201A-0F7E-18D2067BE47B}"/>
                  </a:ext>
                </a:extLst>
              </p:cNvPr>
              <p:cNvSpPr txBox="1"/>
              <p:nvPr/>
            </p:nvSpPr>
            <p:spPr>
              <a:xfrm>
                <a:off x="6667328" y="4442043"/>
                <a:ext cx="1385205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85A8FAD-F6F5-201A-0F7E-18D2067BE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328" y="4442043"/>
                <a:ext cx="1385205" cy="391261"/>
              </a:xfrm>
              <a:prstGeom prst="rect">
                <a:avLst/>
              </a:prstGeom>
              <a:blipFill>
                <a:blip r:embed="rId13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F19F5F-2B27-1425-318A-F307EE6F470B}"/>
                  </a:ext>
                </a:extLst>
              </p:cNvPr>
              <p:cNvSpPr txBox="1"/>
              <p:nvPr/>
            </p:nvSpPr>
            <p:spPr>
              <a:xfrm>
                <a:off x="5403397" y="2900233"/>
                <a:ext cx="1385205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DF19F5F-2B27-1425-318A-F307EE6F4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397" y="2900233"/>
                <a:ext cx="1385205" cy="391261"/>
              </a:xfrm>
              <a:prstGeom prst="rect">
                <a:avLst/>
              </a:prstGeom>
              <a:blipFill>
                <a:blip r:embed="rId1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B202E6-EA91-52BA-4D1E-349D3B95BB47}"/>
                  </a:ext>
                </a:extLst>
              </p:cNvPr>
              <p:cNvSpPr txBox="1"/>
              <p:nvPr/>
            </p:nvSpPr>
            <p:spPr>
              <a:xfrm>
                <a:off x="3380136" y="3369217"/>
                <a:ext cx="2583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CL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L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B202E6-EA91-52BA-4D1E-349D3B95B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136" y="3369217"/>
                <a:ext cx="258339" cy="276999"/>
              </a:xfrm>
              <a:prstGeom prst="rect">
                <a:avLst/>
              </a:prstGeom>
              <a:blipFill>
                <a:blip r:embed="rId15"/>
                <a:stretch>
                  <a:fillRect l="-9091" t="-30435" r="-4545" b="-130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AD0635A-A37B-9697-8989-F74E107AECC6}"/>
              </a:ext>
            </a:extLst>
          </p:cNvPr>
          <p:cNvSpPr/>
          <p:nvPr/>
        </p:nvSpPr>
        <p:spPr>
          <a:xfrm>
            <a:off x="5554980" y="3446597"/>
            <a:ext cx="182880" cy="2578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B7B710-C79E-315A-D026-D9FE8F12FB54}"/>
              </a:ext>
            </a:extLst>
          </p:cNvPr>
          <p:cNvSpPr/>
          <p:nvPr/>
        </p:nvSpPr>
        <p:spPr>
          <a:xfrm>
            <a:off x="9310521" y="4304839"/>
            <a:ext cx="182880" cy="2578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34DB5A-871B-9C39-6E63-E027C44C11D3}"/>
              </a:ext>
            </a:extLst>
          </p:cNvPr>
          <p:cNvSpPr/>
          <p:nvPr/>
        </p:nvSpPr>
        <p:spPr>
          <a:xfrm>
            <a:off x="2718300" y="1168981"/>
            <a:ext cx="182880" cy="2578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E7355-BD81-84DD-E562-56AAE083361D}"/>
              </a:ext>
            </a:extLst>
          </p:cNvPr>
          <p:cNvSpPr txBox="1"/>
          <p:nvPr/>
        </p:nvSpPr>
        <p:spPr>
          <a:xfrm>
            <a:off x="2654890" y="109940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FAB0A-05F3-D952-8249-61F6C8FCB5FD}"/>
              </a:ext>
            </a:extLst>
          </p:cNvPr>
          <p:cNvSpPr txBox="1"/>
          <p:nvPr/>
        </p:nvSpPr>
        <p:spPr>
          <a:xfrm>
            <a:off x="9226365" y="43712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C8BFF-B642-D701-4AEC-4E7B5B1D7680}"/>
              </a:ext>
            </a:extLst>
          </p:cNvPr>
          <p:cNvSpPr txBox="1"/>
          <p:nvPr/>
        </p:nvSpPr>
        <p:spPr>
          <a:xfrm>
            <a:off x="5486802" y="3543912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rgbClr val="0070C0"/>
                </a:solidFill>
              </a:rPr>
              <a:t>Altura máxima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D9F531-40C0-4C7D-6345-B12D6E9002D2}"/>
              </a:ext>
            </a:extLst>
          </p:cNvPr>
          <p:cNvSpPr txBox="1"/>
          <p:nvPr/>
        </p:nvSpPr>
        <p:spPr>
          <a:xfrm>
            <a:off x="3603790" y="3675839"/>
            <a:ext cx="1662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dirty="0">
                <a:solidFill>
                  <a:srgbClr val="0070C0"/>
                </a:solidFill>
              </a:rPr>
              <a:t>Datos iniciales</a:t>
            </a:r>
          </a:p>
        </p:txBody>
      </p:sp>
      <p:sp>
        <p:nvSpPr>
          <p:cNvPr id="25" name="Marcador de número de diapositiva 2">
            <a:extLst>
              <a:ext uri="{FF2B5EF4-FFF2-40B4-BE49-F238E27FC236}">
                <a16:creationId xmlns:a16="http://schemas.microsoft.com/office/drawing/2014/main" id="{C3111D5A-AC73-CDCF-A4B9-82C1E35B4C7D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5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3287922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B8FAC-C133-7536-4088-4748B7CF6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2671A62-8FA6-AE5A-BE44-7F8DCBB4144E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3BB5888D-DD80-A8FD-E2D3-A31DA0CA1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603043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parabólico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D73F79B-8936-87F2-E423-DEB3DF9D53F5}"/>
              </a:ext>
            </a:extLst>
          </p:cNvPr>
          <p:cNvSpPr txBox="1"/>
          <p:nvPr/>
        </p:nvSpPr>
        <p:spPr>
          <a:xfrm>
            <a:off x="346505" y="830427"/>
            <a:ext cx="27735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/>
              <a:t>Análisis</a:t>
            </a:r>
            <a:r>
              <a:rPr lang="en-US" sz="1600" b="1" dirty="0"/>
              <a:t> del </a:t>
            </a:r>
            <a:r>
              <a:rPr lang="en-US" sz="1600" b="1" dirty="0" err="1"/>
              <a:t>movimiento</a:t>
            </a:r>
            <a:endParaRPr lang="en-US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AF50D9-A78B-652C-EF02-DF391BDC903E}"/>
              </a:ext>
            </a:extLst>
          </p:cNvPr>
          <p:cNvSpPr txBox="1"/>
          <p:nvPr/>
        </p:nvSpPr>
        <p:spPr>
          <a:xfrm>
            <a:off x="294557" y="5153749"/>
            <a:ext cx="293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Ecuaciones eje x (MRU)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C4F81FE-9F35-EF60-DFC8-8F23ECFE3BEA}"/>
                  </a:ext>
                </a:extLst>
              </p:cNvPr>
              <p:cNvSpPr txBox="1"/>
              <p:nvPr/>
            </p:nvSpPr>
            <p:spPr>
              <a:xfrm>
                <a:off x="3925387" y="5536905"/>
                <a:ext cx="3650615" cy="391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CL" b="0" dirty="0"/>
                  <a:t>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CL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C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C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CL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CL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CL" b="0" i="1" smtClean="0"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CL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CL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C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L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s-CL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CL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C4F81FE-9F35-EF60-DFC8-8F23ECFE3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387" y="5536905"/>
                <a:ext cx="3650615" cy="391133"/>
              </a:xfrm>
              <a:prstGeom prst="rect">
                <a:avLst/>
              </a:prstGeom>
              <a:blipFill>
                <a:blip r:embed="rId3"/>
                <a:stretch>
                  <a:fillRect l="-3819" t="-3125" r="-347" b="-1875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D031525-065C-0B8B-B514-28AC8D7D5257}"/>
                  </a:ext>
                </a:extLst>
              </p:cNvPr>
              <p:cNvSpPr txBox="1"/>
              <p:nvPr/>
            </p:nvSpPr>
            <p:spPr>
              <a:xfrm>
                <a:off x="4681714" y="5963977"/>
                <a:ext cx="2375330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D031525-065C-0B8B-B514-28AC8D7D5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714" y="5963977"/>
                <a:ext cx="2375330" cy="298928"/>
              </a:xfrm>
              <a:prstGeom prst="rect">
                <a:avLst/>
              </a:prstGeom>
              <a:blipFill>
                <a:blip r:embed="rId4"/>
                <a:stretch>
                  <a:fillRect l="-532" b="-25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674EF1F-492F-538E-8E22-B2BFF353D07B}"/>
                  </a:ext>
                </a:extLst>
              </p:cNvPr>
              <p:cNvSpPr txBox="1"/>
              <p:nvPr/>
            </p:nvSpPr>
            <p:spPr>
              <a:xfrm>
                <a:off x="4474369" y="6298614"/>
                <a:ext cx="2588529" cy="3229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s-CL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674EF1F-492F-538E-8E22-B2BFF353D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369" y="6298614"/>
                <a:ext cx="2588529" cy="322909"/>
              </a:xfrm>
              <a:prstGeom prst="rect">
                <a:avLst/>
              </a:prstGeom>
              <a:blipFill>
                <a:blip r:embed="rId5"/>
                <a:stretch>
                  <a:fillRect l="-976" b="-1481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4EB521E-46F4-9525-0541-8A2BECA35942}"/>
                  </a:ext>
                </a:extLst>
              </p:cNvPr>
              <p:cNvSpPr txBox="1"/>
              <p:nvPr/>
            </p:nvSpPr>
            <p:spPr>
              <a:xfrm>
                <a:off x="441897" y="5713727"/>
                <a:ext cx="2316340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4EB521E-46F4-9525-0541-8A2BECA35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97" y="5713727"/>
                <a:ext cx="2316340" cy="289182"/>
              </a:xfrm>
              <a:prstGeom prst="rect">
                <a:avLst/>
              </a:prstGeom>
              <a:blipFill>
                <a:blip r:embed="rId18"/>
                <a:stretch>
                  <a:fillRect l="-789" b="-1458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A93345EA-E352-F876-8A55-5999B9937222}"/>
              </a:ext>
            </a:extLst>
          </p:cNvPr>
          <p:cNvSpPr txBox="1"/>
          <p:nvPr/>
        </p:nvSpPr>
        <p:spPr>
          <a:xfrm>
            <a:off x="4212335" y="5149604"/>
            <a:ext cx="3120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Ecuaciones eje y (MRUA)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2AA096-D32B-7D26-F40E-9A6BC821B202}"/>
              </a:ext>
            </a:extLst>
          </p:cNvPr>
          <p:cNvCxnSpPr>
            <a:cxnSpLocks/>
          </p:cNvCxnSpPr>
          <p:nvPr/>
        </p:nvCxnSpPr>
        <p:spPr>
          <a:xfrm flipV="1">
            <a:off x="9241107" y="5555869"/>
            <a:ext cx="955548" cy="632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172D609-0394-DBE7-2E4E-127832E3CFDA}"/>
              </a:ext>
            </a:extLst>
          </p:cNvPr>
          <p:cNvCxnSpPr>
            <a:cxnSpLocks/>
          </p:cNvCxnSpPr>
          <p:nvPr/>
        </p:nvCxnSpPr>
        <p:spPr>
          <a:xfrm flipV="1">
            <a:off x="9250251" y="6184641"/>
            <a:ext cx="1013460" cy="9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F168F2A-1ABA-C14B-4F7C-2E0036742582}"/>
                  </a:ext>
                </a:extLst>
              </p:cNvPr>
              <p:cNvSpPr txBox="1"/>
              <p:nvPr/>
            </p:nvSpPr>
            <p:spPr>
              <a:xfrm>
                <a:off x="9498642" y="5588947"/>
                <a:ext cx="2583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CL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L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F168F2A-1ABA-C14B-4F7C-2E0036742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642" y="5588947"/>
                <a:ext cx="258339" cy="276999"/>
              </a:xfrm>
              <a:prstGeom prst="rect">
                <a:avLst/>
              </a:prstGeom>
              <a:blipFill>
                <a:blip r:embed="rId19"/>
                <a:stretch>
                  <a:fillRect l="-13636" t="-36364" r="-4545" b="-1818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D52660-5ABA-9D43-B2ED-19BAB026E98D}"/>
              </a:ext>
            </a:extLst>
          </p:cNvPr>
          <p:cNvCxnSpPr>
            <a:cxnSpLocks/>
          </p:cNvCxnSpPr>
          <p:nvPr/>
        </p:nvCxnSpPr>
        <p:spPr>
          <a:xfrm flipH="1" flipV="1">
            <a:off x="10213983" y="5555869"/>
            <a:ext cx="0" cy="649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A06C436-A5BA-45EA-8C8D-400D4894C581}"/>
                  </a:ext>
                </a:extLst>
              </p:cNvPr>
              <p:cNvSpPr txBox="1"/>
              <p:nvPr/>
            </p:nvSpPr>
            <p:spPr>
              <a:xfrm>
                <a:off x="8912304" y="6220987"/>
                <a:ext cx="1860421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s-C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A06C436-A5BA-45EA-8C8D-400D4894C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2304" y="6220987"/>
                <a:ext cx="1860421" cy="38151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1A82FEA-EE90-9165-16DD-A370F79AE7C3}"/>
                  </a:ext>
                </a:extLst>
              </p:cNvPr>
              <p:cNvSpPr txBox="1"/>
              <p:nvPr/>
            </p:nvSpPr>
            <p:spPr>
              <a:xfrm>
                <a:off x="10097976" y="5706080"/>
                <a:ext cx="1860421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s-C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1A82FEA-EE90-9165-16DD-A370F79AE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976" y="5706080"/>
                <a:ext cx="1860421" cy="391261"/>
              </a:xfrm>
              <a:prstGeom prst="rect">
                <a:avLst/>
              </a:prstGeom>
              <a:blipFill>
                <a:blip r:embed="rId21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F43F8DE-9FA7-BD68-72A8-701D54FCE57D}"/>
                  </a:ext>
                </a:extLst>
              </p:cNvPr>
              <p:cNvSpPr txBox="1"/>
              <p:nvPr/>
            </p:nvSpPr>
            <p:spPr>
              <a:xfrm>
                <a:off x="9331342" y="5902176"/>
                <a:ext cx="5918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F43F8DE-9FA7-BD68-72A8-701D54FCE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1342" y="5902176"/>
                <a:ext cx="59189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Arc 51">
            <a:extLst>
              <a:ext uri="{FF2B5EF4-FFF2-40B4-BE49-F238E27FC236}">
                <a16:creationId xmlns:a16="http://schemas.microsoft.com/office/drawing/2014/main" id="{7CF659A8-97E4-BB6C-1498-2CB47729A5E4}"/>
              </a:ext>
            </a:extLst>
          </p:cNvPr>
          <p:cNvSpPr/>
          <p:nvPr/>
        </p:nvSpPr>
        <p:spPr>
          <a:xfrm rot="1472020">
            <a:off x="9366387" y="5848924"/>
            <a:ext cx="504000" cy="50400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673494-DEC5-27D4-52D7-12DA6B76B059}"/>
              </a:ext>
            </a:extLst>
          </p:cNvPr>
          <p:cNvSpPr txBox="1"/>
          <p:nvPr/>
        </p:nvSpPr>
        <p:spPr>
          <a:xfrm>
            <a:off x="8723350" y="5143454"/>
            <a:ext cx="3080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Velocidades iniciales</a:t>
            </a:r>
          </a:p>
        </p:txBody>
      </p:sp>
      <p:sp>
        <p:nvSpPr>
          <p:cNvPr id="10" name="Marcador de número de diapositiva 2">
            <a:extLst>
              <a:ext uri="{FF2B5EF4-FFF2-40B4-BE49-F238E27FC236}">
                <a16:creationId xmlns:a16="http://schemas.microsoft.com/office/drawing/2014/main" id="{42174AAD-F43F-760A-8E84-6936B7BCA0E7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6</a:t>
            </a:fld>
            <a:endParaRPr lang="es-CL" sz="1200"/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7019382-5706-3F5A-09F5-329FC8892ED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02991" y="1168981"/>
            <a:ext cx="6786018" cy="3914157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04C18155-C6E8-BBF9-C00C-0E901436CFDC}"/>
              </a:ext>
            </a:extLst>
          </p:cNvPr>
          <p:cNvSpPr txBox="1"/>
          <p:nvPr/>
        </p:nvSpPr>
        <p:spPr>
          <a:xfrm>
            <a:off x="5646420" y="259922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s-C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C6104E89-71C4-AF43-B878-23937E2D15E3}"/>
                  </a:ext>
                </a:extLst>
              </p:cNvPr>
              <p:cNvSpPr txBox="1"/>
              <p:nvPr/>
            </p:nvSpPr>
            <p:spPr>
              <a:xfrm>
                <a:off x="1897248" y="3784342"/>
                <a:ext cx="1222773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C6104E89-71C4-AF43-B878-23937E2D1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248" y="3784342"/>
                <a:ext cx="1222773" cy="391261"/>
              </a:xfrm>
              <a:prstGeom prst="rect">
                <a:avLst/>
              </a:prstGeom>
              <a:blipFill>
                <a:blip r:embed="rId2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E9B3F1D-17F7-7B4E-B9E0-BA4839ACE012}"/>
                  </a:ext>
                </a:extLst>
              </p:cNvPr>
              <p:cNvSpPr txBox="1"/>
              <p:nvPr/>
            </p:nvSpPr>
            <p:spPr>
              <a:xfrm>
                <a:off x="3120021" y="4433740"/>
                <a:ext cx="114164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E9B3F1D-17F7-7B4E-B9E0-BA4839ACE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021" y="4433740"/>
                <a:ext cx="1141648" cy="39126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5">
            <a:extLst>
              <a:ext uri="{FF2B5EF4-FFF2-40B4-BE49-F238E27FC236}">
                <a16:creationId xmlns:a16="http://schemas.microsoft.com/office/drawing/2014/main" id="{108E2694-4DAF-607E-AB33-5489E3CE03E1}"/>
              </a:ext>
            </a:extLst>
          </p:cNvPr>
          <p:cNvCxnSpPr/>
          <p:nvPr/>
        </p:nvCxnSpPr>
        <p:spPr>
          <a:xfrm>
            <a:off x="8019288" y="1410508"/>
            <a:ext cx="0" cy="11887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6">
                <a:extLst>
                  <a:ext uri="{FF2B5EF4-FFF2-40B4-BE49-F238E27FC236}">
                    <a16:creationId xmlns:a16="http://schemas.microsoft.com/office/drawing/2014/main" id="{4F66C980-A7EB-4335-A234-3185F456B851}"/>
                  </a:ext>
                </a:extLst>
              </p:cNvPr>
              <p:cNvSpPr txBox="1"/>
              <p:nvPr/>
            </p:nvSpPr>
            <p:spPr>
              <a:xfrm>
                <a:off x="8097012" y="1794556"/>
                <a:ext cx="2059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L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6">
                <a:extLst>
                  <a:ext uri="{FF2B5EF4-FFF2-40B4-BE49-F238E27FC236}">
                    <a16:creationId xmlns:a16="http://schemas.microsoft.com/office/drawing/2014/main" id="{4F66C980-A7EB-4335-A234-3185F456B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012" y="1794556"/>
                <a:ext cx="205954" cy="276999"/>
              </a:xfrm>
              <a:prstGeom prst="rect">
                <a:avLst/>
              </a:prstGeom>
              <a:blipFill>
                <a:blip r:embed="rId26"/>
                <a:stretch>
                  <a:fillRect l="-23529" t="-34783" r="-23529" b="-2173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7">
                <a:extLst>
                  <a:ext uri="{FF2B5EF4-FFF2-40B4-BE49-F238E27FC236}">
                    <a16:creationId xmlns:a16="http://schemas.microsoft.com/office/drawing/2014/main" id="{D5968CE2-B22F-828E-FF7E-FAC0456FAC65}"/>
                  </a:ext>
                </a:extLst>
              </p:cNvPr>
              <p:cNvSpPr txBox="1"/>
              <p:nvPr/>
            </p:nvSpPr>
            <p:spPr>
              <a:xfrm>
                <a:off x="4077093" y="2980986"/>
                <a:ext cx="114164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7">
                <a:extLst>
                  <a:ext uri="{FF2B5EF4-FFF2-40B4-BE49-F238E27FC236}">
                    <a16:creationId xmlns:a16="http://schemas.microsoft.com/office/drawing/2014/main" id="{D5968CE2-B22F-828E-FF7E-FAC0456FA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093" y="2980986"/>
                <a:ext cx="1141648" cy="39126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19">
                <a:extLst>
                  <a:ext uri="{FF2B5EF4-FFF2-40B4-BE49-F238E27FC236}">
                    <a16:creationId xmlns:a16="http://schemas.microsoft.com/office/drawing/2014/main" id="{29FC9E7F-1EA7-71EA-22BB-2571537245AB}"/>
                  </a:ext>
                </a:extLst>
              </p:cNvPr>
              <p:cNvSpPr txBox="1"/>
              <p:nvPr/>
            </p:nvSpPr>
            <p:spPr>
              <a:xfrm>
                <a:off x="6545517" y="2484966"/>
                <a:ext cx="114164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19">
                <a:extLst>
                  <a:ext uri="{FF2B5EF4-FFF2-40B4-BE49-F238E27FC236}">
                    <a16:creationId xmlns:a16="http://schemas.microsoft.com/office/drawing/2014/main" id="{29FC9E7F-1EA7-71EA-22BB-257153724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517" y="2484966"/>
                <a:ext cx="1141648" cy="39126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0">
                <a:extLst>
                  <a:ext uri="{FF2B5EF4-FFF2-40B4-BE49-F238E27FC236}">
                    <a16:creationId xmlns:a16="http://schemas.microsoft.com/office/drawing/2014/main" id="{F0D97887-1813-9583-011C-248287551930}"/>
                  </a:ext>
                </a:extLst>
              </p:cNvPr>
              <p:cNvSpPr txBox="1"/>
              <p:nvPr/>
            </p:nvSpPr>
            <p:spPr>
              <a:xfrm>
                <a:off x="7732142" y="3979972"/>
                <a:ext cx="114164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0">
                <a:extLst>
                  <a:ext uri="{FF2B5EF4-FFF2-40B4-BE49-F238E27FC236}">
                    <a16:creationId xmlns:a16="http://schemas.microsoft.com/office/drawing/2014/main" id="{F0D97887-1813-9583-011C-248287551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142" y="3979972"/>
                <a:ext cx="1141648" cy="39126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1">
                <a:extLst>
                  <a:ext uri="{FF2B5EF4-FFF2-40B4-BE49-F238E27FC236}">
                    <a16:creationId xmlns:a16="http://schemas.microsoft.com/office/drawing/2014/main" id="{5F5EDC16-FC59-6696-8AEF-F2F0EA5A9808}"/>
                  </a:ext>
                </a:extLst>
              </p:cNvPr>
              <p:cNvSpPr txBox="1"/>
              <p:nvPr/>
            </p:nvSpPr>
            <p:spPr>
              <a:xfrm>
                <a:off x="5244141" y="2029524"/>
                <a:ext cx="114164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1">
                <a:extLst>
                  <a:ext uri="{FF2B5EF4-FFF2-40B4-BE49-F238E27FC236}">
                    <a16:creationId xmlns:a16="http://schemas.microsoft.com/office/drawing/2014/main" id="{5F5EDC16-FC59-6696-8AEF-F2F0EA5A9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141" y="2029524"/>
                <a:ext cx="1141648" cy="39126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2">
                <a:extLst>
                  <a:ext uri="{FF2B5EF4-FFF2-40B4-BE49-F238E27FC236}">
                    <a16:creationId xmlns:a16="http://schemas.microsoft.com/office/drawing/2014/main" id="{95BEA7ED-F801-6CF1-377C-A08AE5B26E7C}"/>
                  </a:ext>
                </a:extLst>
              </p:cNvPr>
              <p:cNvSpPr txBox="1"/>
              <p:nvPr/>
            </p:nvSpPr>
            <p:spPr>
              <a:xfrm>
                <a:off x="3024989" y="2589725"/>
                <a:ext cx="1385205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2">
                <a:extLst>
                  <a:ext uri="{FF2B5EF4-FFF2-40B4-BE49-F238E27FC236}">
                    <a16:creationId xmlns:a16="http://schemas.microsoft.com/office/drawing/2014/main" id="{95BEA7ED-F801-6CF1-377C-A08AE5B26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989" y="2589725"/>
                <a:ext cx="1385205" cy="391261"/>
              </a:xfrm>
              <a:prstGeom prst="rect">
                <a:avLst/>
              </a:prstGeom>
              <a:blipFill>
                <a:blip r:embed="rId31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3">
                <a:extLst>
                  <a:ext uri="{FF2B5EF4-FFF2-40B4-BE49-F238E27FC236}">
                    <a16:creationId xmlns:a16="http://schemas.microsoft.com/office/drawing/2014/main" id="{12E856AD-FD78-BF1E-D218-188590692640}"/>
                  </a:ext>
                </a:extLst>
              </p:cNvPr>
              <p:cNvSpPr txBox="1"/>
              <p:nvPr/>
            </p:nvSpPr>
            <p:spPr>
              <a:xfrm>
                <a:off x="5135938" y="1741011"/>
                <a:ext cx="114164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3">
                <a:extLst>
                  <a:ext uri="{FF2B5EF4-FFF2-40B4-BE49-F238E27FC236}">
                    <a16:creationId xmlns:a16="http://schemas.microsoft.com/office/drawing/2014/main" id="{12E856AD-FD78-BF1E-D218-188590692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938" y="1741011"/>
                <a:ext cx="1141648" cy="391261"/>
              </a:xfrm>
              <a:prstGeom prst="rect">
                <a:avLst/>
              </a:prstGeom>
              <a:blipFill>
                <a:blip r:embed="rId3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6">
                <a:extLst>
                  <a:ext uri="{FF2B5EF4-FFF2-40B4-BE49-F238E27FC236}">
                    <a16:creationId xmlns:a16="http://schemas.microsoft.com/office/drawing/2014/main" id="{B4CFA132-1F77-E62D-695E-26217C839C65}"/>
                  </a:ext>
                </a:extLst>
              </p:cNvPr>
              <p:cNvSpPr txBox="1"/>
              <p:nvPr/>
            </p:nvSpPr>
            <p:spPr>
              <a:xfrm>
                <a:off x="6667328" y="4442043"/>
                <a:ext cx="1385205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L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6">
                <a:extLst>
                  <a:ext uri="{FF2B5EF4-FFF2-40B4-BE49-F238E27FC236}">
                    <a16:creationId xmlns:a16="http://schemas.microsoft.com/office/drawing/2014/main" id="{B4CFA132-1F77-E62D-695E-26217C839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328" y="4442043"/>
                <a:ext cx="1385205" cy="391261"/>
              </a:xfrm>
              <a:prstGeom prst="rect">
                <a:avLst/>
              </a:prstGeom>
              <a:blipFill>
                <a:blip r:embed="rId33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27">
                <a:extLst>
                  <a:ext uri="{FF2B5EF4-FFF2-40B4-BE49-F238E27FC236}">
                    <a16:creationId xmlns:a16="http://schemas.microsoft.com/office/drawing/2014/main" id="{88AD0270-EF19-E75A-A9F1-EBF38462F519}"/>
                  </a:ext>
                </a:extLst>
              </p:cNvPr>
              <p:cNvSpPr txBox="1"/>
              <p:nvPr/>
            </p:nvSpPr>
            <p:spPr>
              <a:xfrm>
                <a:off x="5403397" y="2900233"/>
                <a:ext cx="1385205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s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27">
                <a:extLst>
                  <a:ext uri="{FF2B5EF4-FFF2-40B4-BE49-F238E27FC236}">
                    <a16:creationId xmlns:a16="http://schemas.microsoft.com/office/drawing/2014/main" id="{88AD0270-EF19-E75A-A9F1-EBF38462F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397" y="2900233"/>
                <a:ext cx="1385205" cy="391261"/>
              </a:xfrm>
              <a:prstGeom prst="rect">
                <a:avLst/>
              </a:prstGeom>
              <a:blipFill>
                <a:blip r:embed="rId3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1">
                <a:extLst>
                  <a:ext uri="{FF2B5EF4-FFF2-40B4-BE49-F238E27FC236}">
                    <a16:creationId xmlns:a16="http://schemas.microsoft.com/office/drawing/2014/main" id="{6E65677A-E65B-68B4-F012-0960F0C4CDA3}"/>
                  </a:ext>
                </a:extLst>
              </p:cNvPr>
              <p:cNvSpPr txBox="1"/>
              <p:nvPr/>
            </p:nvSpPr>
            <p:spPr>
              <a:xfrm>
                <a:off x="3380136" y="3369217"/>
                <a:ext cx="2583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s-CL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L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s-CL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7" name="TextBox 1">
                <a:extLst>
                  <a:ext uri="{FF2B5EF4-FFF2-40B4-BE49-F238E27FC236}">
                    <a16:creationId xmlns:a16="http://schemas.microsoft.com/office/drawing/2014/main" id="{6E65677A-E65B-68B4-F012-0960F0C4C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136" y="3369217"/>
                <a:ext cx="258339" cy="276999"/>
              </a:xfrm>
              <a:prstGeom prst="rect">
                <a:avLst/>
              </a:prstGeom>
              <a:blipFill>
                <a:blip r:embed="rId35"/>
                <a:stretch>
                  <a:fillRect l="-9091" t="-30435" r="-4545" b="-130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2">
            <a:extLst>
              <a:ext uri="{FF2B5EF4-FFF2-40B4-BE49-F238E27FC236}">
                <a16:creationId xmlns:a16="http://schemas.microsoft.com/office/drawing/2014/main" id="{3B1353B6-0697-5D42-DF6A-1805C78C1EE5}"/>
              </a:ext>
            </a:extLst>
          </p:cNvPr>
          <p:cNvSpPr/>
          <p:nvPr/>
        </p:nvSpPr>
        <p:spPr>
          <a:xfrm>
            <a:off x="5554980" y="3446597"/>
            <a:ext cx="182880" cy="2578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51A82315-CBD9-9771-46A5-768FD77796C4}"/>
              </a:ext>
            </a:extLst>
          </p:cNvPr>
          <p:cNvSpPr/>
          <p:nvPr/>
        </p:nvSpPr>
        <p:spPr>
          <a:xfrm>
            <a:off x="9310521" y="4304839"/>
            <a:ext cx="182880" cy="2578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0" name="Rectangle 4">
            <a:extLst>
              <a:ext uri="{FF2B5EF4-FFF2-40B4-BE49-F238E27FC236}">
                <a16:creationId xmlns:a16="http://schemas.microsoft.com/office/drawing/2014/main" id="{A257AA21-C207-F839-EC5F-9E5BD523D35A}"/>
              </a:ext>
            </a:extLst>
          </p:cNvPr>
          <p:cNvSpPr/>
          <p:nvPr/>
        </p:nvSpPr>
        <p:spPr>
          <a:xfrm>
            <a:off x="2718300" y="1168981"/>
            <a:ext cx="182880" cy="2578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1" name="TextBox 6">
            <a:extLst>
              <a:ext uri="{FF2B5EF4-FFF2-40B4-BE49-F238E27FC236}">
                <a16:creationId xmlns:a16="http://schemas.microsoft.com/office/drawing/2014/main" id="{69B3EA1C-FAAA-8921-9B25-AD928215C978}"/>
              </a:ext>
            </a:extLst>
          </p:cNvPr>
          <p:cNvSpPr txBox="1"/>
          <p:nvPr/>
        </p:nvSpPr>
        <p:spPr>
          <a:xfrm>
            <a:off x="2654890" y="109940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y</a:t>
            </a:r>
          </a:p>
        </p:txBody>
      </p:sp>
      <p:sp>
        <p:nvSpPr>
          <p:cNvPr id="62" name="TextBox 8">
            <a:extLst>
              <a:ext uri="{FF2B5EF4-FFF2-40B4-BE49-F238E27FC236}">
                <a16:creationId xmlns:a16="http://schemas.microsoft.com/office/drawing/2014/main" id="{D86C2072-54B5-3028-5E59-323A375EEC97}"/>
              </a:ext>
            </a:extLst>
          </p:cNvPr>
          <p:cNvSpPr txBox="1"/>
          <p:nvPr/>
        </p:nvSpPr>
        <p:spPr>
          <a:xfrm>
            <a:off x="9226365" y="43712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x</a:t>
            </a:r>
          </a:p>
        </p:txBody>
      </p:sp>
      <p:sp>
        <p:nvSpPr>
          <p:cNvPr id="63" name="TextBox 11">
            <a:extLst>
              <a:ext uri="{FF2B5EF4-FFF2-40B4-BE49-F238E27FC236}">
                <a16:creationId xmlns:a16="http://schemas.microsoft.com/office/drawing/2014/main" id="{F0AEDEB7-D4C9-ECD8-D852-5ABB2FA0302B}"/>
              </a:ext>
            </a:extLst>
          </p:cNvPr>
          <p:cNvSpPr txBox="1"/>
          <p:nvPr/>
        </p:nvSpPr>
        <p:spPr>
          <a:xfrm>
            <a:off x="5486802" y="3543912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rgbClr val="0070C0"/>
                </a:solidFill>
              </a:rPr>
              <a:t>Altura máxima</a:t>
            </a:r>
          </a:p>
        </p:txBody>
      </p:sp>
      <p:sp>
        <p:nvSpPr>
          <p:cNvPr id="64" name="TextBox 14">
            <a:extLst>
              <a:ext uri="{FF2B5EF4-FFF2-40B4-BE49-F238E27FC236}">
                <a16:creationId xmlns:a16="http://schemas.microsoft.com/office/drawing/2014/main" id="{419D72CE-0E58-680E-1DDA-EC210CE8C911}"/>
              </a:ext>
            </a:extLst>
          </p:cNvPr>
          <p:cNvSpPr txBox="1"/>
          <p:nvPr/>
        </p:nvSpPr>
        <p:spPr>
          <a:xfrm>
            <a:off x="3603790" y="3675839"/>
            <a:ext cx="1662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dirty="0">
                <a:solidFill>
                  <a:srgbClr val="0070C0"/>
                </a:solidFill>
              </a:rPr>
              <a:t>Datos iniciales</a:t>
            </a:r>
          </a:p>
        </p:txBody>
      </p:sp>
    </p:spTree>
    <p:extLst>
      <p:ext uri="{BB962C8B-B14F-4D97-AF65-F5344CB8AC3E}">
        <p14:creationId xmlns:p14="http://schemas.microsoft.com/office/powerpoint/2010/main" val="2202924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23501-2E74-BF74-6D44-91D1CF04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D377FB9-0A95-B100-BD1F-5A351B27E705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0BF0A4F9-6315-D703-4C56-51EEE3C38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99098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parabólico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F1AB989-7E17-4937-A3DD-AAD2A0A8A08B}"/>
              </a:ext>
            </a:extLst>
          </p:cNvPr>
          <p:cNvSpPr txBox="1"/>
          <p:nvPr/>
        </p:nvSpPr>
        <p:spPr>
          <a:xfrm>
            <a:off x="403440" y="840822"/>
            <a:ext cx="11385120" cy="2800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Ejemplo:</a:t>
            </a:r>
            <a:r>
              <a:rPr lang="en-US" sz="1600" dirty="0"/>
              <a:t> Una pelota es </a:t>
            </a:r>
            <a:r>
              <a:rPr lang="en-US" sz="1600" dirty="0" err="1"/>
              <a:t>pateada</a:t>
            </a:r>
            <a:r>
              <a:rPr lang="en-US" sz="1600" dirty="0"/>
              <a:t> con </a:t>
            </a:r>
            <a:r>
              <a:rPr lang="en-US" sz="1600" dirty="0" err="1"/>
              <a:t>rapidez</a:t>
            </a:r>
            <a:r>
              <a:rPr lang="en-US" sz="1600" dirty="0"/>
              <a:t> </a:t>
            </a:r>
            <a:r>
              <a:rPr lang="en-US" sz="1600" dirty="0" err="1"/>
              <a:t>inicial</a:t>
            </a:r>
            <a:r>
              <a:rPr lang="en-US" sz="1600" dirty="0"/>
              <a:t> de 30 m/s y un </a:t>
            </a:r>
            <a:r>
              <a:rPr lang="en-US" sz="1600" dirty="0" err="1"/>
              <a:t>ángulo</a:t>
            </a:r>
            <a:r>
              <a:rPr lang="en-US" sz="1600" dirty="0"/>
              <a:t> de 45° </a:t>
            </a:r>
            <a:r>
              <a:rPr lang="en-US" sz="1600" dirty="0" err="1"/>
              <a:t>respecto</a:t>
            </a:r>
            <a:r>
              <a:rPr lang="en-US" sz="1600" dirty="0"/>
              <a:t> a la horizontal. </a:t>
            </a:r>
            <a:r>
              <a:rPr lang="en-US" sz="1600" dirty="0" err="1"/>
              <a:t>Calcule</a:t>
            </a:r>
            <a:endParaRPr lang="en-US" sz="1600" dirty="0"/>
          </a:p>
          <a:p>
            <a:pPr marL="342900" indent="-342900">
              <a:buFont typeface="+mj-lt"/>
              <a:buAutoNum type="alphaLcParenR"/>
            </a:pPr>
            <a:r>
              <a:rPr lang="en-US" sz="1600" dirty="0"/>
              <a:t>El </a:t>
            </a:r>
            <a:r>
              <a:rPr lang="en-US" sz="1600" dirty="0" err="1"/>
              <a:t>tiempo</a:t>
            </a:r>
            <a:r>
              <a:rPr lang="en-US" sz="1600" dirty="0"/>
              <a:t> de </a:t>
            </a:r>
            <a:r>
              <a:rPr lang="en-US" sz="1600" dirty="0" err="1"/>
              <a:t>vuelo</a:t>
            </a:r>
            <a:r>
              <a:rPr lang="en-US" sz="1600" dirty="0"/>
              <a:t>.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1600" dirty="0"/>
              <a:t>La </a:t>
            </a:r>
            <a:r>
              <a:rPr lang="en-US" sz="1600" dirty="0" err="1"/>
              <a:t>altura</a:t>
            </a:r>
            <a:r>
              <a:rPr lang="en-US" sz="1600" dirty="0"/>
              <a:t> </a:t>
            </a:r>
            <a:r>
              <a:rPr lang="en-US" sz="1600" dirty="0" err="1"/>
              <a:t>máxima</a:t>
            </a:r>
            <a:r>
              <a:rPr lang="en-US" sz="1600" dirty="0"/>
              <a:t> </a:t>
            </a:r>
            <a:r>
              <a:rPr lang="en-US" sz="1600" dirty="0" err="1"/>
              <a:t>alcanzada</a:t>
            </a:r>
            <a:r>
              <a:rPr lang="en-US" sz="1600" dirty="0"/>
              <a:t> </a:t>
            </a:r>
            <a:r>
              <a:rPr lang="en-US" sz="1600" dirty="0" err="1"/>
              <a:t>por</a:t>
            </a:r>
            <a:r>
              <a:rPr lang="en-US" sz="1600" dirty="0"/>
              <a:t> la pelota.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1600" dirty="0"/>
              <a:t>Si un </a:t>
            </a:r>
            <a:r>
              <a:rPr lang="en-US" sz="1600" dirty="0" err="1"/>
              <a:t>blanco</a:t>
            </a:r>
            <a:r>
              <a:rPr lang="en-US" sz="1600" dirty="0"/>
              <a:t> se </a:t>
            </a:r>
            <a:r>
              <a:rPr lang="en-US" sz="1600" dirty="0" err="1"/>
              <a:t>coloca</a:t>
            </a:r>
            <a:r>
              <a:rPr lang="en-US" sz="1600" dirty="0"/>
              <a:t> a 35 m del </a:t>
            </a:r>
            <a:r>
              <a:rPr lang="en-US" sz="1600" dirty="0" err="1"/>
              <a:t>lugar</a:t>
            </a:r>
            <a:r>
              <a:rPr lang="en-US" sz="1600" dirty="0"/>
              <a:t> </a:t>
            </a:r>
            <a:r>
              <a:rPr lang="en-US" sz="1600" dirty="0" err="1"/>
              <a:t>donde</a:t>
            </a:r>
            <a:r>
              <a:rPr lang="en-US" sz="1600" dirty="0"/>
              <a:t> la pelota es </a:t>
            </a:r>
            <a:r>
              <a:rPr lang="en-US" sz="1600" dirty="0" err="1"/>
              <a:t>pateada</a:t>
            </a:r>
            <a:r>
              <a:rPr lang="en-US" sz="1600" dirty="0"/>
              <a:t>, ¿</a:t>
            </a:r>
            <a:r>
              <a:rPr lang="en-US" sz="1600" dirty="0" err="1"/>
              <a:t>impacta</a:t>
            </a:r>
            <a:r>
              <a:rPr lang="en-US" sz="1600" dirty="0"/>
              <a:t> la pelota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blanco</a:t>
            </a:r>
            <a:r>
              <a:rPr lang="en-US" sz="1600" dirty="0"/>
              <a:t>? 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  <a:p>
            <a:endParaRPr lang="en-US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6632A3-AB82-63F6-184D-BF0AAA99A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103" y="2217300"/>
            <a:ext cx="5003793" cy="1000759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4EDAAE9-E61D-156F-F7FD-5A52EFF9FD66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7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87748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28E32-38FE-A7C4-E2D6-8BD5AFA1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0FAE91E-7B6F-70BB-7DAF-B1691A181979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D585EE59-5E2F-59BC-8178-018003C14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223608"/>
              </p:ext>
            </p:extLst>
          </p:nvPr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parabólico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BCC88C6-95E9-4A95-8C95-4B26DAA35087}"/>
                  </a:ext>
                </a:extLst>
              </p:cNvPr>
              <p:cNvSpPr txBox="1"/>
              <p:nvPr/>
            </p:nvSpPr>
            <p:spPr>
              <a:xfrm>
                <a:off x="403440" y="840822"/>
                <a:ext cx="11385120" cy="542821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</a:t>
                </a:r>
                <a:r>
                  <a:rPr lang="en-US" sz="1600" dirty="0"/>
                  <a:t> Una pelota es </a:t>
                </a:r>
                <a:r>
                  <a:rPr lang="en-US" sz="1600" dirty="0" err="1"/>
                  <a:t>pateada</a:t>
                </a:r>
                <a:r>
                  <a:rPr lang="en-US" sz="1600" dirty="0"/>
                  <a:t> con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inicial</a:t>
                </a:r>
                <a:r>
                  <a:rPr lang="en-US" sz="1600" dirty="0"/>
                  <a:t> de 30 m/s y un </a:t>
                </a:r>
                <a:r>
                  <a:rPr lang="en-US" sz="1600" dirty="0" err="1"/>
                  <a:t>ángulo</a:t>
                </a:r>
                <a:r>
                  <a:rPr lang="en-US" sz="1600" dirty="0"/>
                  <a:t> de 45° </a:t>
                </a:r>
                <a:r>
                  <a:rPr lang="en-US" sz="1600" dirty="0" err="1"/>
                  <a:t>respecto</a:t>
                </a:r>
                <a:r>
                  <a:rPr lang="en-US" sz="1600" dirty="0"/>
                  <a:t> a la horizontal. </a:t>
                </a:r>
                <a:r>
                  <a:rPr lang="en-US" sz="1600" dirty="0" err="1"/>
                  <a:t>Calcule</a:t>
                </a: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El 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vuelo</a:t>
                </a:r>
                <a:r>
                  <a:rPr lang="en-US" sz="1600" dirty="0"/>
                  <a:t>.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La </a:t>
                </a:r>
                <a:r>
                  <a:rPr lang="en-US" sz="1600" dirty="0" err="1"/>
                  <a:t>altura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máxima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alcanzada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por</a:t>
                </a:r>
                <a:r>
                  <a:rPr lang="en-US" sz="1600" dirty="0"/>
                  <a:t> la pelota.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Si un </a:t>
                </a:r>
                <a:r>
                  <a:rPr lang="en-US" sz="1600" dirty="0" err="1"/>
                  <a:t>blanco</a:t>
                </a:r>
                <a:r>
                  <a:rPr lang="en-US" sz="1600" dirty="0"/>
                  <a:t> se </a:t>
                </a:r>
                <a:r>
                  <a:rPr lang="en-US" sz="1600" dirty="0" err="1"/>
                  <a:t>coloca</a:t>
                </a:r>
                <a:r>
                  <a:rPr lang="en-US" sz="1600" dirty="0"/>
                  <a:t> a 35 m del </a:t>
                </a:r>
                <a:r>
                  <a:rPr lang="en-US" sz="1600" dirty="0" err="1"/>
                  <a:t>lugar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donde</a:t>
                </a:r>
                <a:r>
                  <a:rPr lang="en-US" sz="1600" dirty="0"/>
                  <a:t> la pelota es </a:t>
                </a:r>
                <a:r>
                  <a:rPr lang="en-US" sz="1600" dirty="0" err="1"/>
                  <a:t>pateada</a:t>
                </a:r>
                <a:r>
                  <a:rPr lang="en-US" sz="1600" dirty="0"/>
                  <a:t>, ¿</a:t>
                </a:r>
                <a:r>
                  <a:rPr lang="en-US" sz="1600" dirty="0" err="1"/>
                  <a:t>impacta</a:t>
                </a:r>
                <a:r>
                  <a:rPr lang="en-US" sz="1600" dirty="0"/>
                  <a:t> la pelota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blanco</a:t>
                </a:r>
                <a:r>
                  <a:rPr lang="en-US" sz="1600" dirty="0"/>
                  <a:t>? </a:t>
                </a:r>
              </a:p>
              <a:p>
                <a:pPr marL="285750" indent="-285750">
                  <a:buFontTx/>
                  <a:buChar char="-"/>
                </a:pPr>
                <a:endParaRPr lang="en-US" sz="1600" dirty="0"/>
              </a:p>
              <a:p>
                <a:pPr marL="285750" indent="-285750">
                  <a:buFontTx/>
                  <a:buChar char="-"/>
                </a:pPr>
                <a:endParaRPr lang="en-US" sz="1600" dirty="0"/>
              </a:p>
              <a:p>
                <a:pPr marL="285750" indent="-285750">
                  <a:buFontTx/>
                  <a:buChar char="-"/>
                </a:pPr>
                <a:endParaRPr lang="en-US" sz="1600" dirty="0"/>
              </a:p>
              <a:p>
                <a:pPr marL="285750" indent="-285750">
                  <a:buFontTx/>
                  <a:buChar char="-"/>
                </a:pPr>
                <a:endParaRPr lang="en-US" sz="1600" dirty="0"/>
              </a:p>
              <a:p>
                <a:pPr marL="285750" indent="-285750">
                  <a:buFontTx/>
                  <a:buChar char="-"/>
                </a:pPr>
                <a:endParaRPr lang="en-US" sz="1600" dirty="0"/>
              </a:p>
              <a:p>
                <a:r>
                  <a:rPr lang="en-US" sz="1600" b="1" dirty="0"/>
                  <a:t>Desarrollo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 err="1"/>
                  <a:t>Calculemos</a:t>
                </a:r>
                <a:r>
                  <a:rPr lang="en-US" sz="1600" dirty="0"/>
                  <a:t> las </a:t>
                </a:r>
                <a:r>
                  <a:rPr lang="en-US" sz="1600" dirty="0" err="1"/>
                  <a:t>componentes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velocidad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inicial</a:t>
                </a: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30 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func>
                        <m:func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45°</m:t>
                          </m:r>
                        </m:e>
                      </m:fun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0">
                              <a:latin typeface="Cambria Math" panose="02040503050406030204" pitchFamily="18" charset="0"/>
                            </a:rPr>
                            <m:t>30 </m:t>
                          </m:r>
                          <m:r>
                            <m:rPr>
                              <m:sty m:val="p"/>
                            </m:rPr>
                            <a:rPr lang="es-CL" sz="1600" i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s-CL" sz="1600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CL" sz="16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func>
                        <m:funcPr>
                          <m:ctrlPr>
                            <a:rPr lang="es-CL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60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45°</m:t>
                          </m:r>
                        </m:e>
                      </m:func>
                    </m:oMath>
                  </m:oMathPara>
                </a14:m>
                <a:endParaRPr lang="en-US" sz="1600" b="1" dirty="0"/>
              </a:p>
              <a:p>
                <a:r>
                  <a:rPr lang="en-US" sz="1600" dirty="0"/>
                  <a:t>El 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vuelo</a:t>
                </a:r>
                <a:r>
                  <a:rPr lang="en-US" sz="1600" dirty="0"/>
                  <a:t> es </a:t>
                </a:r>
                <a:r>
                  <a:rPr lang="en-US" sz="1600" b="1" dirty="0"/>
                  <a:t>dos </a:t>
                </a:r>
                <a:r>
                  <a:rPr lang="en-US" sz="1600" b="1" dirty="0" err="1"/>
                  <a:t>veces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el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tiempo</a:t>
                </a:r>
                <a:r>
                  <a:rPr lang="en-US" sz="1600" b="1" dirty="0"/>
                  <a:t> </a:t>
                </a:r>
                <a:r>
                  <a:rPr lang="en-US" sz="1600" dirty="0"/>
                  <a:t>que </a:t>
                </a:r>
                <a:r>
                  <a:rPr lang="en-US" sz="1600" dirty="0" err="1"/>
                  <a:t>tarda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subir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verticalmente</a:t>
                </a: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𝑔𝑡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0">
                              <a:latin typeface="Cambria Math" panose="02040503050406030204" pitchFamily="18" charset="0"/>
                            </a:rPr>
                            <m:t>30</m:t>
                          </m:r>
                          <m:f>
                            <m:f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L" sz="1600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s-CL" sz="1600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45°</m:t>
                          </m:r>
                        </m:e>
                      </m:fun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9.81</m:t>
                          </m:r>
                          <m:f>
                            <m:f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L" sz="1600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CL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L" sz="1600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s-CL" sz="16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=2.16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s-CL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𝑣𝑢𝑒𝑙𝑜</m:t>
                          </m:r>
                        </m:sub>
                      </m:sSub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=4.32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1600" dirty="0"/>
              </a:p>
              <a:p>
                <a:pPr marL="342900" indent="-342900">
                  <a:buFont typeface="+mj-lt"/>
                  <a:buAutoNum type="alphaLcParenR" startAt="2"/>
                </a:pPr>
                <a:r>
                  <a:rPr lang="en-US" sz="1600" dirty="0"/>
                  <a:t>La </a:t>
                </a:r>
                <a:r>
                  <a:rPr lang="en-US" sz="1600" dirty="0" err="1"/>
                  <a:t>altura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máxima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alcanzada</a:t>
                </a:r>
                <a:r>
                  <a:rPr lang="en-US" sz="1600" dirty="0"/>
                  <a:t> se </a:t>
                </a:r>
                <a:r>
                  <a:rPr lang="en-US" sz="1600" dirty="0" err="1"/>
                  <a:t>obtiene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usando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s-CL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=2.16 </m:t>
                    </m:r>
                    <m:r>
                      <a:rPr lang="es-CL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</m:t>
                          </m:r>
                          <m:f>
                            <m:f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L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s-CL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45°</m:t>
                          </m:r>
                        </m:e>
                      </m:func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9.81</m:t>
                          </m:r>
                          <m:f>
                            <m:f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L" sz="1600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L" sz="16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s-CL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=22.9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sz="1600" dirty="0"/>
              </a:p>
              <a:p>
                <a:pPr marL="342900" indent="-342900">
                  <a:buFont typeface="+mj-lt"/>
                  <a:buAutoNum type="alphaLcParenR" startAt="3"/>
                </a:pPr>
                <a:r>
                  <a:rPr lang="en-US" sz="1600" dirty="0"/>
                  <a:t>La </a:t>
                </a:r>
                <a:r>
                  <a:rPr lang="en-US" sz="1600" dirty="0" err="1"/>
                  <a:t>distancia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recorrida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la horizontal se </a:t>
                </a:r>
                <a:r>
                  <a:rPr lang="en-US" sz="1600" dirty="0" err="1"/>
                  <a:t>obtiene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usando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s-CL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=4.32 </m:t>
                    </m:r>
                    <m:r>
                      <m:rPr>
                        <m:sty m:val="p"/>
                      </m:rPr>
                      <a:rPr lang="es-CL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0">
                              <a:latin typeface="Cambria Math" panose="02040503050406030204" pitchFamily="18" charset="0"/>
                            </a:rPr>
                            <m:t>30 </m:t>
                          </m:r>
                          <m:r>
                            <m:rPr>
                              <m:sty m:val="p"/>
                            </m:rPr>
                            <a:rPr lang="es-CL" sz="1600" i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s-CL" sz="1600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CL" sz="16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func>
                        <m:func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L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45°</m:t>
                          </m:r>
                        </m:e>
                      </m:func>
                      <m:d>
                        <m:dPr>
                          <m:ctrlPr>
                            <a:rPr lang="es-CL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4.33 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=91.8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Es </a:t>
                </a:r>
                <a:r>
                  <a:rPr lang="en-US" sz="1600" dirty="0" err="1"/>
                  <a:t>decir</a:t>
                </a:r>
                <a:r>
                  <a:rPr lang="en-US" sz="1600" dirty="0"/>
                  <a:t>, no da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blanco</a:t>
                </a:r>
                <a:r>
                  <a:rPr lang="en-US" sz="1600" dirty="0"/>
                  <a:t>. El </a:t>
                </a:r>
                <a:r>
                  <a:rPr lang="en-US" sz="1600" dirty="0" err="1"/>
                  <a:t>blanco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debería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correrse</a:t>
                </a:r>
                <a:r>
                  <a:rPr lang="en-US" sz="1600" dirty="0"/>
                  <a:t> 56.8 m </a:t>
                </a:r>
                <a:r>
                  <a:rPr lang="en-US" sz="1600" dirty="0" err="1"/>
                  <a:t>hacia</a:t>
                </a:r>
                <a:r>
                  <a:rPr lang="en-US" sz="1600" dirty="0"/>
                  <a:t> la </a:t>
                </a:r>
                <a:r>
                  <a:rPr lang="en-US" sz="1600" dirty="0" err="1"/>
                  <a:t>derecha</a:t>
                </a:r>
                <a:r>
                  <a:rPr lang="en-US" sz="1600" dirty="0"/>
                  <a:t> para ser </a:t>
                </a:r>
                <a:r>
                  <a:rPr lang="en-US" sz="1600" dirty="0" err="1"/>
                  <a:t>impactado</a:t>
                </a:r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BCC88C6-95E9-4A95-8C95-4B26DAA35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840822"/>
                <a:ext cx="11385120" cy="5428217"/>
              </a:xfrm>
              <a:prstGeom prst="rect">
                <a:avLst/>
              </a:prstGeom>
              <a:blipFill>
                <a:blip r:embed="rId3"/>
                <a:stretch>
                  <a:fillRect l="-334" t="-233" b="-46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92CC9E8-6DD7-A707-6341-13AB34D1F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103" y="2217300"/>
            <a:ext cx="5003793" cy="1000759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F012ECD-9E14-3600-14FB-760A3339FC66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8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3452607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A7135-0423-AFD5-B5B2-126990AFA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5F8C452-BAB5-87F6-7F66-6662C83A1870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54F859AD-EC22-0548-95F1-7D89C5DDAC7B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330E3BA-8A9E-8EFE-CBBA-F6597E4839D8}"/>
              </a:ext>
            </a:extLst>
          </p:cNvPr>
          <p:cNvSpPr txBox="1"/>
          <p:nvPr/>
        </p:nvSpPr>
        <p:spPr>
          <a:xfrm>
            <a:off x="346505" y="830427"/>
            <a:ext cx="5871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/>
              <a:t>Conceptos</a:t>
            </a:r>
            <a:endParaRPr lang="en-US" sz="1600" b="1" dirty="0"/>
          </a:p>
          <a:p>
            <a:pPr marL="285750" indent="-285750" algn="just">
              <a:buFontTx/>
              <a:buChar char="-"/>
            </a:pPr>
            <a:r>
              <a:rPr lang="en-US" sz="1600" dirty="0"/>
              <a:t>Las </a:t>
            </a:r>
            <a:r>
              <a:rPr lang="en-US" sz="1600" dirty="0" err="1"/>
              <a:t>ecuaciones</a:t>
            </a:r>
            <a:r>
              <a:rPr lang="en-US" sz="1600" dirty="0"/>
              <a:t> que </a:t>
            </a:r>
            <a:r>
              <a:rPr lang="en-US" sz="1600" dirty="0" err="1"/>
              <a:t>hemos</a:t>
            </a:r>
            <a:r>
              <a:rPr lang="en-US" sz="1600" dirty="0"/>
              <a:t> visto hasta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momento</a:t>
            </a:r>
            <a:r>
              <a:rPr lang="en-US" sz="1600" dirty="0"/>
              <a:t> son </a:t>
            </a:r>
            <a:r>
              <a:rPr lang="en-US" sz="1600" dirty="0" err="1"/>
              <a:t>aplicables</a:t>
            </a:r>
            <a:r>
              <a:rPr lang="en-US" sz="1600" dirty="0"/>
              <a:t> a </a:t>
            </a:r>
            <a:r>
              <a:rPr lang="en-US" sz="1600" dirty="0" err="1"/>
              <a:t>movimientos</a:t>
            </a:r>
            <a:r>
              <a:rPr lang="en-US" sz="1600" dirty="0"/>
              <a:t> </a:t>
            </a:r>
            <a:r>
              <a:rPr lang="en-US" sz="1600" dirty="0" err="1"/>
              <a:t>lineales</a:t>
            </a:r>
            <a:endParaRPr lang="en-US" sz="1600" dirty="0"/>
          </a:p>
          <a:p>
            <a:pPr marL="285750" indent="-285750" algn="just">
              <a:buFontTx/>
              <a:buChar char="-"/>
            </a:pPr>
            <a:r>
              <a:rPr lang="en-US" sz="1600" dirty="0"/>
              <a:t>Los </a:t>
            </a:r>
            <a:r>
              <a:rPr lang="en-US" sz="1600" dirty="0" err="1"/>
              <a:t>movimientos</a:t>
            </a:r>
            <a:r>
              <a:rPr lang="en-US" sz="1600" dirty="0"/>
              <a:t> </a:t>
            </a:r>
            <a:r>
              <a:rPr lang="en-US" sz="1600" dirty="0" err="1"/>
              <a:t>circunferenciales</a:t>
            </a:r>
            <a:r>
              <a:rPr lang="en-US" sz="1600" dirty="0"/>
              <a:t> (</a:t>
            </a:r>
            <a:r>
              <a:rPr lang="en-US" sz="1600" dirty="0" err="1"/>
              <a:t>rotacionales</a:t>
            </a:r>
            <a:r>
              <a:rPr lang="en-US" sz="1600" dirty="0"/>
              <a:t>) se </a:t>
            </a:r>
            <a:r>
              <a:rPr lang="en-US" sz="1600" dirty="0" err="1"/>
              <a:t>debe</a:t>
            </a:r>
            <a:r>
              <a:rPr lang="en-US" sz="1600" dirty="0"/>
              <a:t> </a:t>
            </a:r>
            <a:r>
              <a:rPr lang="en-US" sz="1600" dirty="0" err="1"/>
              <a:t>analizar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términos</a:t>
            </a:r>
            <a:r>
              <a:rPr lang="en-US" sz="1600" dirty="0"/>
              <a:t> </a:t>
            </a:r>
            <a:r>
              <a:rPr lang="en-US" sz="1600" dirty="0" err="1"/>
              <a:t>angulares</a:t>
            </a:r>
            <a:endParaRPr lang="en-US" sz="1600" dirty="0"/>
          </a:p>
        </p:txBody>
      </p:sp>
      <p:pic>
        <p:nvPicPr>
          <p:cNvPr id="4" name="Picture 3" descr="A diagram of a wheel&#10;&#10;Description automatically generated">
            <a:extLst>
              <a:ext uri="{FF2B5EF4-FFF2-40B4-BE49-F238E27FC236}">
                <a16:creationId xmlns:a16="http://schemas.microsoft.com/office/drawing/2014/main" id="{5EE80C2E-FA4A-EE40-5079-86A59D2F5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970" y="916288"/>
            <a:ext cx="1971358" cy="1871225"/>
          </a:xfrm>
          <a:prstGeom prst="rect">
            <a:avLst/>
          </a:prstGeom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F45E6D1D-CA78-5AB5-0FA1-1B0349EF092C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9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1202014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B2C13AD-3A6C-9AFF-9B9B-A3B5369D3173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03B4381B-C337-C4D5-7E3A-AD2239922238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7D49E86-707D-3B6C-C6CE-DFE1EAE5086B}"/>
              </a:ext>
            </a:extLst>
          </p:cNvPr>
          <p:cNvSpPr txBox="1"/>
          <p:nvPr/>
        </p:nvSpPr>
        <p:spPr>
          <a:xfrm>
            <a:off x="346505" y="830427"/>
            <a:ext cx="5871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/>
              <a:t>Conceptos</a:t>
            </a:r>
            <a:endParaRPr lang="en-US" sz="1600" b="1" dirty="0"/>
          </a:p>
          <a:p>
            <a:pPr marL="285750" indent="-285750" algn="just">
              <a:buFontTx/>
              <a:buChar char="-"/>
            </a:pPr>
            <a:r>
              <a:rPr lang="en-US" sz="1600" dirty="0"/>
              <a:t>Las </a:t>
            </a:r>
            <a:r>
              <a:rPr lang="en-US" sz="1600" dirty="0" err="1"/>
              <a:t>ecuaciones</a:t>
            </a:r>
            <a:r>
              <a:rPr lang="en-US" sz="1600" dirty="0"/>
              <a:t> que </a:t>
            </a:r>
            <a:r>
              <a:rPr lang="en-US" sz="1600" dirty="0" err="1"/>
              <a:t>hemos</a:t>
            </a:r>
            <a:r>
              <a:rPr lang="en-US" sz="1600" dirty="0"/>
              <a:t> visto hasta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momento</a:t>
            </a:r>
            <a:r>
              <a:rPr lang="en-US" sz="1600" dirty="0"/>
              <a:t> son </a:t>
            </a:r>
            <a:r>
              <a:rPr lang="en-US" sz="1600" dirty="0" err="1"/>
              <a:t>aplicables</a:t>
            </a:r>
            <a:r>
              <a:rPr lang="en-US" sz="1600" dirty="0"/>
              <a:t> a </a:t>
            </a:r>
            <a:r>
              <a:rPr lang="en-US" sz="1600" dirty="0" err="1"/>
              <a:t>movimientos</a:t>
            </a:r>
            <a:r>
              <a:rPr lang="en-US" sz="1600" dirty="0"/>
              <a:t> </a:t>
            </a:r>
            <a:r>
              <a:rPr lang="en-US" sz="1600" dirty="0" err="1"/>
              <a:t>lineales</a:t>
            </a:r>
            <a:endParaRPr lang="en-US" sz="1600" dirty="0"/>
          </a:p>
          <a:p>
            <a:pPr marL="285750" indent="-285750" algn="just">
              <a:buFontTx/>
              <a:buChar char="-"/>
            </a:pPr>
            <a:r>
              <a:rPr lang="en-US" sz="1600" dirty="0"/>
              <a:t>Los </a:t>
            </a:r>
            <a:r>
              <a:rPr lang="en-US" sz="1600" dirty="0" err="1"/>
              <a:t>movimientos</a:t>
            </a:r>
            <a:r>
              <a:rPr lang="en-US" sz="1600" dirty="0"/>
              <a:t> </a:t>
            </a:r>
            <a:r>
              <a:rPr lang="en-US" sz="1600" dirty="0" err="1"/>
              <a:t>circunferenciales</a:t>
            </a:r>
            <a:r>
              <a:rPr lang="en-US" sz="1600" dirty="0"/>
              <a:t> (</a:t>
            </a:r>
            <a:r>
              <a:rPr lang="en-US" sz="1600" dirty="0" err="1"/>
              <a:t>rotacionales</a:t>
            </a:r>
            <a:r>
              <a:rPr lang="en-US" sz="1600" dirty="0"/>
              <a:t>) se </a:t>
            </a:r>
            <a:r>
              <a:rPr lang="en-US" sz="1600" dirty="0" err="1"/>
              <a:t>debe</a:t>
            </a:r>
            <a:r>
              <a:rPr lang="en-US" sz="1600" dirty="0"/>
              <a:t> </a:t>
            </a:r>
            <a:r>
              <a:rPr lang="en-US" sz="1600" dirty="0" err="1"/>
              <a:t>analizar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términos</a:t>
            </a:r>
            <a:r>
              <a:rPr lang="en-US" sz="1600" dirty="0"/>
              <a:t> </a:t>
            </a:r>
            <a:r>
              <a:rPr lang="en-US" sz="1600" dirty="0" err="1"/>
              <a:t>angulares</a:t>
            </a:r>
            <a:endParaRPr lang="en-US" sz="1600" dirty="0"/>
          </a:p>
        </p:txBody>
      </p:sp>
      <p:pic>
        <p:nvPicPr>
          <p:cNvPr id="4" name="Picture 3" descr="A diagram of a wheel&#10;&#10;Description automatically generated">
            <a:extLst>
              <a:ext uri="{FF2B5EF4-FFF2-40B4-BE49-F238E27FC236}">
                <a16:creationId xmlns:a16="http://schemas.microsoft.com/office/drawing/2014/main" id="{68F3071A-9914-9EAF-2846-D5DAD44B4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970" y="916288"/>
            <a:ext cx="1971358" cy="1871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C18D3C-73B4-2C5B-CEF1-F29D56C8D94D}"/>
              </a:ext>
            </a:extLst>
          </p:cNvPr>
          <p:cNvSpPr txBox="1"/>
          <p:nvPr/>
        </p:nvSpPr>
        <p:spPr>
          <a:xfrm>
            <a:off x="346506" y="2903067"/>
            <a:ext cx="782850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/>
              <a:t>Definiciones</a:t>
            </a:r>
            <a:endParaRPr lang="en-US" sz="1600" b="1" dirty="0"/>
          </a:p>
          <a:p>
            <a:pPr marL="285750" indent="-285750" algn="just">
              <a:buFontTx/>
              <a:buChar char="-"/>
            </a:pPr>
            <a:r>
              <a:rPr lang="en-US" sz="1600" dirty="0"/>
              <a:t>Radian: </a:t>
            </a:r>
            <a:r>
              <a:rPr lang="en-US" sz="1600" dirty="0" err="1"/>
              <a:t>unidad</a:t>
            </a:r>
            <a:r>
              <a:rPr lang="en-US" sz="1600" dirty="0"/>
              <a:t> de </a:t>
            </a:r>
            <a:r>
              <a:rPr lang="en-US" sz="1600" dirty="0" err="1"/>
              <a:t>medida</a:t>
            </a:r>
            <a:r>
              <a:rPr lang="en-US" sz="1600" dirty="0"/>
              <a:t> angular, 360° = 2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s-C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/>
              <a:t>radianes</a:t>
            </a:r>
            <a:endParaRPr lang="en-US" sz="1600" dirty="0"/>
          </a:p>
          <a:p>
            <a:pPr marL="285750" indent="-285750" algn="just">
              <a:buFontTx/>
              <a:buChar char="-"/>
            </a:pPr>
            <a:endParaRPr lang="en-US" sz="1600" dirty="0"/>
          </a:p>
          <a:p>
            <a:pPr marL="285750" indent="-285750" algn="just">
              <a:buFontTx/>
              <a:buChar char="-"/>
            </a:pPr>
            <a:r>
              <a:rPr lang="en-US" sz="1600" dirty="0" err="1"/>
              <a:t>Posición</a:t>
            </a:r>
            <a:r>
              <a:rPr lang="en-US" sz="1600" dirty="0"/>
              <a:t> angular: define la </a:t>
            </a:r>
            <a:r>
              <a:rPr lang="en-US" sz="1600" dirty="0" err="1"/>
              <a:t>posición</a:t>
            </a:r>
            <a:r>
              <a:rPr lang="en-US" sz="1600" dirty="0"/>
              <a:t> de un </a:t>
            </a:r>
            <a:r>
              <a:rPr lang="en-US" sz="1600" dirty="0" err="1"/>
              <a:t>objeto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términos</a:t>
            </a:r>
            <a:r>
              <a:rPr lang="en-US" sz="1600" dirty="0"/>
              <a:t> de un </a:t>
            </a:r>
            <a:r>
              <a:rPr lang="en-US" sz="1600" dirty="0" err="1"/>
              <a:t>ángulo</a:t>
            </a:r>
            <a:r>
              <a:rPr lang="en-US" sz="1600" dirty="0"/>
              <a:t>. Se </a:t>
            </a:r>
            <a:r>
              <a:rPr lang="en-US" sz="1600" dirty="0" err="1"/>
              <a:t>mide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radianes</a:t>
            </a:r>
            <a:r>
              <a:rPr lang="en-US" sz="1600" dirty="0"/>
              <a:t>.</a:t>
            </a:r>
          </a:p>
          <a:p>
            <a:pPr marL="285750" indent="-285750" algn="just">
              <a:buFontTx/>
              <a:buChar char="-"/>
            </a:pPr>
            <a:endParaRPr lang="en-US" sz="1600" dirty="0"/>
          </a:p>
          <a:p>
            <a:pPr marL="285750" indent="-285750" algn="just">
              <a:buFontTx/>
              <a:buChar char="-"/>
            </a:pPr>
            <a:r>
              <a:rPr lang="en-US" sz="1600" dirty="0" err="1"/>
              <a:t>Desplazamiento</a:t>
            </a:r>
            <a:r>
              <a:rPr lang="en-US" sz="1600" dirty="0"/>
              <a:t> angular: </a:t>
            </a:r>
            <a:r>
              <a:rPr lang="en-US" sz="1600" dirty="0" err="1"/>
              <a:t>diferencia</a:t>
            </a:r>
            <a:r>
              <a:rPr lang="en-US" sz="1600" dirty="0"/>
              <a:t> entre </a:t>
            </a:r>
            <a:r>
              <a:rPr lang="en-US" sz="1600" dirty="0" err="1"/>
              <a:t>posición</a:t>
            </a:r>
            <a:r>
              <a:rPr lang="en-US" sz="1600" dirty="0"/>
              <a:t> angular final e </a:t>
            </a:r>
            <a:r>
              <a:rPr lang="en-US" sz="1600" dirty="0" err="1"/>
              <a:t>inicial</a:t>
            </a:r>
            <a:endParaRPr lang="en-US" sz="1600" dirty="0"/>
          </a:p>
          <a:p>
            <a:pPr marL="285750" indent="-285750" algn="just">
              <a:buFontTx/>
              <a:buChar char="-"/>
            </a:pPr>
            <a:endParaRPr lang="en-US" sz="1600" dirty="0"/>
          </a:p>
          <a:p>
            <a:pPr marL="285750" indent="-285750" algn="just">
              <a:buFontTx/>
              <a:buChar char="-"/>
            </a:pPr>
            <a:endParaRPr lang="en-US" sz="1600" dirty="0"/>
          </a:p>
          <a:p>
            <a:pPr marL="285750" indent="-285750" algn="just">
              <a:buFontTx/>
              <a:buChar char="-"/>
            </a:pPr>
            <a:r>
              <a:rPr lang="en-US" sz="1600" dirty="0" err="1"/>
              <a:t>Rapidez</a:t>
            </a:r>
            <a:r>
              <a:rPr lang="en-US" sz="1600" dirty="0"/>
              <a:t> angular: </a:t>
            </a:r>
            <a:r>
              <a:rPr lang="en-US" sz="1600" dirty="0" err="1"/>
              <a:t>variación</a:t>
            </a:r>
            <a:r>
              <a:rPr lang="en-US" sz="1600" dirty="0"/>
              <a:t> de la </a:t>
            </a:r>
            <a:r>
              <a:rPr lang="en-US" sz="1600" dirty="0" err="1"/>
              <a:t>posición</a:t>
            </a:r>
            <a:r>
              <a:rPr lang="en-US" sz="1600" dirty="0"/>
              <a:t> angular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tiempo</a:t>
            </a:r>
            <a:endParaRPr lang="en-US" sz="1600" dirty="0"/>
          </a:p>
          <a:p>
            <a:pPr marL="285750" indent="-285750" algn="just">
              <a:buFontTx/>
              <a:buChar char="-"/>
            </a:pPr>
            <a:endParaRPr lang="en-US" sz="1600" dirty="0"/>
          </a:p>
          <a:p>
            <a:pPr marL="285750" indent="-285750" algn="just">
              <a:buFontTx/>
              <a:buChar char="-"/>
            </a:pPr>
            <a:r>
              <a:rPr lang="en-US" sz="1600" dirty="0" err="1"/>
              <a:t>Aceleración</a:t>
            </a:r>
            <a:r>
              <a:rPr lang="en-US" sz="1600" dirty="0"/>
              <a:t> angular: </a:t>
            </a:r>
            <a:r>
              <a:rPr lang="en-US" sz="1600" dirty="0" err="1"/>
              <a:t>variación</a:t>
            </a:r>
            <a:r>
              <a:rPr lang="en-US" sz="1600" dirty="0"/>
              <a:t> de la </a:t>
            </a:r>
            <a:r>
              <a:rPr lang="en-US" sz="1600" dirty="0" err="1"/>
              <a:t>rapidez</a:t>
            </a:r>
            <a:r>
              <a:rPr lang="en-US" sz="1600" dirty="0"/>
              <a:t> angular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tiempo</a:t>
            </a:r>
            <a:endParaRPr lang="en-US" sz="1600" dirty="0"/>
          </a:p>
          <a:p>
            <a:pPr marL="285750" indent="-285750" algn="just">
              <a:buFontTx/>
              <a:buChar char="-"/>
            </a:pP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381782-B734-64B8-EE0B-5A9D3FA59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563" y="3089972"/>
            <a:ext cx="2831120" cy="22302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268C5E-EAED-1A03-99CA-6D5556FDB579}"/>
                  </a:ext>
                </a:extLst>
              </p:cNvPr>
              <p:cNvSpPr txBox="1"/>
              <p:nvPr/>
            </p:nvSpPr>
            <p:spPr>
              <a:xfrm>
                <a:off x="3599877" y="4691517"/>
                <a:ext cx="1358064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268C5E-EAED-1A03-99CA-6D5556FDB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877" y="4691517"/>
                <a:ext cx="1358064" cy="299249"/>
              </a:xfrm>
              <a:prstGeom prst="rect">
                <a:avLst/>
              </a:prstGeom>
              <a:blipFill>
                <a:blip r:embed="rId5"/>
                <a:stretch>
                  <a:fillRect l="-2703" r="-450" b="-2857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Brace 10">
            <a:extLst>
              <a:ext uri="{FF2B5EF4-FFF2-40B4-BE49-F238E27FC236}">
                <a16:creationId xmlns:a16="http://schemas.microsoft.com/office/drawing/2014/main" id="{EB003922-4DDC-B0A6-045C-D4D51E17B4ED}"/>
              </a:ext>
            </a:extLst>
          </p:cNvPr>
          <p:cNvSpPr/>
          <p:nvPr/>
        </p:nvSpPr>
        <p:spPr>
          <a:xfrm>
            <a:off x="7331836" y="5051169"/>
            <a:ext cx="179134" cy="1053418"/>
          </a:xfrm>
          <a:prstGeom prst="rightBrace">
            <a:avLst>
              <a:gd name="adj1" fmla="val 597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3416D1-A949-B734-30D5-71519290D17D}"/>
              </a:ext>
            </a:extLst>
          </p:cNvPr>
          <p:cNvSpPr txBox="1"/>
          <p:nvPr/>
        </p:nvSpPr>
        <p:spPr>
          <a:xfrm>
            <a:off x="7476267" y="5396770"/>
            <a:ext cx="2382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dirty="0"/>
              <a:t>Ecuaciones en siguiente diapositiva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8A3B20A-FB6A-CBC1-415A-5706B9B09888}"/>
                  </a:ext>
                </a:extLst>
              </p:cNvPr>
              <p:cNvSpPr txBox="1"/>
              <p:nvPr/>
            </p:nvSpPr>
            <p:spPr>
              <a:xfrm>
                <a:off x="10281410" y="3152001"/>
                <a:ext cx="11832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8A3B20A-FB6A-CBC1-415A-5706B9B09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1410" y="3152001"/>
                <a:ext cx="1183273" cy="276999"/>
              </a:xfrm>
              <a:prstGeom prst="rect">
                <a:avLst/>
              </a:prstGeom>
              <a:blipFill>
                <a:blip r:embed="rId6"/>
                <a:stretch>
                  <a:fillRect l="-4124" r="-206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04CC502-E2C4-51A7-A83F-546AD8ECC1BD}"/>
              </a:ext>
            </a:extLst>
          </p:cNvPr>
          <p:cNvSpPr txBox="1"/>
          <p:nvPr/>
        </p:nvSpPr>
        <p:spPr>
          <a:xfrm>
            <a:off x="10049743" y="2844126"/>
            <a:ext cx="1646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Arco </a:t>
            </a:r>
            <a:r>
              <a:rPr lang="en-US" sz="1600" dirty="0" err="1"/>
              <a:t>recorrido</a:t>
            </a:r>
            <a:endParaRPr lang="en-US" sz="1600" dirty="0"/>
          </a:p>
        </p:txBody>
      </p:sp>
      <p:sp>
        <p:nvSpPr>
          <p:cNvPr id="7" name="Marcador de número de diapositiva 2">
            <a:extLst>
              <a:ext uri="{FF2B5EF4-FFF2-40B4-BE49-F238E27FC236}">
                <a16:creationId xmlns:a16="http://schemas.microsoft.com/office/drawing/2014/main" id="{C3D99193-E30C-59FF-048E-CDD449093D8E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10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1485072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FDFCC-7E4C-A910-10B9-1F40707B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DFC2278-736C-6860-9ADD-0C5A86B9D249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A1F79BB3-8150-BAF5-2429-919BEE198CC3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9F2F04A-3394-E4F6-36F8-A65C0F8F42F7}"/>
              </a:ext>
            </a:extLst>
          </p:cNvPr>
          <p:cNvSpPr txBox="1"/>
          <p:nvPr/>
        </p:nvSpPr>
        <p:spPr>
          <a:xfrm>
            <a:off x="346505" y="830427"/>
            <a:ext cx="114451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/>
              <a:t>Ecuaciones</a:t>
            </a:r>
            <a:r>
              <a:rPr lang="en-US" sz="1600" b="1" dirty="0"/>
              <a:t> de </a:t>
            </a:r>
            <a:r>
              <a:rPr lang="en-US" sz="1600" b="1" dirty="0" err="1"/>
              <a:t>movimiento</a:t>
            </a:r>
            <a:endParaRPr lang="en-US" sz="1600" b="1" dirty="0"/>
          </a:p>
          <a:p>
            <a:pPr marL="285750" indent="-285750" algn="just">
              <a:buFontTx/>
              <a:buChar char="-"/>
            </a:pPr>
            <a:r>
              <a:rPr lang="en-US" sz="1600" dirty="0" err="1"/>
              <a:t>Así</a:t>
            </a:r>
            <a:r>
              <a:rPr lang="en-US" sz="1600" dirty="0"/>
              <a:t> </a:t>
            </a:r>
            <a:r>
              <a:rPr lang="en-US" sz="1600" dirty="0" err="1"/>
              <a:t>como</a:t>
            </a:r>
            <a:r>
              <a:rPr lang="en-US" sz="1600" dirty="0"/>
              <a:t> </a:t>
            </a:r>
            <a:r>
              <a:rPr lang="en-US" sz="1600" dirty="0" err="1"/>
              <a:t>existen</a:t>
            </a:r>
            <a:r>
              <a:rPr lang="en-US" sz="1600" dirty="0"/>
              <a:t> </a:t>
            </a:r>
            <a:r>
              <a:rPr lang="en-US" sz="1600" dirty="0" err="1"/>
              <a:t>ecuaciones</a:t>
            </a:r>
            <a:r>
              <a:rPr lang="en-US" sz="1600" dirty="0"/>
              <a:t> para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movimiento</a:t>
            </a:r>
            <a:r>
              <a:rPr lang="en-US" sz="1600" dirty="0"/>
              <a:t> lineal, también </a:t>
            </a:r>
            <a:r>
              <a:rPr lang="en-US" sz="1600" dirty="0" err="1"/>
              <a:t>existen</a:t>
            </a:r>
            <a:r>
              <a:rPr lang="en-US" sz="1600" dirty="0"/>
              <a:t> para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movimiento</a:t>
            </a:r>
            <a:r>
              <a:rPr lang="en-US" sz="1600" dirty="0"/>
              <a:t> angular. </a:t>
            </a:r>
          </a:p>
          <a:p>
            <a:pPr algn="just"/>
            <a:r>
              <a:rPr lang="en-US" sz="1600" dirty="0"/>
              <a:t>      </a:t>
            </a:r>
          </a:p>
          <a:p>
            <a:pPr algn="just"/>
            <a:r>
              <a:rPr lang="en-US" sz="1600" dirty="0"/>
              <a:t>A </a:t>
            </a:r>
            <a:r>
              <a:rPr lang="en-US" sz="1600" dirty="0" err="1"/>
              <a:t>continuación</a:t>
            </a:r>
            <a:r>
              <a:rPr lang="en-US" sz="1600" dirty="0"/>
              <a:t> se </a:t>
            </a:r>
            <a:r>
              <a:rPr lang="en-US" sz="1600" dirty="0" err="1"/>
              <a:t>muestra</a:t>
            </a:r>
            <a:r>
              <a:rPr lang="en-US" sz="1600" dirty="0"/>
              <a:t> la </a:t>
            </a:r>
            <a:r>
              <a:rPr lang="en-US" sz="1600" dirty="0" err="1"/>
              <a:t>analogía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6C7B2E6-39BE-E16E-76BE-BDA2AF01B27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6505" y="2127843"/>
              <a:ext cx="11485831" cy="250203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67511">
                      <a:extLst>
                        <a:ext uri="{9D8B030D-6E8A-4147-A177-3AD203B41FA5}">
                          <a16:colId xmlns:a16="http://schemas.microsoft.com/office/drawing/2014/main" val="3330230754"/>
                        </a:ext>
                      </a:extLst>
                    </a:gridCol>
                    <a:gridCol w="4663166">
                      <a:extLst>
                        <a:ext uri="{9D8B030D-6E8A-4147-A177-3AD203B41FA5}">
                          <a16:colId xmlns:a16="http://schemas.microsoft.com/office/drawing/2014/main" val="2515869057"/>
                        </a:ext>
                      </a:extLst>
                    </a:gridCol>
                    <a:gridCol w="4755154">
                      <a:extLst>
                        <a:ext uri="{9D8B030D-6E8A-4147-A177-3AD203B41FA5}">
                          <a16:colId xmlns:a16="http://schemas.microsoft.com/office/drawing/2014/main" val="672252256"/>
                        </a:ext>
                      </a:extLst>
                    </a:gridCol>
                  </a:tblGrid>
                  <a:tr h="346983">
                    <a:tc>
                      <a:txBody>
                        <a:bodyPr/>
                        <a:lstStyle/>
                        <a:p>
                          <a:r>
                            <a:rPr lang="es-CL" b="1" dirty="0"/>
                            <a:t>Cantidad física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b="1" dirty="0"/>
                            <a:t>Angular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b="1" dirty="0"/>
                            <a:t>Lineal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9459859"/>
                      </a:ext>
                    </a:extLst>
                  </a:tr>
                  <a:tr h="566105">
                    <a:tc>
                      <a:txBody>
                        <a:bodyPr/>
                        <a:lstStyle/>
                        <a:p>
                          <a:r>
                            <a:rPr lang="es-CL" dirty="0"/>
                            <a:t>Posición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d>
                                  <m:d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sSup>
                                  <m:sSup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CL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CL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s-CL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s-CL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L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s-CL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" b="0" i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sty m:val="p"/>
                                  </m:rPr>
                                  <a:rPr lang="es-CL" b="0" i="0" smtClean="0">
                                    <a:latin typeface="Cambria Math" panose="02040503050406030204" pitchFamily="18" charset="0"/>
                                  </a:rPr>
                                  <m:t>ra</m:t>
                                </m:r>
                                <m:r>
                                  <m:rPr>
                                    <m:sty m:val="p"/>
                                  </m:rPr>
                                  <a:rPr lang="es-ES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oMath>
                            </m:oMathPara>
                          </a14:m>
                          <a:endParaRPr lang="es-CL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CL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CL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s-CL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s-CL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L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es-CL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sty m:val="p"/>
                                  </m:rPr>
                                  <a:rPr lang="es-ES" b="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oMath>
                            </m:oMathPara>
                          </a14:m>
                          <a:endParaRPr lang="es-CL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8480821"/>
                      </a:ext>
                    </a:extLst>
                  </a:tr>
                  <a:tr h="346983">
                    <a:tc>
                      <a:txBody>
                        <a:bodyPr/>
                        <a:lstStyle/>
                        <a:p>
                          <a:r>
                            <a:rPr lang="es-CL" dirty="0"/>
                            <a:t>Rapidez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d>
                                  <m:d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f>
                                  <m:f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s-CL" b="0" i="0" smtClean="0">
                                        <a:latin typeface="Cambria Math" panose="02040503050406030204" pitchFamily="18" charset="0"/>
                                      </a:rPr>
                                      <m:t>ra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ES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s-ES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d>
                                  <m:d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d>
                                  <m:dPr>
                                    <m:ctrlP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s-CL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s-CL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f>
                                  <m:f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s-ES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s-ES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7500504"/>
                      </a:ext>
                    </a:extLst>
                  </a:tr>
                  <a:tr h="918911">
                    <a:tc>
                      <a:txBody>
                        <a:bodyPr/>
                        <a:lstStyle/>
                        <a:p>
                          <a:r>
                            <a:rPr lang="es-CL" dirty="0"/>
                            <a:t>Aceleración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s-CL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ES" b="0" i="0" smtClean="0">
                                    <a:latin typeface="Cambria Math" panose="02040503050406030204" pitchFamily="18" charset="0"/>
                                  </a:rPr>
                                  <m:t>onstante</m:t>
                                </m:r>
                                <m:r>
                                  <a:rPr lang="es-E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s-CL" b="0" i="0" smtClean="0">
                                        <a:latin typeface="Cambria Math" panose="02040503050406030204" pitchFamily="18" charset="0"/>
                                      </a:rPr>
                                      <m:t>ra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s-ES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s-ES" b="0" i="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p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s-C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s-CL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s-CL" b="0" i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s-ES" b="0" i="0" smtClean="0">
                                    <a:latin typeface="Cambria Math" panose="02040503050406030204" pitchFamily="18" charset="0"/>
                                  </a:rPr>
                                  <m:t>onstante</m:t>
                                </m:r>
                                <m:r>
                                  <a:rPr lang="es-E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s-ES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s-ES" b="0" i="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p>
                                        <m:r>
                                          <a:rPr lang="es-E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s-C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520879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6C7B2E6-39BE-E16E-76BE-BDA2AF01B2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2004951"/>
                  </p:ext>
                </p:extLst>
              </p:nvPr>
            </p:nvGraphicFramePr>
            <p:xfrm>
              <a:off x="346505" y="2127843"/>
              <a:ext cx="11485831" cy="250203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67511">
                      <a:extLst>
                        <a:ext uri="{9D8B030D-6E8A-4147-A177-3AD203B41FA5}">
                          <a16:colId xmlns:a16="http://schemas.microsoft.com/office/drawing/2014/main" val="3330230754"/>
                        </a:ext>
                      </a:extLst>
                    </a:gridCol>
                    <a:gridCol w="4663166">
                      <a:extLst>
                        <a:ext uri="{9D8B030D-6E8A-4147-A177-3AD203B41FA5}">
                          <a16:colId xmlns:a16="http://schemas.microsoft.com/office/drawing/2014/main" val="2515869057"/>
                        </a:ext>
                      </a:extLst>
                    </a:gridCol>
                    <a:gridCol w="4755154">
                      <a:extLst>
                        <a:ext uri="{9D8B030D-6E8A-4147-A177-3AD203B41FA5}">
                          <a16:colId xmlns:a16="http://schemas.microsoft.com/office/drawing/2014/main" val="67225225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s-CL" b="1" dirty="0"/>
                            <a:t>Cantidad física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b="1" dirty="0"/>
                            <a:t>Angular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L" b="1" dirty="0"/>
                            <a:t>Lineal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9459859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r>
                            <a:rPr lang="es-CL" dirty="0"/>
                            <a:t>Posición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>
                        <a:blipFill>
                          <a:blip r:embed="rId3"/>
                          <a:stretch>
                            <a:fillRect l="-44687" t="-64583" r="-102725" b="-2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>
                        <a:blipFill>
                          <a:blip r:embed="rId3"/>
                          <a:stretch>
                            <a:fillRect l="-141600" t="-64583" r="-533" b="-25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480821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r>
                            <a:rPr lang="es-CL" dirty="0"/>
                            <a:t>Rapidez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>
                        <a:blipFill>
                          <a:blip r:embed="rId3"/>
                          <a:stretch>
                            <a:fillRect l="-44687" t="-164583" r="-102725" b="-15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>
                        <a:blipFill>
                          <a:blip r:embed="rId3"/>
                          <a:stretch>
                            <a:fillRect l="-141600" t="-164583" r="-533" b="-15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7500504"/>
                      </a:ext>
                    </a:extLst>
                  </a:tr>
                  <a:tr h="918911">
                    <a:tc>
                      <a:txBody>
                        <a:bodyPr/>
                        <a:lstStyle/>
                        <a:p>
                          <a:r>
                            <a:rPr lang="es-CL" dirty="0"/>
                            <a:t>Aceleración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4687" t="-173973" r="-102725" b="-1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L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600" t="-173973" r="-533" b="-13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20879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830490-5B32-5711-742E-20EB2C0FE2A3}"/>
                  </a:ext>
                </a:extLst>
              </p:cNvPr>
              <p:cNvSpPr txBox="1"/>
              <p:nvPr/>
            </p:nvSpPr>
            <p:spPr>
              <a:xfrm>
                <a:off x="8935841" y="5549366"/>
                <a:ext cx="29377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L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CL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CL" sz="1600" dirty="0">
                    <a:solidFill>
                      <a:srgbClr val="FF0000"/>
                    </a:solidFill>
                  </a:rPr>
                  <a:t> es el instante inicial, normalmente igual a cero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830490-5B32-5711-742E-20EB2C0FE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841" y="5549366"/>
                <a:ext cx="2937711" cy="584775"/>
              </a:xfrm>
              <a:prstGeom prst="rect">
                <a:avLst/>
              </a:prstGeom>
              <a:blipFill>
                <a:blip r:embed="rId4"/>
                <a:stretch>
                  <a:fillRect l="-858" t="-2128" b="-1276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2">
            <a:extLst>
              <a:ext uri="{FF2B5EF4-FFF2-40B4-BE49-F238E27FC236}">
                <a16:creationId xmlns:a16="http://schemas.microsoft.com/office/drawing/2014/main" id="{B1194F47-A711-6522-5F1E-6BE1740782C6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11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1706726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E5867-9728-F77F-91C6-58BEDC67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2168833-D102-AC8B-11F5-CCE80D7F9BDE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BAF898F-4C2F-E2F9-2958-38218C9BA5B8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D751E74-33C8-991C-8DC6-828F83F9B25F}"/>
              </a:ext>
            </a:extLst>
          </p:cNvPr>
          <p:cNvSpPr txBox="1"/>
          <p:nvPr/>
        </p:nvSpPr>
        <p:spPr>
          <a:xfrm>
            <a:off x="403440" y="950550"/>
            <a:ext cx="11385120" cy="1323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Ejemplo:</a:t>
            </a:r>
            <a:r>
              <a:rPr lang="en-US" sz="1600" dirty="0"/>
              <a:t> Una masa </a:t>
            </a:r>
            <a:r>
              <a:rPr lang="en-US" sz="1600" dirty="0" err="1"/>
              <a:t>atada</a:t>
            </a:r>
            <a:r>
              <a:rPr lang="en-US" sz="1600" dirty="0"/>
              <a:t> a </a:t>
            </a:r>
            <a:r>
              <a:rPr lang="en-US" sz="1600" dirty="0" err="1"/>
              <a:t>una</a:t>
            </a:r>
            <a:r>
              <a:rPr lang="en-US" sz="1600" dirty="0"/>
              <a:t> </a:t>
            </a:r>
            <a:r>
              <a:rPr lang="en-US" sz="1600" dirty="0" err="1"/>
              <a:t>cuerda</a:t>
            </a:r>
            <a:r>
              <a:rPr lang="en-US" sz="1600" dirty="0"/>
              <a:t> se </a:t>
            </a:r>
            <a:r>
              <a:rPr lang="en-US" sz="1600" dirty="0" err="1"/>
              <a:t>mueve</a:t>
            </a:r>
            <a:r>
              <a:rPr lang="en-US" sz="1600" dirty="0"/>
              <a:t> </a:t>
            </a:r>
            <a:r>
              <a:rPr lang="en-US" sz="1600" dirty="0" err="1"/>
              <a:t>describiendo</a:t>
            </a:r>
            <a:r>
              <a:rPr lang="en-US" sz="1600" dirty="0"/>
              <a:t> </a:t>
            </a:r>
            <a:r>
              <a:rPr lang="en-US" sz="1600" dirty="0" err="1"/>
              <a:t>una</a:t>
            </a:r>
            <a:r>
              <a:rPr lang="en-US" sz="1600" dirty="0"/>
              <a:t> </a:t>
            </a:r>
            <a:r>
              <a:rPr lang="en-US" sz="1600" dirty="0" err="1"/>
              <a:t>trayectoria</a:t>
            </a:r>
            <a:r>
              <a:rPr lang="en-US" sz="1600" dirty="0"/>
              <a:t> circular de radio 40 cm. Si </a:t>
            </a:r>
            <a:r>
              <a:rPr lang="en-US" sz="1600" dirty="0" err="1"/>
              <a:t>comienza</a:t>
            </a:r>
            <a:r>
              <a:rPr lang="en-US" sz="1600" dirty="0"/>
              <a:t> del </a:t>
            </a:r>
            <a:r>
              <a:rPr lang="en-US" sz="1600" dirty="0" err="1"/>
              <a:t>reposo</a:t>
            </a:r>
            <a:r>
              <a:rPr lang="en-US" sz="1600" dirty="0"/>
              <a:t> y </a:t>
            </a: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aceleración</a:t>
            </a:r>
            <a:r>
              <a:rPr lang="en-US" sz="1600" dirty="0"/>
              <a:t> angular es de 4 rad/s</a:t>
            </a:r>
            <a:r>
              <a:rPr lang="en-US" sz="1600" baseline="30000" dirty="0"/>
              <a:t>2</a:t>
            </a:r>
            <a:r>
              <a:rPr lang="en-US" sz="1600" dirty="0"/>
              <a:t>, </a:t>
            </a:r>
            <a:r>
              <a:rPr lang="en-US" sz="1600" dirty="0" err="1"/>
              <a:t>calcule</a:t>
            </a:r>
            <a:r>
              <a:rPr lang="en-US" sz="1600" dirty="0"/>
              <a:t> al </a:t>
            </a:r>
            <a:r>
              <a:rPr lang="en-US" sz="1600" dirty="0" err="1"/>
              <a:t>cabo</a:t>
            </a:r>
            <a:r>
              <a:rPr lang="en-US" sz="1600" dirty="0"/>
              <a:t> de 2 </a:t>
            </a:r>
            <a:r>
              <a:rPr lang="en-US" sz="1600" dirty="0" err="1"/>
              <a:t>minutos</a:t>
            </a:r>
            <a:endParaRPr lang="en-US" sz="1600" dirty="0"/>
          </a:p>
          <a:p>
            <a:pPr marL="342900" indent="-342900">
              <a:buFont typeface="+mj-lt"/>
              <a:buAutoNum type="alphaLcParenR"/>
            </a:pPr>
            <a:r>
              <a:rPr lang="en-US" sz="1600" dirty="0"/>
              <a:t>La </a:t>
            </a:r>
            <a:r>
              <a:rPr lang="en-US" sz="1600" dirty="0" err="1"/>
              <a:t>distancia</a:t>
            </a:r>
            <a:r>
              <a:rPr lang="en-US" sz="1600" dirty="0"/>
              <a:t> angular </a:t>
            </a:r>
            <a:r>
              <a:rPr lang="en-US" sz="1600" dirty="0" err="1"/>
              <a:t>recorrida</a:t>
            </a:r>
            <a:endParaRPr lang="en-US" sz="1600" dirty="0"/>
          </a:p>
          <a:p>
            <a:pPr marL="342900" indent="-342900">
              <a:buFont typeface="+mj-lt"/>
              <a:buAutoNum type="alphaLcParenR"/>
            </a:pPr>
            <a:r>
              <a:rPr lang="en-US" sz="1600" dirty="0"/>
              <a:t>La </a:t>
            </a:r>
            <a:r>
              <a:rPr lang="en-US" sz="1600" dirty="0" err="1"/>
              <a:t>rapidez</a:t>
            </a:r>
            <a:r>
              <a:rPr lang="en-US" sz="1600" dirty="0"/>
              <a:t> angular</a:t>
            </a:r>
          </a:p>
          <a:p>
            <a:pPr marL="342900" indent="-342900">
              <a:buFont typeface="+mj-lt"/>
              <a:buAutoNum type="alphaLcParenR"/>
            </a:pPr>
            <a:r>
              <a:rPr lang="en-US" sz="1600" dirty="0"/>
              <a:t>La </a:t>
            </a:r>
            <a:r>
              <a:rPr lang="en-US" sz="1600" dirty="0" err="1"/>
              <a:t>cantidad</a:t>
            </a:r>
            <a:r>
              <a:rPr lang="en-US" sz="1600" dirty="0"/>
              <a:t> de </a:t>
            </a:r>
            <a:r>
              <a:rPr lang="en-US" sz="1600" dirty="0" err="1"/>
              <a:t>vueltas</a:t>
            </a:r>
            <a:r>
              <a:rPr lang="en-US" sz="1600" dirty="0"/>
              <a:t> que </a:t>
            </a:r>
            <a:r>
              <a:rPr lang="en-US" sz="1600" dirty="0" err="1"/>
              <a:t>realiza</a:t>
            </a:r>
            <a:r>
              <a:rPr lang="en-US" sz="1600" dirty="0"/>
              <a:t> la masa</a:t>
            </a: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F81EE33A-6649-3352-736D-F0F7C24047A5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12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46327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BD303-CC08-47A2-93CF-BBD9D3EB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996D35D-8D64-402D-795D-4177EBCD42D1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9E4A763-F91A-EE38-7492-AA83B9AF0F42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DB12C9-3808-2E48-CE24-7222C08E3F9D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39923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/>
                  <a:t>Ejemplo:</a:t>
                </a:r>
                <a:r>
                  <a:rPr lang="en-US" sz="1600" dirty="0"/>
                  <a:t> Una masa </a:t>
                </a:r>
                <a:r>
                  <a:rPr lang="en-US" sz="1600" dirty="0" err="1"/>
                  <a:t>atada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una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cuerda</a:t>
                </a:r>
                <a:r>
                  <a:rPr lang="en-US" sz="1600" dirty="0"/>
                  <a:t> se </a:t>
                </a:r>
                <a:r>
                  <a:rPr lang="en-US" sz="1600" dirty="0" err="1"/>
                  <a:t>mueve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describiendo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una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trayectoria</a:t>
                </a:r>
                <a:r>
                  <a:rPr lang="en-US" sz="1600" dirty="0"/>
                  <a:t> circular de radio 40 cm. Si </a:t>
                </a:r>
                <a:r>
                  <a:rPr lang="en-US" sz="1600" dirty="0" err="1"/>
                  <a:t>comienza</a:t>
                </a:r>
                <a:r>
                  <a:rPr lang="en-US" sz="1600" dirty="0"/>
                  <a:t> del </a:t>
                </a:r>
                <a:r>
                  <a:rPr lang="en-US" sz="1600" dirty="0" err="1"/>
                  <a:t>reposo</a:t>
                </a:r>
                <a:r>
                  <a:rPr lang="en-US" sz="1600" dirty="0"/>
                  <a:t> y </a:t>
                </a:r>
                <a:r>
                  <a:rPr lang="en-US" sz="1600" dirty="0" err="1"/>
                  <a:t>su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aceleración</a:t>
                </a:r>
                <a:r>
                  <a:rPr lang="en-US" sz="1600" dirty="0"/>
                  <a:t> angular es de 4 rad/s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calcule</a:t>
                </a:r>
                <a:r>
                  <a:rPr lang="en-US" sz="1600" dirty="0"/>
                  <a:t> al </a:t>
                </a:r>
                <a:r>
                  <a:rPr lang="en-US" sz="1600" dirty="0" err="1"/>
                  <a:t>cabo</a:t>
                </a:r>
                <a:r>
                  <a:rPr lang="en-US" sz="1600" dirty="0"/>
                  <a:t> de 2 </a:t>
                </a:r>
                <a:r>
                  <a:rPr lang="en-US" sz="1600" dirty="0" err="1"/>
                  <a:t>minutos</a:t>
                </a: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La </a:t>
                </a:r>
                <a:r>
                  <a:rPr lang="en-US" sz="1600" dirty="0" err="1"/>
                  <a:t>distancia</a:t>
                </a:r>
                <a:r>
                  <a:rPr lang="en-US" sz="1600" dirty="0"/>
                  <a:t> angular </a:t>
                </a:r>
                <a:r>
                  <a:rPr lang="en-US" sz="1600" dirty="0" err="1"/>
                  <a:t>recorrida</a:t>
                </a: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La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angular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La </a:t>
                </a:r>
                <a:r>
                  <a:rPr lang="en-US" sz="1600" dirty="0" err="1"/>
                  <a:t>cantidad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vueltas</a:t>
                </a:r>
                <a:r>
                  <a:rPr lang="en-US" sz="1600" dirty="0"/>
                  <a:t> que </a:t>
                </a:r>
                <a:r>
                  <a:rPr lang="en-US" sz="1600" dirty="0" err="1"/>
                  <a:t>realiza</a:t>
                </a:r>
                <a:r>
                  <a:rPr lang="en-US" sz="1600" dirty="0"/>
                  <a:t> la masa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r>
                  <a:rPr lang="en-US" sz="1600" b="1" dirty="0"/>
                  <a:t>Desarrollo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La </a:t>
                </a:r>
                <a:r>
                  <a:rPr lang="en-US" sz="1600" dirty="0" err="1"/>
                  <a:t>distancia</a:t>
                </a:r>
                <a:r>
                  <a:rPr lang="en-US" sz="1600" dirty="0"/>
                  <a:t> angular es la </a:t>
                </a:r>
                <a:r>
                  <a:rPr lang="en-US" sz="1600" dirty="0" err="1"/>
                  <a:t>diferencia</a:t>
                </a:r>
                <a:r>
                  <a:rPr lang="en-US" sz="1600" dirty="0"/>
                  <a:t> entre la </a:t>
                </a:r>
                <a:r>
                  <a:rPr lang="en-US" sz="1600" dirty="0" err="1"/>
                  <a:t>posición</a:t>
                </a:r>
                <a:r>
                  <a:rPr lang="en-US" sz="1600" dirty="0"/>
                  <a:t> angular final e </a:t>
                </a:r>
                <a:r>
                  <a:rPr lang="en-US" sz="1600" dirty="0" err="1"/>
                  <a:t>inicial</a:t>
                </a:r>
                <a:r>
                  <a:rPr lang="en-US" sz="1600" dirty="0"/>
                  <a:t>. Dado que </a:t>
                </a:r>
                <a:r>
                  <a:rPr lang="en-US" sz="1600" dirty="0" err="1"/>
                  <a:t>parte</a:t>
                </a:r>
                <a:r>
                  <a:rPr lang="en-US" sz="1600" dirty="0"/>
                  <a:t> del </a:t>
                </a:r>
                <a:r>
                  <a:rPr lang="en-US" sz="1600" dirty="0" err="1"/>
                  <a:t>reposo</a:t>
                </a:r>
                <a:r>
                  <a:rPr lang="en-US" sz="1600" dirty="0"/>
                  <a:t>, se </a:t>
                </a:r>
                <a:r>
                  <a:rPr lang="en-US" sz="1600" dirty="0" err="1"/>
                  <a:t>tiene</a:t>
                </a: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=0+</m:t>
                      </m:r>
                      <m:f>
                        <m:f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CL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L" sz="1600" b="0" i="0" smtClean="0">
                                  <a:latin typeface="Cambria Math" panose="02040503050406030204" pitchFamily="18" charset="0"/>
                                </a:rPr>
                                <m:t>rad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CL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L" sz="1600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s-CL" sz="16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s-CL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L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120 </m:t>
                              </m:r>
                              <m:r>
                                <m:rPr>
                                  <m:sty m:val="p"/>
                                </m:rPr>
                                <a:rPr lang="es-CL" sz="16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e>
                        <m:sup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28800 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rad</m:t>
                      </m:r>
                    </m:oMath>
                  </m:oMathPara>
                </a14:m>
                <a:endParaRPr lang="es-CL" sz="1600" dirty="0"/>
              </a:p>
              <a:p>
                <a:pPr marL="342900" indent="-342900">
                  <a:buFont typeface="+mj-lt"/>
                  <a:buAutoNum type="alphaLcParenR" startAt="2"/>
                </a:pPr>
                <a:r>
                  <a:rPr lang="es-CL" sz="1600" dirty="0"/>
                  <a:t>La rapidez angular 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CL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L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0+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4</m:t>
                          </m:r>
                          <m:f>
                            <m:fPr>
                              <m:ctrlPr>
                                <a:rPr lang="es-CL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s-CL" sz="1600" i="0">
                                  <a:latin typeface="Cambria Math" panose="02040503050406030204" pitchFamily="18" charset="0"/>
                                </a:rPr>
                                <m:t>rad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C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CL" sz="16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s-CL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ctrlPr>
                            <a:rPr lang="es-CL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120 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=480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</a:rPr>
                        <m:t>rad</m:t>
                      </m:r>
                      <m:r>
                        <a:rPr lang="es-CL" sz="1600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s-CL" sz="1600" dirty="0"/>
              </a:p>
              <a:p>
                <a:pPr marL="342900" indent="-342900">
                  <a:buFont typeface="+mj-lt"/>
                  <a:buAutoNum type="alphaLcParenR" startAt="3"/>
                </a:pPr>
                <a:r>
                  <a:rPr lang="es-CL" sz="1600" dirty="0"/>
                  <a:t>La cantidad de vueltas 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CL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vuel</m:t>
                          </m:r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ta</m:t>
                          </m:r>
                        </m:e>
                      </m:d>
                      <m:r>
                        <a:rPr lang="es-CL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CL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28800 </m:t>
                          </m:r>
                          <m:r>
                            <m:rPr>
                              <m:sty m:val="p"/>
                            </m:rPr>
                            <a:rPr lang="es-CL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rad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s-CL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CL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rad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=4584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vueltas</m:t>
                      </m:r>
                    </m:oMath>
                  </m:oMathPara>
                </a14:m>
                <a:endParaRPr lang="es-CL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DB12C9-3808-2E48-CE24-7222C08E3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3992375"/>
              </a:xfrm>
              <a:prstGeom prst="rect">
                <a:avLst/>
              </a:prstGeom>
              <a:blipFill>
                <a:blip r:embed="rId3"/>
                <a:stretch>
                  <a:fillRect l="-334" t="-316" r="-223" b="-31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1D3391F3-4B3B-785A-3A01-98CD0F080011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13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3315368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69D0C-D476-A43B-2B20-9EFE88DFC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9A67C0D-D80D-E0FF-9FF7-BA08E5137FA2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E6C6D1D-7570-F77C-991B-282031C6B3E8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31FD3D6-6848-3DDE-2F4F-943F1446FC6B}"/>
              </a:ext>
            </a:extLst>
          </p:cNvPr>
          <p:cNvSpPr txBox="1"/>
          <p:nvPr/>
        </p:nvSpPr>
        <p:spPr>
          <a:xfrm>
            <a:off x="346505" y="830427"/>
            <a:ext cx="6559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/>
              <a:t>Rapidez</a:t>
            </a:r>
            <a:r>
              <a:rPr lang="en-US" sz="1600" b="1" dirty="0"/>
              <a:t> </a:t>
            </a:r>
            <a:r>
              <a:rPr lang="en-US" sz="1600" b="1" dirty="0" err="1"/>
              <a:t>tangencial</a:t>
            </a:r>
            <a:endParaRPr lang="en-US" sz="1600" b="1" dirty="0"/>
          </a:p>
          <a:p>
            <a:pPr marL="285750" indent="-285750" algn="just">
              <a:buFontTx/>
              <a:buChar char="-"/>
            </a:pPr>
            <a:r>
              <a:rPr lang="en-US" sz="1600" dirty="0"/>
              <a:t>Es la </a:t>
            </a:r>
            <a:r>
              <a:rPr lang="en-US" sz="1600" dirty="0" err="1"/>
              <a:t>variación</a:t>
            </a:r>
            <a:r>
              <a:rPr lang="en-US" sz="1600" dirty="0"/>
              <a:t> del arco </a:t>
            </a:r>
            <a:r>
              <a:rPr lang="en-US" sz="1600" dirty="0" err="1"/>
              <a:t>recorrido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un </a:t>
            </a:r>
            <a:r>
              <a:rPr lang="en-US" sz="1600" dirty="0" err="1"/>
              <a:t>intervalo</a:t>
            </a:r>
            <a:r>
              <a:rPr lang="en-US" sz="1600" dirty="0"/>
              <a:t> de </a:t>
            </a:r>
            <a:r>
              <a:rPr lang="en-US" sz="1600" dirty="0" err="1"/>
              <a:t>tiempo</a:t>
            </a:r>
            <a:r>
              <a:rPr lang="en-US" sz="1600" dirty="0"/>
              <a:t>. Se </a:t>
            </a:r>
            <a:r>
              <a:rPr lang="en-US" sz="1600" dirty="0" err="1"/>
              <a:t>relaciona</a:t>
            </a:r>
            <a:r>
              <a:rPr lang="en-US" sz="1600" dirty="0"/>
              <a:t> </a:t>
            </a:r>
            <a:r>
              <a:rPr lang="en-US" sz="1600" dirty="0" err="1"/>
              <a:t>directamente</a:t>
            </a:r>
            <a:r>
              <a:rPr lang="en-US" sz="1600" dirty="0"/>
              <a:t> con la </a:t>
            </a:r>
            <a:r>
              <a:rPr lang="en-US" sz="1600" dirty="0" err="1"/>
              <a:t>rapidez</a:t>
            </a:r>
            <a:r>
              <a:rPr lang="en-US" sz="1600" dirty="0"/>
              <a:t> angular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4FA153-54F4-CF33-91ED-0B3D1862C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916120"/>
            <a:ext cx="2342770" cy="2253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A2E8C0-219B-88CF-C9FF-18639525A609}"/>
                  </a:ext>
                </a:extLst>
              </p:cNvPr>
              <p:cNvSpPr txBox="1"/>
              <p:nvPr/>
            </p:nvSpPr>
            <p:spPr>
              <a:xfrm>
                <a:off x="2804052" y="1750936"/>
                <a:ext cx="1340367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A2E8C0-219B-88CF-C9FF-18639525A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052" y="1750936"/>
                <a:ext cx="1340367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5DAEAB-8A61-4920-BB64-D605660DF4A3}"/>
                  </a:ext>
                </a:extLst>
              </p:cNvPr>
              <p:cNvSpPr txBox="1"/>
              <p:nvPr/>
            </p:nvSpPr>
            <p:spPr>
              <a:xfrm>
                <a:off x="8965692" y="892605"/>
                <a:ext cx="250004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5DAEAB-8A61-4920-BB64-D605660DF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692" y="892605"/>
                <a:ext cx="250004" cy="299249"/>
              </a:xfrm>
              <a:prstGeom prst="rect">
                <a:avLst/>
              </a:prstGeom>
              <a:blipFill>
                <a:blip r:embed="rId5"/>
                <a:stretch>
                  <a:fillRect l="-19512" r="-14634" b="-2600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1F871B-BB3C-E9EA-3351-ECDA08D32C2C}"/>
                  </a:ext>
                </a:extLst>
              </p:cNvPr>
              <p:cNvSpPr txBox="1"/>
              <p:nvPr/>
            </p:nvSpPr>
            <p:spPr>
              <a:xfrm>
                <a:off x="9487248" y="1893295"/>
                <a:ext cx="2235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1F871B-BB3C-E9EA-3351-ECDA08D32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7248" y="1893295"/>
                <a:ext cx="223523" cy="276999"/>
              </a:xfrm>
              <a:prstGeom prst="rect">
                <a:avLst/>
              </a:prstGeom>
              <a:blipFill>
                <a:blip r:embed="rId6"/>
                <a:stretch>
                  <a:fillRect l="-18919" r="-8108" b="-2000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CE2BA75-7843-F6F8-27E0-B593C493CD78}"/>
              </a:ext>
            </a:extLst>
          </p:cNvPr>
          <p:cNvSpPr txBox="1"/>
          <p:nvPr/>
        </p:nvSpPr>
        <p:spPr>
          <a:xfrm>
            <a:off x="346503" y="2360847"/>
            <a:ext cx="6641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/>
              <a:t>Aceleración</a:t>
            </a:r>
            <a:r>
              <a:rPr lang="en-US" sz="1600" b="1" dirty="0"/>
              <a:t> </a:t>
            </a:r>
            <a:r>
              <a:rPr lang="en-US" sz="1600" b="1" dirty="0" err="1"/>
              <a:t>tangencial</a:t>
            </a:r>
            <a:endParaRPr lang="en-US" sz="1600" b="1" dirty="0"/>
          </a:p>
          <a:p>
            <a:pPr marL="285750" indent="-285750" algn="just">
              <a:buFontTx/>
              <a:buChar char="-"/>
            </a:pPr>
            <a:r>
              <a:rPr lang="en-US" sz="1600" dirty="0"/>
              <a:t>Es la </a:t>
            </a:r>
            <a:r>
              <a:rPr lang="en-US" sz="1600" dirty="0" err="1"/>
              <a:t>variación</a:t>
            </a:r>
            <a:r>
              <a:rPr lang="en-US" sz="1600" dirty="0"/>
              <a:t> de la </a:t>
            </a:r>
            <a:r>
              <a:rPr lang="en-US" sz="1600" dirty="0" err="1"/>
              <a:t>rapidez</a:t>
            </a:r>
            <a:r>
              <a:rPr lang="en-US" sz="1600" dirty="0"/>
              <a:t> </a:t>
            </a:r>
            <a:r>
              <a:rPr lang="en-US" sz="1600" dirty="0" err="1"/>
              <a:t>tangencial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tiempo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6B8341-F093-6EA6-3A2B-BEB8EECF7336}"/>
                  </a:ext>
                </a:extLst>
              </p:cNvPr>
              <p:cNvSpPr txBox="1"/>
              <p:nvPr/>
            </p:nvSpPr>
            <p:spPr>
              <a:xfrm>
                <a:off x="3049726" y="3035134"/>
                <a:ext cx="8490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6B8341-F093-6EA6-3A2B-BEB8EECF7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726" y="3035134"/>
                <a:ext cx="849015" cy="276999"/>
              </a:xfrm>
              <a:prstGeom prst="rect">
                <a:avLst/>
              </a:prstGeom>
              <a:blipFill>
                <a:blip r:embed="rId7"/>
                <a:stretch>
                  <a:fillRect l="-2857" r="-2143" b="-1333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8B192D2-81FC-EE19-5BBD-834C8ADC3C13}"/>
              </a:ext>
            </a:extLst>
          </p:cNvPr>
          <p:cNvSpPr txBox="1"/>
          <p:nvPr/>
        </p:nvSpPr>
        <p:spPr>
          <a:xfrm>
            <a:off x="346500" y="3429000"/>
            <a:ext cx="66684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/>
              <a:t>Aceleración</a:t>
            </a:r>
            <a:r>
              <a:rPr lang="en-US" sz="1600" b="1" dirty="0"/>
              <a:t> </a:t>
            </a:r>
            <a:r>
              <a:rPr lang="en-US" sz="1600" b="1" dirty="0" err="1"/>
              <a:t>centrípeta</a:t>
            </a:r>
            <a:endParaRPr lang="en-US" sz="1600" b="1" dirty="0"/>
          </a:p>
          <a:p>
            <a:pPr marL="285750" indent="-285750" algn="just">
              <a:buFontTx/>
              <a:buChar char="-"/>
            </a:pPr>
            <a:r>
              <a:rPr lang="en-US" sz="1600" dirty="0"/>
              <a:t>Es la </a:t>
            </a:r>
            <a:r>
              <a:rPr lang="en-US" sz="1600" dirty="0" err="1"/>
              <a:t>aceleración</a:t>
            </a:r>
            <a:r>
              <a:rPr lang="en-US" sz="1600" dirty="0"/>
              <a:t> que </a:t>
            </a:r>
            <a:r>
              <a:rPr lang="en-US" sz="1600" dirty="0" err="1"/>
              <a:t>permite</a:t>
            </a:r>
            <a:r>
              <a:rPr lang="en-US" sz="1600" dirty="0"/>
              <a:t> </a:t>
            </a:r>
            <a:r>
              <a:rPr lang="en-US" sz="1600" dirty="0" err="1"/>
              <a:t>mantener</a:t>
            </a:r>
            <a:r>
              <a:rPr lang="en-US" sz="1600" dirty="0"/>
              <a:t> la </a:t>
            </a:r>
            <a:r>
              <a:rPr lang="en-US" sz="1600" dirty="0" err="1"/>
              <a:t>trayectoria</a:t>
            </a:r>
            <a:r>
              <a:rPr lang="en-US" sz="1600" dirty="0"/>
              <a:t> circular del </a:t>
            </a:r>
            <a:r>
              <a:rPr lang="en-US" sz="1600" dirty="0" err="1"/>
              <a:t>objeto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F2507D-A54E-3DE1-FCDD-F4DEA422DB85}"/>
                  </a:ext>
                </a:extLst>
              </p:cNvPr>
              <p:cNvSpPr txBox="1"/>
              <p:nvPr/>
            </p:nvSpPr>
            <p:spPr>
              <a:xfrm>
                <a:off x="2804052" y="4110734"/>
                <a:ext cx="153073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s-C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s-C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F2507D-A54E-3DE1-FCDD-F4DEA422D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052" y="4110734"/>
                <a:ext cx="1530739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5AA929D9-9663-34FD-3033-FB17AC5124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0431" y="3775119"/>
            <a:ext cx="2785660" cy="25893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F56F8D-5BE3-5E81-8A5C-0A9CDC8219EF}"/>
                  </a:ext>
                </a:extLst>
              </p:cNvPr>
              <p:cNvSpPr txBox="1"/>
              <p:nvPr/>
            </p:nvSpPr>
            <p:spPr>
              <a:xfrm>
                <a:off x="346500" y="4523617"/>
                <a:ext cx="6627506" cy="1347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/>
                  <a:t>Periodo y </a:t>
                </a:r>
                <a:r>
                  <a:rPr lang="en-US" sz="1600" b="1" dirty="0" err="1"/>
                  <a:t>frecuencia</a:t>
                </a:r>
                <a:endParaRPr lang="en-US" sz="1600" b="1" dirty="0"/>
              </a:p>
              <a:p>
                <a:pPr marL="285750" indent="-285750" algn="just">
                  <a:buFontTx/>
                  <a:buChar char="-"/>
                </a:pPr>
                <a:r>
                  <a:rPr lang="en-US" sz="1600" dirty="0"/>
                  <a:t>El </a:t>
                </a:r>
                <a:r>
                  <a:rPr lang="en-US" sz="1600" dirty="0" err="1"/>
                  <a:t>periodo</a:t>
                </a:r>
                <a:r>
                  <a:rPr lang="en-US" sz="1600" dirty="0"/>
                  <a:t> (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) se define </a:t>
                </a:r>
                <a:r>
                  <a:rPr lang="en-US" sz="1600" dirty="0" err="1"/>
                  <a:t>como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 que </a:t>
                </a:r>
                <a:r>
                  <a:rPr lang="en-US" sz="1600" dirty="0" err="1"/>
                  <a:t>tarda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objeto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dar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una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vuelta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completa</a:t>
                </a:r>
                <a:r>
                  <a:rPr lang="en-US" sz="1600" dirty="0"/>
                  <a:t>. La </a:t>
                </a:r>
                <a:r>
                  <a:rPr lang="en-US" sz="1600" dirty="0" err="1"/>
                  <a:t>frecuencia</a:t>
                </a:r>
                <a:r>
                  <a:rPr lang="en-US" sz="1600" dirty="0"/>
                  <a:t> (</a:t>
                </a:r>
                <a14:m>
                  <m:oMath xmlns:m="http://schemas.openxmlformats.org/officeDocument/2006/math">
                    <m:r>
                      <a:rPr lang="es-E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600" dirty="0"/>
                  <a:t>) es la </a:t>
                </a:r>
                <a:r>
                  <a:rPr lang="en-US" sz="1600" dirty="0" err="1"/>
                  <a:t>cantidad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vueltas</a:t>
                </a:r>
                <a:r>
                  <a:rPr lang="en-US" sz="1600" dirty="0"/>
                  <a:t> que da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objeto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por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unidad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. La </a:t>
                </a:r>
                <a:r>
                  <a:rPr lang="en-US" sz="1600" dirty="0" err="1"/>
                  <a:t>frecuencia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S.I. se </a:t>
                </a:r>
                <a:r>
                  <a:rPr lang="en-US" sz="1600" dirty="0" err="1"/>
                  <a:t>mide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Hertz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F56F8D-5BE3-5E81-8A5C-0A9CDC821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00" y="4523617"/>
                <a:ext cx="6627506" cy="1347869"/>
              </a:xfrm>
              <a:prstGeom prst="rect">
                <a:avLst/>
              </a:prstGeom>
              <a:blipFill>
                <a:blip r:embed="rId10"/>
                <a:stretch>
                  <a:fillRect l="-574" t="-1869" r="-382" b="-280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B6ACD6-50F7-4A4D-8706-512A98BAE33F}"/>
                  </a:ext>
                </a:extLst>
              </p:cNvPr>
              <p:cNvSpPr txBox="1"/>
              <p:nvPr/>
            </p:nvSpPr>
            <p:spPr>
              <a:xfrm>
                <a:off x="2902860" y="5893907"/>
                <a:ext cx="2057807" cy="5690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s-C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B6ACD6-50F7-4A4D-8706-512A98BAE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860" y="5893907"/>
                <a:ext cx="2057807" cy="56900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2">
            <a:extLst>
              <a:ext uri="{FF2B5EF4-FFF2-40B4-BE49-F238E27FC236}">
                <a16:creationId xmlns:a16="http://schemas.microsoft.com/office/drawing/2014/main" id="{F30EE3E0-A130-02E8-AB92-3FA96DD01934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14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466727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8B7E-F1F3-81FC-F793-95164D8B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70828D8-2235-9AE4-4605-48A6FF798526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40F8EE3-4231-DF81-60EF-B8E52FDB3EDF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44412-F817-04A7-ACA2-C43FF9D81CE8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280076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</a:t>
                </a:r>
                <a:r>
                  <a:rPr lang="en-US" sz="1600" dirty="0"/>
                  <a:t> En un CD, la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angular varia a </a:t>
                </a:r>
                <a:r>
                  <a:rPr lang="en-US" sz="1600" dirty="0" err="1"/>
                  <a:t>medida</a:t>
                </a:r>
                <a:r>
                  <a:rPr lang="en-US" sz="1600" dirty="0"/>
                  <a:t> que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sistema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láser-lente</a:t>
                </a:r>
                <a:r>
                  <a:rPr lang="en-US" sz="1600" dirty="0"/>
                  <a:t> se </a:t>
                </a:r>
                <a:r>
                  <a:rPr lang="en-US" sz="1600" dirty="0" err="1"/>
                  <a:t>mueve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radialmente</a:t>
                </a:r>
                <a:r>
                  <a:rPr lang="en-US" sz="1600" dirty="0"/>
                  <a:t> a lo largo del disco. En un </a:t>
                </a:r>
                <a:r>
                  <a:rPr lang="en-US" sz="1600" dirty="0" err="1"/>
                  <a:t>reproductor</a:t>
                </a:r>
                <a:r>
                  <a:rPr lang="en-US" sz="1600" dirty="0"/>
                  <a:t> de CD </a:t>
                </a:r>
                <a:r>
                  <a:rPr lang="en-US" sz="1600" dirty="0" err="1"/>
                  <a:t>común</a:t>
                </a:r>
                <a:r>
                  <a:rPr lang="en-US" sz="1600" dirty="0"/>
                  <a:t>, la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tangencial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constante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superficie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punto del </a:t>
                </a:r>
                <a:r>
                  <a:rPr lang="en-US" sz="1600" dirty="0" err="1"/>
                  <a:t>sistema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láser</a:t>
                </a:r>
                <a:r>
                  <a:rPr lang="en-US" sz="1600" dirty="0"/>
                  <a:t>-lente es 1.3 m/s. </a:t>
                </a:r>
                <a:r>
                  <a:rPr lang="en-US" sz="1600" dirty="0" err="1"/>
                  <a:t>Calcule</a:t>
                </a:r>
                <a:r>
                  <a:rPr lang="en-US" sz="1600" dirty="0"/>
                  <a:t> la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angular del disco 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Para la </a:t>
                </a:r>
                <a:r>
                  <a:rPr lang="en-US" sz="1600" dirty="0" err="1"/>
                  <a:t>información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pista</a:t>
                </a:r>
                <a:r>
                  <a:rPr lang="en-US" sz="1600" dirty="0"/>
                  <a:t> interna </a:t>
                </a:r>
                <a:r>
                  <a:rPr lang="en-US" sz="1600" dirty="0" err="1"/>
                  <a:t>ubicada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=23</m:t>
                    </m:r>
                  </m:oMath>
                </a14:m>
                <a:r>
                  <a:rPr lang="en-US" sz="1600" dirty="0"/>
                  <a:t> mm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Para la </a:t>
                </a:r>
                <a:r>
                  <a:rPr lang="en-US" sz="1600" dirty="0" err="1"/>
                  <a:t>información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pista</a:t>
                </a:r>
                <a:r>
                  <a:rPr lang="en-US" sz="1600" dirty="0"/>
                  <a:t> externa </a:t>
                </a:r>
                <a:r>
                  <a:rPr lang="en-US" sz="1600" dirty="0" err="1"/>
                  <a:t>ubicada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=58</m:t>
                    </m:r>
                  </m:oMath>
                </a14:m>
                <a:r>
                  <a:rPr lang="en-US" sz="1600" dirty="0"/>
                  <a:t> mm</a:t>
                </a:r>
              </a:p>
              <a:p>
                <a:r>
                  <a:rPr lang="en-US" sz="1600" dirty="0" err="1"/>
                  <a:t>Entregue</a:t>
                </a:r>
                <a:r>
                  <a:rPr lang="en-US" sz="1600" dirty="0"/>
                  <a:t> sus </a:t>
                </a:r>
                <a:r>
                  <a:rPr lang="en-US" sz="1600" dirty="0" err="1"/>
                  <a:t>resultados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revoluciones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por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minuto</a:t>
                </a:r>
                <a:r>
                  <a:rPr lang="en-US" sz="1600" dirty="0"/>
                  <a:t> (rpm), </a:t>
                </a:r>
                <a:r>
                  <a:rPr lang="en-US" sz="1600" dirty="0" err="1"/>
                  <a:t>donde</a:t>
                </a:r>
                <a:r>
                  <a:rPr lang="en-US" sz="1600" dirty="0"/>
                  <a:t> 1 rev = 2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CL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rad.</a:t>
                </a: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  <a:p>
                <a:pPr marL="342900" indent="-342900">
                  <a:buFont typeface="+mj-lt"/>
                  <a:buAutoNum type="alphaLcParenR"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44412-F817-04A7-ACA2-C43FF9D81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2800767"/>
              </a:xfrm>
              <a:prstGeom prst="rect">
                <a:avLst/>
              </a:prstGeom>
              <a:blipFill>
                <a:blip r:embed="rId3"/>
                <a:stretch>
                  <a:fillRect l="-334" t="-45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9C44F91-8B3D-9687-1D6B-275F3FF19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2" y="1624934"/>
            <a:ext cx="2150858" cy="1999033"/>
          </a:xfrm>
          <a:prstGeom prst="rect">
            <a:avLst/>
          </a:prstGeom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3DAA51AC-1E37-A555-9579-E0E8B6D4D527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15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3185755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B3295-FC4A-FFD8-B1F7-7563F7827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4D76A5E-7C74-2F58-7B26-DD25028FA3A6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D93B8FB6-1976-DC1F-16CB-BE9D18DBE6E1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D035CA-BCD0-A734-CA86-C216207CE6EF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521335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</a:t>
                </a:r>
                <a:r>
                  <a:rPr lang="en-US" sz="1600" dirty="0"/>
                  <a:t> En un CD, la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angular varia a </a:t>
                </a:r>
                <a:r>
                  <a:rPr lang="en-US" sz="1600" dirty="0" err="1"/>
                  <a:t>medida</a:t>
                </a:r>
                <a:r>
                  <a:rPr lang="en-US" sz="1600" dirty="0"/>
                  <a:t> que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sistema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láser-lente</a:t>
                </a:r>
                <a:r>
                  <a:rPr lang="en-US" sz="1600" dirty="0"/>
                  <a:t> se </a:t>
                </a:r>
                <a:r>
                  <a:rPr lang="en-US" sz="1600" dirty="0" err="1"/>
                  <a:t>mueve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radialmente</a:t>
                </a:r>
                <a:r>
                  <a:rPr lang="en-US" sz="1600" dirty="0"/>
                  <a:t> a lo largo del disco. En un </a:t>
                </a:r>
                <a:r>
                  <a:rPr lang="en-US" sz="1600" dirty="0" err="1"/>
                  <a:t>reproductor</a:t>
                </a:r>
                <a:r>
                  <a:rPr lang="en-US" sz="1600" dirty="0"/>
                  <a:t> de CD </a:t>
                </a:r>
                <a:r>
                  <a:rPr lang="en-US" sz="1600" dirty="0" err="1"/>
                  <a:t>común</a:t>
                </a:r>
                <a:r>
                  <a:rPr lang="en-US" sz="1600" dirty="0"/>
                  <a:t>, la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tangencial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constante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superficie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el</a:t>
                </a:r>
                <a:r>
                  <a:rPr lang="en-US" sz="1600" dirty="0"/>
                  <a:t> punto del </a:t>
                </a:r>
                <a:r>
                  <a:rPr lang="en-US" sz="1600" dirty="0" err="1"/>
                  <a:t>sistema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láser</a:t>
                </a:r>
                <a:r>
                  <a:rPr lang="en-US" sz="1600" dirty="0"/>
                  <a:t>-lente es 1.3 m/s. </a:t>
                </a:r>
                <a:r>
                  <a:rPr lang="en-US" sz="1600" dirty="0" err="1"/>
                  <a:t>Calcule</a:t>
                </a:r>
                <a:r>
                  <a:rPr lang="en-US" sz="1600" dirty="0"/>
                  <a:t> la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angular del disco 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Para la </a:t>
                </a:r>
                <a:r>
                  <a:rPr lang="en-US" sz="1600" dirty="0" err="1"/>
                  <a:t>información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pista</a:t>
                </a:r>
                <a:r>
                  <a:rPr lang="en-US" sz="1600" dirty="0"/>
                  <a:t> interna </a:t>
                </a:r>
                <a:r>
                  <a:rPr lang="en-US" sz="1600" dirty="0" err="1"/>
                  <a:t>ubicada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=23</m:t>
                    </m:r>
                  </m:oMath>
                </a14:m>
                <a:r>
                  <a:rPr lang="en-US" sz="1600" dirty="0"/>
                  <a:t> mm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Para la </a:t>
                </a:r>
                <a:r>
                  <a:rPr lang="en-US" sz="1600" dirty="0" err="1"/>
                  <a:t>información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pista</a:t>
                </a:r>
                <a:r>
                  <a:rPr lang="en-US" sz="1600" dirty="0"/>
                  <a:t> externa </a:t>
                </a:r>
                <a:r>
                  <a:rPr lang="en-US" sz="1600" dirty="0" err="1"/>
                  <a:t>ubicada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CL" sz="1600" b="0" i="1" smtClean="0">
                        <a:latin typeface="Cambria Math" panose="02040503050406030204" pitchFamily="18" charset="0"/>
                      </a:rPr>
                      <m:t>=58</m:t>
                    </m:r>
                  </m:oMath>
                </a14:m>
                <a:r>
                  <a:rPr lang="en-US" sz="1600" dirty="0"/>
                  <a:t> mm</a:t>
                </a:r>
              </a:p>
              <a:p>
                <a:r>
                  <a:rPr lang="en-US" sz="1600" dirty="0" err="1"/>
                  <a:t>Entregue</a:t>
                </a:r>
                <a:r>
                  <a:rPr lang="en-US" sz="1600" dirty="0"/>
                  <a:t> sus </a:t>
                </a:r>
                <a:r>
                  <a:rPr lang="en-US" sz="1600" dirty="0" err="1"/>
                  <a:t>resultados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revoluciones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por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minuto</a:t>
                </a:r>
                <a:r>
                  <a:rPr lang="en-US" sz="1600" dirty="0"/>
                  <a:t> (rpm), </a:t>
                </a:r>
                <a:r>
                  <a:rPr lang="en-US" sz="1600" dirty="0" err="1"/>
                  <a:t>donde</a:t>
                </a:r>
                <a:r>
                  <a:rPr lang="en-US" sz="1600" dirty="0"/>
                  <a:t> 1 rev = 2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CL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rad.</a:t>
                </a:r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b="1" dirty="0"/>
                  <a:t>Desarrollo</a:t>
                </a: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US" sz="1600" dirty="0"/>
                  <a:t>La </a:t>
                </a:r>
                <a:r>
                  <a:rPr lang="en-US" sz="1600" dirty="0" err="1"/>
                  <a:t>relación</a:t>
                </a:r>
                <a:r>
                  <a:rPr lang="en-US" sz="1600" dirty="0"/>
                  <a:t> entre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angular y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tangencial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está</a:t>
                </a:r>
                <a:r>
                  <a:rPr lang="en-US" sz="1600" dirty="0"/>
                  <a:t> dada </a:t>
                </a:r>
                <a:r>
                  <a:rPr lang="en-US" sz="1600" dirty="0" err="1"/>
                  <a:t>por</a:t>
                </a: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1.3 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  <m: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0.023 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=57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rad</m:t>
                      </m:r>
                      <m: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s-CL" sz="1600" dirty="0"/>
              </a:p>
              <a:p>
                <a:r>
                  <a:rPr lang="en-US" sz="1600" dirty="0" err="1"/>
                  <a:t>Usando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regla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tres</a:t>
                </a:r>
                <a:r>
                  <a:rPr lang="en-US" sz="1600" dirty="0"/>
                  <a:t>, se </a:t>
                </a:r>
                <a:r>
                  <a:rPr lang="en-US" sz="1600" dirty="0" err="1"/>
                  <a:t>tiene</a:t>
                </a:r>
                <a:r>
                  <a:rPr lang="en-US" sz="1600" dirty="0"/>
                  <a:t> 1 rev = 2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CL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rad y X =</a:t>
                </a:r>
                <a:r>
                  <a:rPr lang="es-CL" sz="16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CL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57 </m:t>
                    </m:r>
                    <m:r>
                      <m:rPr>
                        <m:sty m:val="p"/>
                      </m:rPr>
                      <a:rPr lang="es-CL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rad</m:t>
                    </m:r>
                  </m:oMath>
                </a14:m>
                <a:r>
                  <a:rPr lang="en-US" sz="1600" dirty="0"/>
                  <a:t>, luego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rad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CL" sz="1600" i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ev</m:t>
                          </m:r>
                        </m:e>
                      </m:d>
                      <m:d>
                        <m:dPr>
                          <m:ctrlPr>
                            <a:rPr lang="es-CL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57 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e>
                      </m:d>
                      <m:r>
                        <a:rPr lang="es-CL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=9.0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rev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Dado que 1 min = 60 s, se </a:t>
                </a:r>
                <a:r>
                  <a:rPr lang="en-US" sz="1600" dirty="0" err="1"/>
                  <a:t>tiene</a:t>
                </a:r>
                <a:r>
                  <a:rPr lang="en-US" sz="1600" dirty="0"/>
                  <a:t> 1 s = 1/60 min. Luego 9.0 rev/s = 540 rpm.</a:t>
                </a:r>
              </a:p>
              <a:p>
                <a:endParaRPr lang="en-US" sz="1600" dirty="0"/>
              </a:p>
              <a:p>
                <a:pPr marL="342900" indent="-342900">
                  <a:buFont typeface="+mj-lt"/>
                  <a:buAutoNum type="alphaLcParenR" startAt="2"/>
                </a:pPr>
                <a:r>
                  <a:rPr lang="en-US" sz="1600" dirty="0"/>
                  <a:t>De forma similar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s-CL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1.3 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  <m: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r>
                            <a:rPr lang="es-CL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0.058 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=22.4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rad</m:t>
                      </m:r>
                      <m: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s-CL" sz="1600" dirty="0"/>
              </a:p>
              <a:p>
                <a:r>
                  <a:rPr lang="en-US" sz="1600" dirty="0" err="1"/>
                  <a:t>Usando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regla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tres</a:t>
                </a:r>
                <a:r>
                  <a:rPr lang="en-US" sz="1600" dirty="0"/>
                  <a:t>, se </a:t>
                </a:r>
                <a:r>
                  <a:rPr lang="en-US" sz="1600" dirty="0" err="1"/>
                  <a:t>tiene</a:t>
                </a:r>
                <a:r>
                  <a:rPr lang="en-US" sz="1600" dirty="0"/>
                  <a:t> 1 rev = 2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s-CL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rad y X =</a:t>
                </a:r>
                <a:r>
                  <a:rPr lang="es-CL" sz="16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CL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s-CL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2.4 </m:t>
                    </m:r>
                    <m:r>
                      <m:rPr>
                        <m:sty m:val="p"/>
                      </m:rPr>
                      <a:rPr lang="es-CL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rad</m:t>
                    </m:r>
                  </m:oMath>
                </a14:m>
                <a:r>
                  <a:rPr lang="en-US" sz="1600" dirty="0"/>
                  <a:t>, luego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d>
                        <m:dPr>
                          <m:ctrlPr>
                            <a:rPr lang="es-CL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rad</m:t>
                          </m:r>
                        </m:e>
                      </m:d>
                      <m:r>
                        <a:rPr lang="es-CL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L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L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CL" sz="1600" i="0">
                              <a:latin typeface="Cambria Math" panose="02040503050406030204" pitchFamily="18" charset="0"/>
                            </a:rPr>
                            <m:t>rev</m:t>
                          </m:r>
                        </m:e>
                      </m:d>
                      <m:d>
                        <m:dPr>
                          <m:ctrlPr>
                            <a:rPr lang="es-CL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22.4 </m:t>
                          </m:r>
                          <m:r>
                            <m:rPr>
                              <m:sty m:val="p"/>
                            </m:rPr>
                            <a:rPr lang="es-CL" sz="1600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e>
                      </m:d>
                      <m:r>
                        <a:rPr lang="es-CL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s-C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=3.6 </m:t>
                      </m:r>
                      <m:r>
                        <m:rPr>
                          <m:sty m:val="p"/>
                        </m:rPr>
                        <a:rPr lang="es-CL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rev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Dado que 1 min = 60 s, se </a:t>
                </a:r>
                <a:r>
                  <a:rPr lang="en-US" sz="1600" dirty="0" err="1"/>
                  <a:t>tiene</a:t>
                </a:r>
                <a:r>
                  <a:rPr lang="en-US" sz="1600" dirty="0"/>
                  <a:t> 1 s = 1/60 min. Luego 3.6 rev/s = 216 rpm.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D035CA-BCD0-A734-CA86-C216207CE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5213350"/>
              </a:xfrm>
              <a:prstGeom prst="rect">
                <a:avLst/>
              </a:prstGeom>
              <a:blipFill>
                <a:blip r:embed="rId3"/>
                <a:stretch>
                  <a:fillRect l="-334" t="-243" b="-48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95B06D7-2566-D6CC-4899-32707D144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2" y="1624934"/>
            <a:ext cx="2150858" cy="1999033"/>
          </a:xfrm>
          <a:prstGeom prst="rect">
            <a:avLst/>
          </a:prstGeom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09B01E5E-71ED-D620-8235-06C9C012A42A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16</a:t>
            </a:fld>
            <a:endParaRPr lang="es-CL" sz="1200"/>
          </a:p>
        </p:txBody>
      </p:sp>
    </p:spTree>
    <p:extLst>
      <p:ext uri="{BB962C8B-B14F-4D97-AF65-F5344CB8AC3E}">
        <p14:creationId xmlns:p14="http://schemas.microsoft.com/office/powerpoint/2010/main" val="3939698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8B7E-F1F3-81FC-F793-95164D8B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70828D8-2235-9AE4-4605-48A6FF798526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40F8EE3-4231-DF81-60EF-B8E52FDB3EDF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2C44412-F817-04A7-ACA2-C43FF9D81CE8}"/>
              </a:ext>
            </a:extLst>
          </p:cNvPr>
          <p:cNvSpPr txBox="1"/>
          <p:nvPr/>
        </p:nvSpPr>
        <p:spPr>
          <a:xfrm>
            <a:off x="403440" y="950550"/>
            <a:ext cx="11385120" cy="2800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Ejemplo:</a:t>
            </a:r>
            <a:r>
              <a:rPr lang="en-US" sz="1600" dirty="0"/>
              <a:t> </a:t>
            </a:r>
            <a:r>
              <a:rPr lang="es-ES" sz="1600" dirty="0"/>
              <a:t>Un objeto se encuentra atado al extremo de una cuerda de largo 60 cm. La cuerda se hace girar con rapidez angular constante de 4 rad/s. Calcule la distancia angular recorrida por el objeto luego de 20 s y su rapidez tangencial.</a:t>
            </a:r>
          </a:p>
          <a:p>
            <a:endParaRPr lang="en-US" sz="1600" dirty="0"/>
          </a:p>
          <a:p>
            <a:pPr marL="342900" indent="-342900">
              <a:buFont typeface="+mj-lt"/>
              <a:buAutoNum type="alphaLcParenR"/>
            </a:pPr>
            <a:endParaRPr lang="en-US" sz="1600" dirty="0"/>
          </a:p>
          <a:p>
            <a:pPr marL="342900" indent="-342900">
              <a:buFont typeface="+mj-lt"/>
              <a:buAutoNum type="alphaLcParenR"/>
            </a:pPr>
            <a:endParaRPr lang="en-US" sz="1600" dirty="0"/>
          </a:p>
          <a:p>
            <a:pPr marL="342900" indent="-342900">
              <a:buFont typeface="+mj-lt"/>
              <a:buAutoNum type="alphaLcParenR"/>
            </a:pPr>
            <a:endParaRPr lang="en-US" sz="1600" dirty="0"/>
          </a:p>
          <a:p>
            <a:pPr marL="342900" indent="-342900">
              <a:buFont typeface="+mj-lt"/>
              <a:buAutoNum type="alphaLcParenR"/>
            </a:pPr>
            <a:endParaRPr lang="en-US" sz="1600" dirty="0"/>
          </a:p>
          <a:p>
            <a:pPr marL="342900" indent="-342900">
              <a:buFont typeface="+mj-lt"/>
              <a:buAutoNum type="alphaLcParenR"/>
            </a:pPr>
            <a:endParaRPr lang="en-US" sz="1600" dirty="0"/>
          </a:p>
          <a:p>
            <a:pPr marL="342900" indent="-342900">
              <a:buFont typeface="+mj-lt"/>
              <a:buAutoNum type="alphaLcParenR"/>
            </a:pPr>
            <a:endParaRPr lang="en-US" sz="1600" dirty="0"/>
          </a:p>
          <a:p>
            <a:pPr marL="342900" indent="-342900">
              <a:buFont typeface="+mj-lt"/>
              <a:buAutoNum type="alphaLcParenR"/>
            </a:pPr>
            <a:endParaRPr lang="en-US" sz="1600" dirty="0"/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3DAA51AC-1E37-A555-9579-E0E8B6D4D527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17</a:t>
            </a:fld>
            <a:endParaRPr lang="es-CL" sz="1200"/>
          </a:p>
        </p:txBody>
      </p:sp>
      <p:pic>
        <p:nvPicPr>
          <p:cNvPr id="1026" name="Picture 2" descr="MOVIMIENTO CIRCULAR, COMO CALCULAR LA TENSION EN LA CUERDA DE UN OBJETO QUE  GIRA.">
            <a:extLst>
              <a:ext uri="{FF2B5EF4-FFF2-40B4-BE49-F238E27FC236}">
                <a16:creationId xmlns:a16="http://schemas.microsoft.com/office/drawing/2014/main" id="{82D0EEA8-FA8E-1DFC-EE52-2F34D04780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8" t="41710" r="25510" b="8031"/>
          <a:stretch/>
        </p:blipFill>
        <p:spPr bwMode="auto">
          <a:xfrm>
            <a:off x="7747000" y="1524000"/>
            <a:ext cx="3861324" cy="185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010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8B7E-F1F3-81FC-F793-95164D8B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70828D8-2235-9AE4-4605-48A6FF798526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40F8EE3-4231-DF81-60EF-B8E52FDB3EDF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44412-F817-04A7-ACA2-C43FF9D81CE8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494231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</a:t>
                </a:r>
                <a:r>
                  <a:rPr lang="en-US" sz="1600" dirty="0"/>
                  <a:t> </a:t>
                </a:r>
                <a:r>
                  <a:rPr lang="es-ES" sz="1600" dirty="0"/>
                  <a:t>Un objeto se encuentra atado al extremo de una cuerda de largo 60 cm. La cuerda se hace girar con rapidez angular constante de 4 rad/s. Calcule la distancia angular recorrida por el objeto luego de 20 s y su rapidez tangencial.</a:t>
                </a:r>
              </a:p>
              <a:p>
                <a:endParaRPr lang="en-US" sz="1600" dirty="0"/>
              </a:p>
              <a:p>
                <a:r>
                  <a:rPr lang="en-US" sz="1600" b="1" dirty="0"/>
                  <a:t>Desarrollo:</a:t>
                </a:r>
              </a:p>
              <a:p>
                <a:endParaRPr lang="en-US" sz="1600" dirty="0"/>
              </a:p>
              <a:p>
                <a:r>
                  <a:rPr lang="en-US" sz="1600" dirty="0"/>
                  <a:t>La </a:t>
                </a:r>
                <a:r>
                  <a:rPr lang="en-US" sz="1600" dirty="0" err="1"/>
                  <a:t>distancia</a:t>
                </a:r>
                <a:r>
                  <a:rPr lang="en-US" sz="1600" dirty="0"/>
                  <a:t> angular la </a:t>
                </a:r>
                <a:r>
                  <a:rPr lang="en-US" sz="1600" dirty="0" err="1"/>
                  <a:t>podemos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calcular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partir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ecuación</a:t>
                </a:r>
                <a:r>
                  <a:rPr lang="en-US" sz="1600" dirty="0"/>
                  <a:t> de </a:t>
                </a:r>
              </a:p>
              <a:p>
                <a:r>
                  <a:rPr lang="en-US" sz="1600" dirty="0" err="1"/>
                  <a:t>itinerario</a:t>
                </a:r>
                <a:r>
                  <a:rPr lang="en-US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=0+4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⋅20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=80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rad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  <a:p>
                <a:endParaRPr lang="es-ES" sz="1600" dirty="0"/>
              </a:p>
              <a:p>
                <a:r>
                  <a:rPr lang="es-ES" sz="1600" dirty="0"/>
                  <a:t>Hay que transformar los rad a vueltas, entonces:</a:t>
                </a:r>
              </a:p>
              <a:p>
                <a:endParaRPr lang="es-E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80 </m:t>
                          </m:r>
                          <m:r>
                            <m:rPr>
                              <m:sty m:val="p"/>
                            </m:rPr>
                            <a:rPr lang="es-ES" sz="160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=12.73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vueltas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  <a:p>
                <a:endParaRPr lang="es-ES" sz="1600" dirty="0"/>
              </a:p>
              <a:p>
                <a:r>
                  <a:rPr lang="en-US" sz="1600" dirty="0"/>
                  <a:t>La </a:t>
                </a:r>
                <a:r>
                  <a:rPr lang="en-US" sz="1600" dirty="0" err="1"/>
                  <a:t>velocidad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tangencial</a:t>
                </a:r>
                <a:r>
                  <a:rPr lang="en-US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s-ES" sz="1600" i="1">
                          <a:latin typeface="Cambria Math" panose="02040503050406030204" pitchFamily="18" charset="0"/>
                        </a:rPr>
                        <m:t>ℓ=4</m:t>
                      </m:r>
                      <m:f>
                        <m:f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160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⋅0.6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44412-F817-04A7-ACA2-C43FF9D81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4942315"/>
              </a:xfrm>
              <a:prstGeom prst="rect">
                <a:avLst/>
              </a:prstGeom>
              <a:blipFill>
                <a:blip r:embed="rId3"/>
                <a:stretch>
                  <a:fillRect l="-223" t="-256" r="-44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3DAA51AC-1E37-A555-9579-E0E8B6D4D527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18</a:t>
            </a:fld>
            <a:endParaRPr lang="es-CL" sz="1200"/>
          </a:p>
        </p:txBody>
      </p:sp>
      <p:pic>
        <p:nvPicPr>
          <p:cNvPr id="1026" name="Picture 2" descr="MOVIMIENTO CIRCULAR, COMO CALCULAR LA TENSION EN LA CUERDA DE UN OBJETO QUE  GIRA.">
            <a:extLst>
              <a:ext uri="{FF2B5EF4-FFF2-40B4-BE49-F238E27FC236}">
                <a16:creationId xmlns:a16="http://schemas.microsoft.com/office/drawing/2014/main" id="{82D0EEA8-FA8E-1DFC-EE52-2F34D04780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8" t="41710" r="25510" b="8031"/>
          <a:stretch/>
        </p:blipFill>
        <p:spPr bwMode="auto">
          <a:xfrm>
            <a:off x="8223054" y="1524000"/>
            <a:ext cx="338527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86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8B7E-F1F3-81FC-F793-95164D8B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70828D8-2235-9AE4-4605-48A6FF798526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40F8EE3-4231-DF81-60EF-B8E52FDB3EDF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2C44412-F817-04A7-ACA2-C43FF9D81CE8}"/>
              </a:ext>
            </a:extLst>
          </p:cNvPr>
          <p:cNvSpPr txBox="1"/>
          <p:nvPr/>
        </p:nvSpPr>
        <p:spPr>
          <a:xfrm>
            <a:off x="403440" y="950550"/>
            <a:ext cx="11385120" cy="3293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Ejemplo:</a:t>
            </a:r>
            <a:r>
              <a:rPr lang="en-US" sz="1600" dirty="0"/>
              <a:t> </a:t>
            </a:r>
            <a:r>
              <a:rPr lang="es-ES" sz="1600" dirty="0"/>
              <a:t>Un vehículo de alta velocidad da vueltas en una pista circular de radio 50 m. Si el vehículo parte del reposo y se mueve con aceleración angular constante de 0.1 rad/s</a:t>
            </a:r>
            <a:r>
              <a:rPr lang="es-ES" sz="1600" baseline="30000" dirty="0"/>
              <a:t>2</a:t>
            </a:r>
            <a:r>
              <a:rPr lang="es-ES" sz="1600" dirty="0"/>
              <a:t> durante 1 minuto, calcule</a:t>
            </a:r>
          </a:p>
          <a:p>
            <a:endParaRPr lang="en-US" sz="1600" dirty="0"/>
          </a:p>
          <a:p>
            <a:pPr marL="342900" indent="-342900">
              <a:buAutoNum type="alphaLcParenR"/>
            </a:pP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rapidez</a:t>
            </a:r>
            <a:r>
              <a:rPr lang="en-US" sz="1600" dirty="0"/>
              <a:t> angular</a:t>
            </a:r>
          </a:p>
          <a:p>
            <a:pPr marL="342900" indent="-342900">
              <a:buAutoNum type="alphaLcParenR"/>
            </a:pPr>
            <a:r>
              <a:rPr lang="en-US" sz="1600" dirty="0"/>
              <a:t>La </a:t>
            </a:r>
            <a:r>
              <a:rPr lang="en-US" sz="1600" dirty="0" err="1"/>
              <a:t>distancia</a:t>
            </a:r>
            <a:r>
              <a:rPr lang="en-US" sz="1600" dirty="0"/>
              <a:t> angular </a:t>
            </a:r>
            <a:r>
              <a:rPr lang="en-US" sz="1600" dirty="0" err="1"/>
              <a:t>recorrida</a:t>
            </a:r>
            <a:r>
              <a:rPr lang="en-US" sz="1600" dirty="0"/>
              <a:t> </a:t>
            </a:r>
          </a:p>
          <a:p>
            <a:pPr marL="342900" indent="-342900">
              <a:buAutoNum type="alphaLcParenR"/>
            </a:pP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rapidez</a:t>
            </a:r>
            <a:r>
              <a:rPr lang="en-US" sz="1600" dirty="0"/>
              <a:t> </a:t>
            </a:r>
            <a:r>
              <a:rPr lang="en-US" sz="1600" dirty="0" err="1"/>
              <a:t>tangencial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3DAA51AC-1E37-A555-9579-E0E8B6D4D527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19</a:t>
            </a:fld>
            <a:endParaRPr lang="es-CL" sz="1200"/>
          </a:p>
        </p:txBody>
      </p:sp>
      <p:pic>
        <p:nvPicPr>
          <p:cNvPr id="5124" name="Picture 4" descr="Tres óvalos en calendario 2021 de INDYCAR - FASTmag">
            <a:extLst>
              <a:ext uri="{FF2B5EF4-FFF2-40B4-BE49-F238E27FC236}">
                <a16:creationId xmlns:a16="http://schemas.microsoft.com/office/drawing/2014/main" id="{1EEB67B2-E559-934D-9D8A-989BCC9C9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05" t="13345" r="16780" b="9014"/>
          <a:stretch/>
        </p:blipFill>
        <p:spPr bwMode="auto">
          <a:xfrm>
            <a:off x="9192125" y="1652338"/>
            <a:ext cx="2310063" cy="227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73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8B7E-F1F3-81FC-F793-95164D8B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70828D8-2235-9AE4-4605-48A6FF798526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40F8EE3-4231-DF81-60EF-B8E52FDB3EDF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44412-F817-04A7-ACA2-C43FF9D81CE8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565616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 err="1"/>
                  <a:t>Ejemplo</a:t>
                </a:r>
                <a:r>
                  <a:rPr lang="en-US" sz="1600" b="1" dirty="0"/>
                  <a:t>:</a:t>
                </a:r>
                <a:r>
                  <a:rPr lang="en-US" sz="1600" dirty="0"/>
                  <a:t> </a:t>
                </a:r>
                <a:r>
                  <a:rPr lang="es-ES" sz="1600" dirty="0"/>
                  <a:t>Un vehículo de alta velocidad da vueltas en una pista circular de radio 50 m. Si el vehículo parte del reposo y se mueve con aceleración angular constante de 0.1 rad/s</a:t>
                </a:r>
                <a:r>
                  <a:rPr lang="es-ES" sz="1600" baseline="30000" dirty="0"/>
                  <a:t>2</a:t>
                </a:r>
                <a:r>
                  <a:rPr lang="es-ES" sz="1600" dirty="0"/>
                  <a:t> durante 1 minuto, calcule</a:t>
                </a:r>
              </a:p>
              <a:p>
                <a:endParaRPr lang="en-US" sz="1600" dirty="0"/>
              </a:p>
              <a:p>
                <a:pPr marL="342900" indent="-342900">
                  <a:buAutoNum type="alphaLcParenR"/>
                </a:pPr>
                <a:r>
                  <a:rPr lang="en-US" sz="1600" dirty="0" err="1"/>
                  <a:t>Su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angular</a:t>
                </a:r>
              </a:p>
              <a:p>
                <a:pPr marL="342900" indent="-342900">
                  <a:buAutoNum type="alphaLcParenR"/>
                </a:pPr>
                <a:r>
                  <a:rPr lang="en-US" sz="1600" dirty="0"/>
                  <a:t>La </a:t>
                </a:r>
                <a:r>
                  <a:rPr lang="en-US" sz="1600" dirty="0" err="1"/>
                  <a:t>distancia</a:t>
                </a:r>
                <a:r>
                  <a:rPr lang="en-US" sz="1600" dirty="0"/>
                  <a:t> angular </a:t>
                </a:r>
                <a:r>
                  <a:rPr lang="en-US" sz="1600" dirty="0" err="1"/>
                  <a:t>recorrida</a:t>
                </a:r>
                <a:r>
                  <a:rPr lang="en-US" sz="1600" dirty="0"/>
                  <a:t> </a:t>
                </a:r>
              </a:p>
              <a:p>
                <a:pPr marL="342900" indent="-342900">
                  <a:buAutoNum type="alphaLcParenR"/>
                </a:pPr>
                <a:r>
                  <a:rPr lang="en-US" sz="1600" dirty="0" err="1"/>
                  <a:t>Su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tangencial</a:t>
                </a:r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b="1" dirty="0"/>
                  <a:t>Desarrollo:</a:t>
                </a:r>
                <a:endParaRPr lang="en-US" sz="1600" dirty="0"/>
              </a:p>
              <a:p>
                <a:pPr marL="342900" indent="-342900">
                  <a:buAutoNum type="alphaLcParenR"/>
                </a:pPr>
                <a:r>
                  <a:rPr lang="en-US" sz="1600" dirty="0" err="1"/>
                  <a:t>Su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angular</a:t>
                </a:r>
              </a:p>
              <a:p>
                <a:r>
                  <a:rPr lang="es-ES" sz="1600" b="0" dirty="0"/>
                  <a:t>Sabemos que 1 min = 60 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=0+0.1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sSup>
                            <m:sSup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⋅60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=6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rad</m:t>
                      </m:r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/>
                  <a:t>b) La </a:t>
                </a:r>
                <a:r>
                  <a:rPr lang="en-US" sz="1600" dirty="0" err="1"/>
                  <a:t>distancia</a:t>
                </a:r>
                <a:r>
                  <a:rPr lang="en-US" sz="1600" dirty="0"/>
                  <a:t> angular </a:t>
                </a:r>
                <a:r>
                  <a:rPr lang="en-US" sz="1600" dirty="0" err="1"/>
                  <a:t>recorrida</a:t>
                </a:r>
                <a:r>
                  <a:rPr lang="en-US" sz="1600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=0+0+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⋅0.1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sSup>
                            <m:sSup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60 </m:t>
                              </m:r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e>
                        <m:sup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=180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rad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80 </m:t>
                          </m:r>
                          <m:r>
                            <m:rPr>
                              <m:sty m:val="p"/>
                            </m:rPr>
                            <a:rPr lang="es-ES" sz="160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=28.65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vueltas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c) </a:t>
                </a:r>
                <a:r>
                  <a:rPr lang="en-US" sz="1600" dirty="0" err="1"/>
                  <a:t>Su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rapidez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tangencial</a:t>
                </a: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E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6</m:t>
                      </m:r>
                      <m:f>
                        <m:f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160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⋅50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=300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44412-F817-04A7-ACA2-C43FF9D81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5656164"/>
              </a:xfrm>
              <a:prstGeom prst="rect">
                <a:avLst/>
              </a:prstGeom>
              <a:blipFill>
                <a:blip r:embed="rId3"/>
                <a:stretch>
                  <a:fillRect l="-334" t="-22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3DAA51AC-1E37-A555-9579-E0E8B6D4D527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20</a:t>
            </a:fld>
            <a:endParaRPr lang="es-CL" sz="1200"/>
          </a:p>
        </p:txBody>
      </p:sp>
      <p:pic>
        <p:nvPicPr>
          <p:cNvPr id="5124" name="Picture 4" descr="Tres óvalos en calendario 2021 de INDYCAR - FASTmag">
            <a:extLst>
              <a:ext uri="{FF2B5EF4-FFF2-40B4-BE49-F238E27FC236}">
                <a16:creationId xmlns:a16="http://schemas.microsoft.com/office/drawing/2014/main" id="{1EEB67B2-E559-934D-9D8A-989BCC9C9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05" t="13345" r="16780" b="9014"/>
          <a:stretch/>
        </p:blipFill>
        <p:spPr bwMode="auto">
          <a:xfrm>
            <a:off x="9192125" y="1652338"/>
            <a:ext cx="2310063" cy="227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919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8B7E-F1F3-81FC-F793-95164D8B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70828D8-2235-9AE4-4605-48A6FF798526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40F8EE3-4231-DF81-60EF-B8E52FDB3EDF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2C44412-F817-04A7-ACA2-C43FF9D81CE8}"/>
              </a:ext>
            </a:extLst>
          </p:cNvPr>
          <p:cNvSpPr txBox="1"/>
          <p:nvPr/>
        </p:nvSpPr>
        <p:spPr>
          <a:xfrm>
            <a:off x="403440" y="950550"/>
            <a:ext cx="11385120" cy="30469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Ejemplo:</a:t>
            </a:r>
            <a:r>
              <a:rPr lang="en-US" sz="1600" dirty="0"/>
              <a:t> </a:t>
            </a:r>
            <a:r>
              <a:rPr lang="es-ES" sz="1600" dirty="0"/>
              <a:t>Un objeto describiendo un movimiento circular se mueve con rapidez angular de 40 rad/s. Repentinamente frena, deteniéndose completamente al cabo de 10 s. Calcule su aceleración angular y la distancia angular recorrida.</a:t>
            </a:r>
          </a:p>
          <a:p>
            <a:endParaRPr lang="es-E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3DAA51AC-1E37-A555-9579-E0E8B6D4D527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21</a:t>
            </a:fld>
            <a:endParaRPr lang="es-CL" sz="1200"/>
          </a:p>
        </p:txBody>
      </p:sp>
      <p:pic>
        <p:nvPicPr>
          <p:cNvPr id="9218" name="Picture 2" descr="PSD de Pista Circular, plantillas PSD gratuitas de gran calidad para  descargar | Freepik">
            <a:extLst>
              <a:ext uri="{FF2B5EF4-FFF2-40B4-BE49-F238E27FC236}">
                <a16:creationId xmlns:a16="http://schemas.microsoft.com/office/drawing/2014/main" id="{5E92DB13-0F42-8137-804E-DEA0281F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136" y="1700464"/>
            <a:ext cx="2277979" cy="227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332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8B7E-F1F3-81FC-F793-95164D8B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70828D8-2235-9AE4-4605-48A6FF798526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40F8EE3-4231-DF81-60EF-B8E52FDB3EDF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44412-F817-04A7-ACA2-C43FF9D81CE8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518853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</a:t>
                </a:r>
                <a:r>
                  <a:rPr lang="en-US" sz="1600" dirty="0"/>
                  <a:t> </a:t>
                </a:r>
                <a:r>
                  <a:rPr lang="es-ES" sz="1600" dirty="0"/>
                  <a:t>Un objeto describiendo un movimiento circular se mueve con rapidez angular de 40 rad/s. Repentinamente frena, deteniéndose completamente al cabo de 10 s. Calcule su aceleración angular y la distancia angular recorrida.</a:t>
                </a:r>
              </a:p>
              <a:p>
                <a:endParaRPr lang="es-ES" sz="1600" dirty="0"/>
              </a:p>
              <a:p>
                <a:endParaRPr lang="en-US" sz="1600" dirty="0"/>
              </a:p>
              <a:p>
                <a:r>
                  <a:rPr lang="en-US" sz="1600" b="1" dirty="0"/>
                  <a:t>Desarrollo:</a:t>
                </a:r>
              </a:p>
              <a:p>
                <a:endParaRPr lang="en-US" sz="1600" b="1" dirty="0"/>
              </a:p>
              <a:p>
                <a:r>
                  <a:rPr lang="en-US" sz="1600" dirty="0" err="1"/>
                  <a:t>Aceleración</a:t>
                </a:r>
                <a:r>
                  <a:rPr lang="en-US" sz="1600" dirty="0"/>
                  <a:t> angular</a:t>
                </a:r>
              </a:p>
              <a:p>
                <a:endParaRPr lang="en-US" sz="1600" dirty="0"/>
              </a:p>
              <a:p>
                <a:r>
                  <a:rPr lang="es-ES" sz="1600" b="0" dirty="0"/>
                  <a:t>Escribiendo la ecuación de itinerario para la velocidad angular, tenemos</a:t>
                </a:r>
              </a:p>
              <a:p>
                <a:endParaRPr lang="es-ES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=40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⋅10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⇒ 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sSup>
                            <m:sSup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=−4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sSup>
                            <m:sSup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 err="1"/>
                  <a:t>Distancia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recorrida</a:t>
                </a:r>
                <a:r>
                  <a:rPr lang="en-US" sz="1600" dirty="0"/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=0+40</m:t>
                      </m:r>
                      <m:f>
                        <m:f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160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⋅10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⋅4 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sSup>
                            <m:sSup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10 </m:t>
                              </m:r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</m:d>
                        </m:e>
                        <m:sup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=200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rad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s-ES" sz="1600" i="1"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m:rPr>
                              <m:sty m:val="p"/>
                            </m:rPr>
                            <a:rPr lang="es-ES" sz="160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=31.83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vueltas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44412-F817-04A7-ACA2-C43FF9D81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5188536"/>
              </a:xfrm>
              <a:prstGeom prst="rect">
                <a:avLst/>
              </a:prstGeom>
              <a:blipFill>
                <a:blip r:embed="rId3"/>
                <a:stretch>
                  <a:fillRect l="-223" t="-24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3DAA51AC-1E37-A555-9579-E0E8B6D4D527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22</a:t>
            </a:fld>
            <a:endParaRPr lang="es-CL" sz="1200"/>
          </a:p>
        </p:txBody>
      </p:sp>
      <p:pic>
        <p:nvPicPr>
          <p:cNvPr id="9218" name="Picture 2" descr="PSD de Pista Circular, plantillas PSD gratuitas de gran calidad para  descargar | Freepik">
            <a:extLst>
              <a:ext uri="{FF2B5EF4-FFF2-40B4-BE49-F238E27FC236}">
                <a16:creationId xmlns:a16="http://schemas.microsoft.com/office/drawing/2014/main" id="{5E92DB13-0F42-8137-804E-DEA0281F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136" y="1700464"/>
            <a:ext cx="2277979" cy="227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162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8B7E-F1F3-81FC-F793-95164D8B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70828D8-2235-9AE4-4605-48A6FF798526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40F8EE3-4231-DF81-60EF-B8E52FDB3EDF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2C44412-F817-04A7-ACA2-C43FF9D81CE8}"/>
              </a:ext>
            </a:extLst>
          </p:cNvPr>
          <p:cNvSpPr txBox="1"/>
          <p:nvPr/>
        </p:nvSpPr>
        <p:spPr>
          <a:xfrm>
            <a:off x="403440" y="950550"/>
            <a:ext cx="11385120" cy="2308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/>
              <a:t>Ejemplo:</a:t>
            </a:r>
            <a:r>
              <a:rPr lang="en-US" sz="1600" dirty="0"/>
              <a:t> </a:t>
            </a:r>
            <a:r>
              <a:rPr lang="es-ES" sz="1600" dirty="0"/>
              <a:t>Una rueda de 0.50 m de diámetro gira a razón de 30 rpm. Determine</a:t>
            </a:r>
          </a:p>
          <a:p>
            <a:endParaRPr lang="es-ES" sz="1600" dirty="0"/>
          </a:p>
          <a:p>
            <a:pPr marL="342900" indent="-342900">
              <a:buAutoNum type="alphaLcParenR"/>
            </a:pPr>
            <a:r>
              <a:rPr lang="es-ES" sz="1600" dirty="0"/>
              <a:t>Su velocidad angular</a:t>
            </a:r>
          </a:p>
          <a:p>
            <a:pPr marL="342900" indent="-342900">
              <a:buFontTx/>
              <a:buAutoNum type="alphaLcParenR"/>
            </a:pPr>
            <a:r>
              <a:rPr lang="es-ES" sz="1600" dirty="0"/>
              <a:t>La frecuencia de giro</a:t>
            </a:r>
          </a:p>
          <a:p>
            <a:pPr marL="342900" indent="-342900">
              <a:buAutoNum type="alphaLcParenR"/>
            </a:pPr>
            <a:r>
              <a:rPr lang="es-ES" sz="1600" dirty="0"/>
              <a:t>El periodo de giro</a:t>
            </a:r>
          </a:p>
          <a:p>
            <a:pPr marL="342900" indent="-342900">
              <a:buAutoNum type="alphaLcParenR"/>
            </a:pPr>
            <a:r>
              <a:rPr lang="es-ES" sz="1600" dirty="0"/>
              <a:t>La rapidez del borde de la rueda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3DAA51AC-1E37-A555-9579-E0E8B6D4D527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23</a:t>
            </a:fld>
            <a:endParaRPr lang="es-CL" sz="1200"/>
          </a:p>
        </p:txBody>
      </p:sp>
      <p:pic>
        <p:nvPicPr>
          <p:cNvPr id="11266" name="Picture 2" descr="Cómo saber cuáles son los tipos de neumáticos más adecuados para mi auto?">
            <a:extLst>
              <a:ext uri="{FF2B5EF4-FFF2-40B4-BE49-F238E27FC236}">
                <a16:creationId xmlns:a16="http://schemas.microsoft.com/office/drawing/2014/main" id="{AB857EA1-C3F3-483B-C095-648DF2F61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325" y="1315454"/>
            <a:ext cx="2616647" cy="147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314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8B7E-F1F3-81FC-F793-95164D8B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70828D8-2235-9AE4-4605-48A6FF798526}"/>
              </a:ext>
            </a:extLst>
          </p:cNvPr>
          <p:cNvSpPr txBox="1"/>
          <p:nvPr/>
        </p:nvSpPr>
        <p:spPr>
          <a:xfrm>
            <a:off x="133350" y="19050"/>
            <a:ext cx="11934826" cy="461665"/>
          </a:xfrm>
          <a:prstGeom prst="rect">
            <a:avLst/>
          </a:prstGeom>
          <a:noFill/>
          <a:ln cap="flat" cmpd="sng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L" sz="24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40F8EE3-4231-DF81-60EF-B8E52FDB3EDF}"/>
              </a:ext>
            </a:extLst>
          </p:cNvPr>
          <p:cNvGraphicFramePr>
            <a:graphicFrameLocks noGrp="1"/>
          </p:cNvGraphicFramePr>
          <p:nvPr/>
        </p:nvGraphicFramePr>
        <p:xfrm>
          <a:off x="1" y="0"/>
          <a:ext cx="121920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960110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Montserrat" pitchFamily="2" charset="77"/>
                        </a:rPr>
                        <a:t>Movimiento circunferencial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9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44412-F817-04A7-ACA2-C43FF9D81CE8}"/>
                  </a:ext>
                </a:extLst>
              </p:cNvPr>
              <p:cNvSpPr txBox="1"/>
              <p:nvPr/>
            </p:nvSpPr>
            <p:spPr>
              <a:xfrm>
                <a:off x="403440" y="950550"/>
                <a:ext cx="11385120" cy="564840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Ejemplo:</a:t>
                </a:r>
                <a:r>
                  <a:rPr lang="en-US" sz="1600" dirty="0"/>
                  <a:t> </a:t>
                </a:r>
                <a:r>
                  <a:rPr lang="es-ES" sz="1600" dirty="0"/>
                  <a:t>Una rueda de 0.50 m de diámetro gira a razón de 30 rpm. Determine</a:t>
                </a:r>
              </a:p>
              <a:p>
                <a:endParaRPr lang="es-ES" sz="1600" dirty="0"/>
              </a:p>
              <a:p>
                <a:pPr marL="342900" indent="-342900">
                  <a:buAutoNum type="alphaLcParenR"/>
                </a:pPr>
                <a:r>
                  <a:rPr lang="es-ES" sz="1600" dirty="0"/>
                  <a:t>Su velocidad angular</a:t>
                </a:r>
              </a:p>
              <a:p>
                <a:pPr marL="342900" indent="-342900">
                  <a:buFontTx/>
                  <a:buAutoNum type="alphaLcParenR"/>
                </a:pPr>
                <a:r>
                  <a:rPr lang="es-ES" sz="1600" dirty="0"/>
                  <a:t>La frecuencia de giro</a:t>
                </a:r>
              </a:p>
              <a:p>
                <a:pPr marL="342900" indent="-342900">
                  <a:buAutoNum type="alphaLcParenR"/>
                </a:pPr>
                <a:r>
                  <a:rPr lang="es-ES" sz="1600" dirty="0"/>
                  <a:t>El periodo de giro</a:t>
                </a:r>
              </a:p>
              <a:p>
                <a:pPr marL="342900" indent="-342900">
                  <a:buAutoNum type="alphaLcParenR"/>
                </a:pPr>
                <a:r>
                  <a:rPr lang="es-ES" sz="1600" dirty="0"/>
                  <a:t>La rapidez del borde de la rueda</a:t>
                </a:r>
              </a:p>
              <a:p>
                <a:endParaRPr lang="en-US" sz="1600" dirty="0"/>
              </a:p>
              <a:p>
                <a:r>
                  <a:rPr lang="en-US" sz="1600" b="1" dirty="0"/>
                  <a:t>Desarrollo:</a:t>
                </a:r>
              </a:p>
              <a:p>
                <a:pPr marL="342900" indent="-342900">
                  <a:buAutoNum type="alphaLcParenR"/>
                </a:pPr>
                <a:r>
                  <a:rPr lang="es-ES" sz="1600" dirty="0"/>
                  <a:t>Su velocidad angular: </a:t>
                </a:r>
                <a:r>
                  <a:rPr lang="es-ES" sz="1600" b="0" dirty="0"/>
                  <a:t> </a:t>
                </a:r>
                <a:endParaRPr lang="es-ES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=30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rpm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=30 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rev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den>
                      </m:f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i="0">
                          <a:latin typeface="Cambria Math" panose="02040503050406030204" pitchFamily="18" charset="0"/>
                        </a:rPr>
                        <m:t>30 </m:t>
                      </m:r>
                      <m:f>
                        <m:f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60 </m:t>
                          </m:r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</m:oMath>
                  </m:oMathPara>
                </a14:m>
                <a:endParaRPr lang="es-ES" sz="1600" dirty="0"/>
              </a:p>
              <a:p>
                <a:endParaRPr lang="es-ES" sz="1600" dirty="0"/>
              </a:p>
              <a:p>
                <a:r>
                  <a:rPr lang="es-ES" sz="1600" dirty="0"/>
                  <a:t>b) La frecuencia de giro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i="0" smtClean="0">
                          <a:latin typeface="Cambria Math" panose="02040503050406030204" pitchFamily="18" charset="0"/>
                        </a:rPr>
                        <m:t>30 </m:t>
                      </m:r>
                      <m:f>
                        <m:fPr>
                          <m:ctrlPr>
                            <a:rPr lang="es-E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rev</m:t>
                          </m:r>
                        </m:num>
                        <m:den>
                          <m: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60 </m:t>
                          </m:r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0.5 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rev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   →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para</m:t>
                      </m:r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vuelta</m:t>
                      </m:r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→ 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=0.5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es-ES" sz="1600" dirty="0"/>
              </a:p>
              <a:p>
                <a:r>
                  <a:rPr lang="es-ES" sz="1600" dirty="0"/>
                  <a:t>c) El periodo de giro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>
                          <a:latin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s-ES" sz="160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s-ES" sz="1600" dirty="0"/>
              </a:p>
              <a:p>
                <a:r>
                  <a:rPr lang="es-ES" sz="1600" dirty="0"/>
                  <a:t>d) La rapidez del borde de la rueda</a:t>
                </a:r>
              </a:p>
              <a:p>
                <a:endParaRPr lang="es-ES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rad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s-ES" sz="1600" b="0" i="0" smtClean="0">
                          <a:latin typeface="Cambria Math" panose="02040503050406030204" pitchFamily="18" charset="0"/>
                        </a:rPr>
                        <m:t>⋅0.25 </m:t>
                      </m:r>
                      <m:r>
                        <m:rPr>
                          <m:sty m:val="p"/>
                        </m:rPr>
                        <a:rPr lang="es-ES" sz="16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=0.785 </m:t>
                      </m:r>
                      <m:f>
                        <m:fPr>
                          <m:ctrlPr>
                            <a:rPr lang="es-E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16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sSup>
                            <m:sSup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p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C44412-F817-04A7-ACA2-C43FF9D81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40" y="950550"/>
                <a:ext cx="11385120" cy="5648406"/>
              </a:xfrm>
              <a:prstGeom prst="rect">
                <a:avLst/>
              </a:prstGeom>
              <a:blipFill>
                <a:blip r:embed="rId3"/>
                <a:stretch>
                  <a:fillRect l="-334" t="-22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3DAA51AC-1E37-A555-9579-E0E8B6D4D527}"/>
              </a:ext>
            </a:extLst>
          </p:cNvPr>
          <p:cNvSpPr txBox="1">
            <a:spLocks/>
          </p:cNvSpPr>
          <p:nvPr/>
        </p:nvSpPr>
        <p:spPr>
          <a:xfrm>
            <a:off x="8993372" y="16820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9C89E4B-EE86-427E-B533-BCEDB2CD4BCC}" type="slidenum">
              <a:rPr lang="es-CL" sz="1200" smtClean="0"/>
              <a:pPr algn="r"/>
              <a:t>24</a:t>
            </a:fld>
            <a:endParaRPr lang="es-CL" sz="1200"/>
          </a:p>
        </p:txBody>
      </p:sp>
      <p:pic>
        <p:nvPicPr>
          <p:cNvPr id="4" name="Picture 2" descr="Cómo saber cuáles son los tipos de neumáticos más adecuados para mi auto?">
            <a:extLst>
              <a:ext uri="{FF2B5EF4-FFF2-40B4-BE49-F238E27FC236}">
                <a16:creationId xmlns:a16="http://schemas.microsoft.com/office/drawing/2014/main" id="{E92C70DE-09B3-57D3-41C6-0560EA68C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325" y="1315454"/>
            <a:ext cx="2616647" cy="147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7339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3">
      <a:majorFont>
        <a:latin typeface="Calibri Ligh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ED9FA7-1573-4D4C-874A-E7039CDF8A48}">
  <we:reference id="wa104381909" version="3.15.0.0" store="en-US" storeType="OMEX"/>
  <we:alternateReferences>
    <we:reference id="wa104381909" version="3.15.0.0" store="wa104381909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style mathsize=\\\&quot;16px\\\&quot;&gt;&lt;mo&gt;$&lt;/mo&gt;&lt;mi&gt;x&lt;/mi&gt;&lt;mfenced&gt;&lt;mi&gt;t&lt;/mi&gt;&lt;/mfenced&gt;&lt;mo&gt;=&lt;/mo&gt;&lt;msub&gt;&lt;mi&gt;x&lt;/mi&gt;&lt;mi&gt;i&lt;/mi&gt;&lt;/msub&gt;&lt;mo&gt;+&lt;/mo&gt;&lt;msub&gt;&lt;mi&gt;v&lt;/mi&gt;&lt;mi&gt;i&lt;/mi&gt;&lt;/msub&gt;&lt;mfenced&gt;&lt;mrow&gt;&lt;mi&gt;t&lt;/mi&gt;&lt;mo&gt;-&lt;/mo&gt;&lt;msub&gt;&lt;mi&gt;t&lt;/mi&gt;&lt;mi&gt;i&lt;/mi&gt;&lt;/msub&gt;&lt;/mrow&gt;&lt;/mfenced&gt;&lt;mo&gt;+&lt;/mo&gt;&lt;mo&gt;\\\\&lt;/mo&gt;&lt;mi&gt;f&lt;/mi&gt;&lt;mi&gt;r&lt;/mi&gt;&lt;mi&gt;a&lt;/mi&gt;&lt;mi&gt;c&lt;/mi&gt;&lt;mfenced open=\\\&quot;{\\\&quot; close=\\\&quot;}\\\&quot;&gt;&lt;mn&gt;1&lt;/mn&gt;&lt;/mfenced&gt;&lt;mfenced open=\\\&quot;{\\\&quot; close=\\\&quot;}\\\&quot;&gt;&lt;mn&gt;2&lt;/mn&gt;&lt;/mfenced&gt;&lt;msup&gt;&lt;mfenced&gt;&lt;mrow&gt;&lt;mi&gt;t&lt;/mi&gt;&lt;mo&gt;-&lt;/mo&gt;&lt;msub&gt;&lt;mi&gt;t&lt;/mi&gt;&lt;mi&gt;i&lt;/mi&gt;&lt;/msub&gt;&lt;/mrow&gt;&lt;/mfenced&gt;&lt;mn&gt;2&lt;/mn&gt;&lt;/msup&gt;&lt;/mstyle&gt;&lt;/math&gt;\&quot;,\&quot;base64Image\&quot;:\&quot;iVBORw0KGgoAAAANSUhEUgAABewAAAB0CAYAAAD3sXJ4AAAACXBIWXMAAA7EAAAOxAGVKw4bAAAABGJhU0UAAABJzyRrqgAAL+1JREFUeNrtnQ+kVdkXx5ckGXkkT5InkiQjkYwkiZGRJJEkSWKMkSSRJElijCRJJEmSSJIkQ0aSJJIkIzGSJBmSJ0+e+P3umnvuvPNOa5977r3nz97nfD4cv5/m3XP2Xmvvs797nb3XFgEAAADIxpHW9b/EtQ+zQA04ZLTtQ5gFAAAA0NgAaGwAAAAAHzlhiK1fMAvUiMNGGz+IWQAAAACNDYDGBgAAAGAiAVA+J422vguzAAAAABobAI0NAAAA4AP7DHF1FLNAjblmtPl1mAUAAADQ2ABobAAAAIAq2WKIqguYBWrO9Nb1JNHuR1vXYkwDAAAAaGwANDYAAABAFSxvXWMJQXW/dU3FNNAARlrXP4n2/6p1DWEaAAAAQGMDoLEBAAAAymS4db1LCKn30b8DNIV18u3qt2uYBQAAANDYAGhsAAAAgDK5a4ioVZgFGshpoy/sxCwAAACAxgZAYwMAAACUwV5DPB3DLNBQNNfmK/k21+YIpgEAAAA0NgAaGwAAAKBIFrauLwnh9Lx1TcE00GBWGxPs25gFAAAA0NgAaGwAAACAInlgiKZlmAVALhh9YwtmAQAAADQ2ABobAAAAoAh2GWLpFGYB+Jc50t6mG+8fb6S9nRcAAAAAjQ3QXI2t5d3Ruq60rteta6x1fY3+V+tzLXoXzMDlAAAAkJWZreufhFB637qGMA3AfxwyJtyHMQsAAACgsQEaq7EPtK5PRh2sazT6ewAAAICu/G6Iid2YBWAS01rXu0Q/+dy6ZmEaAAAAQGMDNEpj6we5+5ItUJ+87kW/BwAAADAZaV3jCQHxSjgEC8BiryG4j2MWAAAAQGMDNEZj60cG62yKXq6HrWsqrgcAAACLM4Z42IFZAJzi/IN8uwKIre0AAACAxgZohsaO9++XrevX1rVQJj7IaX1WSDvdzxtxB+1/96Ey62IF2khbBAAAqBxd+fNVvl35AwBuyGUPAAAAaGyAZmrs5bHynZTuu2Y0eH9a7IC9vifmV10hAvYAAAB+ccIQDb9iFoBUNJ9mcov7O2GLOwAAAKCxAequsTupcC70+LvjYgftf6u6QgTsAQAA/GGGtLcZxsXCP9JeAQAA6ZwVtrkDAAAAGhugSRp7SVSmv1vX9D5+/9yo3/OqK0XAHgAAwB/2GWLhGGYByMQyo/88wCwAAABobDQ2QG019kkZLK69Q+y0OJVCwB4AAMAfXhpiYR5mAcjMM6MPLcQswXDU8N8FzAINYmrrWi/tLfo3onfap9b1Rdqrg6tCUyJoeoD3JT7zc1TvT5EdbkR22RDZCR9ORleVboremfdiz9Sg05i0U1hoeY60rh8a6EM0NkB9NbaeRfF0gN/PEDstTik7cDS30Fpp5+y6Ke1Tfsdk8oEbX2ODyKvoZarbHra0rmHaZmWsjRrerBrVaXXU2ZfiXgCA/1hpiIQ/MQtAT+w1+tFxzBIMiw3/fRS/zyJYIO1VmhogG43mUzrP0pVn+6JJIEA3ZkVz9TGjD7yM2lIVgRENAuuBg59i5SkLre9+sQOtnyN7zcSHMqd1nXI8N+3SMu1oiA/R2AD11dizo7JsH/A+H6XkgL0OGrpS5Z8eX97WpSJ0E220NIZa18XI9q+lXl9/t8nE1/6jwoFwAADKOSH/NkAegYtkP3qNWYLileHDHz0spy5oupRhDqWrWlfgVkhhubQX1CXbzj/RvKkKdH62R9or6pPlqoKdYgdT3rau7xvsQ7XLqAwW53ncuubX3IdobID6amwt12EZPK54V0pMibPD8ULUF/oZaafD2RD7dw3G66qWXdJehf/V8ULX1SILaKuFoqL+TWTvJ1LPHQ4rY6LmUeuai9sBoMGowPiUGG/Hpb9DcwCazn1Dvy7HLMFw3PDfec/KuEYmB+detK7NMrES6ydj/jUf14LBsNiBXg1ijlRUpq1ifzirMmCv6AI26wOCzpuHGujD0zL4osz4TqZVNfUhGhsAjZ2FZMD+WVEPOm8YUVc0a76y72J/l5bDvrO16qvjhb6StloIe2M2148jM2tc1/ky8WHiA20KABrMemOsvYZZAPrWUqTFCZflhv8+eFQ+XfA0Hivbbfk28DNi1OEirgWDU2IHUKsIgKwVO0exLwF7ZbWjTEcb5sMzkl+wPv5hcUUNfYjGBkBjZyH54fVUEQ857xC5y4y/zXLorB5IYn0FvUFbzZWpMpECR6+H0oycl/ph6LVMfFTaQFMAgAZywRhnt2IWgL6YJ3auXgiHN4YP13hQLl2BGg/Wa3DTWqVpBdNGcSsY8z8r7/jdksuhcQJr1aSPAXvlgdipZ6Y0xIe7JP9gfTxuNFwzH6KxAdDY3dB3T3Kxeu4LircYxhsXO1ivZAnYK7pK5J0QsC8KDcz/GbOtHjI71KD6z0m0LwZQAGgaybNmvgoHFQIMgnXA3QhmCYaThv9Oe6BXPyTe04sdf3tb7N3OAK65ePzaVdLzF0Vz+s78Uxf+nRI7vYtPAfs9jnKtboAP9RDX5AeCj9H7UVeSx3fnT418rDGiyzL5Y2PadaVmPkRjA6Cxu7FMCk6Ho18ErNUoxzIOMBu73H9pJDQJ2OeLBuYfyuRDG4YbaIdFMvnMhS00DQBoCKuMsftPzAIwEFaKgp8xS9DvxfcVlymZ2/Rcyt9aO55v4VZIcEjsoOWSEp6twV0N/J41nrdI/A7Yr3KU69cG+DD5HlL/ZQ0+a4whayqdZTXxIRobAI2dhf2J+mzP+wGbHC+9tMM8ewnYK4eFgH2e6HkC8WD9aCSQmsoamfzley1NBAAawBFj7D6AWQAGYqPRr65ilqCwUnJWdd5RMgWF6tS0Q2T1v8VXdeqK5QW4FBJccszfy0jtomkN0nZ0p6XIqZrpjnKdr7kP10g+wW2NG3VbbX+xJj5EYwOgsbPwVAo+bPaKYbRXXX7Ta8B+mrRPOydgnw93Ev5iVfnkQVVPc1+ISQCg5liT4h8wC8BAqGZN5qIkh3hYnDXejScrKIcusEmmBr2T4XdzI12rq7aGcScY3BB/UyddFn8D9uIo19Wa+/B+ju/CTZIesNfdF1Nq4EM0NgAauxvJdDiFHBj+wngZ3ezym14D9iITWwUI2A9GchvJxcDrk+eA/lgmH2BBjjmANvoB60zi+g2zBI3mFx2vYJJUh7EC8FU3nhnauM47Ges2Rqwx/PemgnJYKS8284qAHLDOOvAl6GGldfIpYP/VKNeNGvswnqboWU5j9AVJD9qvCdyHaGzAV2jsXt/jhenmsT5eeP0E7IejlysB+/7ZmvCTrtoJ9ZBZfdnck/YWkrxYnBjAL9JkAP7lR+M9/w9mqZ1P65jnuIixAvBVP8GIOh9sX7cxYop8e1hgYSufHGjAJ3kA53j07wB5BgkI2PfGF2lWwP5oAe/AEbGD5oXlcC7Zh2hswFdo7G6sjpX/cZH6znrJPurym34C9hI1MgL2/Q+Mn6Q+q3SOSTHb15IH4myi6QAQsK8hBw2fHqlhPYsaKwBfpbFVys/LyxiRL1bQsMxdAz8bz7/GawJygoB9/zQtYP+XZMugkEf5O9fvgfsQjQ34Co2dhqY8/FsmzhqaW+TDrINDxqNCuOg3YK9fWzmsoz+SJ7s/Drgu8cMmtuV877mJNh3yLgSAvCBgXz+uGz5dX7M6FjlWAL5K43ujfz1hjAiKn6T3M7ry5LHx/F28KiAnCNj3T5MC9nNi916S871/SfHz+cB9iMYGfIXGTqOzS0Cz1RR+tsVbx4t2X8pv+g3YQ39YX6E2BFqXlTI5DdOcAjtQ5zpBE4KGQ8C+frw3fFqnj5NljBWAr1xMMQIC41LfPK91HCPUV6NGvZaW8OxFjrnVCK8LyAkC9v3TpID95ui+dwso/5oUP58N3IdobMBXaGwXO6Iya1qwdWU88IbjRfsxRVgSsC8PPUk5+VHldaB1WZWYPL0o8MUWt5d2pgU0JWgwBOzrxZDhz/c1ql9ZYwXgqzQeGv1sGWNEUFw26nW0hOceNZ77ltcF5AgB+/5pUsD+tBS3Ovy7FD/vC9iHaGzAV2hsFxpn7GTz2FLWQ/envGw159mw8RsC9uVxoKLJRt5oLvnkAcenCnxe8iPHFZoSNBgC9vVinSeTzTqMFYCvXFwy+tmWmvqyrmPEBqNeL0t47kvjuZd5ZUCOELDvnyYF7OdLcSk0pqX4eWPAPkRjA75CY1ssirSxlvXnMh+8IOVl2xG281JeZATsi0NPGv5g+OT7wOpx1NG2iswFd9Z43iKaFDQUAvb1wjrM8HQN6lXFWAH4ysUeqfbQUsaIfHS0FdhZXOAzFzv6xi+8NiBHCNj3T9MOnS2KtID9/IB9iMYGfIXGTqKZZ95JOTuITG5IetBeg8ZrYn9PwL4crAHjXUDl149BDx1tajyaSBXFRik/nx6ArxCwrxd1W/lb5VgB+KoXHXGVMSI4rhp1O1zg8444+scPvD4gRwjY9w8B+3xwpcR5G7gP0diAr9DYcWa3rjdRGY9V2TjGJD1or3nAO18T6haw11xluu1EA7p3o8FSO4XmK9va473WRwPw5+geT2Xyx45eeGL4IYTULroj46RM5Heyrj8rEBFanmHGAvpjA23alID9rKiN3IjE/OY+7zM/ekfpPV6JfysjrUnejwH6y4exAvCVC+vg0KeMEcGxxajbswKf98Qxh/L5MLWRSHfpdvt70j19z5zoffBPNE5eylFfq500ldH5qL+NRe8d1YJ/tK7d0l7ZG//77dJeAXs19puiPpDoocUHW9d1aQcmO+X7HPlebbi8Ih1AwD4bBOzzYYVUc+Bs0T5EYwO+QmN3UG3zIirfmaoLs0PSA/bxxrJTwg/YL5R2fvgHkZBO+1CRZevsLMcL/n/RoLIgh0bs85ba4Ugsv8rYjlzXtRzLZOUQ3SdAf2zeIcR1DcaowNGg/LnW9Vzy+cCpk/+/jXud9KjeVqq0GYH4zMexAvCV611gjR+MEWExzTEJXljAs+Y4+oBPk1Bd0KKLGXSXgQadR43y7kn5vX4A+WT85okM9lFiKCrThwzvlFcykebSyjed90pEtdleaZ/tlvW9pwtORgr0IwH7/iFgnw8bHT5eGbgP0dhobHyFxlZmtq7HUdku+VKoQ300ko0BNo6nUdk/R4Pl1UhYuep4MYNA7ybiej3wxbWldrWndr044MumiG3KV6U5q+NCJZT+SDDGH/QE+TtRe+n2Pnndx/1XpdxvtSd95quEG0T0cawAfOXCCmZOY4wIDiv154EcteWg11jB9V8i7Q/YWQMDSxz3Odrld9v7LN8uae+iTH4A0NSg86JxTy9dsHEq+u/697Mcc9e8ViLqM/fJxCFznY8BugNBP1zMlYmPFLoz70KiHB+luJX+BOz7h4B9Pljvg2eB+xCNjcbGV2hsRT/UP8jh3aIf+3LfdbSrx0ai4mQosMahKROslTU7xb0i17VqRL+Ovcxgp163Uj1x3CekieIUsVMtPSrp+QcdNmza6mr6Yz22NhKMaaMTZN26vzH63wPGRH+Qd+a6lHvd8aT+1mrDkKl6rAB85eK+UdflNaxn3QP22yS/BRyjkn/A/nbB9dcP0deiOZte91LK4goYns1Qj15XoA1H42r8Hu+l+2Kwzq7wk5Lvx5g4ujgguXNPbTAn5TdTxT4HblYBPiVg3z8E7PPhD6P8OwL3IRob8BUae1rs/XZHBtuxd1YKShO2RrJtSYyLq19r0nBcK3N/cnSqzpeXK5Eg00MJ9iUCSLd6LMPMHkW0r7hy2/1e0vNdW/X2emirdQVMAMu4mtAfCcb4j06gP/bQVroN0q57jXn6rrgRuP+qHisAX7m4btR1PWNEcOhKKSstzrwcnzEk7lR+33loE1cqVOvQtxMZNeH1Hp6vAfG3id+rhsuaC/9h1Eat3XbLBrTNAZm8ylbnxFl22Lm0/G8F+I+Aff8QsB+c6cY79ZWUd1ZHUT5EYwO+QmPfjGmS6QPcp7MQfklRBdVA1z3pLXj3QvxN2ZIVVyqao8bfnpGJXQbWQKYNblUfZdgk9ThswrXC/aeSnr/S8XwfA7YE7P3tjwRjwuCAo63s7uNeW8TfgL1VtkuB+67qsQLwlQtry/LWGtazCWOEFRzbn+P9XYtEnntqj+mS7ays/TKRCua4tBe9uM4ayrqKbK18G2j/o8eJ8WFHGT4OYJMZsYl6fFFa1vMOzkl+6fn6ac8E7LNBwH5wrA9+G2rgQzQ24Ktma+xO2kPdhdlPFhn9aKkB+tPRfR6WUeg9jpdi2qWrW2cH2nBc+YuTQd7N0b/fK6AMv0n2VS8+Y22Vy/sgqDS+E3dKFd8gYO9vfyQYEwauw/76FdpWejgftsXuHCBIwlgB+Ko3jkkzDq9vwhhhvTvznEgdF3fqUB9xBewXG9pUg4gruvQLvZZmeK4G65Nb/h9J76vYtuc8V9KV/cl0pFrv73u4hys933gB/rOCvR89aVu+B+ytXRm+BOw/ShgkU1ncqYkP0diAr5qrsdPGrn6vstKE/XuQTq+r7T9GAY/QmCL2ttnPsb+ZG9VPt0gW8WHiRmCivxc7lr1LwLUKaIln9iJg729/JBgTDs8l34Om94t/q2zOGHXcGbDPfBkrAF9ZWKsIzzFGBMlMhyacm9P9bzt00hZP7bGqi8/nRdpKbbYm8dupiXmh/k2W1Kga9E8G69/3qd1c5xxt6+NervOPelkx/F2KVv6rAP/9aTzHl0UrvgfsLV/frqAcPvswjaXGnGxuTXyIxgZ81UyNfVLyj5P9I+WlCfsPXc3woceC6krYWYE1nj8ddZmX+O+bCnr+G8fzjwc++aviJOvRQCZQBOz97Y8EY8LB2lo3PsBgOSVxr80e1PFSQAGhkMYKwFcWm436XmaMCJa7Rj3zOoNrrItW8Y3d4l6drmPfI+m+2k1Xy2sqoDkZnjfimEP2m6rQNbnuNXCoH3Ke5xQ0eFXinMOa31zxpG35HrC3FsZ9qKAcPvswjWTe6V018iEaG/BV8zT2ESkmTlZZ7HbIERRJuzQAvTigxuM6XEkDgnuk+PQ0rlXhOwKyoWu77IqSy/FCOGgldKrujwRjwsG1Rb7fA+imyeT89dM8nCiFfgimL2MF4CuL9TLYwZqMEX7xi1HP+zncd7Gjb3zw2BbWWNIJvB2VibzyeaBj5zPjeScHuOdVySdtnbUo5J2089n3yg8yedGVHqq7rQDfzZZs5w9Uhe8B+0OOsg2VWAbffZjWxuPlvVYzH6KxAV81S2OvkeIWts6v0rj9rAbWbZVLAmk8rkNf9Wuubvv6JMWl3piRYsOQDjq7L/aBjWVvC7kj9TgPoMlU2R8JxoTF6pzfnetzCizkyS2p12FEvowVgK8s1koYB9czRmTDCpJ9zUFDbAtMa04Re0fAAml/fPgaaau80lxYq+E1sP3dAPe0VsWf6fEeRwqaby2KrqL42dGO53rSvnwP2C+U6hfG+e5D13sj/uFN09IM1cyHaGzAV2jsWhAP2OtWybuSLWivK03mBVC/WV3qsafAZ69Iee7mQNrHVLF3CVRxoM8thy1v042Docr+SDAmLKY52siZPu93JjaJmu9JHa0DiVYH6i+fxgrAVxZLjDo/Yoyo3aR40FWtrp3Hv3pqA+vj9tvovz2QfFf6rpT8g+LTHO+jjTnMt5573n71cF4r9c4pj8roe8BeuWyU7YWUc7hjCD60OCiTF2IuqKEP0diAr9DYtWCdIY40FcEn6R60fx4NVL7zVso7OCjOTym22xhI+9gg/gRWXQf4vqYbB0VV/dGHd2wo1xdPbDeak+CZHruXTwd+vzPqNzPQdl7lWDEtoL51l3G9MobEzzQnjBH9s0fyP9TtmaPOyz1t18fFzhvb2dH4OKfnTIl0Wt5B8Y1ir07+bsBy+b6bWetnHW58XcoJNGclhIC92vKOw5bT8OE3aGrJ8VhfW1NTH6Kx0dhobDR27YJJ8SCyHij0KEPHOBFAHa9VJOTSJmGhBOxdB0F9X0FZrjvK8oluHBRV9UeCMeEFY6wdX+/6uM/eWL182qJsfRifHmg7r3KsYDIR7rheJtM91Q+MEf0zV+xg76w+7+daGffF43b9xKGnXkb/f2lOz9lb0HzmnAy2Ks9VLl0c4mv6gbUx/8QXH/l4vlkIAfsOuyI7JhcDrWm4D5NBtVcez73y9CEaG42NxkZj1y6YtNEQrhe6dAwVtr6nxtkt1QTN6xCwtyYCVW2tvuqw5SjdOCh2B94nCMZU2+e/9jgJ13Gsc3DcUc/axmejflMDbedVjhVMJsId18tkmqf6gTFiMKzFRbv6vNePjvr+4Wmbnuko737Jd0eZrn79YDzn5YD31bH8vXHf33oY3z84bHDcM1+pDXWFZTxfv2qAK9Leke3rx4WQAvbxfnxeJu/SfCrttFbTG+jDODcljBW/efgQjY3GRmOjsWsXTHIFzE506RzHPK+jK+fi4QonYSEEJ4fEr4O3CNjXg6r6I8GY8IIxrrGnl0MFO4GL1+LfypovAU2AfR4rmEyEO66XjY/vOsaIwdhvlO9On/fa56jvEU/b8xax00RqYEsPuJtboI3zyI2/1nHfrAdD/pzSRpd56K/h1nVAJqfqUH/9LsUebDsIoQXs1e/6oSoerH0XteHhhvqww7FYmY96XM68fIjGRmOjsdHYtQsmpQWRr6d0jqee11G/eI+LnRetSELPYb/JUfadFZXHFbBnu01YVNUfCcaEF4zZPuBkXtMifIx+s9bDtlGXyUTVYwWTiXDHdSYTjBGDMl/snVhDfdzLNddZ72l7tnRxZ8V5XivMVbO9MZ6jHwQG/Qh+y7iv6sOsq2AfO/zl+2pGtdtpsc8eGPasrKEE7Gc72tNxKSaPfUg+lGiM75TxnKf9Im8forHR2GhsNHbtgkkbuwQ+RsWdFsf3bWBPpfyV2ctSXihbAmgb5xxlryoFkuvQWQ60CI8q+mNd+FGas9Vuo6PPb+pxonnB0/qN12Qy4dtYAfiqyZOJJo0RaZpiex/3ee+Y4/iaRsGVDmZM+s/jn2S94xmDjqsLHPfNemjwSMocK5TVjL+InXvfp7N2QgjYz3f0hR348JtYj6+Lo4rwIRob8BUauxZkDdgrp1IG7YWBTV46V5Hb175Lee62ANrGS7G32lbFTQkrtyj41R8JxoTHakc7ySLg10R/qysDhzytX0g5YUMaKwBfZe1zXxkjasFho843e7zHHMc7+YmndU5bFHQyx+e4drcOumvtrAyWfmhnSv13B9R2bxvlf+BR+UII2Fsf7K7jw/909Fhsvuzrx8cifIjGBnyFxvaKxdJf0LyXgP3qlEH7R0/togcyvZPqAudfJcytMbMd5b7kmaitcyqVOlJ1fyQYExYz+gxG6O86W/hXBSRsQpxM+DhWAL5q8mSiiQH7RWKnVuklZYtrK/tZT+t8MEVLzc/pGa4UhmMy2M7qhSnzo6zzycsp9V8XUNt17WDwJQe/7wF7V2xiDT6UpdJOG6tleRhpYx8pyodobMBXaGyv0MbQT+Cyl4D91ADF0RWZ+LpVRSd65XjuGc/b0xZHuTdXWKYHjjKd98x2Ieaj/V9D+iPBmLCY4mgnFzNO5I96Xr86bNf1cawAfJV1MkFKnPrwl1HvrT38/qQMloKtbO5J8Tl8XTsirw1431uO+45L9g8Bj6QeuzWniv3xwpeDjn0P2J8YsB3V1YeacqqTYkbfjbM87gNF+RCNDfgKje0VGujqZ8VDLwF75bMMdghgmWyOvfSXRBOWZLlfFVyGa9JfwKlqXCtXqhzwP0oYuxUI2PvbHwnGhIc15qTlp90a/c29AOpWhwOxfBwrAF81eTLR1ID9URkssOwKgM/2sK6uAGHeZ2QdcTxj7wD3XJ+iQ3sZt0dT7jM1sLZrHep7w5Oy+R6wt3Zfv2i4DzW911uZSAs52/P2X5QP0diAr9DYXnFJ+ssp2GvA3iWQvvfMHrNlIiC4L/o3V/B8ZoHlOOR45g3P29Nbo8zPKy7TuISxu4OAvb/9kWBMeFi7MVy5iXUc0g/X7wOYoNRlMuHjWAH4qsmTiaYG7JeIvUozS/DWlfrlrad1dR3IPir5riy+nrPuHops6lr89VsOc4IQx9E7Rh2eeVI23wP2VprNWw324bBM5NHWFfYLcr7/1IB8iMYGfIXG9opOwP5yj7/LY4X9Vyl361kWOl9r4weS7pbyt7u6grfPPG5LCxxlPl1hmaalCMbpntmPgL2//ZFgTD0msncck5Q3kThYEUjdrPE0pJWBPo4VgK960RGjjBG14lWfmsJ1gOsVT+vpCqLmnSLyL8dzhvu8XyctoutDwPoe7vVV6hOwt1YYf/K8rfli5zHxY1GcDz7UHPWPY89eVsD930r+5xYW5UM0NuArNLZXdAL2KmBGevhdLwF7Vz7hF57Z4meZ+LI8O4MgP1lgWVzbVn3+4rTTYaeNKR20aBYF0vaSfYqAvV/9kWBMeFgT+7fGO6hzxsWugOr2Sfz/ABnaWAH4ysV08TcoxhiRD1Yu5KsZfrfL0T9+9rSef8tgB7ZmZczxnH4WaW2P+eOM2Iu/egmmfU7Rs1MCa7e3PQ50+B6wt1ZR32igD3V8ux+LMawq4BkXpL2zZUYgPkRjA75CY3vFJelvhUUvAfsVMvgWxqKZJxNpe9ZnFJ8Pu9xTg4xDA5TpT8l3hUrRXHUI6WkO22j6ieUFl8m1/fcsXd9rfOyPBGPC4nIGAXBTwlzJYG0DDikllI9jBeArF0OGDT4wRtSK5WIvkOkWCHblnl3iYR0XOspaRFt2pZ3plaWR3vs76ofWTgjXzuMZYqfgeSruQPL8HOo+o0SfErDvHwL2beIHOW8o4P7bpLgz+IryIRob8BUa2ysuJQy0OuPvegnYH3MM2Is8skNnleWpDANa1lUdegjSowHKtEfCyL3ewToM1AqiTon+/c8SyrQ7MBuCv/2RYExYXDDqO2aIpFsB1u0Po26rAyq/j2MF4CsXVo7zOo4lTQ7YK1Ye2W4BrL+6jDM+8YuUkw5HcQXse1nB3jkAU4NyP7SuuT2Uv7Nq+L7xTNdHljxSK+qCKs09fLsknxKw7x8C9hOppvTaVsD9N8XeBasC8iEaG/AVGtsrkgH7rIfuZQ3Y6xfJj4YjLnpkg4MykSbFteXJdQisaxvpgRxe8HMczzzoYTtypZ45Zvytrm7XLanzSijXZSn+cC1oRn8kGBMWrq3z8XHvoYS1zbWD9cHqp0DK7utYAfjKxVrx43BCxohiOWnU/1LK30939I8bntbvpqO8awt41qjjWVlXBg5HGlB/sz36t22Oe25N/FYXbmjA7Y3YO5K3ijuQPMjHi06wXgOUa0ryqc8B+0tCwN5nH56KPW9fjvf9Tto7o+NpKV8F5kM0NuArNLZXWAOqnhLeLWifNWB/w7j/a/Fna9GqKIijL/3FKX+3podOtTK655kcymelxbnuYTty5eBKpjPprHgvK1/0cyEdTkj43h8JxoSDazVhZ+W9roycFWjdrstgh+4xVgC+ys76QHQYY8Tg+iNZf50gT+mhXfi6qEbrMN5j/QbhtsM2hzP8dkQmdi78Hvv3rOmHdN45mqIhNdXAJ8e91B79pE6cH81ti0or0oudfQnY3xC/zwpocsD+iJR71tmBwHyIxgZ8hcb2CtcXcM3ftSLld90C9hoIuWPc9430drjtIGgewRNROc4bom6RTGxF+bXLvaY6xO7rhPDQL18fIrGZx8rNLQ5B6RtXHO0onstxY8mCSEW5dXAvedqqoQ79kWBM+EKo005mB1w3a9zeEkjZfRwrAF+lsdmwwWXGiFryXrKvrDzs6B+rA/Ft1oN1++Go43kfu8wBN8nEruwrif/2XNKDv6rxbkq21bAHUvRBr4s7NkRlHpfuKWLzxteA/RRx77LwJSVuUwP2v0q5wfqvBertonyIxgZ8hcb2ihFxr4TorEZcYPzOFbDXl7J+uf3kEIZlrqy/7CiDfsnZJRPBwaxfce45bHQyEieaY1E/SGj+yrwOnJoS3TP5zB88a0cvxZ2iRIOrnTQnf5fYBqwDZ8mJVR116I9p/BJN9vV5p6T7YXUEY4plu7gP2JvvYXl7aT9Wup+dgfjFx7ECwvJV2e/aHYYNztXQ3wTs23615kEW1griL+JnysUTki2dTF4sSplXvo80XycoMSOasN+X9NV1Y4776XlfGjR/Jr2tQvxTBlsRrDn1L8V0xaoK/OprwH6HpAdxj3pQxiYG7LdKucH6olNbFOVDNDagsdHYXqJBs+cpL1zN9Xtc2kHQtTJ5dYIOvHsj8WOtaH5QgZCZ4ihL8noi7XxrWdibcXDK++CWfcYzjnvUdrLaWlegLK544rWBru51GwmhP1r8YDz3BMGYSrEC9ro7yccdNr22H2v3wNkavQfKHisgHF9V8a49bjxzXw19TsDeTrf3Uewg/KiEk3f1mdgrX4cKfOYN6S/A51rhnuW3h3son34o+KPLvHdLwkYapNddALoysrPLUz8uDFfkVx8D9tqHPnXx07gH87GmBezXSfnB+v9Fzw3Nh2hsQGOjsb0XqzfFTjfRy6UpdU63rqUVdoRudXjZo8gadgwO8etIAXWZFtkzmdIhpJfORyl3V8AU+fbk7ad070rbSF36o8UxR5snGFMd243ghK+HRvXafkLdPujjWAFh+aqKd+1FKW9lMmNE9e3+o3Q/0H6+o0/84mGdZjvKeq+E577vYd6oQcq0VazdgsD96j312Zs+5rm6SG1lxb6tOmA/EsUN1kcBlns92lA/iugq0o1RH1sczXnLoEkBe100OSblB+vfBepDNDagsdHYQaDbH/Trt66evxoJk4/RCz8ZeNMX5uPoZfaz+PPV7nwXkdDPioiDKffcW2BddovfeTLTVtLozo0FJZdng1GOVXRr+mNBWOX4QDCmUpIBe5+3s/baftZ5MtGsw1gBYfmqindtyAfQMUbko1WS27NdqSVGPKyPq6xlrGDTDxuvpHtg70oG250W90GxO3IInmj715SKt6P57pfYHPdzNM+9Es1z53ni26oD9qOSf5C3rHMAmhSwvy3VrK4/HqgP0diAxkZj14Juh876gH500O2RL6OXun5s0Bzmvw543z2RAP0SDaoq4IreSaBi8kWiMf/hka1nREL3Q8wut3IQ0f3ywJgMAP2xKDRfa/JL+VHP7N+0YEx8hcwez8vaa/uZa/jyVSB+8W2sgLB8VcW79r404/B6AvYT85sviSu5UtRKucguThtdMb076kdjsXeJzmEOSfbgt76PzkS/1XvoqvhT0XjYVHzNYR8CTT10Fh92B40NaGw0dm0Ere8B+7qxwmjQSzHLN6yWb78MzsIsUMI7UT9A6AeJwx6Wr2nBmAVR/XbUsP1YWym/0AWBd20hWKtIp9XQrgTss/PIsNV+zAIlQ7C3fwjY40M0NgAau/bOJGBfPsktoQ8wyTckD9dah0kACMbUjA+GP2dgFoBcmWL0s7pO3BkjsqG7Ba3cs3MxDZQMwd7+IWCPD9HYAGjsWkPAvhqmS/uLV7xhb8Ms/7EvYZvfMQnAv2gwYVfi2o5ZajVR/xGzAOTKImlO6hPGiGysNdrEXcwCnugAgr3ZIGCPD9HYAGjsWkPAvjoWy+TtI3o40mzM8m+njw/ef2ASAKgplwyRswWzAOTKRqOfXcUsjeaYcEAa+MFNsQ/hhe5YBz1ex4f4EI0NgMauCwTsq2VDonHfa7g9dJvaXzL56xxb1wCgrvxsiJzTmAUgV/YY/ew3zNJonkiYhxFC/bhmvJ/GMUtXrDQMel3Gh/gQjQ2Axq4LP0l7NbNeGzBHJeylgf/HrZgdNGXQMM0DAGrMOvFjOzdAnWGVHcQZMdrDbswCFXFW7KAlB/alM+yw2wl8iA/R2ABobIA8OSTksz8Vq/9zIVgPAPVnyBA57zELQK48NPrZMsxSOxZE79RuHEi0hb+lvdIToAq2ih20XINpUlnvsNtmfIgP0dgAaGyAvNkfa+RfpX0gVlM4Gqu7dvqZNAcokWmRqN7Zui5KOzXVY8wCJbWf94bQGcKsQF/JBQ3Ejsu3qQoI0NaHWVFbiuc/TlvZ+lJYCQb+ME/soOVBTJPKcYfdRvAhPkRjAxobjQ1QBNtijX5MmnGSeTxYrznrptMMoGD0YOMrreu2TD74OX6dwkxQUvu5Lhx+CPSVovjeeOYTXFMrzhk+PuT42+SKzruYDzzgsdGGX2IWJxoMem3Y7CE+xIdobEBjo7EBimRF6/ogE0H7dTWuaycNju4o2IvroSQ03ZIesq1bWE86Brh1mAlKaj8HjN8fwcxAX8kFK1XBRVxTKz4bPr7m+Ntnsb/52LrmYj7wgJ8c70fOVrDZL/6loMGHfvoQjQ1obDQ2QCEd8Has4e+sWf2mR5OpTu7QH3A5VMhd+XYr11TMAiW1nx8NsXMLswJ9JRcuGP1rK66oFVbA/oDxd/sSf/MTpgOPOGO0Y13QtA3TTGK7+LszFh/650M0NqCx0dgAhaGB+o9R419Uo3p1VtafbV0zcDNUzJvEQHMbk0CJ7WeqfJv/T3dXkf8P6CuD88yYTCzCFbXimuHjpLbU4PxXqe9CGKgHmvP8i9Ger7auhQ23jb63bxi20Q92+/AhPkRjAxobjQ1QBXqYVt2+zKtgWYlrwZP+lRxo9mMWKLn93DPuswLzAn1lIPQArq+JZ47iitqxWNoBGGuFl6a8ORb7dw2kccgs+Mxsae8QeWi8vx60rj0Ns8feyBbJlaP3pR3kHcaH+BCNDWhsNDYAANSPLcYA9z1mgZLbzxHJltIBgHdtdjaKvcoR6sdamdiR6roeSTu4DxAKugp4aevaIO2PUDulebtDOnXeGtnhewlrdTQ+rN6HaGxAY6OxAQAgQJK51z5gEqig/awwRM89zAv0lYE4bfSrn3FFbdFVrcelvUV7LLr+itreaswDANBI0NiAxkZjAwBAgLxKDDSXMAlU1H4+yLcHlQ1hYqCv9M1LYzIxgisAAAAaBRob0NhobAAACIg5xkBDbluoqv1cMO63FTMDfaUvFhjPfIErAAAAGgcaG9DYaGwAAAgIK9/bLMwCFbWf9cb9rmFmoK/0xV7jmcdxBQAAQONAYwMaG40NAAABcSkx0DzFJFBh+9EDuD4l7jneuqZjaqCv9Mw9YzLxA64AAABoHGhsQGOjsQEAICD+Tgw0v2ESqLj9nDME0A5MDfSVnrC2B7/GDQAAAI0FjQ1obDQ2AAAEwIgx2PyIWaDi9rPSuO+fmBvoKz3BVl0AAABAYwMaG40NAACBsTUx0IxJe7skQNXt5y9DCM3D5EBfycwzow8txBUAAACNBo0NaGw0NgAAeM6VxEBzA5OAJ+2HlQtAX+mfZUb/eYAbAAAAGg8aG9DYaGwAAPCct4nB5ldMAp60nxmt63Pi/v+0rmmYHegrXSFHLQAAAKCxAY2NxgYAgMCw8r0twizgUfv53XjGbkwP9JVUZrWu8cTz3gnpzgAAAACNDWhsNDYAAHjNFul+sjkBfKiy/agI+5p4zitMD/SVVA4bk5fDuAEAAADQ2IDGRmMDAIDfnE0MNhcS/32BtLdHjmAqqLD9nBG2HQJ9JSu6nf1D4nm67X0INwAAAAAaG9DYaGwAAPCbPxIDzsbYf5vZuv5uXfsxE1TcflRgJbce6gogth4CfeVb9hmT72O4AAAAANDYgMZGYwMAgP+MJgaczkFDehDRI+G0c/Cn/Vh5NvfgAqCvTGK6tPNoxp+lz56FCwAAAACNDWhsNDYAAPhPMm/hcOta3LqeSXu71xxMBJ60H10h8U/iefoMtiACfWUC8moCAAAAGhvQ2GhsAAAImFFj4NHrS+tahXnAs/azy3jWKdwA9JV/mWM85420VwQBAAAAoLEBjY3GBgCAALhqDG6fWtdaTAOetp8HxjOX4Qqgr/x7yFbyGVswPQAAAKCxAY2NxgYAgHDQr8X3pf0FWreM6SnrI5gFPG4/C6LnxQXTC+FwLGh2X1ltTCRuY3YAAABAYwMaG40NAAAAUDR7DOF0HLNAQ9HtuK/k20Ow+PgKAAAAaGwANDYAAABAKfxhTChWYxZoIKeNvrATswAAAAAaGwCNDQAAAFAWw9I+7CcuoHQb5GxMAw1igzGRuIpZAAAAAI0NgMYGAAAAKJvlrWssIaQ0h+FUTAMNQLfjfky0f922OwPTAAAAABobAI0NAAAAUAVb5NvVDxcwC9Qczan5RL7NqbkY0wAAAAAaGwCNDQAAAFAl+4wJxVHMAjXmmtHm12EWAAAAQGMDoLEBAAAAfOB3Q1z9ilmghpw02vouzAIAAABobAA0NgAAAIDvE4pfMAvUiMNGG9+PWQAAAACNDYDGBgAAAPCRI63rS+Lah1mgBhw02vYhzAIAAABobAA0dtn8HwytBbHnisytAAACRHRFWHRNYXRoTUwAPG1hdGggeG1sbnM9Imh0dHA6Ly93d3cudzMub3JnLzE5OTgvTWF0aC9NYXRoTUwiPjxtc3R5bGUgbWF0aHNpemU9IjE2cHgiPjxtbz4kPC9tbz48bWk+eDwvbWk+PG1mZW5jZWQ+PG1pPnQ8L21pPjwvbWZlbmNlZD48bW8+PTwvbW8+PG1zdWI+PG1pPng8L21pPjxtaT5pPC9taT48L21zdWI+PG1vPis8L21vPjxtc3ViPjxtaT52PC9taT48bWk+aTwvbWk+PC9tc3ViPjxtZmVuY2VkPjxtcm93PjxtaT50PC9taT48bW8+LTwvbW8+PG1zdWI+PG1pPnQ8L21pPjxtaT5pPC9taT48L21zdWI+PC9tcm93PjwvbWZlbmNlZD48bW8+KzwvbW8+PG1vPlw8L21vPjxtaT5mPC9taT48bWk+cjwvbWk+PG1pPmE8L21pPjxtaT5jPC9taT48bWZlbmNlZCBjbG9zZT0ifSIgb3Blbj0ieyI+PG1uPjE8L21uPjwvbWZlbmNlZD48bWZlbmNlZCBjbG9zZT0ifSIgb3Blbj0ieyI+PG1uPjI8L21uPjwvbWZlbmNlZD48bXN1cD48bWZlbmNlZD48bXJvdz48bWk+dDwvbWk+PG1vPi08L21vPjxtc3ViPjxtaT50PC9taT48bWk+aTwvbWk+PC9tc3ViPjwvbXJvdz48L21mZW5jZWQ+PG1uPjI8L21uPjwvbXN1cD48L21zdHlsZT48L21hdGg+ZxNp6AAAAABJRU5ErkJggg==\&quot;,\&quot;slideId\&quot;:313,\&quot;accessibleText\&quot;:\&quot;$ x open parentheses t close parentheses equals x subscript i plus v subscript i open parentheses t minus t subscript i close parentheses plus backslash f r a c open curly brackets 1 close curly brackets open curly brackets 2 close curly brackets open parentheses t minus t subscript i close parentheses squared\&quot;,\&quot;imageHeight\&quot;:24.050666666666668},{\&quot;mathml\&quot;:\&quot;&lt;math style=\\\&quot;font-family:stix;font-size:16px;\\\&quot; xmlns=\\\&quot;http://www.w3.org/1998/Math/MathML\\\&quot;&gt;&lt;mstyle mathsize=\\\&quot;16px\\\&quot;&gt;&lt;mo&gt;$&lt;/mo&gt;&lt;mo&gt;$&lt;/mo&gt;&lt;mo&gt;\\\\&lt;/mo&gt;&lt;mi&gt;f&lt;/mi&gt;&lt;mi&gt;r&lt;/mi&gt;&lt;mi&gt;a&lt;/mi&gt;&lt;mi&gt;c&lt;/mi&gt;&lt;mfenced open=\\\&quot;{\\\&quot; close=\\\&quot;}\\\&quot;&gt;&lt;mn&gt;1&lt;/mn&gt;&lt;/mfenced&gt;&lt;mfenced open=\\\&quot;{\\\&quot; close=\\\&quot;}\\\&quot;&gt;&lt;mn&gt;2&lt;/mn&gt;&lt;/mfenced&gt;&lt;mo&gt;$&lt;/mo&gt;&lt;mo&gt;$&lt;/mo&gt;&lt;/mstyle&gt;&lt;/math&gt;\&quot;,\&quot;base64Image\&quot;:\&quot;iVBORw0KGgoAAAANSUhEUgAAA3EAAABeCAYAAACNZp0yAAAACXBIWXMAAA7EAAAOxAGVKw4bAAAABGJhU0UAAABJzyRrqgAAHM9JREFUeNrtnQ+EFtsbxx9rrSSRJMkVSZIkkiRJZCVJIslKsiRJkkiSJJGsJImsJEkkSa4rkiRJXEmSxMpKkkiSta7l/t7n7nl/TW8z58zMO3/PfD4cv5/buzNnvvPMzPOc85zniFSLi4G2UgCtAQAAAPC/AK0rzb+BthM50BoAAAAA/wvQGrEBrQEAAADwv9AaEButAQAAAAD/C60RG9AaAAAAAP8L0BqxwXOt/+q4vnb72mo93HoAqBgzWu1Uq11GCgD8L0BrxIamar07IojT1u/Zta5rtbOtdt8EqeOt9k+r/Wi1F612tdU2EbyC5wHQllY73Wo3ZXIQ57N5BvR5mKhw36e32gnTV30/fa9IvyaMdtqvL+b9otqeabWtrTYLOyqU5a12oNVutNoj864fM+/69n0aabU7rTZkrqMPO8L/ArTOmkXGyb5mXpLBl1FQ7ODDr7950mq3W+1Cq203xwG0jvoYT0QEccMe3Nce80F/bwlWO9uoCeYAfEAd1D3mXRVl8y9b7XBF31/TWu14q33r6HNVgrhFRruXFn2ft9q+igQLPtrR3FY72WofErzng+0fE9StxY7wv/B10bobZpsP1ruUL6Oo9tGIvwyJ0bqDB+JnSqXuc/K245pGzEdwTsAxORpx/Ud5RKDmbHA4to9bbXVF+z611Y6Z91BY379XsM+rjKZReuu96MeOMkNnZ4dCHNBu2tMKfLt9tSP8L7T2Fn0ZnY3xMtLI+M+Ql84D829xhNeIegVao7Vhj6X/62t6j/fI7zOM11ttSshvey3Xv5ZXE9SU/WKfeRisaL/1GdUZiS+Od+v3Cms/6Pi+7MaOumatpJ95czX9dpzAjvC/8HXROg79JqK1vSg1tU3X9LRnRqJyVzUi1tHLtzFEP28cWLRuttazxK+UyuMh13HF8vtDlvv2F7EA1JB1jvfRxgr2uc88i59iOg3fK34PNjj6vxo7Ss1uyzcry3ZPwgf+sCP8L7RG6/845hgNOifhC1rjLEDUh/+VQ3Bd+DsNrRuv9UPxI6XyYMg1/O14qYxY7tkY8QDUDH1ebWkzZyvW317z3MYN3uoSxClnLP1/gx2lYl8BwVuw3a+AU1pnO8L/QmtvOS72XFPb1GSSKjJHHKNWZ9G68VrvlfqnVPZHvLAWO/7uX4I48IitYh99nV6hIEFT9dKmxNUhiFNHxpaOtBE7SsTmggO4druGHeF/4euidZAtDqHnJnA845QCXW8+emHnu4jWjde67imV2v/PEj6178I2E3ePmABqxi2LPd+sSPCmg0ajgYGWJ+Y9o0UqnnoUxInRvMr3oy52tMDyXdUZw9PmWz9bfs0e0TTdxSYo1SIMSSoVV2n9WV3tCP8Lrb1DR1WiFm3rB21ljGOk2c9hdcRozkW0RmuZnAIP0+mLVD+l8q6EjxbPjvG3ByV6se9iAagXthH7gQr07438THM+IOFpPVc8CuJ2WK7hB3YUm+ch/Xgt6TJFtCjKs4RBnC4tmIkd4X+hdeO1/q/qUdTDGHfWI+2mfIMNExut42NLqVxX4X5HpdhcTnCMcyGjVusEoF4sdDiiVSgFfSLG4Mhsj4K4JY7rmIcdpfo26axaTwbHHUsQyA1hR/hf+LrN1lpfOrYF3EtyFlu51xCx0ToZNsfpcoXv8UhGjoZ+BLfJ5PqCplWyAj/Y4nD06lSk6I0nQVyv4zo2YUdWdL/AzhmGUxkeX/dk+xoziNOAbxp2hP+F1o3VWtaIfQNHKUBsdVb/aYDYaJ2cqJTKzxXtb9Ts4Sv8eWggO8WfIj13PQniROz7NO3AjqwclfzXf2nWRdwtCwaxI/wvtG6s1r+9kILtTkFiixHYd7HROjm28s1VSy/U0afRiL4ewZ+HBrLHk6BHzDvalyDuu9Rrw+aq2FGP/Fq9VIuS5DUTdiJmEHcbO8L/QuvGam2tMHStQLEXNkBstE7OHKlPSqVtofd8/HloIPsI4moXxB3CjiLpXO/cn+O5tIrlqFR7LWad7Aj/C6295J5F7KsFiq088VxstE7HY6lHSmVUKfLX+PJAEEcQV5Mg7iJ2FMsG7hZwvkMSbzauDzvC/0LrRmotf0o2e31kIfYBz8VG6+76WuWUSlulrnP48kAQRxBHEFdrO9JCHu01NrpebVEB57Ttl1qF72Cd7Aj/C60bJ/ZowWIvbLBho3U0c2rwoThn6eNGfHkgiCOII4irtR0FK2ReK/Dan8cI4jZiR/hfaN1IrZ0fpqUFiq3oIuEpaI3WHUSlKlYhpdJWTldHbtkeAAjiCOII4uptR8GBukUFXnucjeYJ4vC/0LqZWv83omQT+1bBYvsMWqfnoFQ3pXK9pW9PMHsgiCOII4irvR2112bfL/ja98QI4jZgR/hfaN1MdsV4QWxGbLQumbkV/lhctvRtCLMHgjiCOIK42tuRFmQYkXwrUoaxLYbfsAQ7wv9C62aySOKVsF2J2GhdMlVNqfxiuZ9bMHsgiCOII4jDjlKyxWF3WvikBzvC/0Lr5vI2huBfZXIXdsRG67KwlVteW1Kf1jru5SxMHgjiCOII4rCjnIK4N9gR/hdaN5vDEm8vkvFWG0BstC6JPyx6XSipT7aqlJ8xdyCII4gjiMOOumCrw+6uYUf4X2jdbKZKdHW9qH2vehAbrUvg7widPpXUn/eWe3fbQ/11U1ldRL9bJqumPWi1bwn+XqtSXWq1DzJZuVPvm64bnFFA35e12hGZXFSto4Rjpg/6v69Mv8LSOxbLZI6/OiXXZXIj01Hzd2UUFFhk+qNrdLSU85fAtegHUUc3dSPik1LeWhmCOII47Cgbdjrsbjt2hP+F1jCQQGxtz2RyZgSx0boqoztrCu7Lcsd9O1FjnfVlusI4COeMA/s54jofxjjeTBMARWn11vwma/SYx2SyIEHc5+1WR1B51/LbeQXdD93r5oxj0CCqPTYBLM43QRxBXP04Zbl2HbiZgh3hf6E1KDcSCv41MAqE2GhdBPOkmJTK0RTOcjdtXsm6rmq14612UybXWEwk6LsrWF1jCQCD7VLGwZsGPWPyexGA2+ZZmis/R/7+MAME7SI1WkSnvb/fWER/XxZ0X+5L+MyzOkmaajU7cB06U7pJJmcWO697D843QRxBXO24abn2G9gR/he+LrTREZ3HKRzQ64iN1gWSd0rlnIIDuB81cFBtzbZP344EAeE/kk2Vtb3mQ9B5/GETuNnQYO5DIDi1zbaezfF+LJDwGUCdsRyIodPsiD7vwvkmiCOIqxVvpHoFveoexOF/obW36M7mD7t0ShEbrfMk75TK7QUHcXcroKnO+Gwwzr/a5ULj8L/rIvDamUKLRV0G32HP04eEdtGuOKqB4AFLX/PaL0qrsI7L7zNpxxIEuQsj+jwWI5DF+SaII4irjo8Qdd0vsCP8L3xdCEPTiK51Ibam/yxARrTOiflSfpXKHY77MuyJ1nNMoBZ1nX9F/N2mlPa8ImU/NaAKS9l8Ium2eXhp/v6L5DtrGGRmxIdOr2t1ikCwjBlEgjiCOOwoO2yVKbdgR/hf+LpgY78kWxvTOXJ8XvIpVoDWaP1Cyq1SeUmqWzEsa2ypEEdDfq+BWHAd2SNjn59j2HFfiv5FzZZp5cy0i/6vOPr6Z8Yaa+GR0Qh7XpjieI8sfX+N800QRxBXC65GXPNz7Aj/C18X4qAlt99L+uhZH/IjKZ0ztEbrKI5IuVUqn0q1C5VkyQPLda7q+O0c+VlWWGergvu/rBJ3FcWkDFmONSUn+9J2MEN9+yOcIf1vy1Mcb6bjIzleEef7W82eA4K4agZxdbOjuPRa7tMK7Aj/C18XreOi+ayXpbt8Vi3xvRkp0TojFliu/3zO5+5xOMlfPNP6q0Svr+rp0OWZ2NN9LmUYfF+U6O0Kut137oTjGVuakbabJTpddVPKY7pSfccq4nzX7TnxKYj74lEQ59v7ts2uiOu9gh3hf+HronUa1ncZPbfX0JDXitZZEJVS+THn87pmlG55pHGvxC/IEpwVOxxxvLBKVVqdcyBhv6Jm4HRUfn4G132pAKdxo2Uw4EwXx90Z471QFBct/Xhes2fBpyDuZc2cb5/sKC7PJHx97EzsCP8LXxet0zLVOFATXQiu6Ty6J1UPcqJ1FxyTclIq90hxqXZVeMFGXeehiN/djnFcnWUabLVtKZySg5L/Yn/bAuybGRxfC5XY9p/r5nmd53hnrCzQfmwjrXcI4krjnuU6Llewvz7ZUdz3Q5az89gR/hdawy8slsnKb91Ez7oh7RKkROuULJRyUipdm1eu8Ujj4+KuJKmpix/lZzn/PEeKN1r6czXD89yV/Eoda5AVlYakH7EsUjWPRHzkii7TbNuouG4VXH0K4vIepMCOuuNpTYKiutkR/hdaQwc7Ag5c2uh5EBnROiWvpPiUyreS/4bVVSFqb5fguqrgKPmGHPuyQKIX0n+S7tfBBbGld3Szz5ouxLalIGW5RcZq4+DeMMF4GcV2nlmudVfNngWfgrhBqVd6ok925GKLhO8J14cd4X/h66J1HkzpMnLWdg4Z0ToFtpmiVTmcb6pD20ceaavr4aLSG24HAoX2f7uWY196HMHPzoKu+12Xx7at7dG1gTMbYj//Sv3WMPgUxC0SexnvXuyoFKaGDCB9kepWO66THeF/oTVY6Hx40wh+DRnROsOPSB4PsGsT6yGP7Gyz5Tr3m9+0Z0K/5hyAnLH05VnG51or+azzWOewnVOevad2Wa71aQ2vx6cgTnlhuZYB7KgUhkK+7+uwI/wvfF20LlLsvcbpSiP6eaRE64REpVR+yOFcxx2a+lTu9rzYS+wPdthhXixzaJ51oY4DlnNtTXlMTYUaEXsa7izP3lO2mdN1Nbwe34I424DUS+yocMKKmQxiR/hf+LpoXbTY7dQmXaT4PIXge5ETrRNwokAH3+XIzfDIzqLW/umsW68Jkov4UNucuD8LdtbT3t9jDru54tk7yjZzerKm1+RbEKectVzPWeyoMPS9Mlrj66u6HeF/oTVapxC7jVZK+yeB2PpbqsugdVyKTKn8ZjnXO49sbK7Yq44Fy/znORq+z2G/yzM+n669G5dsR5VnSHRBljzXb5bBFBOQRgU5dV5s7mMQJ8a5+SHR6cNTsKPc6ayGO4wd4X8BWldFbGVpyEiTrb1EUrROwBvJP6XyD4eO1z2yMVvVMf1Ytxff382xD7rI/5MUW0SmX7JPyXDNwo14YC8a/O6S8Kqe+vHUgi5zan6NvgZxYu7NuQgnXO/pbimm6m4T7KiTzhT9W9gR/hegddXEVnRE+mECwXchK1rHpIiUym0NstfbYk9jai80XpRjHw479F6fwzmHJdv1juqwfBZ/K2jpesXT8ns56Anz/tkr/qQY+xzEtdG1m1re+6b8Pnv8wdzrZdhRZnSuJ7vnyXWVZUf4X/i6aJ2j2EpvjI9hXlXn0NpfrRcX4CSfd2i42BP70sAjKi1Gy123q5HlmfLT6wh+3uV0zqh02QlJt0/T5hjPXn+NbUVH3o+Y+9G5j6A6cANSzf2tCOLCmS6TKcyP5PcCAm/NvZ6DHWXC8o4A5774U5K/LDvC/8LXReucxW4LHjdynoO0aB2TqEIcoxkd/5FFuzGP7GuN5To/BYKaPPcuGnTY6uEczrlDsi9lfkvcefq+bA6/XcIrcOqAwJCQTllldA3sBQlfYzJi7i12lB3z5NdU8Sfix5qxKtkR/hdao3VOYiuzZbLKnUvsbUiL1jE5KfmlVPaIfRHtbY/s62QMW7mccx+ein0T2dk5nPOxZFthzWUzvm0Or/QZ26CwSX3YI/aCFH3YUabM6ghSdWZgmgfPfhXtCP8LrdE6J7GVIzHEHkJatI7JUskvpXK5Q7tjHtlXnPK9ea6FW+g498Mczunai25TimOui6HjsKfvKFtp+BMEcZXBtpb4DHaUObp+J7hliv7/mR4871W3I/wvtEbrHMTW0SfXSPUNpEXrBOSVUrlb/F3XFGR6jBfg/RIdAm37cjjndbHP/KVZq3I0hpY7PX5PvZBii9IQxCVjreVaXmBHmaPf4GCGgX6rZnnwnNfFjvC/0No7rdUx6StR7DgfxrtojdYJOG25vhUVc/KryPYYgcfanPvwt+P8f2R8PtfMX9r1cDdjaLnR4w/wTvFrcblvQdwzy7XswI4yRb/9D+TXQUVf1uXUwY7wv9DaR63/S+XJygFNK/ZBh9h/ojVaJ8CWFtfNFPory3Gfe+R4X3XYSN4bmrtmAvPYU81VfCSt3TyLEcTN9ziI65XfK9MF2wKCuNKYX6NBqbrbka6NvRfo78ccBqKwI/wvfN3maf3/PZE2lij2lgYZNloXw7uI63uf8nh9DifikkeO9yeHjRzN+fxbpdgN1V1r4dLuDyfy+/5IYW2K+I0tkK3bfj0+BXEDkv3MM3YUTnBGXrdNWejR810XO8L/Qmuvg7jzJYrd7xD7HlqjdUKyTqnc4NBtqye6LXVcpwayc3PuwylHH7KuSvcixjVPTXnsiRhBnO/YUkqvEsSVhm3G/QZ2lPl3X9tX8471ibrYEf4XWvuo9f/F/lCi2OsdYt9Ea7ROiK2SZJpKWYelGXuOHHJc54MKOMobMjzXAfk5Oh61yferLo5PEBddJr6O6xJ8CuLuSnnbhzTFjoY6bGNlQeedY/yCHuwI/wutvdb6l1Gi9SWJ7ZrlOI/WaJ2CEckupfK2RbOPHml232EfRaQtvXT0YUZG51kgP9Md9+XkiIwTxMlF8WctqU9BnG0G+iJ21DXBCrtjrbamwHO31/gux47wv9Dab183KPb9ksR25a5uQ2u0TsFZyS6l0rZOzJdStboI2VaWV/+tiPVbPxw2msXocl8gWLxm7D6PZ+JbjCCuV/zGFiB/IYgrjS81C+LqZEcHO96bRW4/036XvcKO8L/Q2n9fd7jjwpaXILYrhWsuWqN1ClZINimVs6X4PcvKYLPjOu8U1A/X7FUWtNdxaAEc3VPmchfPxDTLvz2MEcQtaXAQ940grjS+exTEVcmOOvcT3VzgubVS5Fdz3gPYEf4XWvvv63aK/bwEsW051c/EH9C6eN5L9ymVrmqJKzzR6oLjOgcK6kfe6Yftl7sGi+0iA1HbR3x2HEuLrGg6bVS1uesxriePojjTzPN8TsqvfrlP/NlXjSAOO0ryrShyjzTdNLy9hEBn/2ZgR/hfaO2/rzsccoEHChTbtbP6LrRG6y4YyiD4OmM5hgYCPZ5o9VbKT6VUxhyO8swujh3cyHyP+W9TLee6FcNh0/5GjTTujhHEZZ2br8/5Y3PsRzjfBHEEcYWg5dQnQt4vRbBUfl0DfhM7wv9C62b4usMRjunqgsQ+bhH6jWcBBVoXTxYplX9ZjnHfE53mOpzTIqu/fXD0ZVPK424OvNgvdfz3qHMdjjjWhsCxbDNp82MEce8z1E5H358GjjuzArblUxB3jyAOOwphXcfg06Gcz6cDhwvMoNRd+b0K7nrsCP8LrZvh6w5LdBrR4pzFXizRo+76UlqF1midAaMR1z0S8+9ta7ROeaLRoJRflbKNa7bjQopjBmfEHsqvs6e2PQXDNitdG3iWjsc49/MYgVwWm6Lq2s12pbivKd4pBHFu3hLEYUcdrHJoWXR7jx3hf6F1c3zdYcsD+Dlh5JxEbB2hto24D4p/oHU5nLNc+zLH3y6RfGaFqoZtCwV98c0osC/HHJr/MAFLHLTy4/nA32qQMz1B0NhZtGRNwGm5FrMPAzEcrzfSXZVK3X/qo5RTzrwpQdxUce/7NyH1Sa8miOuepfKzkEhV2nHsCP8LrZvj6w7H+Cgdjflhiiv2TsuLb8LjoAKty2GlRfPTXTjgE+JHefgesZf1f1xwf5bFcFQei70qpJgPxevA3+gsyqyQ39le+sFncWtghO9hwnv/OsY1DXcR9LaDC5017q+YffkSxA1KPCd6HUFcI+xogXFI/61Ym4cd4X+hdXN83RkxBG+PFO/oQmy9Wbovw9+Oc6wQf0Hr8ohy1N85/u6K+F/haI3DHg+V0KcXEi9taH+H0zLPPA9POn77MiKAE7Gny+psm+43c1V+nc2blvB6lot7FqddSGV6zGNuMc9x0JGtYgDhQxCn93skphP9gCDOezvSNcQfKxjAPcCO8L/Qupm+7vIQxyes6YtL05M2hzgynWL3mt9ddoxYfTaOYo80A7QunrQplbaXwxlPtDnpsMP5JfRpfYaOzUOxp4MmOdYbSzDoIu5Mjj6jp0xwHZzt0/Nq+u5p+X3rDF33ubSi9lX3IE5Tdx8ntJOLNXjHEsSlY1aCgL7oth07wv9C60b7uv85Dg8SvDTGjAPRWcHvk7hHnl+aF3OfNBO0Lo7Vkjylsteha78n2jx32E1ZDEv3Tk2cQHs85rFedRHAtdmbg+N2N4N+EcT9ygwTMKsT+kPSF5g4Yd4TVXzvEsQlZ6ZE7ylZdvtaksNaNzvC/0LrRrDAfIBeZPiSmTBRuR53qQBaF0tU+ktUSuU6x0vGhxGe6Q47Ol1i33rFvr2DrekatLhVqOJUj3ws2RV3WSvRm9AnaZoivKMGNlaHIG61cRC+Jgjqk7Zxc3w9zzaCuNrZUU/Md0VZ7Tx2hP+F1hDl6On0pU5N6hqRe2Y06ptxZsdDouNxExHrppNHzahmH1KidYlckGQplfstv7/piSbbHS/IKpTj1Wpr/yQI3nYnDLAPOD4Qp3II2PvMMz6aMkDdL/UpqlOHIC7L9N04bWcFrpkgLvkz+2+F2xLsCP8LraEbqvaRQmsIstq8BMLayZDf37J8nAaQs1B0XdIRmUzJ+G7umb7odXb1jgn0lndx/IMyOSPbPq4GSkNSzHrAlab/t00ffgTs8kfgo6V9XFzDe+fTPnE+QRAHBHH4X2gNiI3WXhI1S6KzQtOQBwDnG+cbO8KOCOIArREb0Lo6zLB8mO4hDwDON843dgQEcZgAWiM2oHW12CKkUgLgfON8Y0dAEIf/hdaIDWhdG85YnIVe5AHA+cb5xo6AIA4TQGvEBrSuFlGb+15AGgCcb8+d7yPYEXhqR/hfaA2IjdYeY9vkezHyACRiEOe7ds73IHYEntoR/hdaA2KjtcdErYd7iDQAiRkQ+wbYUA62vRcHsCPw1I7wv9AaIhgMtAXIgdY1ZTjig7QWaQASs0nsmxT3IFHh9DruySbsCDy1I/wvtAYAT1FH4EvIx+gZ0gCkYp7D0VuGRIWzxHFPFmBH4KkdAQBADZgmyTfl7o/4GK1GToDU2NbNsGVH8eyw3I8x7Ag8tyMAAKgoGnC9CXxMPpiPTRxuhXyMbiMpQFfcsDh7N5GncG7W9H5gR9gRAAB4ilaPHJN0+flz5PeqlDryOxdZAbqi3+LsaWGEmUhUGNPFXoxiC3YEntsRAABUkHuWj8ojx9+eleaUSAYomteWZ/Ms8hTGWct9eIcdQUPsCAAAKsaY5cPy1fJ3Ots23vH7O8gJkBkrxF4EYTMS5c5Gxz1Yix1BQ+wIAABqFMTdsPzd7Y7fvpTkRVEAwM5OsafD7UGi3Ngj9vS3PdgRNMyOAACgQjywfFxWRPzN3o7fjbTabKQEyIX1rfbe8pw+FqrBZslqo2mU3iPmnmBH0EQ7AgCACn3Yoz4yvSG/393xm78J4AByR/djHDRO4UTE86qz4YdbbSlyJWax0e5lhLaqua4R3iX13iQbO8KOAADAI05FfHAutNoU87HRnP07Hf8+bP4dAIpD05Z1HdMxmUx51uJEOsPyTSbTo8eRKDHjRjvVcMRoeq3Vjshkld4p2BFgRwAAUEV0zcQnsS++brdnrbYOyQAAAAAAAMqlTybTPHTT0VH5ORqre7/p2jktkbwcmQAAAACgSP4HYkWJOCXRAugAAAEadEVYdE1hdGhNTAA8bWF0aCB4bWxucz0iaHR0cDovL3d3dy53My5vcmcvMTk5OC9NYXRoL01hdGhNTCI+PG1zdHlsZSBtYXRoc2l6ZT0iMTZweCI+PG1vPiQ8L21vPjxtbz4kPC9tbz48bW8+XDwvbW8+PG1pPmY8L21pPjxtaT5yPC9taT48bWk+YTwvbWk+PG1pPmM8L21pPjxtZmVuY2VkIGNsb3NlPSJ9IiBvcGVuPSJ7Ij48bW4+MTwvbW4+PC9tZmVuY2VkPjxtZmVuY2VkIGNsb3NlPSJ9IiBvcGVuPSJ7Ij48bW4+MjwvbW4+PC9tZmVuY2VkPjxtbz4kPC9tbz48bW8+JDwvbW8+PC9tc3R5bGU+PC9tYXRoPk1hiNMAAAAASUVORK5CYII=\&quot;,\&quot;slideId\&quot;:313,\&quot;accessibleText\&quot;:\&quot;$ $ backslash f r a c open curly brackets 1 close curly brackets open curly brackets 2 close curly brackets $ $\&quot;,\&quot;imageHeight\&quot;:15.04},{\&quot;mathml\&quot;:\&quot;&lt;math style=\\\&quot;font-family:stix;font-size:16px;\\\&quot; xmlns=\\\&quot;http://www.w3.org/1998/Math/MathML\\\&quot;&gt;&lt;mstyle mathsize=\\\&quot;16px\\\&quot;&gt;&lt;mo&gt;$&lt;/mo&gt;&lt;mi&gt;x&lt;/mi&gt;&lt;mfenced&gt;&lt;mi&gt;t&lt;/mi&gt;&lt;/mfenced&gt;&lt;mo&gt;=&lt;/mo&gt;&lt;msub&gt;&lt;mi&gt;x&lt;/mi&gt;&lt;mi&gt;i&lt;/mi&gt;&lt;/msub&gt;&lt;mo&gt;+&lt;/mo&gt;&lt;msub&gt;&lt;mi&gt;v&lt;/mi&gt;&lt;mi&gt;i&lt;/mi&gt;&lt;/msub&gt;&lt;mfenced&gt;&lt;mrow&gt;&lt;mi&gt;t&lt;/mi&gt;&lt;mo&gt;-&lt;/mo&gt;&lt;msub&gt;&lt;mi&gt;t&lt;/mi&gt;&lt;mi&gt;i&lt;/mi&gt;&lt;/msub&gt;&lt;/mrow&gt;&lt;/mfenced&gt;&lt;mo&gt;+&lt;/mo&gt;&lt;mo&gt;\\\\&lt;/mo&gt;&lt;mi&gt;f&lt;/mi&gt;&lt;mi&gt;r&lt;/mi&gt;&lt;mi&gt;a&lt;/mi&gt;&lt;mi&gt;c&lt;/mi&gt;&lt;mfenced open=\\\&quot;{\\\&quot; close=\\\&quot;}\\\&quot;&gt;&lt;mn&gt;1&lt;/mn&gt;&lt;/mfenced&gt;&lt;mfenced open=\\\&quot;{\\\&quot; close=\\\&quot;}\\\&quot;&gt;&lt;mn&gt;2&lt;/mn&gt;&lt;/mfenced&gt;&lt;msup&gt;&lt;mfenced&gt;&lt;mrow&gt;&lt;mi&gt;t&lt;/mi&gt;&lt;mo&gt;-&lt;/mo&gt;&lt;msub&gt;&lt;mi&gt;t&lt;/mi&gt;&lt;mi&gt;i&lt;/mi&gt;&lt;/msub&gt;&lt;/mrow&gt;&lt;/mfenced&gt;&lt;mn&gt;2&lt;/mn&gt;&lt;/msup&gt;&lt;mo&gt;$&lt;/mo&gt;&lt;/mstyle&gt;&lt;/math&gt;\&quot;,\&quot;base64Image\&quot;:\&quot;iVBORw0KGgoAAAANSUhEUgAABc8AAABuCAYAAADxlutWAAAACXBIWXMAAA7EAAAOxAGVKw4bAAAABGJhU0UAAABFxpIngQAALeNJREFUeNrtnQ/kVcn7xx9JVhJJkqxIkqwVSdZKliQrH4mVZK1EkiSJJFlZka8kSSRJkkiSJLGSJIkkSRJJkiSSJMmHvvfpzt1O5z5zP+fee/7MnPN6cXx/v+1zz5l5npk573nOzDMiAAAAEAO7W9eX1LULs0AkbXU3ZgEAAECrAqBVAQAAACBvdhoCbw9mgYDZY7TZHZgFAAAArQqAVgUAAACAvFhvCLtDmAUi4KDRdjdgFgAAALQqAFoVAAAAAIZlmSHoLmIWiIgLRhtegVkAAADQqgBoVQAAAAAYlDmt621KyD1sXZMwDUSEttcHqXb81rVvAAAAQKsCoFUBAAAAoC8mtq5HKRH3rnXNxjTA5BoAAADQqgBoVQAAAICmckK6tw+uwSwQMWuNNn0cswAAAKBVAdCqAAAAAJCV1YZwO4NZoAacMtr2aswCAACAVgVAqwIAAADAWExpXa9Tgu1V65qKaaCm7fs17RsAAACtCoBWBQAAAICxOC7dqx3WYhaoEWyJBQAAQKsCoFUBAAAAoC8WGELtJmaBGnLDaOsLMQsAAABaFQCtOhR6aO+e1nVF2of4fnbX+9Z1rXXta10/4WIAAACIkTuGSEPYQB2Zb7T1u5gFAAAArQqAVh0ITS1j5Wz3XZda14+4GgAAAGLhD0PQnMQsUGM4kAkAAACtCoBWHZ65reuFZA+cd663retXXA0AAAAx8CglZEalveUOoK7Mcu082e4fYxYAAAC0KgBaNTMzpH1o75cBL03nwg4SAAAACJp1hog5hlmgARwz2v46zAIAAIBWBUCrZuJWomya53xV65qS+HdN56Ir5s+JP4CuH8fG4e7q0S0ER9w1H3MAAAD8xz1DwMzDLNAA5hlt/z5mAQAAQKsCoFXHZIMrkx4IujbD3y9qXS/FDqBvrLAexIwdyxIO+Z3+BwAA8JUlhnC5ilmgQVwx+sBSzAIAAIBWBUCretGV4s9def7q43eajuatUaebFdaFmDGGAAAA8HLREC7LMAs0VCN2rkuYBQAAAK0KgFb1MuLKcnmA32416qT53ccHYGOC5xgCAADgP2ZK9yE0zzALNJCnhnifiVkAoGGMxwSAVgVAq2bkrCvHnAHfN++lO4D+a0V1IWaMIYJkVuTl/0Hahx4AAMTMbkOw7MEs0ED2GH1hF2YJhp2Gf/4KsJyTW9fm1nXBTQg1/+dHaR+ktcv9O4CiB6mtkfZBcLp68EXr+tC6PrWuwxWU5xfXTv8t4VlHXD21vi9d/U84e0zDV18DSqvc89Qf79yzOuPJCzfG6HtrQQN8hVYFCFOrjnNjw8kh7mEdIFpVvLaRMePFretv91J54V4yya+Vo+4loC+iB+7v/iftLQd8bS+Wme6lq/mNfoi4HsdcHf7EpQAQMY8NwTILs0ADmWX0hUeYJRjmGP65HFgZt7u5xZce12shn37Tme7mEZ89bUQDEZtKLM98NzfrPL+M4PlGV0+r/jpPPyNh7Pwp21e6MGuf2Csxe116kObKGvsKrQoQplZd4MowzEe8A0adlpdQ9sbHjDe6xmMN7p9TL7rRHn93Uhp+umpBrEtMKjZGXhdtH89cXbQjTcG9ABAZC4x34C3MAg3mltEnFmCWYHhgaPZJAZRLy5A8yEsD5JsTZfstVe6PzDMa/d597ZmD3pf2at6yJuWz3Jw3XY5/S3q+rljU1dW3PfZ464IbTfHVSI/nZb2KmpNW6Su0KkC4WnW6GwuHYYNRnyJ3tTQ+ZjzfvcTSldLgpm7zmSfdS/D1ZadfNA6Jf5XIAfeygOGY2LpOJxraqprUa2pi8NIThn/G1QAQEfuM9942zAINxjq4aD9mCYa/Df+sq7hMGiC/nZp7zEj9zVyxg1zQLLStvPDMObeWWA4NShwU/2rqfyuwzUZPeV5JNamOyvbVNhkuaJ5ehTqjRr5CqwLUW6vuMMaSIiBm7CqT3kr0yTkhWYle+Wv0BblX7C8LV+ifQ/GjfFsp9FHK2YJRJvph4GqifitxOQBEgrUN9kfMAg3G2g77GLMEwzzDPxcrLlNyxbnOR+Yaf3PMKPdH3Nk49ngm3mWlaOnMd30pOKoMnitrPeXZW3NfbZD8AufJAPqUmvgKrQpQb616PFWXEwU8g5ixtLcnfEwVXHOE/WL8bZbk73qq6xvDGDAYi+Tb9jNtZCtqWk/N3X410V7W43oACBxrJeR9zALQlRpEr3mYJRjSgZTPUt0ZOumV8Ds9f3fJaFPvcGXjeGK0g7slPHeCtPPxW3PckILnyk2xVwXW1VeLpTvH7nlpp0GYLd+COvq/mld8tbQDSx8lWwqX2H2FVgWov1a9kKrHkpzvT8zY8dAo9FrP32Y9OXWhdH+VgP5ZIt8fdrK25vXViVsy/9QGmgAABMwW4/35P8wC8LUfpPvGFswSDHv70P5FsihVBk3x4Nu2u1vsbb7QHGZKNavO/5J2akk9UHKzK4e20z8lzOC5r1xzaugr/aiR/BioPsoa/NJV5Udk7AD6ysh9hVYFqL9WTcZei/g4RsxY7O1C93r8fVZDdIQGwfPB0YORkl939jSk3tOcQO3UexVNAQAC5YLxDl2BWQC+bu0MLTUIfMM6PO5cBeVIT8Z29vjbCakxV1eW/oArG8UqsQONPxX83KNir65T/pXwgue+wPWqGvoq+VHt2oBjwjrpHTy/F7mv0KoA9daqv6bqsDrn+xMzdlhbILfnZAjlhhA8HwQ9NDO54rxpByLpV6jOISqfeghWAICq0FVn6e1rOm6NxzQAX/tB+jC0j8IB8iHxtOLxK52jWFMtTMvwu9kZ/w7qh7VKd7TiccU6iLHq4Lm4+VO6TOtr5is9M+utu7cuvBomP/l26R1A/zlSX6FVAeqvVY8myn+jgPsTM+4xWP+eoyF+EYLn/aITglcJuw0rBmJlp3x/WjATJQAIicXG+/M6ZgH4j+tGH1mMWYLhgOGf1SU9Wyemz1LPvoxLYAw2Gm32Q8Vl8h1UWXXw/K1Um+aoDF9tStz7txzud0f8wfOdkfoKrQpQb606Vb7FdPV/i0jPRcxY2iedWi+HZTkaQrkvBM/7mUzcSvljeWR1UPGSV4qZe7zooSFYK3TWYJagqXMOyTzHcWiuL/YbfWQr43YwLDLKf7akZ68xnv0X3R3GYLPRbt5XXKZQg+fWQWxHauarzpz5fE73Wyn+4PnZSH2FVgV8UW+tmszbXsT5H8SMHUs9hliRsyF2CMHzrPxT0SQmL/RLl251uZ3T/dJfy7fRRKCmEDyPj3NSbT7RWMZxaK4vVkt1wVnG7Wy8SJVfVxeVsZ3/hmG7qXR5GAOC59mpe/B8hnxLBZPXSktdxPbW488bkfoKrQr4or5adZ4bA7XMpwt6BjHjMQyxNWdDzHdiHHrzs3TnhZsVUfn1q9QDV/Z/crzvFfl+u99smgrUEILn8fHc8Fns6aWKGsehmb6YavSRF4zbQXFQyg+szJZyD+SD+kDwPDt1D553xt+8g1znPP58Hamv0KqAL+qpVcfJtywN+uGiqAPUiRknGnu/J0oPYgjIxr2UH45FVHbtvFcl37xzvg57iaYCNYTgeVxMCHACH/I4Ds31xTujr0xg3A6GJUYdThf8zN3GMw/S7SEDBM+zU/fg+Wl3z0U5l/t/Hn++itBXaFXAF/XVqp3FD3p+TJEfxIgZJ/jkMcbGphkiQOG1IKKB84IUe0LxU8meYwkgRgiex8UKw18XIhfARY/j0ExfXJT+Dhli3C6fV9J9qF+Rbe6BYbcRuj5kgOB5duoePNcx41AB5f7L488rEfoKrQr4op5atXNuzMvWNbOE5xEzdlz2GOKT2AFKguf5o7kl01uqHkRSdv0SdbWEl/K+1DPu0mygZhA8j99fxyKtS1njODTTF0elvgdD1mXcPizlBbPneeYdU+j+kAGC59lpwoGhZY3rRe/IKcpXaFXAF/XTqr9K+2OFppKaW9IziRk7Nor/VOmPhngmeJ4/mwzb742g3JqP3Vo9tLmgQaKfE34BYoPgeVwcN/z1Z4T1KHMch2b6whrbjjNuB8VvRj1OFvQsK2XLC7o/ZITgeXYIng+Gb+X55gh9hVYFfFEvraqZKd66sXRRic8lZuzQXD6vehgjHcgleJ4/Dw2b/xp4mdeLnRtKr3kFPG+c65hlnXoOQBAGenFJ+jt1nHEcmuqL36Ve28brOG6rxkoHb95LMVuw7xo2O8cQABkheJ4dgueDsdvjz/kR+gqtCviiPlp1jrRXm2tMbEnJzyZmnGDdGIboCIBpNTLE4ta1s3Wdl/aKF91y8MH9t6xMl/ahIpqP+7O0k/Vv7bMcv4i9/SHUnFG6OulWj3byvMBnX+KlSb+qMXUJwuhJ38td2dWPZ6X9gVDbwtIB7qdfsh+43+vk4qhrI1XzUuJNO1DlOA7N88VkKffgNcbtwTheQpBlhqed7wnEBqq9NUC2UtqrT4+7ybO+wy72+J2uxDvQup60rlH3rjrs3ofDMLF1rW1dZ9x78KPTRfr+0dQLsxN/O8m1x06ZdewoKsXhIuezC07rdcqlgdHr7t+Kek8TPM8OwfPBOGWU+3GkvkKrAr6oh1ad6fqzaoyqYrBNjBl7OZHBGNqA9kdsiGVOVL4eo55ZJgsqrN96fr+qjzIdMX5/PTC7/STtANj7DG3Ed/2TQzn+Me77P95n9CuCMJWj2/v1xO1PY7SBficCEzz31HfRjxUHWEal+6NnyIQyjkMzfZHux6NSj0O+6hQ8Xy75bFleMkS79l2zC6qz+koDZZdd8Gq0Rxl8AX5dpfrZ85sTA5ZL63s0wzv1Q0JbrTH+/WzOgQVdCPE0o8+0bJsK8BnB8+wQPB+MG0a5d0XoK7Qq4It6aNVpiXdv1RqzCTHjzJzus0PEYoiF8m2bwSNpr4o9J/6tB9cGFEmD5Il8JeHnV3qSw8Qnj8DnKqnv6rUYCblfEYQpl5XufaCXfpW+5/HhnT7vO7FHezhfYX2nG+V5FriPQhnHoZm+sAJuMxi3g2KcMUl+O8DEcbfkGzgvMti2Q9qruo+7/+21CCC9RXq82Dsik9fnPsujq8cPGAEvPZhtrZtAd56t7UxXfWuQuhNsL+KwM30P/+2ekwyMq81Wp/qxftROLwrKe1cBwfPsEDwfbBz8bPTjaRH6Cq0K+CJ+rao7RTo55jcOcZ/tOZaprjHjgfhfH4a47QJooTPZCbxJRmO0tjONin9L05oMdtmdsVwLPb//KwKbWpOjj1Ls17n5GSc0VbJZ8l9xVdR1pKb9iiBM9ejE/r4nkNDvGHFX/Kd7V8UKozyXIvRTFeM4NNMXdci7WvdxWzkpxR3OPl7sld3XAqq/6prnki2d4pmMWmt8xmcvMZ6tE+YFPX6jwWoNRmrg/E4Bk/5VKT2nY5IGwyf2+M0EoxyLC9bZBM9tCJ73zzKjzAci9RVaFfBF3FpVYyy3XTl2DnEf3QV2Neey1TFmPJRY6meLhm55nBlpXXd46rTa+NtFboB45/59nBOE5xO/04BR1lxiWz3PXhmB3a5J+StBx3nstT8guzQpeB5qvyIIEwYrPW2g35PBf/a8jz5WWLc/jPKcjtBHVYzj0ExfWKtU/mDcjmLcPpbTvX/zvBNCS793JkPAaa/772+c3jkp/tQlWdjusXuWgMRhp5/SHyYeDmGDyUafVR02J8Nv1xY8lhE8zw7B8/45bJR3aqS+QqsCvohXq+qZKZ0UUsPEun5xc+aRAsrYpJjxmOhqhpt9GEOdotv6JkRWT9/hRekXlm7X6myPtFZQTHWNsx/OSfmneeeBrqKx8jtuKuHZVge9FZBtCJ5X368IwoTBOPdeyGNnjbaNt8ZEvirWG/U6Gpl/qhzHoXm+sM53Wc+4HeS4/SFVn9c53XuLRxeMBGYDS5vvSPz7iPtvuiJ7VsJuD43fHcrwPOug1r19lHetx66HBqy/zv8eS/dZTJMy/v6CFBswtdrRm4rbTKjB89dSbfA8RF+N9S5OB7F3RuwrtCrgizi1qmqKKzJcOmfVJ7ucpntRYFmbEjPOzFZDSPe6VHAtjayOj4x63Ez9zUXJ/+vTCxlui2dV/O4p97wSnm11zpAOHiN4Xn2/IggTDuclv9z1IwFNAA4b9doQmW+qHMeheb6owyS+KeO2tfL6txzu61swMjmw+ls685fEJPGtmxf9nPqd/v/v5PuFHZMHsHW/K/H/kMEPaU+jY046iKep07IGzn3BlTx3ilnBjecVt5lQg+f/VjzuhuirXmyU6hZpFOErtCrgizi16vmcYz57SihzE2LGmVGxeKlPJx3tQ2xVjbXdMpmbt/Pl/FCOz5wg+RwuVAUHjHK/LOnZFyXsvOcEz6vtVwRhwsLKjXd3iPsVkYc3r7a9NjLfVDmOQ/N8Ya2OrcMh0HUct1cbdTqcw32tXOKPAqu7dVhgMvDb2bLuW4mmB/T9kVGTHpN8tr+v82itfhfi6Cq1dOBc//9+8qbr3MbKa389Rx+dkPDyOIcaPLd2AZwq8fkh+qoXj1L9fm7kvkKrAr6IT6sezzneo+/kslKl1D1m3DeaC/FpH8bQU3rnRNpROrl557gXqH4d+SHHZ/7seeb7COx1t0Ix5jugaY0A/YogTGisknwODVWmJO7xouJ6WSsoRyLzTZXjODTPFyNGHc8xbgeJtXr41ZD3nCL+/JchscQo4wX3b5skv+Dfbs+caZAJpHXGzOUB/PNM8jksNp0z9q10r9IfBivIeKLidhNq8PyQVBu8DtFXPtKrzjfWwFdoVcAXcWnVg5L/YskqPljWNWY8EMv6dJiKptBzFs/xlF1z83a2by4qoFFZz3wduK0mS7XB6xMSx4FTUE2/IggTFrM9bWDBAPdaI+XnoPQR2mnssY3j0DxfrJC4ViA2edxWzkq+O/xWedr5usDqbQW1t0n7fJZOupZhV3D59P/CAe93ylPmfrBSRgyaZ1U/juv2bQ2i/yP5r3h7K+EdPhxq8NwKBH2U8lJdhugrCz1fKZnr/HRNfIVWBXwRj1YdkWIyDVS1U7uOMeOhDaHbC7OcsPpuCFFYFlY9Ov+tiLQSvlW5DwK3ky+34rSSnn/U8/zTAvQrgjAhMprT5Olc4uVa9fauq0adYsrbVvU4Ds3zxWIpNpUD43a+rDHqdXCI++3ztPO5gdX7mthB7U6KlWE/3GoKlDfGMw4Mcc/bxv36Wem9zTNvmxpJYEPtWfXBY6EGzzXw+lKqCWCH6iuL5Aco7U8/1MRXaFXAF2jVqqhrzHgoQ+jBAbqi4HIGY7wMvIP5EvPrSvApBTxvved5VwL3v7Xyu8yA/36P3S4yRtGvKiCmHPd/VmSjB0ZZ/unzHvruGJUwVp2LdOeFDfHQu5DG8VUR9I9VDX2nlsVkCWenHeP22GiAK526ZZh0WdY8IbQ0heOl+2OvrjSf6/77Yxl+xa5lh1dDvD+sMr/p4/czxD7ga0+gY8hjCTMNRajBcxH7kL9nBc/JQ/ZVmtUl2qVsX6FV0apo1Xi1auzUNWY8tCE6aG6wj2MYI+QA5y5PmbeULLQuB+5/K3/R4RKfvzFSuzWVsvsVQZjwgjBWzsuzfd7jn8QkYnwAfre2Ik+MqN2WPY4zIQn3nVoWE8Xeosm4Hea47Ru7Fw94L2t+cD6wNmqNU7rjqZPDe9jA3xqPj7fmNCcb5P1qHSj4IcAA2/zW9VC6P+aEkoIi5OC5stR412hwe0EDfZVkVkLPaYBsds18hVZFq6JV49WqsVPXmHFuhlB0m+BLCTPvziACtMjcYL7JW8hBYF/+4jJXEvgE6hXGKPoVQZgggzDWaoVrffxedyi8l7BWLVlbzyZE0marGMeZkIT7Ti2LCRLOymPG7Wysk3zSi8z31G1HYG30iFFGTTejK7tvDnnv8Z7ggwYVh1nNfnCINuMbf44E5JOFTkMkV9ffdX04pHdu6MFzce3sT1empD31Y8svDfJVMkh2PxEcW1BDX6FV0apo1Xi1ap1iQHWKGedqCGWG9D5dNdQgp7X1sciJS4wrqK1UM6Mlv4gJnsdF2f2KIEx4QZitYuc0y8r/JLxVip+MOsVCFeM4E5Jw36llBgOsw9AYt8MNnmtwKZ265dkA9/Gd8fNbYG30iUeTD7PivsM2KWYX3nPjnj9m/O0BT5l+DcQfOrnWc46SaWU0h/NKKe/Ay2HnJv8GVk61m+YuTu4qUT2jh8MuaIivOlxIvIeWBFi+PHyFVkWrolXj1aqxU9eYce6GUPQLlS8p/OeAX6R3jfKeLHEg6oiNUDlrlPdGIAKVtC3hUma/IggTXhBmjUd0ZWG2+1tdFTQ9IL/HPCGpYhxnQhLuO7VM0nX9xLgddPBcxM5PuajPexyPYC4w21NGncsMGwDVelpBbg00DnMw4VLjnk/7KJOVD/lNgOOG7j5LB/p1xdrOgNpQDMHzHdJ9WK0GvKc1zFeSKKP28eUBtvm8fIVWRauiVePVqrFT55hx7oZQtvfo+L8GWrfTRlkfF/Qs30qcZwH7/p1R3r9LLoMvhzYHhoZLmf0qZv407LSmBvVa4emzWYIGV93frgusTp8jnpCEMI5DM31RxwlJXcftDtZCj3193uOOcY+bgdVzY485y7CrUn25zofNF2sFNLIuTFjqKdOZgNvicukOBmrbCuFgsZCD55q//oZ0L2AYaaivkrtAVgfWxvP2FVoV8AVatSrqHDMuxBAaGPElg18dYL3miH3ivF5TCnjeSs+zQj2UYEFBk4p+ORKh4G8yZfcrgjBhtgHL/4sy2iPED2NfIp2QhDKOQzN9MegOFMbt6pgi3anXnvTx+3Fip247GFg9z3v6470c7n3Zc+9hUsH86LHrHxl/v9dTpk2Bt8cdEubO05CD52ekmsBXiL5KjtcbAmzfefsKrQr4Aq1aFbWMGS+R7Lnx+jVELzEa2ipCFfd3xP/VowjH+Q5Q+hBoB7C+Cn2U8rdTHPfY7VggdoppO/iRGvYrgjDhMUH6PzRW86Dph0TdVj41AmEVy4QklHEcmukLgudx8q9Rx6w5d5dG8P4f12PiNmyAbZLYQe5XQ973sKe8Wd+XFzy//z3wtmjl4e+nPRZFqMHzOZ5xd0oDfZVctLY9wLZdhK/QqoAv0Kp5QMzYoV+A9xVoCN/KhtAOC/xbvq2meSPlBBl9q3FC7aDWypkLFZTjtKdN/RWInQieV9uvCMKEyec+gyfXJeyTtmPNIxnKOA7N9AVpW+Jkk1HHvRl/u0WGC/KWNSm0yqhb1ccPee8/PPc+NcQ9Z3vmDw/7uMdzT7mmR9AerY85eyouU6jBc6v/3Wqgr/QjXucD2f5A23URvkKrAr5Aq+bVDogZO0PcLdAQf3kMsTYgGyxKdAw9LfycUd47BT37icc+EwNrJxrot4JfWyooi+/LVCirZQieV9+vCMKEx7s+3gOdjy77Aq5PjBOSkMbxptNUXxA8jxPNU5wO1mY9t8TKyx3a2T6+SdvhHO59tIB50EUZfgemb6V9DKsJTxnlPldxmUINnltpQE43zFcLEhr0aMDtughfoVUBX6BV84CYccIQWrBZBRniT48hRgKpv26nfCrf5/mzVtjopGF8Ac8/47HP0sDayTJPOedXUJYrEnb+bILn1fcrgjDhccuo2/oeY03op7jHOCEJaRxvOk30xTixt/4ybsfB9QHb63OpNniXBV96uUU53NuX7/yXAe834n7/UoZLhTMq8aZ0sM4+qnoxRqjB80tGmY42yFe6S+O1e+7ZnO99UvJNP1WEr9CqgC/QqnnQ9JhxlyH2FmSIbR5DzAmk/idcec4n/pvvYISVJYqtVYG1k3+MMr6uqCxW+o8XAdmK4Hn1/YogTHhYk4L01tm50s5zrkGBaYHX571RnwmBlzmkcbzpNNEX1tkH7xm3o8HSNmOlX5jkee+vD6hekz1lfJLT/d957j/I+2K6Gyeui70Ls5/35meJN3huHUT5puIyhRo8fyjVpkys0lcz3Pywc1BpnrsqOh+xFgbuK7Qq4Au0ah40PWbcZQgVd1MKMMSpgDvdKlee50bdPxjlLiKFwFxPQwntIJObkn3l0FZpp+koAl+e+DOMacEQQr8iCBMeVtqe5BZznfTrVv6POU9GiuKthJ9uK9RxHJrpi4lGnd8ybkfDDKOe98f4zYhH44bUntd4yrg3p/t/knyC1D9Ie8WuzqGmS3falaee3/l29/mC+j9E0BatDznvKi5TqMHzqs8bqspXOv/oBKNv5NyuZ7h++DACX6FVAV+gVfOgyTFj0xD9DND9GMLK6X0wgHpPcy8pDcQuNv79fJ8CaI57Of84QFmeSNhbWieIHbC2chDp9jUNkM4uqCxzJJJ8SA0lpH5FECYsrIN+TyYmOfel/23nVfLaqM/kgMsb0jjedJrqi8lSzxVMTQmeK1b6rbk9/t7KJR7a9ueTUuy29LzSo3TynOscbEHGeYOu/L8t9oIcXzqZPA7p3i3FbrW2ArJVrwwkeB6Orya6dq/PupezNtMPV52g/I4IfIVWBXyBVs2DpsaMxxRPK3I0hHV6vW4TnBVAva+68uz0/PtWT9mtLV/63+664M8gW8L2Gc+6F1Ab8a0cmpH6u5+cINpaYFlWiZ03e4qA0K8IwgTMcaNuZxOT+y9uwh1bWw/5rIpQx/Gm01RfLDbqfJ1xOyq2G3Xd2ePvrYMtLwZWp1dSXMoWEXvHXb9bkc+mbG0FJP9K/eYH17/uiL3qdr+nXH8PWd9jUvyiFoLn2Wla8Hx8Qp89knxSAOocRFfU7pJvK7l17jk9Al+hVQFfoFXzoKkx4zEN8V7sFaP9GkK/+lq5u3YEUOddGTrCYsm+IuOIc/Cgq1R+krAPUjxglC+9VU3FieaVK/qQvz1GWa4wngVBaP2KIExYWIdGXZZvh9Adjaw+Vg73FQGXN6RxvOk01RcrjHpfYtyOilnS32KPj9J/nvQy+dmjSf7J8Rk3PM/YkuG3k53G1b8/kfjvZ6T34abj3e+eiT946DuHRlPuDbJgYVLivbitYL+FGDw/6LHng4rL1bTg+Xkp58yoy5H4Cq0K+AKtmgdNjBlnMkTHGCNDGGKaRyweL6lOKkh1+6Ku0Jia+rd18m37Ra8vxiocP2V4ia13/33XkGW+E/DLbax8V52UC/o1vuj0GtYqpj8Yz+hXA7DbjXWvnLgnCFMs23pMQs4FVM6s7cLK4T4SsP1DGsebTmi+KGssHAm87zNuZ+OuUV9rq7Yvzd5vAdVlu6eMi3J8hi+oOtbB2LoSq7ONOb1I5JFxv3GJiegVp8fmDDAWDaK9fkpMfjeV4LcQg+dXPbb8UHG5mhQ8PyblBM6LGuOL8BVaFdCqaNU8qGPMeCDWiX0Sc+cQxll9GGKSE6Lpwyk0WFbWVo59hmjZ78qZzL2YJaefFagddb8dlwgG5bGVw5p87Q+gffgO6Lwp37axPSzpZazPS69ieiHNSelRJbH2Kx+/S5gfq+ochPFtadZJfii7bPppF1ae3FDPXghpHG86ofmizLFwrfjPPYiZpgXPd0i2FUKWvz8HptmsgOeLnJ+xSPwBuKeu/XQO8NMcs6tS5dL/O512xVrRv8H9VsePd5LtA8B8z72+uHKNxWSnAUfdM38vyW+hBc9niz+3fd4fY/qlKcHzv6W8wPnbgsaxInyFVgW0Klo1D+oWMx6KGW5wHvUEta66l98yJ5SS2xnWu0nCabFXlJ6Rcg8PeJ3hpZd1RcXmDPfSlSPTcxqknkvvrTFVMD+jkChjG+5S47nbGcvoVwNwQsI8pLdpwfNrYudirYp+2sVhT/AiREIax5tOaL4ocyxcbzzraA182rTgubWi/Lbxd9Yq0JC2PutH289GGQ8X8KyrMliQ7pTYQbpev9EA3OI+yqZzOl9eds3XrQH5iYm/n+7+m64M6wTetX5lrgINKXiu9rg7hk8eS3ee4LJoQvB8q5QXOC9qjCjKV2hVQKuiVfOiTjHjXNAvBrqa9NWQLxUVCXulmiTvY5W9n8Y/zePczqWrLBbmWPYtxjN+imDwPFxSWQ6lnvsqsMBbnYm5X1lYedxOEIQplHTw/HpqQh4C/bSLmMRVSOM4E5KwfFHmWGide7C+Bj5tWvBcuWfUOR08vWX8zeaA6uA7DG15Ac9S22RZhNC5PkrvnOgvPL+7P+Dkc558O3+kn+uGVLNrr6rgua6WW+LaiK5OPCX+lfuWT0+736nNdEHQ9BLKXPfg+VopN3D+pcA5ShG+QqsCWhWtmjd1iBnnzi/STp+gwuCyG9D1xZ9epaFBsNvu73QCMbficu/r4aBBXkC7PfdSEZz3NjxdXfI09ZyDAbSFxx4b6BemspL5jzdEBQMZ/WpQ0oeE6bi2gCBMoSSD57r6MMQPX/20iz8kzN0LIY/jEJ4vyhwLT0s9zyxpYvDcSpGwLaVnrZVJIeWoPSR2fuqi0srMNzS+7wyQsQLgK904MpqYh23Joew/Od9ekPYOwE+JuZ7aRs9nOuueVeUKsaqC52sk/EMn09Q9eP5Gyg2cP4jMV2hVQKuiVYsk1phxqWQ5ObVKNDD3xDlJnXd1yHJqOorn7n76v/r1a2pBZR8xhPzkiu05U9qnl39wNlDb6tfGOSWWYZOMvUUY6Ff9sMRNUvVaHIiN6xyEWe5eqKGL36ztIrbT2EMYxyFMX5Q1Fl6ScA9GZ9zuj3mu7Sav5Dklvxo2uUfX/5rTXAPPN5yOUru9d3pKNdZsTJSJEA8MDZUmHRiKr9CqgFZFq4ZD6DFjDFET0p226bm90ivydQCfSzOBGtLEIEysTDd89QyzAHixVt3OqEG9GLe7sdIQ7qQLQE4QkM0OwfNm+wqtCoBWrQpixhiiFLSDJk+f1S9+Mxtsj52pAWwLTQRqCkGYeLDSEnzCLABe0ls4Rxm3a8tZw9cz6QKQEwRks0PwvNm+QqsCoFWrgpgxhiiNdI6ycw21g25h/YAdoCHoVrgNqYtt3OHy0pjoTMEsAF1MNvrKK8bt2pI+HPMKXQByhIBsdgie4yu0KgBatQqIGWOIUjmc6rxrG1Z//Vp+O1H/uxLmIYMA0EwuGiKLdyJAN78bfeUCZqklPzMuQsFsEAKyWbECsv/gq0b5Cq0KgFatAmLGGKJ0riZs/U6atZrpiHyfn20azQEAAuK4IbL+xCwAXVipTY5jllqyK+Xnx5gEcmatMZ58xiwmHyrWKfiqel+hVQHQqlVAzNiheQs7W1N/pF0UyiT5fvX1I2lvKak7yZUKz4WDGqAYdLv9IswAA7YLS2Qdw3zAWNjFEaOvrMfsteS+EKSBYllhjCdfGjI/6ocJHjv9jq8a5Su0KqBV0apVQMwYKkHzkiUD6P+2rvE1ru+IfL9iicA5DMt0J0D1BXiidV2X9oE52sb2Yx7axYDtwpoUsr0PGAu7uWT0lRW4Ixr2SHshgwbGN/X4u3TKlgeYDgpA50CjxpiyCtN8x3KxA7JT8FWjfIVWBbQqWhWgUegX+muJjny+pvXUAapzyvHN1jUV18MQLJX2NsjPHlH6xQlWoF0M0i6slULk8gTGwm7eGc+bgFui4G/Dd6s9f3ss9XdLMR8UxL9GuzyJWb7jkGGjW/iqcb5CqwJaFa0K0Dj0630yb9lZaR+qWRdWJwbLE1Lv1fVQPvOk+8T5zzXrQ1B+u3huCC3OZwDGwm9MNfrIC9wQDa8N/502/m6WfL/C9CimgwL5Texc2nMwzVd0i/xHyf7hC1/V21doVUCrolUBGonmDeocKnKldU2sQZ02u/povcgtBUVxLfVSvIRJYMh2cU7YjgyMhb1YbfSRM7ggGqygzk7j7y7K9+lafsB0UDDWQYike2wHRe8btjmPrxrrK7QqoFXRqgCNZW7ruuM69l2Je5X2PlcPrQ+rEKAo9Ev1p9RLcRtmoV0M2S62GGLrf5gVGAv/Y7/RR7bihmiwcoCmD/vbk/g3XSk2E7NBSRyQ7pzab6S9KKdpOwu1vn+1rldGnz0awFwRX1XnK7QqoFXRqgCNZ5MTIzGjomk7roSCWWy8FOdjFtrFkO1ikfH7G5gVGAv/47rxvMW4IRr0ENB0/tHOikVdyHEy8d+fSDsFAUCZzHNzocepdqophw63roUN6KMHpZ1i4EuqPx509sFXzfYVWhXQqmhVAACATOxOvRBfYRLIoV3oyoh0WgMNNHFmAzAWtvtBOvD6UThrIjZGpH3A3Jcel6ZlmIypoGL0cLdl0t6Cv07aqS5/rXmdf3X1/NPVe5nEccgdvirPV2hVQKuiVQEAADJxNfVSPIVJIKd2cUG6A0krMC0wFn7tB+m+cQEXRInmJtZt/g/dpFIvzdUb2spWAABAqwJaFa0KAADQJ9YX5TWYhXaRU7sglyQwFtocMPrGZtwAAABQKmhVQKuiVQEAAHpifVGeglloFzm1i7nGfR5gXmAs/NoP0s9jlTIAAEC5oFUBrYpWBQAA6Mm+1AvxHiaBnNvFY0N4zcLE0OCx8EejTzzBBQAAAJWAVgW0KloVAADAy+3US3E/JoGc28U+Q3xtw8TQ4LFwm9En9uECAACASkCrAloVrQoAAGAysXWNpl6KyzAL7SLndrHAEF+3MDM0eCy8ZfSJBbgBAACgEtCqgFZFqwIAAJisTr0Q9QCScZiFdlFAu3gkbIcFxkJx7T7dFx7hAgAAgEpBqwJaFa0KAADQxZHUS/ESJoGC2sUuQ4TtwdTQwLFwj9EXduMCAACASkGrAloVrQoAANDFw9RLcSsmgYLaxQzp3mr4DFNDA8fCZ6lnjbr+AQAAANWBVgW0KloVAADgO6ZK9xfl+ZiFdlFgu7ho3Jsc+9CksXCZ8ayLuAAAACAI0KqAVkWrAgAA/Ec6b9pLz4saaBd5tYslhhi7ismhQWPhVaMPLMUFAAAAQYBWBbQqWhUAAOA/DqVeiidT/75Y2KpIu8i/XdwzBNk8zA4NGAvnGW3/PuYHAAAICrQqoFXRqgAAAF+5knoxrkr8m+Y0eyXtr9xAu8izXawxRNkJzA4NGAuPGW1/HeYHAAAICrQqoFXRqgAAAF95n3oxTnT/Xbd8PWhdZzAR7aKgdvFIug+hmY3pocZtfrZ0H0L2CNMDAAAECVoV0KpoVQAAgK6X47TW9XPreiztbV9TMBHtoqB2kc7bp9cpTA81bvOnjDbPzh4AAIAwQasCWhWtCgAA0PUFu3O9dy9joF0U2S7uGM/4CfNDDdv8z8a9b2N2AACAoEGrAloVAACg4Zw1XpJvWtcvmIZ2UUK7WGA85ybmhxq2+RvG/RdidgAAgKBBqwJaFQAAoOHMcC/KT63rdes60rqmYxbaRYntgkNpoO5tfq3Rxo9jcgAAgChAqwJaFQAAAAAqQ/PzvUqJNRWEUzEN1ICprj2n2zfnSQAAAKBVAdCqAAAAADAmI9K92uEMZoEaYG2xXYVZAAAA0KoAaFUAAAAAyMpxQ7itxSwQMWyBBQAAQKsCoFUBAAAAYGgmtq6HKfH2rnXNwTQQIXNc+02254eunQMAAABaFQCtCgAAAAB9i7i3hoibhGkgIrS9Pki147dMrgEAANCqAGhVAAAAABiGZdK9ffASZoGIuGS04eWYBQAAAK0KgFYFAAAAgGFZbwi6Q5gFIuCg0XY3YBYAAAC0KgBaFQAAAADyYrsh7P7GLBAwfxttdjtmAQAAQKsCoFUBAAAAIG92ta5PqWs3ZgHaKgAAAPD+B6CtQjH8H6WyEEiDhIzZAAACTnRFWHRNYXRoTUwAPG1hdGggeG1sbnM9Imh0dHA6Ly93d3cudzMub3JnLzE5OTgvTWF0aC9NYXRoTUwiPjxtc3R5bGUgbWF0aHNpemU9IjE2cHgiPjxtbz4kPC9tbz48bWk+eDwvbWk+PG1mZW5jZWQ+PG1pPnQ8L21pPjwvbWZlbmNlZD48bW8+PTwvbW8+PG1zdWI+PG1pPng8L21pPjxtaT5pPC9taT48L21zdWI+PG1vPis8L21vPjxtc3ViPjxtaT52PC9taT48bWk+aTwvbWk+PC9tc3ViPjxtZmVuY2VkPjxtcm93PjxtaT50PC9taT48bW8+LTwvbW8+PG1zdWI+PG1pPnQ8L21pPjxtaT5pPC9taT48L21zdWI+PC9tcm93PjwvbWZlbmNlZD48bW8+KzwvbW8+PG1vPlw8L21vPjxtaT5mPC9taT48bWk+cjwvbWk+PG1pPmE8L21pPjxtaT5jPC9taT48bWZlbmNlZCBjbG9zZT0ifSIgb3Blbj0ieyI+PG1uPjE8L21uPjwvbWZlbmNlZD48bWZlbmNlZCBjbG9zZT0ifSIgb3Blbj0ieyI+PG1uPjI8L21uPjwvbWZlbmNlZD48bXN1cD48bWZlbmNlZD48bXJvdz48bWk+dDwvbWk+PG1vPi08L21vPjxtc3ViPjxtaT50PC9taT48bWk+aTwvbWk+PC9tc3ViPjwvbXJvdz48L21mZW5jZWQ+PG1uPjI8L21uPjwvbXN1cD48bW8+JDwvbW8+PC9tc3R5bGU+PC9tYXRoPsQcEmkAAAAASUVORK5CYII=\&quot;,\&quot;slideId\&quot;:313,\&quot;accessibleText\&quot;:\&quot;$ x open parentheses t close parentheses equals x subscript i plus v subscript i open parentheses t minus t subscript i close parentheses plus backslash f r a c open curly brackets 1 close curly brackets open curly brackets 2 close curly brackets open parentheses t minus t subscript i close parentheses squared $\&quot;,\&quot;imageHeight\&quot;:23.906666666666666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2372</TotalTime>
  <Words>2478</Words>
  <Application>Microsoft Macintosh PowerPoint</Application>
  <PresentationFormat>Widescreen</PresentationFormat>
  <Paragraphs>366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Montserrat</vt:lpstr>
      <vt:lpstr>Times New Roman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NICOLÁS RAFAEL AMIGO AHUMADA</dc:creator>
  <cp:lastModifiedBy>Felipe Espinoza</cp:lastModifiedBy>
  <cp:revision>153</cp:revision>
  <dcterms:created xsi:type="dcterms:W3CDTF">2023-11-29T17:29:49Z</dcterms:created>
  <dcterms:modified xsi:type="dcterms:W3CDTF">2026-04-07T03:50:00Z</dcterms:modified>
</cp:coreProperties>
</file>